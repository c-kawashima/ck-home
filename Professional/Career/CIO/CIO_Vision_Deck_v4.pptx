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present this slide. Let the CEO read it. Give 15-20 seconds of silence. This is the emotional and intellectual overture for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these three points abstract. The CEO may share this with a board — abstract framing is harder to attack. The specifics come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 touch on Altium. Signal the future without overpromising near-term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company listed has verified, sourced initiatives. TI and STMicro intentionally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 blank-check ask. Self-funding: show results, reduce costs, reinvest.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scope of the transformation — not a single team's mandate.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workforce angle — this is about people adopting new ways of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Strategic argument for US-based execution — not an argument against Japan.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overdo the Japan narrative. Focus on what Japan is uniquely positioned to do with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and punchy. This is the 'so what'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overlapping model is critical. By month 18, all three phases are in motion simultaneously.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does three things: build data foundation, deliver quick wins, start changing how people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Finance is usually the fastest win. Legal is high-impact but lower volume. Engineering is the strategic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starts at month 9, not month 18. Data foundation from Phase 1 makes Phase 2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$10M+ per spin avoided is conservative for complex SoCs. Even preventing 2-3 spins/year pays for Phase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is the real aspiration. Not efficiency — architecture. Not cost cutting — company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turns the transformation from a cost conversation into an investment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slide. Start small, show results, earn the next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bottom to top. Data layer is non-negotiable. Post-acquisition data sprawl across Intersil, IDT, Dialog, Celeno, Altium.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RAG for comms/creativity, Ontology for R&amp;D/audit/traceability. Both deployed appropriately.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gives speed and breadth. Ontology gives depth and traceability.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Post-acquisition data sprawl: Intersil, IDT, Dialog, Celeno, Altium — multiple ERPs, PLMs, data formats.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Agentic AI is production-ready in controlled workflows today. Build foundation first.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 does this at scale: 30K engineers, 3x output, flat bug rate.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Multi-vendor by design. No single AI model vendor gets everything.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read this slide. Let the CEO absorb the matrix visually.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personal to the CEO. Build it early, earn trust.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 reuse resonates: 'I didn't know we already had that.' Post-acquisition reality makes this acute.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Manufacturing AI is the least culturally controversial use case.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AI resonates with any CEO who lived through 2020-2023.</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Finance quick wins are the 'proof of concept' for the entire transformation.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callout on each case: RAG for volume, ontology for compliance-grade traceability.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HR is strategic partner from Day 1. AI doesn't mean fewer people — it means different work.</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Sales AI: knowing 3 months earlier that a customer starts a new design = getting in before competitors.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Knowledge management is emotionally compelling. Japan-US translation friction is a real productivity drain.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PLM is the spine. Without clean, unified product data, R&amp;D AI doesn't work.</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deduplication alone across acquisitions could eliminate thousands of redundant parts.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PLM data in data platform = AI training data. The closed loop gets smarter over time.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Multi-vendor by design. No single AI model vendor gets everything.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Framework approach avoids CEO disagreeing with a name and torpedoing the whole slide.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2x2 gives the CEO a mental model for every vendor/partner/acquisition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vendor gets unrestricted access to train on proprietary data.</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WITH CAVEATS. Directional, not definitive. Defend with evidence column.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case study for the deck. Deere proves hardware → platform pivot at scale.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they can do it, why can't we? The 3x code output is the metric a CEO remembers.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Siemens is most relevant industrial precedent. NVIDIA RPE is the most powerful single data point.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Klarna is the strongest warning. Japan DX cliff is important context for the CEO.</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CEO needs to hear: this requires active engagement, not sign-off and step back.</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an IT department. A transformation function at the intersection of every business area.</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Coalition model avoids 'IT builds something nobody uses' failure pattern.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Three-tier ensures decisions at the right level. Business ownership prevents the 'IT project' trap.</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EU AI Act is real. Getting ahead of regulation is competitive advantage.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Parallel tracks are deliberate. Technology outruns talent = capability nobody can use.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this slide breathe. Each statement maps to specific use cases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Phase 1 data work to Phase 3 platform economics. Make that thread explicit.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emotional beat. Let the room sit. Then: 'What questions do you have?'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4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5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5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5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5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6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6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6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6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6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6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2D5E"/>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4471A9"/>
          </a:solidFill>
          <a:ln/>
        </p:spPr>
      </p:sp>
      <p:sp>
        <p:nvSpPr>
          <p:cNvPr id="3" name="Shape 1"/>
          <p:cNvSpPr/>
          <p:nvPr/>
        </p:nvSpPr>
        <p:spPr>
          <a:xfrm>
            <a:off x="0" y="36576"/>
            <a:ext cx="5029200" cy="5106924"/>
          </a:xfrm>
          <a:prstGeom prst="rect">
            <a:avLst/>
          </a:prstGeom>
          <a:solidFill>
            <a:srgbClr val="06418C"/>
          </a:solidFill>
          <a:ln/>
        </p:spPr>
      </p:sp>
      <p:sp>
        <p:nvSpPr>
          <p:cNvPr id="4" name="Text 2"/>
          <p:cNvSpPr/>
          <p:nvPr/>
        </p:nvSpPr>
        <p:spPr>
          <a:xfrm>
            <a:off x="457200" y="731520"/>
            <a:ext cx="4572000" cy="1828800"/>
          </a:xfrm>
          <a:prstGeom prst="rect">
            <a:avLst/>
          </a:prstGeom>
          <a:noFill/>
          <a:ln/>
        </p:spPr>
        <p:txBody>
          <a:bodyPr wrap="square" lIns="0" tIns="0" rIns="0" bIns="0" rtlCol="0" anchor="ctr"/>
          <a:lstStyle/>
          <a:p>
            <a:pPr indent="0" marL="0">
              <a:lnSpc>
                <a:spcPct val="105000"/>
              </a:lnSpc>
              <a:buNone/>
            </a:pPr>
            <a:r>
              <a:rPr lang="en-US" sz="4200" b="1" spc="300" kern="0" dirty="0">
                <a:solidFill>
                  <a:srgbClr val="FFFFFF"/>
                </a:solidFill>
                <a:latin typeface="Arial" pitchFamily="34" charset="0"/>
                <a:ea typeface="Arial" pitchFamily="34" charset="-122"/>
                <a:cs typeface="Arial" pitchFamily="34" charset="-120"/>
              </a:rPr>
              <a:t>ARCHITECTING</a:t>
            </a:r>
            <a:endParaRPr lang="en-US" sz="4200" dirty="0"/>
          </a:p>
          <a:p>
            <a:pPr indent="0" marL="0">
              <a:lnSpc>
                <a:spcPct val="105000"/>
              </a:lnSpc>
              <a:buNone/>
            </a:pPr>
            <a:r>
              <a:rPr lang="en-US" sz="4200" b="1" spc="300" kern="0" dirty="0">
                <a:solidFill>
                  <a:srgbClr val="FFFFFF"/>
                </a:solidFill>
                <a:latin typeface="Arial" pitchFamily="34" charset="0"/>
                <a:ea typeface="Arial" pitchFamily="34" charset="-122"/>
                <a:cs typeface="Arial" pitchFamily="34" charset="-120"/>
              </a:rPr>
              <a:t>THE FUTURE</a:t>
            </a:r>
            <a:endParaRPr lang="en-US" sz="4200" dirty="0"/>
          </a:p>
        </p:txBody>
      </p:sp>
      <p:sp>
        <p:nvSpPr>
          <p:cNvPr id="5" name="Text 3"/>
          <p:cNvSpPr/>
          <p:nvPr/>
        </p:nvSpPr>
        <p:spPr>
          <a:xfrm>
            <a:off x="457200" y="2743200"/>
            <a:ext cx="4389120" cy="731520"/>
          </a:xfrm>
          <a:prstGeom prst="rect">
            <a:avLst/>
          </a:prstGeom>
          <a:noFill/>
          <a:ln/>
        </p:spPr>
        <p:txBody>
          <a:bodyPr wrap="square" lIns="0" tIns="0" rIns="0" bIns="0" rtlCol="0" anchor="ctr"/>
          <a:lstStyle/>
          <a:p>
            <a:pPr indent="0" marL="0">
              <a:lnSpc>
                <a:spcPct val="135000"/>
              </a:lnSpc>
              <a:buNone/>
            </a:pPr>
            <a:r>
              <a:rPr lang="en-US" sz="1600" dirty="0">
                <a:solidFill>
                  <a:srgbClr val="B0C4DE"/>
                </a:solidFill>
                <a:latin typeface="Arial" pitchFamily="34" charset="0"/>
                <a:ea typeface="Arial" pitchFamily="34" charset="-122"/>
                <a:cs typeface="Arial" pitchFamily="34" charset="-120"/>
              </a:rPr>
              <a:t>A Vision for AI and Digital</a:t>
            </a:r>
            <a:endParaRPr lang="en-US" sz="1600" dirty="0"/>
          </a:p>
          <a:p>
            <a:pPr indent="0" marL="0">
              <a:lnSpc>
                <a:spcPct val="135000"/>
              </a:lnSpc>
              <a:buNone/>
            </a:pPr>
            <a:r>
              <a:rPr lang="en-US" sz="1600" dirty="0">
                <a:solidFill>
                  <a:srgbClr val="B0C4DE"/>
                </a:solidFill>
                <a:latin typeface="Arial" pitchFamily="34" charset="0"/>
                <a:ea typeface="Arial" pitchFamily="34" charset="-122"/>
                <a:cs typeface="Arial" pitchFamily="34" charset="-120"/>
              </a:rPr>
              <a:t>Transformation at Renesas Electronics</a:t>
            </a:r>
            <a:endParaRPr lang="en-US" sz="1600" dirty="0"/>
          </a:p>
        </p:txBody>
      </p:sp>
      <p:sp>
        <p:nvSpPr>
          <p:cNvPr id="6" name="Text 4"/>
          <p:cNvSpPr/>
          <p:nvPr/>
        </p:nvSpPr>
        <p:spPr>
          <a:xfrm>
            <a:off x="640080" y="4023360"/>
            <a:ext cx="3200400" cy="274320"/>
          </a:xfrm>
          <a:prstGeom prst="rect">
            <a:avLst/>
          </a:prstGeom>
          <a:noFill/>
          <a:ln/>
        </p:spPr>
        <p:txBody>
          <a:bodyPr wrap="square" lIns="0" tIns="0" rIns="0" bIns="0" rtlCol="0" anchor="ctr"/>
          <a:lstStyle/>
          <a:p>
            <a:pPr indent="0" marL="0">
              <a:buNone/>
            </a:pPr>
            <a:r>
              <a:rPr lang="en-US" sz="1200" dirty="0">
                <a:solidFill>
                  <a:srgbClr val="9D9D9D"/>
                </a:solidFill>
                <a:latin typeface="Arial" pitchFamily="34" charset="0"/>
                <a:ea typeface="Arial" pitchFamily="34" charset="-122"/>
                <a:cs typeface="Arial" pitchFamily="34" charset="-120"/>
              </a:rPr>
              <a:t>March 2026  |  Confidential</a:t>
            </a:r>
            <a:endParaRPr lang="en-US" sz="1200" dirty="0"/>
          </a:p>
        </p:txBody>
      </p:sp>
      <p:sp>
        <p:nvSpPr>
          <p:cNvPr id="7" name="Text 5"/>
          <p:cNvSpPr/>
          <p:nvPr/>
        </p:nvSpPr>
        <p:spPr>
          <a:xfrm>
            <a:off x="5669280" y="914400"/>
            <a:ext cx="2743200" cy="3200400"/>
          </a:xfrm>
          <a:prstGeom prst="rect">
            <a:avLst/>
          </a:prstGeom>
          <a:noFill/>
          <a:ln/>
        </p:spPr>
        <p:txBody>
          <a:bodyPr wrap="square" lIns="0" tIns="0" rIns="0" bIns="0" rtlCol="0" anchor="ctr"/>
          <a:lstStyle/>
          <a:p>
            <a:pPr algn="ctr" indent="0" marL="0">
              <a:buNone/>
            </a:pPr>
            <a:r>
              <a:rPr lang="en-US" sz="20000" b="1" dirty="0">
                <a:solidFill>
                  <a:srgbClr val="4471A9">
                    <a:alpha val="20000"/>
                  </a:srgbClr>
                </a:solidFill>
                <a:latin typeface="Arial" pitchFamily="34" charset="0"/>
                <a:ea typeface="Arial" pitchFamily="34" charset="-122"/>
                <a:cs typeface="Arial" pitchFamily="34" charset="-120"/>
              </a:rPr>
              <a:t>R</a:t>
            </a:r>
            <a:endParaRPr lang="en-US" sz="20000" dirty="0"/>
          </a:p>
        </p:txBody>
      </p:sp>
      <p:sp>
        <p:nvSpPr>
          <p:cNvPr id="8" name="Shape 6"/>
          <p:cNvSpPr/>
          <p:nvPr/>
        </p:nvSpPr>
        <p:spPr>
          <a:xfrm>
            <a:off x="0" y="5106924"/>
            <a:ext cx="9144000" cy="36576"/>
          </a:xfrm>
          <a:prstGeom prst="rect">
            <a:avLst/>
          </a:prstGeom>
          <a:solidFill>
            <a:srgbClr val="993399"/>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42D5E"/>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4471A9"/>
          </a:solidFill>
          <a:ln/>
        </p:spPr>
      </p:sp>
      <p:sp>
        <p:nvSpPr>
          <p:cNvPr id="3" name="Text 1"/>
          <p:cNvSpPr/>
          <p:nvPr/>
        </p:nvSpPr>
        <p:spPr>
          <a:xfrm>
            <a:off x="548640" y="274320"/>
            <a:ext cx="5029200" cy="82296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"An AI-native company doesn't just use AI. It thinks with AI."</a:t>
            </a:r>
            <a:endParaRPr lang="en-US" sz="2200" dirty="0"/>
          </a:p>
        </p:txBody>
      </p:sp>
      <p:sp>
        <p:nvSpPr>
          <p:cNvPr id="4" name="Text 2"/>
          <p:cNvSpPr/>
          <p:nvPr/>
        </p:nvSpPr>
        <p:spPr>
          <a:xfrm>
            <a:off x="4114800" y="1188720"/>
            <a:ext cx="4754880" cy="64008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"Technology becomes a multiplier across every business function."</a:t>
            </a:r>
            <a:endParaRPr lang="en-US" sz="2000" dirty="0"/>
          </a:p>
        </p:txBody>
      </p:sp>
      <p:sp>
        <p:nvSpPr>
          <p:cNvPr id="5" name="Text 3"/>
          <p:cNvSpPr/>
          <p:nvPr/>
        </p:nvSpPr>
        <p:spPr>
          <a:xfrm>
            <a:off x="548640" y="1920240"/>
            <a:ext cx="4389120" cy="502920"/>
          </a:xfrm>
          <a:prstGeom prst="rect">
            <a:avLst/>
          </a:prstGeom>
          <a:noFill/>
          <a:ln/>
        </p:spPr>
        <p:txBody>
          <a:bodyPr wrap="square" lIns="0" tIns="0" rIns="0" bIns="0" rtlCol="0" anchor="ctr"/>
          <a:lstStyle/>
          <a:p>
            <a:pPr indent="0" marL="0">
              <a:buNone/>
            </a:pPr>
            <a:r>
              <a:rPr lang="en-US" sz="1400" i="1" dirty="0">
                <a:solidFill>
                  <a:srgbClr val="4471A9"/>
                </a:solidFill>
                <a:latin typeface="Arial" pitchFamily="34" charset="0"/>
                <a:ea typeface="Arial" pitchFamily="34" charset="-122"/>
                <a:cs typeface="Arial" pitchFamily="34" charset="-120"/>
              </a:rPr>
              <a:t>"The aspiration: a digital-native Renesas by 2030 and beyond."</a:t>
            </a:r>
            <a:endParaRPr lang="en-US" sz="1400" dirty="0"/>
          </a:p>
        </p:txBody>
      </p:sp>
      <p:sp>
        <p:nvSpPr>
          <p:cNvPr id="6" name="Text 4"/>
          <p:cNvSpPr/>
          <p:nvPr/>
        </p:nvSpPr>
        <p:spPr>
          <a:xfrm>
            <a:off x="4572000" y="2011680"/>
            <a:ext cx="4114800" cy="502920"/>
          </a:xfrm>
          <a:prstGeom prst="rect">
            <a:avLst/>
          </a:prstGeom>
          <a:noFill/>
          <a:ln/>
        </p:spPr>
        <p:txBody>
          <a:bodyPr wrap="square" lIns="0" tIns="0" rIns="0" bIns="0" rtlCol="0" anchor="ctr"/>
          <a:lstStyle/>
          <a:p>
            <a:pPr indent="0" marL="0">
              <a:buNone/>
            </a:pPr>
            <a:r>
              <a:rPr lang="en-US" sz="1400" i="1" dirty="0">
                <a:solidFill>
                  <a:srgbClr val="4471A9"/>
                </a:solidFill>
                <a:latin typeface="Arial" pitchFamily="34" charset="0"/>
                <a:ea typeface="Arial" pitchFamily="34" charset="-122"/>
                <a:cs typeface="Arial" pitchFamily="34" charset="-120"/>
              </a:rPr>
              <a:t>"Build the playbook. Prove it works. Export to Japan with evidence, not theory."</a:t>
            </a:r>
            <a:endParaRPr lang="en-US" sz="1400" dirty="0"/>
          </a:p>
        </p:txBody>
      </p:sp>
      <p:sp>
        <p:nvSpPr>
          <p:cNvPr id="7" name="Text 5"/>
          <p:cNvSpPr/>
          <p:nvPr/>
        </p:nvSpPr>
        <p:spPr>
          <a:xfrm>
            <a:off x="548640" y="2468880"/>
            <a:ext cx="5029200" cy="502920"/>
          </a:xfrm>
          <a:prstGeom prst="rect">
            <a:avLst/>
          </a:prstGeom>
          <a:noFill/>
          <a:ln/>
        </p:spPr>
        <p:txBody>
          <a:bodyPr wrap="square" lIns="0" tIns="0" rIns="0" bIns="0" rtlCol="0" anchor="ctr"/>
          <a:lstStyle/>
          <a:p>
            <a:pPr indent="0" marL="0">
              <a:buNone/>
            </a:pPr>
            <a:r>
              <a:rPr lang="en-US" sz="1400" dirty="0">
                <a:solidFill>
                  <a:srgbClr val="8EAFD0"/>
                </a:solidFill>
                <a:latin typeface="Arial" pitchFamily="34" charset="0"/>
                <a:ea typeface="Arial" pitchFamily="34" charset="-122"/>
                <a:cs typeface="Arial" pitchFamily="34" charset="-120"/>
              </a:rPr>
              <a:t>"Leadership should never have to email someone for an answer the data already has."</a:t>
            </a:r>
            <a:endParaRPr lang="en-US" sz="1400" dirty="0"/>
          </a:p>
        </p:txBody>
      </p:sp>
      <p:sp>
        <p:nvSpPr>
          <p:cNvPr id="8" name="Text 6"/>
          <p:cNvSpPr/>
          <p:nvPr/>
        </p:nvSpPr>
        <p:spPr>
          <a:xfrm>
            <a:off x="3840480" y="2651760"/>
            <a:ext cx="5029200" cy="502920"/>
          </a:xfrm>
          <a:prstGeom prst="rect">
            <a:avLst/>
          </a:prstGeom>
          <a:noFill/>
          <a:ln/>
        </p:spPr>
        <p:txBody>
          <a:bodyPr wrap="square" lIns="0" tIns="0" rIns="0" bIns="0" rtlCol="0" anchor="ctr"/>
          <a:lstStyle/>
          <a:p>
            <a:pPr indent="0" marL="0">
              <a:buNone/>
            </a:pPr>
            <a:r>
              <a:rPr lang="en-US" sz="1300" dirty="0">
                <a:solidFill>
                  <a:srgbClr val="8EAFD0"/>
                </a:solidFill>
                <a:latin typeface="Arial" pitchFamily="34" charset="0"/>
                <a:ea typeface="Arial" pitchFamily="34" charset="-122"/>
                <a:cs typeface="Arial" pitchFamily="34" charset="-120"/>
              </a:rPr>
              <a:t>"RAG is great for finding. Ontology is required for knowing — and for proving what you know."</a:t>
            </a:r>
            <a:endParaRPr lang="en-US" sz="1300" dirty="0"/>
          </a:p>
        </p:txBody>
      </p:sp>
      <p:sp>
        <p:nvSpPr>
          <p:cNvPr id="9" name="Text 7"/>
          <p:cNvSpPr/>
          <p:nvPr/>
        </p:nvSpPr>
        <p:spPr>
          <a:xfrm>
            <a:off x="548640" y="3200400"/>
            <a:ext cx="3657600" cy="411480"/>
          </a:xfrm>
          <a:prstGeom prst="rect">
            <a:avLst/>
          </a:prstGeom>
          <a:noFill/>
          <a:ln/>
        </p:spPr>
        <p:txBody>
          <a:bodyPr wrap="square" lIns="0" tIns="0" rIns="0" bIns="0" rtlCol="0" anchor="ctr"/>
          <a:lstStyle/>
          <a:p>
            <a:pPr indent="0" marL="0">
              <a:buNone/>
            </a:pPr>
            <a:r>
              <a:rPr lang="en-US" sz="1100" dirty="0">
                <a:solidFill>
                  <a:srgbClr val="9D9D9D"/>
                </a:solidFill>
                <a:latin typeface="Arial" pitchFamily="34" charset="0"/>
                <a:ea typeface="Arial" pitchFamily="34" charset="-122"/>
                <a:cs typeface="Arial" pitchFamily="34" charset="-120"/>
              </a:rPr>
              <a:t>"NVIDIA: $882K → $3.62M revenue per employee. 4x. Same company. More leverage."</a:t>
            </a:r>
            <a:endParaRPr lang="en-US" sz="1100" dirty="0"/>
          </a:p>
        </p:txBody>
      </p:sp>
      <p:sp>
        <p:nvSpPr>
          <p:cNvPr id="10" name="Text 8"/>
          <p:cNvSpPr/>
          <p:nvPr/>
        </p:nvSpPr>
        <p:spPr>
          <a:xfrm>
            <a:off x="5029200" y="3200400"/>
            <a:ext cx="3840480" cy="411480"/>
          </a:xfrm>
          <a:prstGeom prst="rect">
            <a:avLst/>
          </a:prstGeom>
          <a:noFill/>
          <a:ln/>
        </p:spPr>
        <p:txBody>
          <a:bodyPr wrap="square" lIns="0" tIns="0" rIns="0" bIns="0" rtlCol="0" anchor="ctr"/>
          <a:lstStyle/>
          <a:p>
            <a:pPr indent="0" marL="0">
              <a:buNone/>
            </a:pPr>
            <a:r>
              <a:rPr lang="en-US" sz="1100" dirty="0">
                <a:solidFill>
                  <a:srgbClr val="9D9D9D"/>
                </a:solidFill>
                <a:latin typeface="Arial" pitchFamily="34" charset="0"/>
                <a:ea typeface="Arial" pitchFamily="34" charset="-122"/>
                <a:cs typeface="Arial" pitchFamily="34" charset="-120"/>
              </a:rPr>
              <a:t>"John Deere: 85% software margins vs. 25% hardware. Platform economics."</a:t>
            </a:r>
            <a:endParaRPr lang="en-US" sz="1100" dirty="0"/>
          </a:p>
        </p:txBody>
      </p:sp>
      <p:sp>
        <p:nvSpPr>
          <p:cNvPr id="11" name="Text 9"/>
          <p:cNvSpPr/>
          <p:nvPr/>
        </p:nvSpPr>
        <p:spPr>
          <a:xfrm>
            <a:off x="548640" y="3611880"/>
            <a:ext cx="4114800" cy="320040"/>
          </a:xfrm>
          <a:prstGeom prst="rect">
            <a:avLst/>
          </a:prstGeom>
          <a:noFill/>
          <a:ln/>
        </p:spPr>
        <p:txBody>
          <a:bodyPr wrap="square" lIns="0" tIns="0" rIns="0" bIns="0" rtlCol="0" anchor="ctr"/>
          <a:lstStyle/>
          <a:p>
            <a:pPr indent="0" marL="0">
              <a:buNone/>
            </a:pPr>
            <a:r>
              <a:rPr lang="en-US" sz="1100" dirty="0">
                <a:solidFill>
                  <a:srgbClr val="993399"/>
                </a:solidFill>
                <a:latin typeface="Arial" pitchFamily="34" charset="0"/>
                <a:ea typeface="Arial" pitchFamily="34" charset="-122"/>
                <a:cs typeface="Arial" pitchFamily="34" charset="-120"/>
              </a:rPr>
              <a:t>"Phase 1 is deterministic. Phase 3 is vibe engineering at scale."</a:t>
            </a:r>
            <a:endParaRPr lang="en-US" sz="1100" dirty="0"/>
          </a:p>
        </p:txBody>
      </p:sp>
      <p:sp>
        <p:nvSpPr>
          <p:cNvPr id="12" name="Text 10"/>
          <p:cNvSpPr/>
          <p:nvPr/>
        </p:nvSpPr>
        <p:spPr>
          <a:xfrm>
            <a:off x="4572000" y="3611880"/>
            <a:ext cx="4389120" cy="320040"/>
          </a:xfrm>
          <a:prstGeom prst="rect">
            <a:avLst/>
          </a:prstGeom>
          <a:noFill/>
          <a:ln/>
        </p:spPr>
        <p:txBody>
          <a:bodyPr wrap="square" lIns="0" tIns="0" rIns="0" bIns="0" rtlCol="0" anchor="ctr"/>
          <a:lstStyle/>
          <a:p>
            <a:pPr indent="0" marL="0">
              <a:buNone/>
            </a:pPr>
            <a:r>
              <a:rPr lang="en-US" sz="1000" dirty="0">
                <a:solidFill>
                  <a:srgbClr val="9D9D9D"/>
                </a:solidFill>
                <a:latin typeface="Arial" pitchFamily="34" charset="0"/>
                <a:ea typeface="Arial" pitchFamily="34" charset="-122"/>
                <a:cs typeface="Arial" pitchFamily="34" charset="-120"/>
              </a:rPr>
              <a:t>"Most failed transformations build the application layer first and wonder why nothing scales."</a:t>
            </a:r>
            <a:endParaRPr lang="en-US" sz="1000" dirty="0"/>
          </a:p>
        </p:txBody>
      </p:sp>
      <p:sp>
        <p:nvSpPr>
          <p:cNvPr id="13" name="Text 11"/>
          <p:cNvSpPr/>
          <p:nvPr/>
        </p:nvSpPr>
        <p:spPr>
          <a:xfrm>
            <a:off x="548640" y="3931920"/>
            <a:ext cx="4572000" cy="320040"/>
          </a:xfrm>
          <a:prstGeom prst="rect">
            <a:avLst/>
          </a:prstGeom>
          <a:noFill/>
          <a:ln/>
        </p:spPr>
        <p:txBody>
          <a:bodyPr wrap="square" lIns="0" tIns="0" rIns="0" bIns="0" rtlCol="0" anchor="ctr"/>
          <a:lstStyle/>
          <a:p>
            <a:pPr indent="0" marL="0">
              <a:buNone/>
            </a:pPr>
            <a:r>
              <a:rPr lang="en-US" sz="1000" dirty="0">
                <a:solidFill>
                  <a:srgbClr val="8EAFD0"/>
                </a:solidFill>
                <a:latin typeface="Arial" pitchFamily="34" charset="0"/>
                <a:ea typeface="Arial" pitchFamily="34" charset="-122"/>
                <a:cs typeface="Arial" pitchFamily="34" charset="-120"/>
              </a:rPr>
              <a:t>"We will not frame AI as headcount reduction. The workforce evolves — it doesn't shrink."</a:t>
            </a:r>
            <a:endParaRPr lang="en-US" sz="1000" dirty="0"/>
          </a:p>
        </p:txBody>
      </p:sp>
      <p:sp>
        <p:nvSpPr>
          <p:cNvPr id="14" name="Text 12"/>
          <p:cNvSpPr/>
          <p:nvPr/>
        </p:nvSpPr>
        <p:spPr>
          <a:xfrm>
            <a:off x="5303520" y="3977640"/>
            <a:ext cx="3474720" cy="320040"/>
          </a:xfrm>
          <a:prstGeom prst="rect">
            <a:avLst/>
          </a:prstGeom>
          <a:noFill/>
          <a:ln/>
        </p:spPr>
        <p:txBody>
          <a:bodyPr wrap="square" lIns="0" tIns="0" rIns="0" bIns="0" rtlCol="0" anchor="ctr"/>
          <a:lstStyle/>
          <a:p>
            <a:pPr indent="0" marL="0">
              <a:buNone/>
            </a:pPr>
            <a:r>
              <a:rPr lang="en-US" sz="1100" dirty="0">
                <a:solidFill>
                  <a:srgbClr val="993399"/>
                </a:solidFill>
                <a:latin typeface="Arial" pitchFamily="34" charset="0"/>
                <a:ea typeface="Arial" pitchFamily="34" charset="-122"/>
                <a:cs typeface="Arial" pitchFamily="34" charset="-120"/>
              </a:rPr>
              <a:t>"AI is what Japan's engineering culture has been waiting for."</a:t>
            </a:r>
            <a:endParaRPr lang="en-US" sz="1100" dirty="0"/>
          </a:p>
        </p:txBody>
      </p:sp>
      <p:sp>
        <p:nvSpPr>
          <p:cNvPr id="15" name="Text 13"/>
          <p:cNvSpPr/>
          <p:nvPr/>
        </p:nvSpPr>
        <p:spPr>
          <a:xfrm>
            <a:off x="548640" y="4251960"/>
            <a:ext cx="3200400" cy="274320"/>
          </a:xfrm>
          <a:prstGeom prst="rect">
            <a:avLst/>
          </a:prstGeom>
          <a:noFill/>
          <a:ln/>
        </p:spPr>
        <p:txBody>
          <a:bodyPr wrap="square" lIns="0" tIns="0" rIns="0" bIns="0" rtlCol="0" anchor="ctr"/>
          <a:lstStyle/>
          <a:p>
            <a:pPr indent="0" marL="0">
              <a:buNone/>
            </a:pPr>
            <a:r>
              <a:rPr lang="en-US" sz="1000" dirty="0">
                <a:solidFill>
                  <a:srgbClr val="9D9D9D"/>
                </a:solidFill>
                <a:latin typeface="Arial" pitchFamily="34" charset="0"/>
                <a:ea typeface="Arial" pitchFamily="34" charset="-122"/>
                <a:cs typeface="Arial" pitchFamily="34" charset="-120"/>
              </a:rPr>
              <a:t>"Data fragmentation is why most AI initiatives fail."</a:t>
            </a:r>
            <a:endParaRPr lang="en-US" sz="1000" dirty="0"/>
          </a:p>
        </p:txBody>
      </p:sp>
      <p:sp>
        <p:nvSpPr>
          <p:cNvPr id="16" name="Shape 14"/>
          <p:cNvSpPr/>
          <p:nvPr/>
        </p:nvSpPr>
        <p:spPr>
          <a:xfrm>
            <a:off x="0" y="5106924"/>
            <a:ext cx="9144000" cy="36576"/>
          </a:xfrm>
          <a:prstGeom prst="rect">
            <a:avLst/>
          </a:prstGeom>
          <a:solidFill>
            <a:srgbClr val="993399"/>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42D5E"/>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4471A9"/>
          </a:solidFill>
          <a:ln/>
        </p:spPr>
      </p:sp>
      <p:sp>
        <p:nvSpPr>
          <p:cNvPr id="3" name="Text 1"/>
          <p:cNvSpPr/>
          <p:nvPr/>
        </p:nvSpPr>
        <p:spPr>
          <a:xfrm>
            <a:off x="640080" y="1371600"/>
            <a:ext cx="1097280" cy="731520"/>
          </a:xfrm>
          <a:prstGeom prst="rect">
            <a:avLst/>
          </a:prstGeom>
          <a:noFill/>
          <a:ln/>
        </p:spPr>
        <p:txBody>
          <a:bodyPr wrap="square" lIns="0" tIns="0" rIns="0" bIns="0" rtlCol="0" anchor="ctr"/>
          <a:lstStyle/>
          <a:p>
            <a:pPr indent="0" marL="0">
              <a:buNone/>
            </a:pPr>
            <a:r>
              <a:rPr lang="en-US" sz="4800" b="1" dirty="0">
                <a:solidFill>
                  <a:srgbClr val="4471A9"/>
                </a:solidFill>
                <a:latin typeface="Arial" pitchFamily="34" charset="0"/>
                <a:ea typeface="Arial" pitchFamily="34" charset="-122"/>
                <a:cs typeface="Arial" pitchFamily="34" charset="-120"/>
              </a:rPr>
              <a:t>01</a:t>
            </a:r>
            <a:endParaRPr lang="en-US" sz="4800" dirty="0"/>
          </a:p>
        </p:txBody>
      </p:sp>
      <p:sp>
        <p:nvSpPr>
          <p:cNvPr id="4" name="Text 2"/>
          <p:cNvSpPr/>
          <p:nvPr/>
        </p:nvSpPr>
        <p:spPr>
          <a:xfrm>
            <a:off x="640080" y="2103120"/>
            <a:ext cx="7315200" cy="914400"/>
          </a:xfrm>
          <a:prstGeom prst="rect">
            <a:avLst/>
          </a:prstGeom>
          <a:noFill/>
          <a:ln/>
        </p:spPr>
        <p:txBody>
          <a:bodyPr wrap="square" lIns="0" tIns="0" rIns="0" bIns="0" rtlCol="0" anchor="ctr"/>
          <a:lstStyle/>
          <a:p>
            <a:pPr indent="0" marL="0">
              <a:buNone/>
            </a:pPr>
            <a:r>
              <a:rPr lang="en-US" sz="3600" b="1" spc="300" kern="0" dirty="0">
                <a:solidFill>
                  <a:srgbClr val="FFFFFF"/>
                </a:solidFill>
                <a:latin typeface="Arial" pitchFamily="34" charset="0"/>
                <a:ea typeface="Arial" pitchFamily="34" charset="-122"/>
                <a:cs typeface="Arial" pitchFamily="34" charset="-120"/>
              </a:rPr>
              <a:t>THE OPPORTUNITY</a:t>
            </a:r>
            <a:endParaRPr lang="en-US" sz="3600" dirty="0"/>
          </a:p>
        </p:txBody>
      </p:sp>
      <p:sp>
        <p:nvSpPr>
          <p:cNvPr id="5" name="Text 3"/>
          <p:cNvSpPr/>
          <p:nvPr/>
        </p:nvSpPr>
        <p:spPr>
          <a:xfrm>
            <a:off x="640080" y="3017520"/>
            <a:ext cx="6400800" cy="548640"/>
          </a:xfrm>
          <a:prstGeom prst="rect">
            <a:avLst/>
          </a:prstGeom>
          <a:noFill/>
          <a:ln/>
        </p:spPr>
        <p:txBody>
          <a:bodyPr wrap="square" rtlCol="0" anchor="ctr"/>
          <a:lstStyle/>
          <a:p>
            <a:pPr indent="0" marL="0">
              <a:buNone/>
            </a:pPr>
            <a:r>
              <a:rPr lang="en-US" sz="1600" dirty="0">
                <a:solidFill>
                  <a:srgbClr val="4471A9"/>
                </a:solidFill>
                <a:latin typeface="Arial" pitchFamily="34" charset="0"/>
                <a:ea typeface="Arial" pitchFamily="34" charset="-122"/>
                <a:cs typeface="Arial" pitchFamily="34" charset="-120"/>
              </a:rPr>
              <a:t>Why now, why Renesas, and why this matters</a:t>
            </a:r>
            <a:endParaRPr lang="en-US" sz="1600" dirty="0"/>
          </a:p>
        </p:txBody>
      </p:sp>
      <p:sp>
        <p:nvSpPr>
          <p:cNvPr id="6" name="Shape 4"/>
          <p:cNvSpPr/>
          <p:nvPr/>
        </p:nvSpPr>
        <p:spPr>
          <a:xfrm>
            <a:off x="0" y="5106924"/>
            <a:ext cx="9144000" cy="36576"/>
          </a:xfrm>
          <a:prstGeom prst="rect">
            <a:avLst/>
          </a:prstGeom>
          <a:solidFill>
            <a:srgbClr val="993399"/>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Renesas is at a moment of opportunity.</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3</a:t>
            </a:r>
            <a:endParaRPr lang="en-US" sz="700" dirty="0"/>
          </a:p>
        </p:txBody>
      </p:sp>
      <p:sp>
        <p:nvSpPr>
          <p:cNvPr id="8" name="Shape 6"/>
          <p:cNvSpPr/>
          <p:nvPr/>
        </p:nvSpPr>
        <p:spPr>
          <a:xfrm>
            <a:off x="640080" y="1188720"/>
            <a:ext cx="2468880" cy="27432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9" name="Shape 7"/>
          <p:cNvSpPr/>
          <p:nvPr/>
        </p:nvSpPr>
        <p:spPr>
          <a:xfrm>
            <a:off x="640080" y="1188720"/>
            <a:ext cx="64008" cy="2743200"/>
          </a:xfrm>
          <a:prstGeom prst="rect">
            <a:avLst/>
          </a:prstGeom>
          <a:solidFill>
            <a:srgbClr val="06418C"/>
          </a:solidFill>
          <a:ln/>
        </p:spPr>
      </p:sp>
      <p:sp>
        <p:nvSpPr>
          <p:cNvPr id="10" name="Text 8"/>
          <p:cNvSpPr/>
          <p:nvPr/>
        </p:nvSpPr>
        <p:spPr>
          <a:xfrm>
            <a:off x="822960" y="1298448"/>
            <a:ext cx="2148840" cy="320040"/>
          </a:xfrm>
          <a:prstGeom prst="rect">
            <a:avLst/>
          </a:prstGeom>
          <a:noFill/>
          <a:ln/>
        </p:spPr>
        <p:txBody>
          <a:bodyPr wrap="square" lIns="0" tIns="0" rIns="0" bIns="0" rtlCol="0" anchor="t"/>
          <a:lstStyle/>
          <a:p>
            <a:pPr indent="0" marL="0">
              <a:buNone/>
            </a:pPr>
            <a:r>
              <a:rPr lang="en-US" sz="1500" b="1" dirty="0">
                <a:solidFill>
                  <a:srgbClr val="06418C"/>
                </a:solidFill>
                <a:latin typeface="Arial" pitchFamily="34" charset="0"/>
                <a:ea typeface="Arial" pitchFamily="34" charset="-122"/>
                <a:cs typeface="Arial" pitchFamily="34" charset="-120"/>
              </a:rPr>
              <a:t>The Opportunity</a:t>
            </a:r>
            <a:endParaRPr lang="en-US" sz="1500" dirty="0"/>
          </a:p>
        </p:txBody>
      </p:sp>
      <p:sp>
        <p:nvSpPr>
          <p:cNvPr id="11" name="Text 9"/>
          <p:cNvSpPr/>
          <p:nvPr/>
        </p:nvSpPr>
        <p:spPr>
          <a:xfrm>
            <a:off x="822960" y="1627632"/>
            <a:ext cx="2148840" cy="2212848"/>
          </a:xfrm>
          <a:prstGeom prst="rect">
            <a:avLst/>
          </a:prstGeom>
          <a:noFill/>
          <a:ln/>
        </p:spPr>
        <p:txBody>
          <a:bodyPr wrap="square" lIns="0" tIns="0" rIns="0" bIns="0" rtlCol="0" anchor="t"/>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The companies that define how technology, data, and AI are used inside their business will set the competitive pace for the next decade. Renesas has the scale, the IP depth, and the global reach.</a:t>
            </a:r>
            <a:endParaRPr lang="en-US" sz="1200" dirty="0"/>
          </a:p>
        </p:txBody>
      </p:sp>
      <p:sp>
        <p:nvSpPr>
          <p:cNvPr id="12" name="Shape 10"/>
          <p:cNvSpPr/>
          <p:nvPr/>
        </p:nvSpPr>
        <p:spPr>
          <a:xfrm>
            <a:off x="3337560" y="1188720"/>
            <a:ext cx="2468880" cy="27432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3" name="Shape 11"/>
          <p:cNvSpPr/>
          <p:nvPr/>
        </p:nvSpPr>
        <p:spPr>
          <a:xfrm>
            <a:off x="3337560" y="1188720"/>
            <a:ext cx="64008" cy="2743200"/>
          </a:xfrm>
          <a:prstGeom prst="rect">
            <a:avLst/>
          </a:prstGeom>
          <a:solidFill>
            <a:srgbClr val="4471A9"/>
          </a:solidFill>
          <a:ln/>
        </p:spPr>
      </p:sp>
      <p:sp>
        <p:nvSpPr>
          <p:cNvPr id="14" name="Text 12"/>
          <p:cNvSpPr/>
          <p:nvPr/>
        </p:nvSpPr>
        <p:spPr>
          <a:xfrm>
            <a:off x="3520440" y="1298448"/>
            <a:ext cx="2148840" cy="320040"/>
          </a:xfrm>
          <a:prstGeom prst="rect">
            <a:avLst/>
          </a:prstGeom>
          <a:noFill/>
          <a:ln/>
        </p:spPr>
        <p:txBody>
          <a:bodyPr wrap="square" lIns="0" tIns="0" rIns="0" bIns="0" rtlCol="0" anchor="t"/>
          <a:lstStyle/>
          <a:p>
            <a:pPr indent="0" marL="0">
              <a:buNone/>
            </a:pPr>
            <a:r>
              <a:rPr lang="en-US" sz="1500" b="1" dirty="0">
                <a:solidFill>
                  <a:srgbClr val="06418C"/>
                </a:solidFill>
                <a:latin typeface="Arial" pitchFamily="34" charset="0"/>
                <a:ea typeface="Arial" pitchFamily="34" charset="-122"/>
                <a:cs typeface="Arial" pitchFamily="34" charset="-120"/>
              </a:rPr>
              <a:t>The Shift</a:t>
            </a:r>
            <a:endParaRPr lang="en-US" sz="1500" dirty="0"/>
          </a:p>
        </p:txBody>
      </p:sp>
      <p:sp>
        <p:nvSpPr>
          <p:cNvPr id="15" name="Text 13"/>
          <p:cNvSpPr/>
          <p:nvPr/>
        </p:nvSpPr>
        <p:spPr>
          <a:xfrm>
            <a:off x="3520440" y="1627632"/>
            <a:ext cx="2148840" cy="2212848"/>
          </a:xfrm>
          <a:prstGeom prst="rect">
            <a:avLst/>
          </a:prstGeom>
          <a:noFill/>
          <a:ln/>
        </p:spPr>
        <p:txBody>
          <a:bodyPr wrap="square" lIns="0" tIns="0" rIns="0" bIns="0" rtlCol="0" anchor="t"/>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The industry is moving from hardware value to systems and platform value. Customers want more than chips — they want solutions, ecosystems, and speed. The companies that deliver that win.</a:t>
            </a:r>
            <a:endParaRPr lang="en-US" sz="1200" dirty="0"/>
          </a:p>
        </p:txBody>
      </p:sp>
      <p:sp>
        <p:nvSpPr>
          <p:cNvPr id="16" name="Shape 14"/>
          <p:cNvSpPr/>
          <p:nvPr/>
        </p:nvSpPr>
        <p:spPr>
          <a:xfrm>
            <a:off x="6035040" y="1188720"/>
            <a:ext cx="2468880" cy="27432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7" name="Shape 15"/>
          <p:cNvSpPr/>
          <p:nvPr/>
        </p:nvSpPr>
        <p:spPr>
          <a:xfrm>
            <a:off x="6035040" y="1188720"/>
            <a:ext cx="64008" cy="2743200"/>
          </a:xfrm>
          <a:prstGeom prst="rect">
            <a:avLst/>
          </a:prstGeom>
          <a:solidFill>
            <a:srgbClr val="993399"/>
          </a:solidFill>
          <a:ln/>
        </p:spPr>
      </p:sp>
      <p:sp>
        <p:nvSpPr>
          <p:cNvPr id="18" name="Text 16"/>
          <p:cNvSpPr/>
          <p:nvPr/>
        </p:nvSpPr>
        <p:spPr>
          <a:xfrm>
            <a:off x="6217920" y="1298448"/>
            <a:ext cx="2148840" cy="320040"/>
          </a:xfrm>
          <a:prstGeom prst="rect">
            <a:avLst/>
          </a:prstGeom>
          <a:noFill/>
          <a:ln/>
        </p:spPr>
        <p:txBody>
          <a:bodyPr wrap="square" lIns="0" tIns="0" rIns="0" bIns="0" rtlCol="0" anchor="t"/>
          <a:lstStyle/>
          <a:p>
            <a:pPr indent="0" marL="0">
              <a:buNone/>
            </a:pPr>
            <a:r>
              <a:rPr lang="en-US" sz="1500" b="1" dirty="0">
                <a:solidFill>
                  <a:srgbClr val="06418C"/>
                </a:solidFill>
                <a:latin typeface="Arial" pitchFamily="34" charset="0"/>
                <a:ea typeface="Arial" pitchFamily="34" charset="-122"/>
                <a:cs typeface="Arial" pitchFamily="34" charset="-120"/>
              </a:rPr>
              <a:t>The Window</a:t>
            </a:r>
            <a:endParaRPr lang="en-US" sz="1500" dirty="0"/>
          </a:p>
        </p:txBody>
      </p:sp>
      <p:sp>
        <p:nvSpPr>
          <p:cNvPr id="19" name="Text 17"/>
          <p:cNvSpPr/>
          <p:nvPr/>
        </p:nvSpPr>
        <p:spPr>
          <a:xfrm>
            <a:off x="6217920" y="1627632"/>
            <a:ext cx="2148840" cy="2212848"/>
          </a:xfrm>
          <a:prstGeom prst="rect">
            <a:avLst/>
          </a:prstGeom>
          <a:noFill/>
          <a:ln/>
        </p:spPr>
        <p:txBody>
          <a:bodyPr wrap="square" lIns="0" tIns="0" rIns="0" bIns="0" rtlCol="0" anchor="t"/>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This window is open. Not indefinitely. The first movers in AI-native transformation are creating compounding advantages that late movers cannot replicate.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From semiconductor company to systems and platform company.</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4</a:t>
            </a:r>
            <a:endParaRPr lang="en-US" sz="700" dirty="0"/>
          </a:p>
        </p:txBody>
      </p:sp>
      <p:sp>
        <p:nvSpPr>
          <p:cNvPr id="8" name="Shape 6"/>
          <p:cNvSpPr/>
          <p:nvPr/>
        </p:nvSpPr>
        <p:spPr>
          <a:xfrm>
            <a:off x="640080" y="1371600"/>
            <a:ext cx="2194560" cy="1463040"/>
          </a:xfrm>
          <a:prstGeom prst="rect">
            <a:avLst/>
          </a:prstGeom>
          <a:solidFill>
            <a:srgbClr val="9D9D9D"/>
          </a:solidFill>
          <a:ln/>
          <a:effectLst>
            <a:outerShdw sx="100000" sy="100000" kx="0" ky="0" algn="bl" rotWithShape="0" blurRad="101600" dist="25400" dir="8100000">
              <a:srgbClr val="000000">
                <a:alpha val="12000"/>
              </a:srgbClr>
            </a:outerShdw>
          </a:effectLst>
        </p:spPr>
      </p:sp>
      <p:sp>
        <p:nvSpPr>
          <p:cNvPr id="9" name="Text 7"/>
          <p:cNvSpPr/>
          <p:nvPr/>
        </p:nvSpPr>
        <p:spPr>
          <a:xfrm>
            <a:off x="640080" y="1463040"/>
            <a:ext cx="21945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STAGE 1</a:t>
            </a:r>
            <a:endParaRPr lang="en-US" sz="1100" dirty="0"/>
          </a:p>
        </p:txBody>
      </p:sp>
      <p:sp>
        <p:nvSpPr>
          <p:cNvPr id="10" name="Text 8"/>
          <p:cNvSpPr/>
          <p:nvPr/>
        </p:nvSpPr>
        <p:spPr>
          <a:xfrm>
            <a:off x="640080" y="1737360"/>
            <a:ext cx="219456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Semiconductor</a:t>
            </a:r>
            <a:endParaRPr lang="en-US" sz="1800" dirty="0"/>
          </a:p>
          <a:p>
            <a:pPr algn="ctr" indent="0" marL="0">
              <a:buNone/>
            </a:pPr>
            <a:r>
              <a:rPr lang="en-US" sz="1800" b="1" dirty="0">
                <a:solidFill>
                  <a:srgbClr val="FFFFFF"/>
                </a:solidFill>
                <a:latin typeface="Arial" pitchFamily="34" charset="0"/>
                <a:ea typeface="Arial" pitchFamily="34" charset="-122"/>
                <a:cs typeface="Arial" pitchFamily="34" charset="-120"/>
              </a:rPr>
              <a:t>Company</a:t>
            </a:r>
            <a:endParaRPr lang="en-US" sz="1800" dirty="0"/>
          </a:p>
        </p:txBody>
      </p:sp>
      <p:sp>
        <p:nvSpPr>
          <p:cNvPr id="11" name="Text 9"/>
          <p:cNvSpPr/>
          <p:nvPr/>
        </p:nvSpPr>
        <p:spPr>
          <a:xfrm>
            <a:off x="777240" y="2331720"/>
            <a:ext cx="1920240" cy="457200"/>
          </a:xfrm>
          <a:prstGeom prst="rect">
            <a:avLst/>
          </a:prstGeom>
          <a:noFill/>
          <a:ln/>
        </p:spPr>
        <p:txBody>
          <a:bodyPr wrap="square" lIns="0" tIns="0" rIns="0" bIns="0" rtlCol="0" anchor="ctr"/>
          <a:lstStyle/>
          <a:p>
            <a:pPr algn="ctr" indent="0" marL="0">
              <a:buNone/>
            </a:pPr>
            <a:r>
              <a:rPr lang="en-US" sz="1100" dirty="0">
                <a:solidFill>
                  <a:srgbClr val="D0D8E8"/>
                </a:solidFill>
                <a:latin typeface="Arial" pitchFamily="34" charset="0"/>
                <a:ea typeface="Arial" pitchFamily="34" charset="-122"/>
                <a:cs typeface="Arial" pitchFamily="34" charset="-120"/>
              </a:rPr>
              <a:t>Chips, specs,</a:t>
            </a:r>
            <a:endParaRPr lang="en-US" sz="1100" dirty="0"/>
          </a:p>
          <a:p>
            <a:pPr algn="ctr" indent="0" marL="0">
              <a:buNone/>
            </a:pPr>
            <a:r>
              <a:rPr lang="en-US" sz="1100" dirty="0">
                <a:solidFill>
                  <a:srgbClr val="D0D8E8"/>
                </a:solidFill>
                <a:latin typeface="Arial" pitchFamily="34" charset="0"/>
                <a:ea typeface="Arial" pitchFamily="34" charset="-122"/>
                <a:cs typeface="Arial" pitchFamily="34" charset="-120"/>
              </a:rPr>
              <a:t>price competition</a:t>
            </a:r>
            <a:endParaRPr lang="en-US" sz="1100" dirty="0"/>
          </a:p>
        </p:txBody>
      </p:sp>
      <p:sp>
        <p:nvSpPr>
          <p:cNvPr id="12" name="Text 10"/>
          <p:cNvSpPr/>
          <p:nvPr/>
        </p:nvSpPr>
        <p:spPr>
          <a:xfrm>
            <a:off x="2880360" y="1645920"/>
            <a:ext cx="457200" cy="731520"/>
          </a:xfrm>
          <a:prstGeom prst="rect">
            <a:avLst/>
          </a:prstGeom>
          <a:noFill/>
          <a:ln/>
        </p:spPr>
        <p:txBody>
          <a:bodyPr wrap="square" lIns="0" tIns="0" rIns="0" bIns="0" rtlCol="0" anchor="ctr"/>
          <a:lstStyle/>
          <a:p>
            <a:pPr algn="ctr" indent="0" marL="0">
              <a:buNone/>
            </a:pPr>
            <a:r>
              <a:rPr lang="en-US" sz="3600" dirty="0">
                <a:solidFill>
                  <a:srgbClr val="06418C"/>
                </a:solidFill>
                <a:latin typeface="Arial" pitchFamily="34" charset="0"/>
                <a:ea typeface="Arial" pitchFamily="34" charset="-122"/>
                <a:cs typeface="Arial" pitchFamily="34" charset="-120"/>
              </a:rPr>
              <a:t>→</a:t>
            </a:r>
            <a:endParaRPr lang="en-US" sz="3600" dirty="0"/>
          </a:p>
        </p:txBody>
      </p:sp>
      <p:sp>
        <p:nvSpPr>
          <p:cNvPr id="13" name="Shape 11"/>
          <p:cNvSpPr/>
          <p:nvPr/>
        </p:nvSpPr>
        <p:spPr>
          <a:xfrm>
            <a:off x="3383280" y="1371600"/>
            <a:ext cx="2194560" cy="1463040"/>
          </a:xfrm>
          <a:prstGeom prst="rect">
            <a:avLst/>
          </a:prstGeom>
          <a:solidFill>
            <a:srgbClr val="4471A9"/>
          </a:solidFill>
          <a:ln/>
          <a:effectLst>
            <a:outerShdw sx="100000" sy="100000" kx="0" ky="0" algn="bl" rotWithShape="0" blurRad="101600" dist="25400" dir="8100000">
              <a:srgbClr val="000000">
                <a:alpha val="12000"/>
              </a:srgbClr>
            </a:outerShdw>
          </a:effectLst>
        </p:spPr>
      </p:sp>
      <p:sp>
        <p:nvSpPr>
          <p:cNvPr id="14" name="Text 12"/>
          <p:cNvSpPr/>
          <p:nvPr/>
        </p:nvSpPr>
        <p:spPr>
          <a:xfrm>
            <a:off x="3383280" y="1463040"/>
            <a:ext cx="21945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STAGE 2</a:t>
            </a:r>
            <a:endParaRPr lang="en-US" sz="1100" dirty="0"/>
          </a:p>
        </p:txBody>
      </p:sp>
      <p:sp>
        <p:nvSpPr>
          <p:cNvPr id="15" name="Text 13"/>
          <p:cNvSpPr/>
          <p:nvPr/>
        </p:nvSpPr>
        <p:spPr>
          <a:xfrm>
            <a:off x="3383280" y="1737360"/>
            <a:ext cx="219456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Solutions</a:t>
            </a:r>
            <a:endParaRPr lang="en-US" sz="1800" dirty="0"/>
          </a:p>
          <a:p>
            <a:pPr algn="ctr" indent="0" marL="0">
              <a:buNone/>
            </a:pPr>
            <a:r>
              <a:rPr lang="en-US" sz="1800" b="1" dirty="0">
                <a:solidFill>
                  <a:srgbClr val="FFFFFF"/>
                </a:solidFill>
                <a:latin typeface="Arial" pitchFamily="34" charset="0"/>
                <a:ea typeface="Arial" pitchFamily="34" charset="-122"/>
                <a:cs typeface="Arial" pitchFamily="34" charset="-120"/>
              </a:rPr>
              <a:t>Company</a:t>
            </a:r>
            <a:endParaRPr lang="en-US" sz="1800" dirty="0"/>
          </a:p>
        </p:txBody>
      </p:sp>
      <p:sp>
        <p:nvSpPr>
          <p:cNvPr id="16" name="Text 14"/>
          <p:cNvSpPr/>
          <p:nvPr/>
        </p:nvSpPr>
        <p:spPr>
          <a:xfrm>
            <a:off x="3520440" y="2331720"/>
            <a:ext cx="1920240" cy="457200"/>
          </a:xfrm>
          <a:prstGeom prst="rect">
            <a:avLst/>
          </a:prstGeom>
          <a:noFill/>
          <a:ln/>
        </p:spPr>
        <p:txBody>
          <a:bodyPr wrap="square" lIns="0" tIns="0" rIns="0" bIns="0" rtlCol="0" anchor="ctr"/>
          <a:lstStyle/>
          <a:p>
            <a:pPr algn="ctr" indent="0" marL="0">
              <a:buNone/>
            </a:pPr>
            <a:r>
              <a:rPr lang="en-US" sz="1100" dirty="0">
                <a:solidFill>
                  <a:srgbClr val="D0D8E8"/>
                </a:solidFill>
                <a:latin typeface="Arial" pitchFamily="34" charset="0"/>
                <a:ea typeface="Arial" pitchFamily="34" charset="-122"/>
                <a:cs typeface="Arial" pitchFamily="34" charset="-120"/>
              </a:rPr>
              <a:t>Chips + software +</a:t>
            </a:r>
            <a:endParaRPr lang="en-US" sz="1100" dirty="0"/>
          </a:p>
          <a:p>
            <a:pPr algn="ctr" indent="0" marL="0">
              <a:buNone/>
            </a:pPr>
            <a:r>
              <a:rPr lang="en-US" sz="1100" dirty="0">
                <a:solidFill>
                  <a:srgbClr val="D0D8E8"/>
                </a:solidFill>
                <a:latin typeface="Arial" pitchFamily="34" charset="0"/>
                <a:ea typeface="Arial" pitchFamily="34" charset="-122"/>
                <a:cs typeface="Arial" pitchFamily="34" charset="-120"/>
              </a:rPr>
              <a:t>reference designs</a:t>
            </a:r>
            <a:endParaRPr lang="en-US" sz="1100" dirty="0"/>
          </a:p>
        </p:txBody>
      </p:sp>
      <p:sp>
        <p:nvSpPr>
          <p:cNvPr id="17" name="Text 15"/>
          <p:cNvSpPr/>
          <p:nvPr/>
        </p:nvSpPr>
        <p:spPr>
          <a:xfrm>
            <a:off x="5623560" y="1645920"/>
            <a:ext cx="457200" cy="731520"/>
          </a:xfrm>
          <a:prstGeom prst="rect">
            <a:avLst/>
          </a:prstGeom>
          <a:noFill/>
          <a:ln/>
        </p:spPr>
        <p:txBody>
          <a:bodyPr wrap="square" lIns="0" tIns="0" rIns="0" bIns="0" rtlCol="0" anchor="ctr"/>
          <a:lstStyle/>
          <a:p>
            <a:pPr algn="ctr" indent="0" marL="0">
              <a:buNone/>
            </a:pPr>
            <a:r>
              <a:rPr lang="en-US" sz="3600" dirty="0">
                <a:solidFill>
                  <a:srgbClr val="06418C"/>
                </a:solidFill>
                <a:latin typeface="Arial" pitchFamily="34" charset="0"/>
                <a:ea typeface="Arial" pitchFamily="34" charset="-122"/>
                <a:cs typeface="Arial" pitchFamily="34" charset="-120"/>
              </a:rPr>
              <a:t>→</a:t>
            </a:r>
            <a:endParaRPr lang="en-US" sz="3600" dirty="0"/>
          </a:p>
        </p:txBody>
      </p:sp>
      <p:sp>
        <p:nvSpPr>
          <p:cNvPr id="18" name="Shape 16"/>
          <p:cNvSpPr/>
          <p:nvPr/>
        </p:nvSpPr>
        <p:spPr>
          <a:xfrm>
            <a:off x="6126480" y="1371600"/>
            <a:ext cx="2194560" cy="1463040"/>
          </a:xfrm>
          <a:prstGeom prst="rect">
            <a:avLst/>
          </a:prstGeom>
          <a:solidFill>
            <a:srgbClr val="06418C"/>
          </a:solidFill>
          <a:ln/>
          <a:effectLst>
            <a:outerShdw sx="100000" sy="100000" kx="0" ky="0" algn="bl" rotWithShape="0" blurRad="101600" dist="25400" dir="8100000">
              <a:srgbClr val="000000">
                <a:alpha val="12000"/>
              </a:srgbClr>
            </a:outerShdw>
          </a:effectLst>
        </p:spPr>
      </p:sp>
      <p:sp>
        <p:nvSpPr>
          <p:cNvPr id="19" name="Text 17"/>
          <p:cNvSpPr/>
          <p:nvPr/>
        </p:nvSpPr>
        <p:spPr>
          <a:xfrm>
            <a:off x="6126480" y="1463040"/>
            <a:ext cx="21945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STAGE 3</a:t>
            </a:r>
            <a:endParaRPr lang="en-US" sz="1100" dirty="0"/>
          </a:p>
        </p:txBody>
      </p:sp>
      <p:sp>
        <p:nvSpPr>
          <p:cNvPr id="20" name="Text 18"/>
          <p:cNvSpPr/>
          <p:nvPr/>
        </p:nvSpPr>
        <p:spPr>
          <a:xfrm>
            <a:off x="6126480" y="1737360"/>
            <a:ext cx="219456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Platform</a:t>
            </a:r>
            <a:endParaRPr lang="en-US" sz="1800" dirty="0"/>
          </a:p>
          <a:p>
            <a:pPr algn="ctr" indent="0" marL="0">
              <a:buNone/>
            </a:pPr>
            <a:r>
              <a:rPr lang="en-US" sz="1800" b="1" dirty="0">
                <a:solidFill>
                  <a:srgbClr val="FFFFFF"/>
                </a:solidFill>
                <a:latin typeface="Arial" pitchFamily="34" charset="0"/>
                <a:ea typeface="Arial" pitchFamily="34" charset="-122"/>
                <a:cs typeface="Arial" pitchFamily="34" charset="-120"/>
              </a:rPr>
              <a:t>Company</a:t>
            </a:r>
            <a:endParaRPr lang="en-US" sz="1800" dirty="0"/>
          </a:p>
        </p:txBody>
      </p:sp>
      <p:sp>
        <p:nvSpPr>
          <p:cNvPr id="21" name="Text 19"/>
          <p:cNvSpPr/>
          <p:nvPr/>
        </p:nvSpPr>
        <p:spPr>
          <a:xfrm>
            <a:off x="6263640" y="2331720"/>
            <a:ext cx="1920240" cy="457200"/>
          </a:xfrm>
          <a:prstGeom prst="rect">
            <a:avLst/>
          </a:prstGeom>
          <a:noFill/>
          <a:ln/>
        </p:spPr>
        <p:txBody>
          <a:bodyPr wrap="square" lIns="0" tIns="0" rIns="0" bIns="0" rtlCol="0" anchor="ctr"/>
          <a:lstStyle/>
          <a:p>
            <a:pPr algn="ctr" indent="0" marL="0">
              <a:buNone/>
            </a:pPr>
            <a:r>
              <a:rPr lang="en-US" sz="1100" dirty="0">
                <a:solidFill>
                  <a:srgbClr val="D0D8E8"/>
                </a:solidFill>
                <a:latin typeface="Arial" pitchFamily="34" charset="0"/>
                <a:ea typeface="Arial" pitchFamily="34" charset="-122"/>
                <a:cs typeface="Arial" pitchFamily="34" charset="-120"/>
              </a:rPr>
              <a:t>Ecosystem, data,</a:t>
            </a:r>
            <a:endParaRPr lang="en-US" sz="1100" dirty="0"/>
          </a:p>
          <a:p>
            <a:pPr algn="ctr" indent="0" marL="0">
              <a:buNone/>
            </a:pPr>
            <a:r>
              <a:rPr lang="en-US" sz="1100" dirty="0">
                <a:solidFill>
                  <a:srgbClr val="D0D8E8"/>
                </a:solidFill>
                <a:latin typeface="Arial" pitchFamily="34" charset="0"/>
                <a:ea typeface="Arial" pitchFamily="34" charset="-122"/>
                <a:cs typeface="Arial" pitchFamily="34" charset="-120"/>
              </a:rPr>
              <a:t>AI-native design</a:t>
            </a:r>
            <a:endParaRPr lang="en-US" sz="1100" dirty="0"/>
          </a:p>
        </p:txBody>
      </p:sp>
      <p:sp>
        <p:nvSpPr>
          <p:cNvPr id="22" name="Shape 20"/>
          <p:cNvSpPr/>
          <p:nvPr/>
        </p:nvSpPr>
        <p:spPr>
          <a:xfrm>
            <a:off x="640080" y="4023360"/>
            <a:ext cx="7863840" cy="45720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23" name="Text 21"/>
          <p:cNvSpPr/>
          <p:nvPr/>
        </p:nvSpPr>
        <p:spPr>
          <a:xfrm>
            <a:off x="822960" y="4023360"/>
            <a:ext cx="7498080" cy="457200"/>
          </a:xfrm>
          <a:prstGeom prst="rect">
            <a:avLst/>
          </a:prstGeom>
          <a:noFill/>
          <a:ln/>
        </p:spPr>
        <p:txBody>
          <a:bodyPr wrap="square" lIns="0" tIns="0" rIns="0" bIns="0" rtlCol="0" anchor="ctr"/>
          <a:lstStyle/>
          <a:p>
            <a:pPr indent="0" marL="0">
              <a:buNone/>
            </a:pPr>
            <a:r>
              <a:rPr lang="en-US" sz="1300" b="1" i="1" dirty="0">
                <a:solidFill>
                  <a:srgbClr val="06418C"/>
                </a:solidFill>
                <a:latin typeface="Arial" pitchFamily="34" charset="0"/>
                <a:ea typeface="Arial" pitchFamily="34" charset="-122"/>
                <a:cs typeface="Arial" pitchFamily="34" charset="-120"/>
              </a:rPr>
              <a:t>Altium changes the equation. The digital infrastructure we create is the foundation that makes R365 and the broader platform vision technically possible.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Peers are investing. The gap is widening.</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5</a:t>
            </a:r>
            <a:endParaRPr lang="en-US" sz="700" dirty="0"/>
          </a:p>
        </p:txBody>
      </p:sp>
      <p:sp>
        <p:nvSpPr>
          <p:cNvPr id="8" name="Shape 6"/>
          <p:cNvSpPr/>
          <p:nvPr/>
        </p:nvSpPr>
        <p:spPr>
          <a:xfrm>
            <a:off x="640080" y="1188720"/>
            <a:ext cx="3794760" cy="13716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9" name="Shape 7"/>
          <p:cNvSpPr/>
          <p:nvPr/>
        </p:nvSpPr>
        <p:spPr>
          <a:xfrm>
            <a:off x="640080" y="1188720"/>
            <a:ext cx="64008" cy="1371600"/>
          </a:xfrm>
          <a:prstGeom prst="rect">
            <a:avLst/>
          </a:prstGeom>
          <a:solidFill>
            <a:srgbClr val="06418C"/>
          </a:solidFill>
          <a:ln/>
        </p:spPr>
      </p:sp>
      <p:sp>
        <p:nvSpPr>
          <p:cNvPr id="10" name="Text 8"/>
          <p:cNvSpPr/>
          <p:nvPr/>
        </p:nvSpPr>
        <p:spPr>
          <a:xfrm>
            <a:off x="822960" y="1298448"/>
            <a:ext cx="3474720" cy="320040"/>
          </a:xfrm>
          <a:prstGeom prst="rect">
            <a:avLst/>
          </a:prstGeom>
          <a:noFill/>
          <a:ln/>
        </p:spPr>
        <p:txBody>
          <a:bodyPr wrap="square" lIns="0" tIns="0" rIns="0" bIns="0" rtlCol="0" anchor="t"/>
          <a:lstStyle/>
          <a:p>
            <a:pPr indent="0" marL="0">
              <a:buNone/>
            </a:pPr>
            <a:r>
              <a:rPr lang="en-US" sz="1500" b="1" dirty="0">
                <a:solidFill>
                  <a:srgbClr val="06418C"/>
                </a:solidFill>
                <a:latin typeface="Arial" pitchFamily="34" charset="0"/>
                <a:ea typeface="Arial" pitchFamily="34" charset="-122"/>
                <a:cs typeface="Arial" pitchFamily="34" charset="-120"/>
              </a:rPr>
              <a:t>NVIDIA</a:t>
            </a:r>
            <a:endParaRPr lang="en-US" sz="1500" dirty="0"/>
          </a:p>
        </p:txBody>
      </p:sp>
      <p:sp>
        <p:nvSpPr>
          <p:cNvPr id="11" name="Text 9"/>
          <p:cNvSpPr/>
          <p:nvPr/>
        </p:nvSpPr>
        <p:spPr>
          <a:xfrm>
            <a:off x="822960" y="1627632"/>
            <a:ext cx="3474720" cy="841248"/>
          </a:xfrm>
          <a:prstGeom prst="rect">
            <a:avLst/>
          </a:prstGeom>
          <a:noFill/>
          <a:ln/>
        </p:spPr>
        <p:txBody>
          <a:bodyPr wrap="square" lIns="0" tIns="0" rIns="0" bIns="0" rtlCol="0" anchor="t"/>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Internal ChipNeMo LLM trained on chip design data. AI-generated RTL. EDA workflow automation at scale.</a:t>
            </a:r>
            <a:endParaRPr lang="en-US" sz="1200" dirty="0"/>
          </a:p>
        </p:txBody>
      </p:sp>
      <p:sp>
        <p:nvSpPr>
          <p:cNvPr id="12" name="Shape 10"/>
          <p:cNvSpPr/>
          <p:nvPr/>
        </p:nvSpPr>
        <p:spPr>
          <a:xfrm>
            <a:off x="4709160" y="1188720"/>
            <a:ext cx="3794760" cy="13716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3" name="Shape 11"/>
          <p:cNvSpPr/>
          <p:nvPr/>
        </p:nvSpPr>
        <p:spPr>
          <a:xfrm>
            <a:off x="4709160" y="1188720"/>
            <a:ext cx="64008" cy="1371600"/>
          </a:xfrm>
          <a:prstGeom prst="rect">
            <a:avLst/>
          </a:prstGeom>
          <a:solidFill>
            <a:srgbClr val="4471A9"/>
          </a:solidFill>
          <a:ln/>
        </p:spPr>
      </p:sp>
      <p:sp>
        <p:nvSpPr>
          <p:cNvPr id="14" name="Text 12"/>
          <p:cNvSpPr/>
          <p:nvPr/>
        </p:nvSpPr>
        <p:spPr>
          <a:xfrm>
            <a:off x="4892040" y="1298448"/>
            <a:ext cx="3474720" cy="320040"/>
          </a:xfrm>
          <a:prstGeom prst="rect">
            <a:avLst/>
          </a:prstGeom>
          <a:noFill/>
          <a:ln/>
        </p:spPr>
        <p:txBody>
          <a:bodyPr wrap="square" lIns="0" tIns="0" rIns="0" bIns="0" rtlCol="0" anchor="t"/>
          <a:lstStyle/>
          <a:p>
            <a:pPr indent="0" marL="0">
              <a:buNone/>
            </a:pPr>
            <a:r>
              <a:rPr lang="en-US" sz="1500" b="1" dirty="0">
                <a:solidFill>
                  <a:srgbClr val="06418C"/>
                </a:solidFill>
                <a:latin typeface="Arial" pitchFamily="34" charset="0"/>
                <a:ea typeface="Arial" pitchFamily="34" charset="-122"/>
                <a:cs typeface="Arial" pitchFamily="34" charset="-120"/>
              </a:rPr>
              <a:t>Siemens EDA</a:t>
            </a:r>
            <a:endParaRPr lang="en-US" sz="1500" dirty="0"/>
          </a:p>
        </p:txBody>
      </p:sp>
      <p:sp>
        <p:nvSpPr>
          <p:cNvPr id="15" name="Text 13"/>
          <p:cNvSpPr/>
          <p:nvPr/>
        </p:nvSpPr>
        <p:spPr>
          <a:xfrm>
            <a:off x="4892040" y="1627632"/>
            <a:ext cx="3474720" cy="841248"/>
          </a:xfrm>
          <a:prstGeom prst="rect">
            <a:avLst/>
          </a:prstGeom>
          <a:noFill/>
          <a:ln/>
        </p:spPr>
        <p:txBody>
          <a:bodyPr wrap="square" lIns="0" tIns="0" rIns="0" bIns="0" rtlCol="0" anchor="t"/>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Nine AI copilots across design tools. First industrial foundation model. PLM-EDA convergence.</a:t>
            </a:r>
            <a:endParaRPr lang="en-US" sz="1200" dirty="0"/>
          </a:p>
        </p:txBody>
      </p:sp>
      <p:sp>
        <p:nvSpPr>
          <p:cNvPr id="16" name="Shape 14"/>
          <p:cNvSpPr/>
          <p:nvPr/>
        </p:nvSpPr>
        <p:spPr>
          <a:xfrm>
            <a:off x="640080" y="2743200"/>
            <a:ext cx="3794760" cy="13716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7" name="Shape 15"/>
          <p:cNvSpPr/>
          <p:nvPr/>
        </p:nvSpPr>
        <p:spPr>
          <a:xfrm>
            <a:off x="640080" y="2743200"/>
            <a:ext cx="64008" cy="1371600"/>
          </a:xfrm>
          <a:prstGeom prst="rect">
            <a:avLst/>
          </a:prstGeom>
          <a:solidFill>
            <a:srgbClr val="0891B2"/>
          </a:solidFill>
          <a:ln/>
        </p:spPr>
      </p:sp>
      <p:sp>
        <p:nvSpPr>
          <p:cNvPr id="18" name="Text 16"/>
          <p:cNvSpPr/>
          <p:nvPr/>
        </p:nvSpPr>
        <p:spPr>
          <a:xfrm>
            <a:off x="822960" y="2852928"/>
            <a:ext cx="3474720" cy="320040"/>
          </a:xfrm>
          <a:prstGeom prst="rect">
            <a:avLst/>
          </a:prstGeom>
          <a:noFill/>
          <a:ln/>
        </p:spPr>
        <p:txBody>
          <a:bodyPr wrap="square" lIns="0" tIns="0" rIns="0" bIns="0" rtlCol="0" anchor="t"/>
          <a:lstStyle/>
          <a:p>
            <a:pPr indent="0" marL="0">
              <a:buNone/>
            </a:pPr>
            <a:r>
              <a:rPr lang="en-US" sz="1500" b="1" dirty="0">
                <a:solidFill>
                  <a:srgbClr val="06418C"/>
                </a:solidFill>
                <a:latin typeface="Arial" pitchFamily="34" charset="0"/>
                <a:ea typeface="Arial" pitchFamily="34" charset="-122"/>
                <a:cs typeface="Arial" pitchFamily="34" charset="-120"/>
              </a:rPr>
              <a:t>NXP</a:t>
            </a:r>
            <a:endParaRPr lang="en-US" sz="1500" dirty="0"/>
          </a:p>
        </p:txBody>
      </p:sp>
      <p:sp>
        <p:nvSpPr>
          <p:cNvPr id="19" name="Text 17"/>
          <p:cNvSpPr/>
          <p:nvPr/>
        </p:nvSpPr>
        <p:spPr>
          <a:xfrm>
            <a:off x="822960" y="3182112"/>
            <a:ext cx="3474720" cy="841248"/>
          </a:xfrm>
          <a:prstGeom prst="rect">
            <a:avLst/>
          </a:prstGeom>
          <a:noFill/>
          <a:ln/>
        </p:spPr>
        <p:txBody>
          <a:bodyPr wrap="square" lIns="0" tIns="0" rIns="0" bIns="0" rtlCol="0" anchor="t"/>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$307M Kinara acquisition (Oct 2025) for edge NPU capability. Building complete AI systems from TinyML to generative AI.</a:t>
            </a:r>
            <a:endParaRPr lang="en-US" sz="1200" dirty="0"/>
          </a:p>
        </p:txBody>
      </p:sp>
      <p:sp>
        <p:nvSpPr>
          <p:cNvPr id="20" name="Shape 18"/>
          <p:cNvSpPr/>
          <p:nvPr/>
        </p:nvSpPr>
        <p:spPr>
          <a:xfrm>
            <a:off x="4709160" y="2743200"/>
            <a:ext cx="3794760" cy="13716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1" name="Shape 19"/>
          <p:cNvSpPr/>
          <p:nvPr/>
        </p:nvSpPr>
        <p:spPr>
          <a:xfrm>
            <a:off x="4709160" y="2743200"/>
            <a:ext cx="64008" cy="1371600"/>
          </a:xfrm>
          <a:prstGeom prst="rect">
            <a:avLst/>
          </a:prstGeom>
          <a:solidFill>
            <a:srgbClr val="669933"/>
          </a:solidFill>
          <a:ln/>
        </p:spPr>
      </p:sp>
      <p:sp>
        <p:nvSpPr>
          <p:cNvPr id="22" name="Text 20"/>
          <p:cNvSpPr/>
          <p:nvPr/>
        </p:nvSpPr>
        <p:spPr>
          <a:xfrm>
            <a:off x="4892040" y="2852928"/>
            <a:ext cx="3474720" cy="320040"/>
          </a:xfrm>
          <a:prstGeom prst="rect">
            <a:avLst/>
          </a:prstGeom>
          <a:noFill/>
          <a:ln/>
        </p:spPr>
        <p:txBody>
          <a:bodyPr wrap="square" lIns="0" tIns="0" rIns="0" bIns="0" rtlCol="0" anchor="t"/>
          <a:lstStyle/>
          <a:p>
            <a:pPr indent="0" marL="0">
              <a:buNone/>
            </a:pPr>
            <a:r>
              <a:rPr lang="en-US" sz="1500" b="1" dirty="0">
                <a:solidFill>
                  <a:srgbClr val="06418C"/>
                </a:solidFill>
                <a:latin typeface="Arial" pitchFamily="34" charset="0"/>
                <a:ea typeface="Arial" pitchFamily="34" charset="-122"/>
                <a:cs typeface="Arial" pitchFamily="34" charset="-120"/>
              </a:rPr>
              <a:t>Infineon</a:t>
            </a:r>
            <a:endParaRPr lang="en-US" sz="1500" dirty="0"/>
          </a:p>
        </p:txBody>
      </p:sp>
      <p:sp>
        <p:nvSpPr>
          <p:cNvPr id="23" name="Text 21"/>
          <p:cNvSpPr/>
          <p:nvPr/>
        </p:nvSpPr>
        <p:spPr>
          <a:xfrm>
            <a:off x="4892040" y="3182112"/>
            <a:ext cx="3474720" cy="841248"/>
          </a:xfrm>
          <a:prstGeom prst="rect">
            <a:avLst/>
          </a:prstGeom>
          <a:noFill/>
          <a:ln/>
        </p:spPr>
        <p:txBody>
          <a:bodyPr wrap="square" lIns="0" tIns="0" rIns="0" bIns="0" rtlCol="0" anchor="t"/>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GenAI chatbot for all employees. 100+ internal low-code apps. 1,000+ employees upskilled. Real internal transformation.</a:t>
            </a:r>
            <a:endParaRPr lang="en-US" sz="1200" dirty="0"/>
          </a:p>
        </p:txBody>
      </p:sp>
      <p:sp>
        <p:nvSpPr>
          <p:cNvPr id="24" name="Shape 22"/>
          <p:cNvSpPr/>
          <p:nvPr/>
        </p:nvSpPr>
        <p:spPr>
          <a:xfrm>
            <a:off x="640080" y="4114800"/>
            <a:ext cx="7863840" cy="45720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25" name="Text 23"/>
          <p:cNvSpPr/>
          <p:nvPr/>
        </p:nvSpPr>
        <p:spPr>
          <a:xfrm>
            <a:off x="822960" y="4114800"/>
            <a:ext cx="7498080" cy="457200"/>
          </a:xfrm>
          <a:prstGeom prst="rect">
            <a:avLst/>
          </a:prstGeom>
          <a:noFill/>
          <a:ln/>
        </p:spPr>
        <p:txBody>
          <a:bodyPr wrap="square" lIns="0" tIns="0" rIns="0" bIns="0" rtlCol="0" anchor="ctr"/>
          <a:lstStyle/>
          <a:p>
            <a:pPr indent="0" marL="0">
              <a:buNone/>
            </a:pPr>
            <a:r>
              <a:rPr lang="en-US" sz="1300" b="1" i="1" dirty="0">
                <a:solidFill>
                  <a:srgbClr val="06418C"/>
                </a:solidFill>
                <a:latin typeface="Arial" pitchFamily="34" charset="0"/>
                <a:ea typeface="Arial" pitchFamily="34" charset="-122"/>
                <a:cs typeface="Arial" pitchFamily="34" charset="-120"/>
              </a:rPr>
              <a:t>The opportunity is not about keeping pace. It's about leapfrogging — building AI-native capability while others retrofit.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The opportunity compounds over time. Starting now creates advantages.</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6</a:t>
            </a:r>
            <a:endParaRPr lang="en-US" sz="700" dirty="0"/>
          </a:p>
        </p:txBody>
      </p:sp>
      <p:sp>
        <p:nvSpPr>
          <p:cNvPr id="8" name="Text 6"/>
          <p:cNvSpPr/>
          <p:nvPr/>
        </p:nvSpPr>
        <p:spPr>
          <a:xfrm>
            <a:off x="640080" y="1234440"/>
            <a:ext cx="731520" cy="640080"/>
          </a:xfrm>
          <a:prstGeom prst="rect">
            <a:avLst/>
          </a:prstGeom>
          <a:noFill/>
          <a:ln/>
        </p:spPr>
        <p:txBody>
          <a:bodyPr wrap="square" lIns="0" tIns="0" rIns="0" bIns="0" rtlCol="0" anchor="ctr"/>
          <a:lstStyle/>
          <a:p>
            <a:pPr indent="0" marL="0">
              <a:buNone/>
            </a:pPr>
            <a:r>
              <a:rPr lang="en-US" sz="4000" b="1" dirty="0">
                <a:solidFill>
                  <a:srgbClr val="4471A9"/>
                </a:solidFill>
                <a:latin typeface="Arial" pitchFamily="34" charset="0"/>
                <a:ea typeface="Arial" pitchFamily="34" charset="-122"/>
                <a:cs typeface="Arial" pitchFamily="34" charset="-120"/>
              </a:rPr>
              <a:t>01</a:t>
            </a:r>
            <a:endParaRPr lang="en-US" sz="4000" dirty="0"/>
          </a:p>
        </p:txBody>
      </p:sp>
      <p:sp>
        <p:nvSpPr>
          <p:cNvPr id="9" name="Text 7"/>
          <p:cNvSpPr/>
          <p:nvPr/>
        </p:nvSpPr>
        <p:spPr>
          <a:xfrm>
            <a:off x="685800" y="1874520"/>
            <a:ext cx="2377440" cy="365760"/>
          </a:xfrm>
          <a:prstGeom prst="rect">
            <a:avLst/>
          </a:prstGeom>
          <a:noFill/>
          <a:ln/>
        </p:spPr>
        <p:txBody>
          <a:bodyPr wrap="square" lIns="0" tIns="0" rIns="0" bIns="0" rtlCol="0" anchor="ctr"/>
          <a:lstStyle/>
          <a:p>
            <a:pPr indent="0" marL="0">
              <a:buNone/>
            </a:pPr>
            <a:r>
              <a:rPr lang="en-US" sz="1600" b="1" dirty="0">
                <a:solidFill>
                  <a:srgbClr val="06418C"/>
                </a:solidFill>
                <a:latin typeface="Arial" pitchFamily="34" charset="0"/>
                <a:ea typeface="Arial" pitchFamily="34" charset="-122"/>
                <a:cs typeface="Arial" pitchFamily="34" charset="-120"/>
              </a:rPr>
              <a:t>Technology Maturity</a:t>
            </a:r>
            <a:endParaRPr lang="en-US" sz="1600" dirty="0"/>
          </a:p>
        </p:txBody>
      </p:sp>
      <p:sp>
        <p:nvSpPr>
          <p:cNvPr id="10" name="Text 8"/>
          <p:cNvSpPr/>
          <p:nvPr/>
        </p:nvSpPr>
        <p:spPr>
          <a:xfrm>
            <a:off x="685800" y="2286000"/>
            <a:ext cx="2377440" cy="1645920"/>
          </a:xfrm>
          <a:prstGeom prst="rect">
            <a:avLst/>
          </a:prstGeom>
          <a:noFill/>
          <a:ln/>
        </p:spPr>
        <p:txBody>
          <a:bodyPr wrap="square" lIns="0" tIns="0" rIns="0" bIns="0" rtlCol="0" anchor="ctr"/>
          <a:lstStyle/>
          <a:p>
            <a:pPr indent="0" marL="0">
              <a:lnSpc>
                <a:spcPct val="125000"/>
              </a:lnSpc>
              <a:buNone/>
            </a:pPr>
            <a:r>
              <a:rPr lang="en-US" sz="1200" dirty="0">
                <a:solidFill>
                  <a:srgbClr val="4A4A4A"/>
                </a:solidFill>
                <a:latin typeface="Arial" pitchFamily="34" charset="0"/>
                <a:ea typeface="Arial" pitchFamily="34" charset="-122"/>
                <a:cs typeface="Arial" pitchFamily="34" charset="-120"/>
              </a:rPr>
              <a:t>Foundation models, data platforms, and EDA AI tools are production-ready for the first time. We integrate world-class capability — we don't build from scratch.</a:t>
            </a:r>
            <a:endParaRPr lang="en-US" sz="1200" dirty="0"/>
          </a:p>
        </p:txBody>
      </p:sp>
      <p:sp>
        <p:nvSpPr>
          <p:cNvPr id="11" name="Shape 9"/>
          <p:cNvSpPr/>
          <p:nvPr/>
        </p:nvSpPr>
        <p:spPr>
          <a:xfrm>
            <a:off x="3246120" y="1371600"/>
            <a:ext cx="0" cy="2377440"/>
          </a:xfrm>
          <a:prstGeom prst="line">
            <a:avLst/>
          </a:prstGeom>
          <a:noFill/>
          <a:ln w="12700">
            <a:solidFill>
              <a:srgbClr val="E0E0E0"/>
            </a:solidFill>
            <a:prstDash val="solid"/>
          </a:ln>
        </p:spPr>
      </p:sp>
      <p:sp>
        <p:nvSpPr>
          <p:cNvPr id="12" name="Text 10"/>
          <p:cNvSpPr/>
          <p:nvPr/>
        </p:nvSpPr>
        <p:spPr>
          <a:xfrm>
            <a:off x="3337560" y="1234440"/>
            <a:ext cx="731520" cy="640080"/>
          </a:xfrm>
          <a:prstGeom prst="rect">
            <a:avLst/>
          </a:prstGeom>
          <a:noFill/>
          <a:ln/>
        </p:spPr>
        <p:txBody>
          <a:bodyPr wrap="square" lIns="0" tIns="0" rIns="0" bIns="0" rtlCol="0" anchor="ctr"/>
          <a:lstStyle/>
          <a:p>
            <a:pPr indent="0" marL="0">
              <a:buNone/>
            </a:pPr>
            <a:r>
              <a:rPr lang="en-US" sz="4000" b="1" dirty="0">
                <a:solidFill>
                  <a:srgbClr val="4471A9"/>
                </a:solidFill>
                <a:latin typeface="Arial" pitchFamily="34" charset="0"/>
                <a:ea typeface="Arial" pitchFamily="34" charset="-122"/>
                <a:cs typeface="Arial" pitchFamily="34" charset="-120"/>
              </a:rPr>
              <a:t>02</a:t>
            </a:r>
            <a:endParaRPr lang="en-US" sz="4000" dirty="0"/>
          </a:p>
        </p:txBody>
      </p:sp>
      <p:sp>
        <p:nvSpPr>
          <p:cNvPr id="13" name="Text 11"/>
          <p:cNvSpPr/>
          <p:nvPr/>
        </p:nvSpPr>
        <p:spPr>
          <a:xfrm>
            <a:off x="3383280" y="1874520"/>
            <a:ext cx="2377440" cy="365760"/>
          </a:xfrm>
          <a:prstGeom prst="rect">
            <a:avLst/>
          </a:prstGeom>
          <a:noFill/>
          <a:ln/>
        </p:spPr>
        <p:txBody>
          <a:bodyPr wrap="square" lIns="0" tIns="0" rIns="0" bIns="0" rtlCol="0" anchor="ctr"/>
          <a:lstStyle/>
          <a:p>
            <a:pPr indent="0" marL="0">
              <a:buNone/>
            </a:pPr>
            <a:r>
              <a:rPr lang="en-US" sz="1600" b="1" dirty="0">
                <a:solidFill>
                  <a:srgbClr val="06418C"/>
                </a:solidFill>
                <a:latin typeface="Arial" pitchFamily="34" charset="0"/>
                <a:ea typeface="Arial" pitchFamily="34" charset="-122"/>
                <a:cs typeface="Arial" pitchFamily="34" charset="-120"/>
              </a:rPr>
              <a:t>Organizational Readiness</a:t>
            </a:r>
            <a:endParaRPr lang="en-US" sz="1600" dirty="0"/>
          </a:p>
        </p:txBody>
      </p:sp>
      <p:sp>
        <p:nvSpPr>
          <p:cNvPr id="14" name="Text 12"/>
          <p:cNvSpPr/>
          <p:nvPr/>
        </p:nvSpPr>
        <p:spPr>
          <a:xfrm>
            <a:off x="3383280" y="2286000"/>
            <a:ext cx="2377440" cy="1645920"/>
          </a:xfrm>
          <a:prstGeom prst="rect">
            <a:avLst/>
          </a:prstGeom>
          <a:noFill/>
          <a:ln/>
        </p:spPr>
        <p:txBody>
          <a:bodyPr wrap="square" lIns="0" tIns="0" rIns="0" bIns="0" rtlCol="0" anchor="ctr"/>
          <a:lstStyle/>
          <a:p>
            <a:pPr indent="0" marL="0">
              <a:lnSpc>
                <a:spcPct val="125000"/>
              </a:lnSpc>
              <a:buNone/>
            </a:pPr>
            <a:r>
              <a:rPr lang="en-US" sz="1200" dirty="0">
                <a:solidFill>
                  <a:srgbClr val="4A4A4A"/>
                </a:solidFill>
                <a:latin typeface="Arial" pitchFamily="34" charset="0"/>
                <a:ea typeface="Arial" pitchFamily="34" charset="-122"/>
                <a:cs typeface="Arial" pitchFamily="34" charset="-120"/>
              </a:rPr>
              <a:t>The Altium acquisition, US expansion, and ELT alignment create a coalition for change that didn't exist two years ago.</a:t>
            </a:r>
            <a:endParaRPr lang="en-US" sz="1200" dirty="0"/>
          </a:p>
        </p:txBody>
      </p:sp>
      <p:sp>
        <p:nvSpPr>
          <p:cNvPr id="15" name="Shape 13"/>
          <p:cNvSpPr/>
          <p:nvPr/>
        </p:nvSpPr>
        <p:spPr>
          <a:xfrm>
            <a:off x="5943600" y="1371600"/>
            <a:ext cx="0" cy="2377440"/>
          </a:xfrm>
          <a:prstGeom prst="line">
            <a:avLst/>
          </a:prstGeom>
          <a:noFill/>
          <a:ln w="12700">
            <a:solidFill>
              <a:srgbClr val="E0E0E0"/>
            </a:solidFill>
            <a:prstDash val="solid"/>
          </a:ln>
        </p:spPr>
      </p:sp>
      <p:sp>
        <p:nvSpPr>
          <p:cNvPr id="16" name="Text 14"/>
          <p:cNvSpPr/>
          <p:nvPr/>
        </p:nvSpPr>
        <p:spPr>
          <a:xfrm>
            <a:off x="6035040" y="1234440"/>
            <a:ext cx="731520" cy="640080"/>
          </a:xfrm>
          <a:prstGeom prst="rect">
            <a:avLst/>
          </a:prstGeom>
          <a:noFill/>
          <a:ln/>
        </p:spPr>
        <p:txBody>
          <a:bodyPr wrap="square" lIns="0" tIns="0" rIns="0" bIns="0" rtlCol="0" anchor="ctr"/>
          <a:lstStyle/>
          <a:p>
            <a:pPr indent="0" marL="0">
              <a:buNone/>
            </a:pPr>
            <a:r>
              <a:rPr lang="en-US" sz="4000" b="1" dirty="0">
                <a:solidFill>
                  <a:srgbClr val="4471A9"/>
                </a:solidFill>
                <a:latin typeface="Arial" pitchFamily="34" charset="0"/>
                <a:ea typeface="Arial" pitchFamily="34" charset="-122"/>
                <a:cs typeface="Arial" pitchFamily="34" charset="-120"/>
              </a:rPr>
              <a:t>03</a:t>
            </a:r>
            <a:endParaRPr lang="en-US" sz="4000" dirty="0"/>
          </a:p>
        </p:txBody>
      </p:sp>
      <p:sp>
        <p:nvSpPr>
          <p:cNvPr id="17" name="Text 15"/>
          <p:cNvSpPr/>
          <p:nvPr/>
        </p:nvSpPr>
        <p:spPr>
          <a:xfrm>
            <a:off x="6080760" y="1874520"/>
            <a:ext cx="2377440" cy="365760"/>
          </a:xfrm>
          <a:prstGeom prst="rect">
            <a:avLst/>
          </a:prstGeom>
          <a:noFill/>
          <a:ln/>
        </p:spPr>
        <p:txBody>
          <a:bodyPr wrap="square" lIns="0" tIns="0" rIns="0" bIns="0" rtlCol="0" anchor="ctr"/>
          <a:lstStyle/>
          <a:p>
            <a:pPr indent="0" marL="0">
              <a:buNone/>
            </a:pPr>
            <a:r>
              <a:rPr lang="en-US" sz="1600" b="1" dirty="0">
                <a:solidFill>
                  <a:srgbClr val="06418C"/>
                </a:solidFill>
                <a:latin typeface="Arial" pitchFamily="34" charset="0"/>
                <a:ea typeface="Arial" pitchFamily="34" charset="-122"/>
                <a:cs typeface="Arial" pitchFamily="34" charset="-120"/>
              </a:rPr>
              <a:t>Self-Funding Model</a:t>
            </a:r>
            <a:endParaRPr lang="en-US" sz="1600" dirty="0"/>
          </a:p>
        </p:txBody>
      </p:sp>
      <p:sp>
        <p:nvSpPr>
          <p:cNvPr id="18" name="Text 16"/>
          <p:cNvSpPr/>
          <p:nvPr/>
        </p:nvSpPr>
        <p:spPr>
          <a:xfrm>
            <a:off x="6080760" y="2286000"/>
            <a:ext cx="2377440" cy="1645920"/>
          </a:xfrm>
          <a:prstGeom prst="rect">
            <a:avLst/>
          </a:prstGeom>
          <a:noFill/>
          <a:ln/>
        </p:spPr>
        <p:txBody>
          <a:bodyPr wrap="square" lIns="0" tIns="0" rIns="0" bIns="0" rtlCol="0" anchor="ctr"/>
          <a:lstStyle/>
          <a:p>
            <a:pPr indent="0" marL="0">
              <a:lnSpc>
                <a:spcPct val="125000"/>
              </a:lnSpc>
              <a:buNone/>
            </a:pPr>
            <a:r>
              <a:rPr lang="en-US" sz="1200" dirty="0">
                <a:solidFill>
                  <a:srgbClr val="4A4A4A"/>
                </a:solidFill>
                <a:latin typeface="Arial" pitchFamily="34" charset="0"/>
                <a:ea typeface="Arial" pitchFamily="34" charset="-122"/>
                <a:cs typeface="Arial" pitchFamily="34" charset="-120"/>
              </a:rPr>
              <a:t>Early efficiency gains directly fund the next phase. This transformation pays for itself — cost reductions in Phase 1 create investment capacity for Phase 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42D5E"/>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4471A9"/>
          </a:solidFill>
          <a:ln/>
        </p:spPr>
      </p:sp>
      <p:sp>
        <p:nvSpPr>
          <p:cNvPr id="3" name="Text 1"/>
          <p:cNvSpPr/>
          <p:nvPr/>
        </p:nvSpPr>
        <p:spPr>
          <a:xfrm>
            <a:off x="640080" y="1371600"/>
            <a:ext cx="1097280" cy="731520"/>
          </a:xfrm>
          <a:prstGeom prst="rect">
            <a:avLst/>
          </a:prstGeom>
          <a:noFill/>
          <a:ln/>
        </p:spPr>
        <p:txBody>
          <a:bodyPr wrap="square" lIns="0" tIns="0" rIns="0" bIns="0" rtlCol="0" anchor="ctr"/>
          <a:lstStyle/>
          <a:p>
            <a:pPr indent="0" marL="0">
              <a:buNone/>
            </a:pPr>
            <a:r>
              <a:rPr lang="en-US" sz="4800" b="1" dirty="0">
                <a:solidFill>
                  <a:srgbClr val="4471A9"/>
                </a:solidFill>
                <a:latin typeface="Arial" pitchFamily="34" charset="0"/>
                <a:ea typeface="Arial" pitchFamily="34" charset="-122"/>
                <a:cs typeface="Arial" pitchFamily="34" charset="-120"/>
              </a:rPr>
              <a:t>02</a:t>
            </a:r>
            <a:endParaRPr lang="en-US" sz="4800" dirty="0"/>
          </a:p>
        </p:txBody>
      </p:sp>
      <p:sp>
        <p:nvSpPr>
          <p:cNvPr id="4" name="Text 2"/>
          <p:cNvSpPr/>
          <p:nvPr/>
        </p:nvSpPr>
        <p:spPr>
          <a:xfrm>
            <a:off x="640080" y="2103120"/>
            <a:ext cx="7315200" cy="914400"/>
          </a:xfrm>
          <a:prstGeom prst="rect">
            <a:avLst/>
          </a:prstGeom>
          <a:noFill/>
          <a:ln/>
        </p:spPr>
        <p:txBody>
          <a:bodyPr wrap="square" lIns="0" tIns="0" rIns="0" bIns="0" rtlCol="0" anchor="ctr"/>
          <a:lstStyle/>
          <a:p>
            <a:pPr indent="0" marL="0">
              <a:buNone/>
            </a:pPr>
            <a:r>
              <a:rPr lang="en-US" sz="3600" b="1" spc="300" kern="0" dirty="0">
                <a:solidFill>
                  <a:srgbClr val="FFFFFF"/>
                </a:solidFill>
                <a:latin typeface="Arial" pitchFamily="34" charset="0"/>
                <a:ea typeface="Arial" pitchFamily="34" charset="-122"/>
                <a:cs typeface="Arial" pitchFamily="34" charset="-120"/>
              </a:rPr>
              <a:t>THE VISION</a:t>
            </a:r>
            <a:endParaRPr lang="en-US" sz="3600" dirty="0"/>
          </a:p>
        </p:txBody>
      </p:sp>
      <p:sp>
        <p:nvSpPr>
          <p:cNvPr id="5" name="Text 3"/>
          <p:cNvSpPr/>
          <p:nvPr/>
        </p:nvSpPr>
        <p:spPr>
          <a:xfrm>
            <a:off x="640080" y="3017520"/>
            <a:ext cx="6400800" cy="548640"/>
          </a:xfrm>
          <a:prstGeom prst="rect">
            <a:avLst/>
          </a:prstGeom>
          <a:noFill/>
          <a:ln/>
        </p:spPr>
        <p:txBody>
          <a:bodyPr wrap="square" rtlCol="0" anchor="ctr"/>
          <a:lstStyle/>
          <a:p>
            <a:pPr indent="0" marL="0">
              <a:buNone/>
            </a:pPr>
            <a:r>
              <a:rPr lang="en-US" sz="1600" dirty="0">
                <a:solidFill>
                  <a:srgbClr val="4471A9"/>
                </a:solidFill>
                <a:latin typeface="Arial" pitchFamily="34" charset="0"/>
                <a:ea typeface="Arial" pitchFamily="34" charset="-122"/>
                <a:cs typeface="Arial" pitchFamily="34" charset="-120"/>
              </a:rPr>
              <a:t>What AI-native means for Renesas</a:t>
            </a:r>
            <a:endParaRPr lang="en-US" sz="1600" dirty="0"/>
          </a:p>
        </p:txBody>
      </p:sp>
      <p:sp>
        <p:nvSpPr>
          <p:cNvPr id="6" name="Shape 4"/>
          <p:cNvSpPr/>
          <p:nvPr/>
        </p:nvSpPr>
        <p:spPr>
          <a:xfrm>
            <a:off x="0" y="5106924"/>
            <a:ext cx="9144000" cy="36576"/>
          </a:xfrm>
          <a:prstGeom prst="rect">
            <a:avLst/>
          </a:prstGeom>
          <a:solidFill>
            <a:srgbClr val="993399"/>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Five areas where AI transforms how Renesas competes.</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7</a:t>
            </a:r>
            <a:endParaRPr lang="en-US" sz="700" dirty="0"/>
          </a:p>
        </p:txBody>
      </p:sp>
      <p:sp>
        <p:nvSpPr>
          <p:cNvPr id="8" name="Shape 6"/>
          <p:cNvSpPr/>
          <p:nvPr/>
        </p:nvSpPr>
        <p:spPr>
          <a:xfrm>
            <a:off x="777240" y="1371600"/>
            <a:ext cx="822960" cy="822960"/>
          </a:xfrm>
          <a:prstGeom prst="ellipse">
            <a:avLst/>
          </a:prstGeom>
          <a:solidFill>
            <a:srgbClr val="E8EFF7"/>
          </a:solidFill>
          <a:ln/>
        </p:spPr>
      </p:sp>
      <p:pic>
        <p:nvPicPr>
          <p:cNvPr id="9" name="Image 0" descr="preencoded.png"/>
          <p:cNvPicPr>
            <a:picLocks noChangeAspect="1"/>
          </p:cNvPicPr>
          <p:nvPr/>
        </p:nvPicPr>
        <p:blipFill>
          <a:blip r:embed="rId1"/>
          <a:stretch>
            <a:fillRect/>
          </a:stretch>
        </p:blipFill>
        <p:spPr>
          <a:xfrm>
            <a:off x="960120" y="1508760"/>
            <a:ext cx="457200" cy="457200"/>
          </a:xfrm>
          <a:prstGeom prst="rect">
            <a:avLst/>
          </a:prstGeom>
        </p:spPr>
      </p:pic>
      <p:sp>
        <p:nvSpPr>
          <p:cNvPr id="10" name="Text 7"/>
          <p:cNvSpPr/>
          <p:nvPr/>
        </p:nvSpPr>
        <p:spPr>
          <a:xfrm>
            <a:off x="457200" y="2286000"/>
            <a:ext cx="1463040" cy="548640"/>
          </a:xfrm>
          <a:prstGeom prst="rect">
            <a:avLst/>
          </a:prstGeom>
          <a:noFill/>
          <a:ln/>
        </p:spPr>
        <p:txBody>
          <a:bodyPr wrap="square" lIns="0" tIns="0" rIns="0" bIns="0" rtlCol="0" anchor="ctr"/>
          <a:lstStyle/>
          <a:p>
            <a:pPr algn="ctr" indent="0" marL="0">
              <a:buNone/>
            </a:pPr>
            <a:r>
              <a:rPr lang="en-US" sz="1300" b="1" dirty="0">
                <a:solidFill>
                  <a:srgbClr val="06418C"/>
                </a:solidFill>
                <a:latin typeface="Arial" pitchFamily="34" charset="0"/>
                <a:ea typeface="Arial" pitchFamily="34" charset="-122"/>
                <a:cs typeface="Arial" pitchFamily="34" charset="-120"/>
              </a:rPr>
              <a:t>Enterprise</a:t>
            </a:r>
            <a:endParaRPr lang="en-US" sz="1300" dirty="0"/>
          </a:p>
          <a:p>
            <a:pPr algn="ctr" indent="0" marL="0">
              <a:buNone/>
            </a:pPr>
            <a:r>
              <a:rPr lang="en-US" sz="1300" b="1" dirty="0">
                <a:solidFill>
                  <a:srgbClr val="06418C"/>
                </a:solidFill>
                <a:latin typeface="Arial" pitchFamily="34" charset="0"/>
                <a:ea typeface="Arial" pitchFamily="34" charset="-122"/>
                <a:cs typeface="Arial" pitchFamily="34" charset="-120"/>
              </a:rPr>
              <a:t>Data Platform</a:t>
            </a:r>
            <a:endParaRPr lang="en-US" sz="1300" dirty="0"/>
          </a:p>
        </p:txBody>
      </p:sp>
      <p:sp>
        <p:nvSpPr>
          <p:cNvPr id="11" name="Text 8"/>
          <p:cNvSpPr/>
          <p:nvPr/>
        </p:nvSpPr>
        <p:spPr>
          <a:xfrm>
            <a:off x="457200" y="2834640"/>
            <a:ext cx="1463040" cy="548640"/>
          </a:xfrm>
          <a:prstGeom prst="rect">
            <a:avLst/>
          </a:prstGeom>
          <a:noFill/>
          <a:ln/>
        </p:spPr>
        <p:txBody>
          <a:bodyPr wrap="square" lIns="0" tIns="0" rIns="0" bIns="0" rtlCol="0" anchor="ctr"/>
          <a:lstStyle/>
          <a:p>
            <a:pPr algn="ctr" indent="0" marL="0">
              <a:buNone/>
            </a:pPr>
            <a:r>
              <a:rPr lang="en-US" sz="1000" dirty="0">
                <a:solidFill>
                  <a:srgbClr val="4A4A4A"/>
                </a:solidFill>
                <a:latin typeface="Arial" pitchFamily="34" charset="0"/>
                <a:ea typeface="Arial" pitchFamily="34" charset="-122"/>
                <a:cs typeface="Arial" pitchFamily="34" charset="-120"/>
              </a:rPr>
              <a:t>Data as a strategic asset,</a:t>
            </a:r>
            <a:endParaRPr lang="en-US" sz="1000" dirty="0"/>
          </a:p>
          <a:p>
            <a:pPr algn="ctr" indent="0" marL="0">
              <a:buNone/>
            </a:pPr>
            <a:r>
              <a:rPr lang="en-US" sz="1000" dirty="0">
                <a:solidFill>
                  <a:srgbClr val="4A4A4A"/>
                </a:solidFill>
                <a:latin typeface="Arial" pitchFamily="34" charset="0"/>
                <a:ea typeface="Arial" pitchFamily="34" charset="-122"/>
                <a:cs typeface="Arial" pitchFamily="34" charset="-120"/>
              </a:rPr>
              <a:t>not a byproduct</a:t>
            </a:r>
            <a:endParaRPr lang="en-US" sz="1000" dirty="0"/>
          </a:p>
        </p:txBody>
      </p:sp>
      <p:sp>
        <p:nvSpPr>
          <p:cNvPr id="12" name="Shape 9"/>
          <p:cNvSpPr/>
          <p:nvPr/>
        </p:nvSpPr>
        <p:spPr>
          <a:xfrm>
            <a:off x="2468880" y="1371600"/>
            <a:ext cx="822960" cy="822960"/>
          </a:xfrm>
          <a:prstGeom prst="ellipse">
            <a:avLst/>
          </a:prstGeom>
          <a:solidFill>
            <a:srgbClr val="E8EFF7"/>
          </a:solidFill>
          <a:ln/>
        </p:spPr>
      </p:sp>
      <p:pic>
        <p:nvPicPr>
          <p:cNvPr id="13" name="Image 1" descr="preencoded.png"/>
          <p:cNvPicPr>
            <a:picLocks noChangeAspect="1"/>
          </p:cNvPicPr>
          <p:nvPr/>
        </p:nvPicPr>
        <p:blipFill>
          <a:blip r:embed="rId2"/>
          <a:stretch>
            <a:fillRect/>
          </a:stretch>
        </p:blipFill>
        <p:spPr>
          <a:xfrm>
            <a:off x="2651760" y="1508760"/>
            <a:ext cx="457200" cy="457200"/>
          </a:xfrm>
          <a:prstGeom prst="rect">
            <a:avLst/>
          </a:prstGeom>
        </p:spPr>
      </p:pic>
      <p:sp>
        <p:nvSpPr>
          <p:cNvPr id="14" name="Text 10"/>
          <p:cNvSpPr/>
          <p:nvPr/>
        </p:nvSpPr>
        <p:spPr>
          <a:xfrm>
            <a:off x="2148840" y="2286000"/>
            <a:ext cx="1463040" cy="548640"/>
          </a:xfrm>
          <a:prstGeom prst="rect">
            <a:avLst/>
          </a:prstGeom>
          <a:noFill/>
          <a:ln/>
        </p:spPr>
        <p:txBody>
          <a:bodyPr wrap="square" lIns="0" tIns="0" rIns="0" bIns="0" rtlCol="0" anchor="ctr"/>
          <a:lstStyle/>
          <a:p>
            <a:pPr algn="ctr" indent="0" marL="0">
              <a:buNone/>
            </a:pPr>
            <a:r>
              <a:rPr lang="en-US" sz="1300" b="1" dirty="0">
                <a:solidFill>
                  <a:srgbClr val="06418C"/>
                </a:solidFill>
                <a:latin typeface="Arial" pitchFamily="34" charset="0"/>
                <a:ea typeface="Arial" pitchFamily="34" charset="-122"/>
                <a:cs typeface="Arial" pitchFamily="34" charset="-120"/>
              </a:rPr>
              <a:t>AI</a:t>
            </a:r>
            <a:endParaRPr lang="en-US" sz="1300" dirty="0"/>
          </a:p>
          <a:p>
            <a:pPr algn="ctr" indent="0" marL="0">
              <a:buNone/>
            </a:pPr>
            <a:r>
              <a:rPr lang="en-US" sz="1300" b="1" dirty="0">
                <a:solidFill>
                  <a:srgbClr val="06418C"/>
                </a:solidFill>
                <a:latin typeface="Arial" pitchFamily="34" charset="0"/>
                <a:ea typeface="Arial" pitchFamily="34" charset="-122"/>
                <a:cs typeface="Arial" pitchFamily="34" charset="-120"/>
              </a:rPr>
              <a:t>Enablement</a:t>
            </a:r>
            <a:endParaRPr lang="en-US" sz="1300" dirty="0"/>
          </a:p>
        </p:txBody>
      </p:sp>
      <p:sp>
        <p:nvSpPr>
          <p:cNvPr id="15" name="Text 11"/>
          <p:cNvSpPr/>
          <p:nvPr/>
        </p:nvSpPr>
        <p:spPr>
          <a:xfrm>
            <a:off x="2148840" y="2834640"/>
            <a:ext cx="1463040" cy="548640"/>
          </a:xfrm>
          <a:prstGeom prst="rect">
            <a:avLst/>
          </a:prstGeom>
          <a:noFill/>
          <a:ln/>
        </p:spPr>
        <p:txBody>
          <a:bodyPr wrap="square" lIns="0" tIns="0" rIns="0" bIns="0" rtlCol="0" anchor="ctr"/>
          <a:lstStyle/>
          <a:p>
            <a:pPr algn="ctr" indent="0" marL="0">
              <a:buNone/>
            </a:pPr>
            <a:r>
              <a:rPr lang="en-US" sz="1000" dirty="0">
                <a:solidFill>
                  <a:srgbClr val="4A4A4A"/>
                </a:solidFill>
                <a:latin typeface="Arial" pitchFamily="34" charset="0"/>
                <a:ea typeface="Arial" pitchFamily="34" charset="-122"/>
                <a:cs typeface="Arial" pitchFamily="34" charset="-120"/>
              </a:rPr>
              <a:t>From experiment to</a:t>
            </a:r>
            <a:endParaRPr lang="en-US" sz="1000" dirty="0"/>
          </a:p>
          <a:p>
            <a:pPr algn="ctr" indent="0" marL="0">
              <a:buNone/>
            </a:pPr>
            <a:r>
              <a:rPr lang="en-US" sz="1000" dirty="0">
                <a:solidFill>
                  <a:srgbClr val="4A4A4A"/>
                </a:solidFill>
                <a:latin typeface="Arial" pitchFamily="34" charset="0"/>
                <a:ea typeface="Arial" pitchFamily="34" charset="-122"/>
                <a:cs typeface="Arial" pitchFamily="34" charset="-120"/>
              </a:rPr>
              <a:t>enterprise capability</a:t>
            </a:r>
            <a:endParaRPr lang="en-US" sz="1000" dirty="0"/>
          </a:p>
        </p:txBody>
      </p:sp>
      <p:sp>
        <p:nvSpPr>
          <p:cNvPr id="16" name="Shape 12"/>
          <p:cNvSpPr/>
          <p:nvPr/>
        </p:nvSpPr>
        <p:spPr>
          <a:xfrm>
            <a:off x="4160520" y="1371600"/>
            <a:ext cx="822960" cy="822960"/>
          </a:xfrm>
          <a:prstGeom prst="ellipse">
            <a:avLst/>
          </a:prstGeom>
          <a:solidFill>
            <a:srgbClr val="E8EFF7"/>
          </a:solidFill>
          <a:ln/>
        </p:spPr>
      </p:sp>
      <p:pic>
        <p:nvPicPr>
          <p:cNvPr id="17" name="Image 2" descr="preencoded.png"/>
          <p:cNvPicPr>
            <a:picLocks noChangeAspect="1"/>
          </p:cNvPicPr>
          <p:nvPr/>
        </p:nvPicPr>
        <p:blipFill>
          <a:blip r:embed="rId3"/>
          <a:stretch>
            <a:fillRect/>
          </a:stretch>
        </p:blipFill>
        <p:spPr>
          <a:xfrm>
            <a:off x="4343400" y="1508760"/>
            <a:ext cx="457200" cy="457200"/>
          </a:xfrm>
          <a:prstGeom prst="rect">
            <a:avLst/>
          </a:prstGeom>
        </p:spPr>
      </p:pic>
      <p:sp>
        <p:nvSpPr>
          <p:cNvPr id="18" name="Text 13"/>
          <p:cNvSpPr/>
          <p:nvPr/>
        </p:nvSpPr>
        <p:spPr>
          <a:xfrm>
            <a:off x="3840480" y="2286000"/>
            <a:ext cx="1463040" cy="548640"/>
          </a:xfrm>
          <a:prstGeom prst="rect">
            <a:avLst/>
          </a:prstGeom>
          <a:noFill/>
          <a:ln/>
        </p:spPr>
        <p:txBody>
          <a:bodyPr wrap="square" lIns="0" tIns="0" rIns="0" bIns="0" rtlCol="0" anchor="ctr"/>
          <a:lstStyle/>
          <a:p>
            <a:pPr algn="ctr" indent="0" marL="0">
              <a:buNone/>
            </a:pPr>
            <a:r>
              <a:rPr lang="en-US" sz="1300" b="1" dirty="0">
                <a:solidFill>
                  <a:srgbClr val="06418C"/>
                </a:solidFill>
                <a:latin typeface="Arial" pitchFamily="34" charset="0"/>
                <a:ea typeface="Arial" pitchFamily="34" charset="-122"/>
                <a:cs typeface="Arial" pitchFamily="34" charset="-120"/>
              </a:rPr>
              <a:t>Digital Engineering</a:t>
            </a:r>
            <a:endParaRPr lang="en-US" sz="1300" dirty="0"/>
          </a:p>
          <a:p>
            <a:pPr algn="ctr" indent="0" marL="0">
              <a:buNone/>
            </a:pPr>
            <a:r>
              <a:rPr lang="en-US" sz="1300" b="1" dirty="0">
                <a:solidFill>
                  <a:srgbClr val="06418C"/>
                </a:solidFill>
                <a:latin typeface="Arial" pitchFamily="34" charset="0"/>
                <a:ea typeface="Arial" pitchFamily="34" charset="-122"/>
                <a:cs typeface="Arial" pitchFamily="34" charset="-120"/>
              </a:rPr>
              <a:t>Environment</a:t>
            </a:r>
            <a:endParaRPr lang="en-US" sz="1300" dirty="0"/>
          </a:p>
        </p:txBody>
      </p:sp>
      <p:sp>
        <p:nvSpPr>
          <p:cNvPr id="19" name="Text 14"/>
          <p:cNvSpPr/>
          <p:nvPr/>
        </p:nvSpPr>
        <p:spPr>
          <a:xfrm>
            <a:off x="3840480" y="2834640"/>
            <a:ext cx="1463040" cy="548640"/>
          </a:xfrm>
          <a:prstGeom prst="rect">
            <a:avLst/>
          </a:prstGeom>
          <a:noFill/>
          <a:ln/>
        </p:spPr>
        <p:txBody>
          <a:bodyPr wrap="square" lIns="0" tIns="0" rIns="0" bIns="0" rtlCol="0" anchor="ctr"/>
          <a:lstStyle/>
          <a:p>
            <a:pPr algn="ctr" indent="0" marL="0">
              <a:buNone/>
            </a:pPr>
            <a:r>
              <a:rPr lang="en-US" sz="1000" dirty="0">
                <a:solidFill>
                  <a:srgbClr val="4A4A4A"/>
                </a:solidFill>
                <a:latin typeface="Arial" pitchFamily="34" charset="0"/>
                <a:ea typeface="Arial" pitchFamily="34" charset="-122"/>
                <a:cs typeface="Arial" pitchFamily="34" charset="-120"/>
              </a:rPr>
              <a:t>Accelerate product</a:t>
            </a:r>
            <a:endParaRPr lang="en-US" sz="1000" dirty="0"/>
          </a:p>
          <a:p>
            <a:pPr algn="ctr" indent="0" marL="0">
              <a:buNone/>
            </a:pPr>
            <a:r>
              <a:rPr lang="en-US" sz="1000" dirty="0">
                <a:solidFill>
                  <a:srgbClr val="4A4A4A"/>
                </a:solidFill>
                <a:latin typeface="Arial" pitchFamily="34" charset="0"/>
                <a:ea typeface="Arial" pitchFamily="34" charset="-122"/>
                <a:cs typeface="Arial" pitchFamily="34" charset="-120"/>
              </a:rPr>
              <a:t>development end to end</a:t>
            </a:r>
            <a:endParaRPr lang="en-US" sz="1000" dirty="0"/>
          </a:p>
        </p:txBody>
      </p:sp>
      <p:sp>
        <p:nvSpPr>
          <p:cNvPr id="20" name="Shape 15"/>
          <p:cNvSpPr/>
          <p:nvPr/>
        </p:nvSpPr>
        <p:spPr>
          <a:xfrm>
            <a:off x="5852160" y="1371600"/>
            <a:ext cx="822960" cy="822960"/>
          </a:xfrm>
          <a:prstGeom prst="ellipse">
            <a:avLst/>
          </a:prstGeom>
          <a:solidFill>
            <a:srgbClr val="E8EFF7"/>
          </a:solidFill>
          <a:ln/>
        </p:spPr>
      </p:sp>
      <p:pic>
        <p:nvPicPr>
          <p:cNvPr id="21" name="Image 3" descr="preencoded.png"/>
          <p:cNvPicPr>
            <a:picLocks noChangeAspect="1"/>
          </p:cNvPicPr>
          <p:nvPr/>
        </p:nvPicPr>
        <p:blipFill>
          <a:blip r:embed="rId4"/>
          <a:stretch>
            <a:fillRect/>
          </a:stretch>
        </p:blipFill>
        <p:spPr>
          <a:xfrm>
            <a:off x="6035040" y="1508760"/>
            <a:ext cx="457200" cy="457200"/>
          </a:xfrm>
          <a:prstGeom prst="rect">
            <a:avLst/>
          </a:prstGeom>
        </p:spPr>
      </p:pic>
      <p:sp>
        <p:nvSpPr>
          <p:cNvPr id="22" name="Text 16"/>
          <p:cNvSpPr/>
          <p:nvPr/>
        </p:nvSpPr>
        <p:spPr>
          <a:xfrm>
            <a:off x="5532120" y="2286000"/>
            <a:ext cx="1463040" cy="548640"/>
          </a:xfrm>
          <a:prstGeom prst="rect">
            <a:avLst/>
          </a:prstGeom>
          <a:noFill/>
          <a:ln/>
        </p:spPr>
        <p:txBody>
          <a:bodyPr wrap="square" lIns="0" tIns="0" rIns="0" bIns="0" rtlCol="0" anchor="ctr"/>
          <a:lstStyle/>
          <a:p>
            <a:pPr algn="ctr" indent="0" marL="0">
              <a:buNone/>
            </a:pPr>
            <a:r>
              <a:rPr lang="en-US" sz="1300" b="1" dirty="0">
                <a:solidFill>
                  <a:srgbClr val="06418C"/>
                </a:solidFill>
                <a:latin typeface="Arial" pitchFamily="34" charset="0"/>
                <a:ea typeface="Arial" pitchFamily="34" charset="-122"/>
                <a:cs typeface="Arial" pitchFamily="34" charset="-120"/>
              </a:rPr>
              <a:t>Enterprise</a:t>
            </a:r>
            <a:endParaRPr lang="en-US" sz="1300" dirty="0"/>
          </a:p>
          <a:p>
            <a:pPr algn="ctr" indent="0" marL="0">
              <a:buNone/>
            </a:pPr>
            <a:r>
              <a:rPr lang="en-US" sz="1300" b="1" dirty="0">
                <a:solidFill>
                  <a:srgbClr val="06418C"/>
                </a:solidFill>
                <a:latin typeface="Arial" pitchFamily="34" charset="0"/>
                <a:ea typeface="Arial" pitchFamily="34" charset="-122"/>
                <a:cs typeface="Arial" pitchFamily="34" charset="-120"/>
              </a:rPr>
              <a:t>Automation</a:t>
            </a:r>
            <a:endParaRPr lang="en-US" sz="1300" dirty="0"/>
          </a:p>
        </p:txBody>
      </p:sp>
      <p:sp>
        <p:nvSpPr>
          <p:cNvPr id="23" name="Text 17"/>
          <p:cNvSpPr/>
          <p:nvPr/>
        </p:nvSpPr>
        <p:spPr>
          <a:xfrm>
            <a:off x="5532120" y="2834640"/>
            <a:ext cx="1463040" cy="548640"/>
          </a:xfrm>
          <a:prstGeom prst="rect">
            <a:avLst/>
          </a:prstGeom>
          <a:noFill/>
          <a:ln/>
        </p:spPr>
        <p:txBody>
          <a:bodyPr wrap="square" lIns="0" tIns="0" rIns="0" bIns="0" rtlCol="0" anchor="ctr"/>
          <a:lstStyle/>
          <a:p>
            <a:pPr algn="ctr" indent="0" marL="0">
              <a:buNone/>
            </a:pPr>
            <a:r>
              <a:rPr lang="en-US" sz="1000" dirty="0">
                <a:solidFill>
                  <a:srgbClr val="4A4A4A"/>
                </a:solidFill>
                <a:latin typeface="Arial" pitchFamily="34" charset="0"/>
                <a:ea typeface="Arial" pitchFamily="34" charset="-122"/>
                <a:cs typeface="Arial" pitchFamily="34" charset="-120"/>
              </a:rPr>
              <a:t>Eliminate manual drag,</a:t>
            </a:r>
            <a:endParaRPr lang="en-US" sz="1000" dirty="0"/>
          </a:p>
          <a:p>
            <a:pPr algn="ctr" indent="0" marL="0">
              <a:buNone/>
            </a:pPr>
            <a:r>
              <a:rPr lang="en-US" sz="1000" dirty="0">
                <a:solidFill>
                  <a:srgbClr val="4A4A4A"/>
                </a:solidFill>
                <a:latin typeface="Arial" pitchFamily="34" charset="0"/>
                <a:ea typeface="Arial" pitchFamily="34" charset="-122"/>
                <a:cs typeface="Arial" pitchFamily="34" charset="-120"/>
              </a:rPr>
              <a:t>free up capacity</a:t>
            </a:r>
            <a:endParaRPr lang="en-US" sz="1000" dirty="0"/>
          </a:p>
        </p:txBody>
      </p:sp>
      <p:sp>
        <p:nvSpPr>
          <p:cNvPr id="24" name="Shape 18"/>
          <p:cNvSpPr/>
          <p:nvPr/>
        </p:nvSpPr>
        <p:spPr>
          <a:xfrm>
            <a:off x="7543800" y="1371600"/>
            <a:ext cx="822960" cy="822960"/>
          </a:xfrm>
          <a:prstGeom prst="ellipse">
            <a:avLst/>
          </a:prstGeom>
          <a:solidFill>
            <a:srgbClr val="E8EFF7"/>
          </a:solidFill>
          <a:ln/>
        </p:spPr>
      </p:sp>
      <p:pic>
        <p:nvPicPr>
          <p:cNvPr id="25" name="Image 4" descr="preencoded.png"/>
          <p:cNvPicPr>
            <a:picLocks noChangeAspect="1"/>
          </p:cNvPicPr>
          <p:nvPr/>
        </p:nvPicPr>
        <p:blipFill>
          <a:blip r:embed="rId5"/>
          <a:stretch>
            <a:fillRect/>
          </a:stretch>
        </p:blipFill>
        <p:spPr>
          <a:xfrm>
            <a:off x="7726680" y="1508760"/>
            <a:ext cx="457200" cy="457200"/>
          </a:xfrm>
          <a:prstGeom prst="rect">
            <a:avLst/>
          </a:prstGeom>
        </p:spPr>
      </p:pic>
      <p:sp>
        <p:nvSpPr>
          <p:cNvPr id="26" name="Text 19"/>
          <p:cNvSpPr/>
          <p:nvPr/>
        </p:nvSpPr>
        <p:spPr>
          <a:xfrm>
            <a:off x="7223760" y="2286000"/>
            <a:ext cx="1463040" cy="548640"/>
          </a:xfrm>
          <a:prstGeom prst="rect">
            <a:avLst/>
          </a:prstGeom>
          <a:noFill/>
          <a:ln/>
        </p:spPr>
        <p:txBody>
          <a:bodyPr wrap="square" lIns="0" tIns="0" rIns="0" bIns="0" rtlCol="0" anchor="ctr"/>
          <a:lstStyle/>
          <a:p>
            <a:pPr algn="ctr" indent="0" marL="0">
              <a:buNone/>
            </a:pPr>
            <a:r>
              <a:rPr lang="en-US" sz="1300" b="1" dirty="0">
                <a:solidFill>
                  <a:srgbClr val="06418C"/>
                </a:solidFill>
                <a:latin typeface="Arial" pitchFamily="34" charset="0"/>
                <a:ea typeface="Arial" pitchFamily="34" charset="-122"/>
                <a:cs typeface="Arial" pitchFamily="34" charset="-120"/>
              </a:rPr>
              <a:t>Cybersecurity &amp;</a:t>
            </a:r>
            <a:endParaRPr lang="en-US" sz="1300" dirty="0"/>
          </a:p>
          <a:p>
            <a:pPr algn="ctr" indent="0" marL="0">
              <a:buNone/>
            </a:pPr>
            <a:r>
              <a:rPr lang="en-US" sz="1300" b="1" dirty="0">
                <a:solidFill>
                  <a:srgbClr val="06418C"/>
                </a:solidFill>
                <a:latin typeface="Arial" pitchFamily="34" charset="0"/>
                <a:ea typeface="Arial" pitchFamily="34" charset="-122"/>
                <a:cs typeface="Arial" pitchFamily="34" charset="-120"/>
              </a:rPr>
              <a:t>Infrastructure</a:t>
            </a:r>
            <a:endParaRPr lang="en-US" sz="1300" dirty="0"/>
          </a:p>
        </p:txBody>
      </p:sp>
      <p:sp>
        <p:nvSpPr>
          <p:cNvPr id="27" name="Text 20"/>
          <p:cNvSpPr/>
          <p:nvPr/>
        </p:nvSpPr>
        <p:spPr>
          <a:xfrm>
            <a:off x="7223760" y="2834640"/>
            <a:ext cx="1463040" cy="548640"/>
          </a:xfrm>
          <a:prstGeom prst="rect">
            <a:avLst/>
          </a:prstGeom>
          <a:noFill/>
          <a:ln/>
        </p:spPr>
        <p:txBody>
          <a:bodyPr wrap="square" lIns="0" tIns="0" rIns="0" bIns="0" rtlCol="0" anchor="ctr"/>
          <a:lstStyle/>
          <a:p>
            <a:pPr algn="ctr" indent="0" marL="0">
              <a:buNone/>
            </a:pPr>
            <a:r>
              <a:rPr lang="en-US" sz="1000" dirty="0">
                <a:solidFill>
                  <a:srgbClr val="4A4A4A"/>
                </a:solidFill>
                <a:latin typeface="Arial" pitchFamily="34" charset="0"/>
                <a:ea typeface="Arial" pitchFamily="34" charset="-122"/>
                <a:cs typeface="Arial" pitchFamily="34" charset="-120"/>
              </a:rPr>
              <a:t>Protect the backbone</a:t>
            </a:r>
            <a:endParaRPr lang="en-US" sz="1000" dirty="0"/>
          </a:p>
        </p:txBody>
      </p:sp>
      <p:sp>
        <p:nvSpPr>
          <p:cNvPr id="28" name="Text 21"/>
          <p:cNvSpPr/>
          <p:nvPr/>
        </p:nvSpPr>
        <p:spPr>
          <a:xfrm>
            <a:off x="914400" y="3749040"/>
            <a:ext cx="7315200" cy="411480"/>
          </a:xfrm>
          <a:prstGeom prst="rect">
            <a:avLst/>
          </a:prstGeom>
          <a:noFill/>
          <a:ln/>
        </p:spPr>
        <p:txBody>
          <a:bodyPr wrap="square" lIns="0" tIns="0" rIns="0" bIns="0" rtlCol="0" anchor="ctr"/>
          <a:lstStyle/>
          <a:p>
            <a:pPr algn="ctr" indent="0" marL="0">
              <a:buNone/>
            </a:pPr>
            <a:r>
              <a:rPr lang="en-US" sz="1600" b="1" i="1" dirty="0">
                <a:solidFill>
                  <a:srgbClr val="06418C"/>
                </a:solidFill>
                <a:latin typeface="Arial" pitchFamily="34" charset="0"/>
                <a:ea typeface="Arial" pitchFamily="34" charset="-122"/>
                <a:cs typeface="Arial" pitchFamily="34" charset="-120"/>
              </a:rPr>
              <a:t>"Technology becomes a multiplier across every business function."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AI-native is not a technology choice. It's an operating model.</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8</a:t>
            </a:r>
            <a:endParaRPr lang="en-US" sz="700" dirty="0"/>
          </a:p>
        </p:txBody>
      </p:sp>
      <p:sp>
        <p:nvSpPr>
          <p:cNvPr id="8" name="Shape 6"/>
          <p:cNvSpPr/>
          <p:nvPr/>
        </p:nvSpPr>
        <p:spPr>
          <a:xfrm>
            <a:off x="640080" y="1188720"/>
            <a:ext cx="3657600" cy="411480"/>
          </a:xfrm>
          <a:prstGeom prst="rect">
            <a:avLst/>
          </a:prstGeom>
          <a:solidFill>
            <a:srgbClr val="06418C"/>
          </a:solidFill>
          <a:ln/>
        </p:spPr>
      </p:sp>
      <p:sp>
        <p:nvSpPr>
          <p:cNvPr id="9" name="Text 7"/>
          <p:cNvSpPr/>
          <p:nvPr/>
        </p:nvSpPr>
        <p:spPr>
          <a:xfrm>
            <a:off x="640080" y="1188720"/>
            <a:ext cx="3657600" cy="4114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WHAT IT LOOKS LIKE</a:t>
            </a:r>
            <a:endParaRPr lang="en-US" sz="1300" dirty="0"/>
          </a:p>
        </p:txBody>
      </p:sp>
      <p:sp>
        <p:nvSpPr>
          <p:cNvPr id="10" name="Text 8"/>
          <p:cNvSpPr/>
          <p:nvPr/>
        </p:nvSpPr>
        <p:spPr>
          <a:xfrm>
            <a:off x="731520" y="1691640"/>
            <a:ext cx="3474720" cy="365760"/>
          </a:xfrm>
          <a:prstGeom prst="rect">
            <a:avLst/>
          </a:prstGeom>
          <a:noFill/>
          <a:ln/>
        </p:spPr>
        <p:txBody>
          <a:bodyPr wrap="square" lIns="0" tIns="0" rIns="0" bIns="0" rtlCol="0" anchor="t"/>
          <a:lstStyle/>
          <a:p>
            <a:pPr indent="0" marL="0">
              <a:buNone/>
            </a:pPr>
            <a:r>
              <a:rPr lang="en-US" sz="1200" b="1" dirty="0">
                <a:solidFill>
                  <a:srgbClr val="4471A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Decisions informed by real-time data, not last month's report</a:t>
            </a:r>
            <a:endParaRPr lang="en-US" sz="1200" dirty="0"/>
          </a:p>
        </p:txBody>
      </p:sp>
      <p:sp>
        <p:nvSpPr>
          <p:cNvPr id="11" name="Text 9"/>
          <p:cNvSpPr/>
          <p:nvPr/>
        </p:nvSpPr>
        <p:spPr>
          <a:xfrm>
            <a:off x="731520" y="2075688"/>
            <a:ext cx="3474720" cy="365760"/>
          </a:xfrm>
          <a:prstGeom prst="rect">
            <a:avLst/>
          </a:prstGeom>
          <a:noFill/>
          <a:ln/>
        </p:spPr>
        <p:txBody>
          <a:bodyPr wrap="square" lIns="0" tIns="0" rIns="0" bIns="0" rtlCol="0" anchor="t"/>
          <a:lstStyle/>
          <a:p>
            <a:pPr indent="0" marL="0">
              <a:buNone/>
            </a:pPr>
            <a:r>
              <a:rPr lang="en-US" sz="1200" b="1" dirty="0">
                <a:solidFill>
                  <a:srgbClr val="4471A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Engineers spending time on design, not documentation</a:t>
            </a:r>
            <a:endParaRPr lang="en-US" sz="1200" dirty="0"/>
          </a:p>
        </p:txBody>
      </p:sp>
      <p:sp>
        <p:nvSpPr>
          <p:cNvPr id="12" name="Text 10"/>
          <p:cNvSpPr/>
          <p:nvPr/>
        </p:nvSpPr>
        <p:spPr>
          <a:xfrm>
            <a:off x="731520" y="2459736"/>
            <a:ext cx="3474720" cy="365760"/>
          </a:xfrm>
          <a:prstGeom prst="rect">
            <a:avLst/>
          </a:prstGeom>
          <a:noFill/>
          <a:ln/>
        </p:spPr>
        <p:txBody>
          <a:bodyPr wrap="square" lIns="0" tIns="0" rIns="0" bIns="0" rtlCol="0" anchor="t"/>
          <a:lstStyle/>
          <a:p>
            <a:pPr indent="0" marL="0">
              <a:buNone/>
            </a:pPr>
            <a:r>
              <a:rPr lang="en-US" sz="1200" b="1" dirty="0">
                <a:solidFill>
                  <a:srgbClr val="4471A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Products developed with AI in the loop from day one</a:t>
            </a:r>
            <a:endParaRPr lang="en-US" sz="1200" dirty="0"/>
          </a:p>
        </p:txBody>
      </p:sp>
      <p:sp>
        <p:nvSpPr>
          <p:cNvPr id="13" name="Text 11"/>
          <p:cNvSpPr/>
          <p:nvPr/>
        </p:nvSpPr>
        <p:spPr>
          <a:xfrm>
            <a:off x="731520" y="2843784"/>
            <a:ext cx="3474720" cy="365760"/>
          </a:xfrm>
          <a:prstGeom prst="rect">
            <a:avLst/>
          </a:prstGeom>
          <a:noFill/>
          <a:ln/>
        </p:spPr>
        <p:txBody>
          <a:bodyPr wrap="square" lIns="0" tIns="0" rIns="0" bIns="0" rtlCol="0" anchor="t"/>
          <a:lstStyle/>
          <a:p>
            <a:pPr indent="0" marL="0">
              <a:buNone/>
            </a:pPr>
            <a:r>
              <a:rPr lang="en-US" sz="1200" b="1" dirty="0">
                <a:solidFill>
                  <a:srgbClr val="4471A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Organizational knowledge that doesn't walk out the door</a:t>
            </a:r>
            <a:endParaRPr lang="en-US" sz="1200" dirty="0"/>
          </a:p>
        </p:txBody>
      </p:sp>
      <p:sp>
        <p:nvSpPr>
          <p:cNvPr id="14" name="Text 12"/>
          <p:cNvSpPr/>
          <p:nvPr/>
        </p:nvSpPr>
        <p:spPr>
          <a:xfrm>
            <a:off x="731520" y="3227832"/>
            <a:ext cx="3474720" cy="365760"/>
          </a:xfrm>
          <a:prstGeom prst="rect">
            <a:avLst/>
          </a:prstGeom>
          <a:noFill/>
          <a:ln/>
        </p:spPr>
        <p:txBody>
          <a:bodyPr wrap="square" lIns="0" tIns="0" rIns="0" bIns="0" rtlCol="0" anchor="t"/>
          <a:lstStyle/>
          <a:p>
            <a:pPr indent="0" marL="0">
              <a:buNone/>
            </a:pPr>
            <a:r>
              <a:rPr lang="en-US" sz="1200" b="1" dirty="0">
                <a:solidFill>
                  <a:srgbClr val="4471A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Every function augmented by AI that understands Renesas</a:t>
            </a:r>
            <a:endParaRPr lang="en-US" sz="1200" dirty="0"/>
          </a:p>
        </p:txBody>
      </p:sp>
      <p:sp>
        <p:nvSpPr>
          <p:cNvPr id="15" name="Shape 13"/>
          <p:cNvSpPr/>
          <p:nvPr/>
        </p:nvSpPr>
        <p:spPr>
          <a:xfrm>
            <a:off x="4709160" y="1188720"/>
            <a:ext cx="3794760" cy="411480"/>
          </a:xfrm>
          <a:prstGeom prst="rect">
            <a:avLst/>
          </a:prstGeom>
          <a:solidFill>
            <a:srgbClr val="4471A9"/>
          </a:solidFill>
          <a:ln/>
        </p:spPr>
      </p:sp>
      <p:sp>
        <p:nvSpPr>
          <p:cNvPr id="16" name="Text 14"/>
          <p:cNvSpPr/>
          <p:nvPr/>
        </p:nvSpPr>
        <p:spPr>
          <a:xfrm>
            <a:off x="4709160" y="1188720"/>
            <a:ext cx="3794760" cy="4114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WHAT IT REQUIRES</a:t>
            </a:r>
            <a:endParaRPr lang="en-US" sz="1300" dirty="0"/>
          </a:p>
        </p:txBody>
      </p:sp>
      <p:sp>
        <p:nvSpPr>
          <p:cNvPr id="17" name="Text 15"/>
          <p:cNvSpPr/>
          <p:nvPr/>
        </p:nvSpPr>
        <p:spPr>
          <a:xfrm>
            <a:off x="4800600" y="1691640"/>
            <a:ext cx="3566160" cy="365760"/>
          </a:xfrm>
          <a:prstGeom prst="rect">
            <a:avLst/>
          </a:prstGeom>
          <a:noFill/>
          <a:ln/>
        </p:spPr>
        <p:txBody>
          <a:bodyPr wrap="square" lIns="0" tIns="0" rIns="0" bIns="0" rtlCol="0" anchor="t"/>
          <a:lstStyle/>
          <a:p>
            <a:pPr indent="0" marL="0">
              <a:buNone/>
            </a:pPr>
            <a:r>
              <a:rPr lang="en-US" sz="1200" b="1" dirty="0">
                <a:solidFill>
                  <a:srgbClr val="99339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A unified data foundation (not silos)</a:t>
            </a:r>
            <a:endParaRPr lang="en-US" sz="1200" dirty="0"/>
          </a:p>
        </p:txBody>
      </p:sp>
      <p:sp>
        <p:nvSpPr>
          <p:cNvPr id="18" name="Text 16"/>
          <p:cNvSpPr/>
          <p:nvPr/>
        </p:nvSpPr>
        <p:spPr>
          <a:xfrm>
            <a:off x="4800600" y="2075688"/>
            <a:ext cx="3566160" cy="365760"/>
          </a:xfrm>
          <a:prstGeom prst="rect">
            <a:avLst/>
          </a:prstGeom>
          <a:noFill/>
          <a:ln/>
        </p:spPr>
        <p:txBody>
          <a:bodyPr wrap="square" lIns="0" tIns="0" rIns="0" bIns="0" rtlCol="0" anchor="t"/>
          <a:lstStyle/>
          <a:p>
            <a:pPr indent="0" marL="0">
              <a:buNone/>
            </a:pPr>
            <a:r>
              <a:rPr lang="en-US" sz="1200" b="1" dirty="0">
                <a:solidFill>
                  <a:srgbClr val="99339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AI tools trained on our own data, not generic answers</a:t>
            </a:r>
            <a:endParaRPr lang="en-US" sz="1200" dirty="0"/>
          </a:p>
        </p:txBody>
      </p:sp>
      <p:sp>
        <p:nvSpPr>
          <p:cNvPr id="19" name="Text 17"/>
          <p:cNvSpPr/>
          <p:nvPr/>
        </p:nvSpPr>
        <p:spPr>
          <a:xfrm>
            <a:off x="4800600" y="2459736"/>
            <a:ext cx="3566160" cy="365760"/>
          </a:xfrm>
          <a:prstGeom prst="rect">
            <a:avLst/>
          </a:prstGeom>
          <a:noFill/>
          <a:ln/>
        </p:spPr>
        <p:txBody>
          <a:bodyPr wrap="square" lIns="0" tIns="0" rIns="0" bIns="0" rtlCol="0" anchor="t"/>
          <a:lstStyle/>
          <a:p>
            <a:pPr indent="0" marL="0">
              <a:buNone/>
            </a:pPr>
            <a:r>
              <a:rPr lang="en-US" sz="1200" b="1" dirty="0">
                <a:solidFill>
                  <a:srgbClr val="99339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Adoption driven by value, not mandate</a:t>
            </a:r>
            <a:endParaRPr lang="en-US" sz="1200" dirty="0"/>
          </a:p>
        </p:txBody>
      </p:sp>
      <p:sp>
        <p:nvSpPr>
          <p:cNvPr id="20" name="Text 18"/>
          <p:cNvSpPr/>
          <p:nvPr/>
        </p:nvSpPr>
        <p:spPr>
          <a:xfrm>
            <a:off x="4800600" y="2843784"/>
            <a:ext cx="3566160" cy="365760"/>
          </a:xfrm>
          <a:prstGeom prst="rect">
            <a:avLst/>
          </a:prstGeom>
          <a:noFill/>
          <a:ln/>
        </p:spPr>
        <p:txBody>
          <a:bodyPr wrap="square" lIns="0" tIns="0" rIns="0" bIns="0" rtlCol="0" anchor="t"/>
          <a:lstStyle/>
          <a:p>
            <a:pPr indent="0" marL="0">
              <a:buNone/>
            </a:pPr>
            <a:r>
              <a:rPr lang="en-US" sz="1200" b="1" dirty="0">
                <a:solidFill>
                  <a:srgbClr val="99339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Workforce that grows with the technology</a:t>
            </a:r>
            <a:endParaRPr lang="en-US" sz="1200" dirty="0"/>
          </a:p>
        </p:txBody>
      </p:sp>
      <p:sp>
        <p:nvSpPr>
          <p:cNvPr id="21" name="Text 19"/>
          <p:cNvSpPr/>
          <p:nvPr/>
        </p:nvSpPr>
        <p:spPr>
          <a:xfrm>
            <a:off x="4800600" y="3227832"/>
            <a:ext cx="3566160" cy="365760"/>
          </a:xfrm>
          <a:prstGeom prst="rect">
            <a:avLst/>
          </a:prstGeom>
          <a:noFill/>
          <a:ln/>
        </p:spPr>
        <p:txBody>
          <a:bodyPr wrap="square" lIns="0" tIns="0" rIns="0" bIns="0" rtlCol="0" anchor="t"/>
          <a:lstStyle/>
          <a:p>
            <a:pPr indent="0" marL="0">
              <a:buNone/>
            </a:pPr>
            <a:r>
              <a:rPr lang="en-US" sz="1200" b="1" dirty="0">
                <a:solidFill>
                  <a:srgbClr val="99339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Leadership that sponsors and models the change</a:t>
            </a:r>
            <a:endParaRPr lang="en-US" sz="1200" dirty="0"/>
          </a:p>
        </p:txBody>
      </p:sp>
      <p:sp>
        <p:nvSpPr>
          <p:cNvPr id="22" name="Text 20"/>
          <p:cNvSpPr/>
          <p:nvPr/>
        </p:nvSpPr>
        <p:spPr>
          <a:xfrm>
            <a:off x="1371600" y="3977640"/>
            <a:ext cx="6400800" cy="411480"/>
          </a:xfrm>
          <a:prstGeom prst="rect">
            <a:avLst/>
          </a:prstGeom>
          <a:noFill/>
          <a:ln/>
        </p:spPr>
        <p:txBody>
          <a:bodyPr wrap="square" lIns="0" tIns="0" rIns="0" bIns="0" rtlCol="0" anchor="ctr"/>
          <a:lstStyle/>
          <a:p>
            <a:pPr algn="ctr" indent="0" marL="0">
              <a:buNone/>
            </a:pPr>
            <a:r>
              <a:rPr lang="en-US" sz="1600" b="1" i="1" dirty="0">
                <a:solidFill>
                  <a:srgbClr val="06418C"/>
                </a:solidFill>
                <a:latin typeface="Arial" pitchFamily="34" charset="0"/>
                <a:ea typeface="Arial" pitchFamily="34" charset="-122"/>
                <a:cs typeface="Arial" pitchFamily="34" charset="-120"/>
              </a:rPr>
              <a:t>"An AI-native company doesn't just use AI. It thinks with AI."</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2F5"/>
        </a:solidFill>
      </p:bgPr>
    </p:bg>
    <p:spTree>
      <p:nvGrpSpPr>
        <p:cNvPr id="1" name=""/>
        <p:cNvGrpSpPr/>
        <p:nvPr/>
      </p:nvGrpSpPr>
      <p:grpSpPr>
        <a:xfrm>
          <a:off x="0" y="0"/>
          <a:ext cx="0" cy="0"/>
          <a:chOff x="0" y="0"/>
          <a:chExt cx="0" cy="0"/>
        </a:xfrm>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Build the playbook in the US first.</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9</a:t>
            </a:r>
            <a:endParaRPr lang="en-US" sz="700" dirty="0"/>
          </a:p>
        </p:txBody>
      </p:sp>
      <p:sp>
        <p:nvSpPr>
          <p:cNvPr id="8" name="Shape 6"/>
          <p:cNvSpPr/>
          <p:nvPr/>
        </p:nvSpPr>
        <p:spPr>
          <a:xfrm>
            <a:off x="640080" y="1234440"/>
            <a:ext cx="457200" cy="457200"/>
          </a:xfrm>
          <a:prstGeom prst="ellipse">
            <a:avLst/>
          </a:prstGeom>
          <a:solidFill>
            <a:srgbClr val="06418C"/>
          </a:solidFill>
          <a:ln/>
        </p:spPr>
      </p:sp>
      <p:sp>
        <p:nvSpPr>
          <p:cNvPr id="9" name="Text 7"/>
          <p:cNvSpPr/>
          <p:nvPr/>
        </p:nvSpPr>
        <p:spPr>
          <a:xfrm>
            <a:off x="640080" y="123444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0" name="Text 8"/>
          <p:cNvSpPr/>
          <p:nvPr/>
        </p:nvSpPr>
        <p:spPr>
          <a:xfrm>
            <a:off x="1280160" y="1188720"/>
            <a:ext cx="2286000" cy="365760"/>
          </a:xfrm>
          <a:prstGeom prst="rect">
            <a:avLst/>
          </a:prstGeom>
          <a:noFill/>
          <a:ln/>
        </p:spPr>
        <p:txBody>
          <a:bodyPr wrap="square" lIns="0" tIns="0" rIns="0" bIns="0" rtlCol="0" anchor="t"/>
          <a:lstStyle/>
          <a:p>
            <a:pPr indent="0" marL="0">
              <a:buNone/>
            </a:pPr>
            <a:r>
              <a:rPr lang="en-US" sz="1500" b="1" dirty="0">
                <a:solidFill>
                  <a:srgbClr val="06418C"/>
                </a:solidFill>
                <a:latin typeface="Arial" pitchFamily="34" charset="0"/>
                <a:ea typeface="Arial" pitchFamily="34" charset="-122"/>
                <a:cs typeface="Arial" pitchFamily="34" charset="-120"/>
              </a:rPr>
              <a:t>Largest Cost Opportunity</a:t>
            </a:r>
            <a:endParaRPr lang="en-US" sz="1500" dirty="0"/>
          </a:p>
        </p:txBody>
      </p:sp>
      <p:sp>
        <p:nvSpPr>
          <p:cNvPr id="11" name="Text 9"/>
          <p:cNvSpPr/>
          <p:nvPr/>
        </p:nvSpPr>
        <p:spPr>
          <a:xfrm>
            <a:off x="3657600" y="1188720"/>
            <a:ext cx="4846320" cy="594360"/>
          </a:xfrm>
          <a:prstGeom prst="rect">
            <a:avLst/>
          </a:prstGeom>
          <a:noFill/>
          <a:ln/>
        </p:spPr>
        <p:txBody>
          <a:bodyPr wrap="square" lIns="0" tIns="0" rIns="0" bIns="0" rtlCol="0" anchor="t"/>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Fixed personnel cost is highest in the US. AI augmentation delivers the highest ROI per dollar here first.</a:t>
            </a:r>
            <a:endParaRPr lang="en-US" sz="1200" dirty="0"/>
          </a:p>
        </p:txBody>
      </p:sp>
      <p:sp>
        <p:nvSpPr>
          <p:cNvPr id="12" name="Shape 10"/>
          <p:cNvSpPr/>
          <p:nvPr/>
        </p:nvSpPr>
        <p:spPr>
          <a:xfrm>
            <a:off x="640080" y="2057400"/>
            <a:ext cx="457200" cy="457200"/>
          </a:xfrm>
          <a:prstGeom prst="ellipse">
            <a:avLst/>
          </a:prstGeom>
          <a:solidFill>
            <a:srgbClr val="06418C"/>
          </a:solidFill>
          <a:ln/>
        </p:spPr>
      </p:sp>
      <p:sp>
        <p:nvSpPr>
          <p:cNvPr id="13" name="Text 11"/>
          <p:cNvSpPr/>
          <p:nvPr/>
        </p:nvSpPr>
        <p:spPr>
          <a:xfrm>
            <a:off x="640080" y="205740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4" name="Text 12"/>
          <p:cNvSpPr/>
          <p:nvPr/>
        </p:nvSpPr>
        <p:spPr>
          <a:xfrm>
            <a:off x="1280160" y="2011680"/>
            <a:ext cx="2286000" cy="365760"/>
          </a:xfrm>
          <a:prstGeom prst="rect">
            <a:avLst/>
          </a:prstGeom>
          <a:noFill/>
          <a:ln/>
        </p:spPr>
        <p:txBody>
          <a:bodyPr wrap="square" lIns="0" tIns="0" rIns="0" bIns="0" rtlCol="0" anchor="t"/>
          <a:lstStyle/>
          <a:p>
            <a:pPr indent="0" marL="0">
              <a:buNone/>
            </a:pPr>
            <a:r>
              <a:rPr lang="en-US" sz="1500" b="1" dirty="0">
                <a:solidFill>
                  <a:srgbClr val="06418C"/>
                </a:solidFill>
                <a:latin typeface="Arial" pitchFamily="34" charset="0"/>
                <a:ea typeface="Arial" pitchFamily="34" charset="-122"/>
                <a:cs typeface="Arial" pitchFamily="34" charset="-120"/>
              </a:rPr>
              <a:t>Supplier &amp; Thought Leadership</a:t>
            </a:r>
            <a:endParaRPr lang="en-US" sz="1500" dirty="0"/>
          </a:p>
        </p:txBody>
      </p:sp>
      <p:sp>
        <p:nvSpPr>
          <p:cNvPr id="15" name="Text 13"/>
          <p:cNvSpPr/>
          <p:nvPr/>
        </p:nvSpPr>
        <p:spPr>
          <a:xfrm>
            <a:off x="3657600" y="2011680"/>
            <a:ext cx="4846320" cy="594360"/>
          </a:xfrm>
          <a:prstGeom prst="rect">
            <a:avLst/>
          </a:prstGeom>
          <a:noFill/>
          <a:ln/>
        </p:spPr>
        <p:txBody>
          <a:bodyPr wrap="square" lIns="0" tIns="0" rIns="0" bIns="0" rtlCol="0" anchor="t"/>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The companies building the best AI — models, data platforms, EDA — are in Silicon Valley, Seattle, Austin.</a:t>
            </a:r>
            <a:endParaRPr lang="en-US" sz="1200" dirty="0"/>
          </a:p>
        </p:txBody>
      </p:sp>
      <p:sp>
        <p:nvSpPr>
          <p:cNvPr id="16" name="Shape 14"/>
          <p:cNvSpPr/>
          <p:nvPr/>
        </p:nvSpPr>
        <p:spPr>
          <a:xfrm>
            <a:off x="640080" y="2880360"/>
            <a:ext cx="457200" cy="457200"/>
          </a:xfrm>
          <a:prstGeom prst="ellipse">
            <a:avLst/>
          </a:prstGeom>
          <a:solidFill>
            <a:srgbClr val="06418C"/>
          </a:solidFill>
          <a:ln/>
        </p:spPr>
      </p:sp>
      <p:sp>
        <p:nvSpPr>
          <p:cNvPr id="17" name="Text 15"/>
          <p:cNvSpPr/>
          <p:nvPr/>
        </p:nvSpPr>
        <p:spPr>
          <a:xfrm>
            <a:off x="640080" y="288036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8" name="Text 16"/>
          <p:cNvSpPr/>
          <p:nvPr/>
        </p:nvSpPr>
        <p:spPr>
          <a:xfrm>
            <a:off x="1280160" y="2834640"/>
            <a:ext cx="2286000" cy="365760"/>
          </a:xfrm>
          <a:prstGeom prst="rect">
            <a:avLst/>
          </a:prstGeom>
          <a:noFill/>
          <a:ln/>
        </p:spPr>
        <p:txBody>
          <a:bodyPr wrap="square" lIns="0" tIns="0" rIns="0" bIns="0" rtlCol="0" anchor="t"/>
          <a:lstStyle/>
          <a:p>
            <a:pPr indent="0" marL="0">
              <a:buNone/>
            </a:pPr>
            <a:r>
              <a:rPr lang="en-US" sz="1500" b="1" dirty="0">
                <a:solidFill>
                  <a:srgbClr val="06418C"/>
                </a:solidFill>
                <a:latin typeface="Arial" pitchFamily="34" charset="0"/>
                <a:ea typeface="Arial" pitchFamily="34" charset="-122"/>
                <a:cs typeface="Arial" pitchFamily="34" charset="-120"/>
              </a:rPr>
              <a:t>ELT Critical Mass</a:t>
            </a:r>
            <a:endParaRPr lang="en-US" sz="1500" dirty="0"/>
          </a:p>
        </p:txBody>
      </p:sp>
      <p:sp>
        <p:nvSpPr>
          <p:cNvPr id="19" name="Text 17"/>
          <p:cNvSpPr/>
          <p:nvPr/>
        </p:nvSpPr>
        <p:spPr>
          <a:xfrm>
            <a:off x="3657600" y="2834640"/>
            <a:ext cx="4846320" cy="594360"/>
          </a:xfrm>
          <a:prstGeom prst="rect">
            <a:avLst/>
          </a:prstGeom>
          <a:noFill/>
          <a:ln/>
        </p:spPr>
        <p:txBody>
          <a:bodyPr wrap="square" lIns="0" tIns="0" rIns="0" bIns="0" rtlCol="0" anchor="t"/>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Altium, Sales, UX, Digital — the leadership team that can move fastest is US-based. The coalition of the willing is here.</a:t>
            </a:r>
            <a:endParaRPr lang="en-US" sz="1200" dirty="0"/>
          </a:p>
        </p:txBody>
      </p:sp>
      <p:sp>
        <p:nvSpPr>
          <p:cNvPr id="20" name="Shape 18"/>
          <p:cNvSpPr/>
          <p:nvPr/>
        </p:nvSpPr>
        <p:spPr>
          <a:xfrm>
            <a:off x="640080" y="3703320"/>
            <a:ext cx="457200" cy="457200"/>
          </a:xfrm>
          <a:prstGeom prst="ellipse">
            <a:avLst/>
          </a:prstGeom>
          <a:solidFill>
            <a:srgbClr val="06418C"/>
          </a:solidFill>
          <a:ln/>
        </p:spPr>
      </p:sp>
      <p:sp>
        <p:nvSpPr>
          <p:cNvPr id="21" name="Text 19"/>
          <p:cNvSpPr/>
          <p:nvPr/>
        </p:nvSpPr>
        <p:spPr>
          <a:xfrm>
            <a:off x="640080" y="3703320"/>
            <a:ext cx="45720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2" name="Text 20"/>
          <p:cNvSpPr/>
          <p:nvPr/>
        </p:nvSpPr>
        <p:spPr>
          <a:xfrm>
            <a:off x="1280160" y="3657600"/>
            <a:ext cx="2286000" cy="365760"/>
          </a:xfrm>
          <a:prstGeom prst="rect">
            <a:avLst/>
          </a:prstGeom>
          <a:noFill/>
          <a:ln/>
        </p:spPr>
        <p:txBody>
          <a:bodyPr wrap="square" lIns="0" tIns="0" rIns="0" bIns="0" rtlCol="0" anchor="t"/>
          <a:lstStyle/>
          <a:p>
            <a:pPr indent="0" marL="0">
              <a:buNone/>
            </a:pPr>
            <a:r>
              <a:rPr lang="en-US" sz="1500" b="1" dirty="0">
                <a:solidFill>
                  <a:srgbClr val="06418C"/>
                </a:solidFill>
                <a:latin typeface="Arial" pitchFamily="34" charset="0"/>
                <a:ea typeface="Arial" pitchFamily="34" charset="-122"/>
                <a:cs typeface="Arial" pitchFamily="34" charset="-120"/>
              </a:rPr>
              <a:t>The Model</a:t>
            </a:r>
            <a:endParaRPr lang="en-US" sz="1500" dirty="0"/>
          </a:p>
        </p:txBody>
      </p:sp>
      <p:sp>
        <p:nvSpPr>
          <p:cNvPr id="23" name="Text 21"/>
          <p:cNvSpPr/>
          <p:nvPr/>
        </p:nvSpPr>
        <p:spPr>
          <a:xfrm>
            <a:off x="3657600" y="3657600"/>
            <a:ext cx="4846320" cy="594360"/>
          </a:xfrm>
          <a:prstGeom prst="rect">
            <a:avLst/>
          </a:prstGeom>
          <a:noFill/>
          <a:ln/>
        </p:spPr>
        <p:txBody>
          <a:bodyPr wrap="square" lIns="0" tIns="0" rIns="0" bIns="0" rtlCol="0" anchor="t"/>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Build the playbook. Prove it works. Export to Japan with evidence, not theory.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Take the best of the world. Make it work in Japan.</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10</a:t>
            </a:r>
            <a:endParaRPr lang="en-US" sz="700" dirty="0"/>
          </a:p>
        </p:txBody>
      </p:sp>
      <p:sp>
        <p:nvSpPr>
          <p:cNvPr id="8" name="Shape 6"/>
          <p:cNvSpPr/>
          <p:nvPr/>
        </p:nvSpPr>
        <p:spPr>
          <a:xfrm>
            <a:off x="640080" y="1371600"/>
            <a:ext cx="3200400" cy="1645920"/>
          </a:xfrm>
          <a:prstGeom prst="rect">
            <a:avLst/>
          </a:prstGeom>
          <a:solidFill>
            <a:srgbClr val="E8EFF7"/>
          </a:solidFill>
          <a:ln/>
          <a:effectLst>
            <a:outerShdw sx="100000" sy="100000" kx="0" ky="0" algn="bl" rotWithShape="0" blurRad="76200" dist="25400" dir="8100000">
              <a:srgbClr val="000000">
                <a:alpha val="10000"/>
              </a:srgbClr>
            </a:outerShdw>
          </a:effectLst>
        </p:spPr>
      </p:sp>
      <p:sp>
        <p:nvSpPr>
          <p:cNvPr id="9" name="Text 7"/>
          <p:cNvSpPr/>
          <p:nvPr/>
        </p:nvSpPr>
        <p:spPr>
          <a:xfrm>
            <a:off x="640080" y="1463040"/>
            <a:ext cx="3200400" cy="411480"/>
          </a:xfrm>
          <a:prstGeom prst="rect">
            <a:avLst/>
          </a:prstGeom>
          <a:noFill/>
          <a:ln/>
        </p:spPr>
        <p:txBody>
          <a:bodyPr wrap="square" lIns="0" tIns="0" rIns="0" bIns="0" rtlCol="0" anchor="ctr"/>
          <a:lstStyle/>
          <a:p>
            <a:pPr algn="ctr" indent="0" marL="0">
              <a:buNone/>
            </a:pPr>
            <a:r>
              <a:rPr lang="en-US" sz="1600" b="1" dirty="0">
                <a:solidFill>
                  <a:srgbClr val="06418C"/>
                </a:solidFill>
                <a:latin typeface="Arial" pitchFamily="34" charset="0"/>
                <a:ea typeface="Arial" pitchFamily="34" charset="-122"/>
                <a:cs typeface="Arial" pitchFamily="34" charset="-120"/>
              </a:rPr>
              <a:t>World-Class AI Capability</a:t>
            </a:r>
            <a:endParaRPr lang="en-US" sz="1600" dirty="0"/>
          </a:p>
        </p:txBody>
      </p:sp>
      <p:sp>
        <p:nvSpPr>
          <p:cNvPr id="10" name="Text 8"/>
          <p:cNvSpPr/>
          <p:nvPr/>
        </p:nvSpPr>
        <p:spPr>
          <a:xfrm>
            <a:off x="822960" y="1920240"/>
            <a:ext cx="2834640" cy="1005840"/>
          </a:xfrm>
          <a:prstGeom prst="rect">
            <a:avLst/>
          </a:prstGeom>
          <a:noFill/>
          <a:ln/>
        </p:spPr>
        <p:txBody>
          <a:bodyPr wrap="square" lIns="0" tIns="0" rIns="0" bIns="0" rtlCol="0" anchor="ctr"/>
          <a:lstStyle/>
          <a:p>
            <a:pPr algn="ctr" indent="0" marL="0">
              <a:lnSpc>
                <a:spcPct val="120000"/>
              </a:lnSpc>
              <a:buNone/>
            </a:pPr>
            <a:r>
              <a:rPr lang="en-US" sz="1100" dirty="0">
                <a:solidFill>
                  <a:srgbClr val="4A4A4A"/>
                </a:solidFill>
                <a:latin typeface="Arial" pitchFamily="34" charset="0"/>
                <a:ea typeface="Arial" pitchFamily="34" charset="-122"/>
                <a:cs typeface="Arial" pitchFamily="34" charset="-120"/>
              </a:rPr>
              <a:t>US  •  Europe  •  Israel</a:t>
            </a:r>
            <a:endParaRPr lang="en-US" sz="1100" dirty="0"/>
          </a:p>
          <a:p>
            <a:pPr algn="ctr" indent="0" marL="0">
              <a:lnSpc>
                <a:spcPct val="120000"/>
              </a:lnSpc>
              <a:buNone/>
            </a:pPr>
            <a:endParaRPr lang="en-US" sz="1100" dirty="0"/>
          </a:p>
          <a:p>
            <a:pPr algn="ctr" indent="0" marL="0">
              <a:lnSpc>
                <a:spcPct val="120000"/>
              </a:lnSpc>
              <a:buNone/>
            </a:pPr>
            <a:r>
              <a:rPr lang="en-US" sz="1100" dirty="0">
                <a:solidFill>
                  <a:srgbClr val="4A4A4A"/>
                </a:solidFill>
                <a:latin typeface="Arial" pitchFamily="34" charset="0"/>
                <a:ea typeface="Arial" pitchFamily="34" charset="-122"/>
                <a:cs typeface="Arial" pitchFamily="34" charset="-120"/>
              </a:rPr>
              <a:t>The successful AI transformations, the thought leaders, the tools — they exist. We adopt the best of what works.</a:t>
            </a:r>
            <a:endParaRPr lang="en-US" sz="1100" dirty="0"/>
          </a:p>
        </p:txBody>
      </p:sp>
      <p:sp>
        <p:nvSpPr>
          <p:cNvPr id="11" name="Text 9"/>
          <p:cNvSpPr/>
          <p:nvPr/>
        </p:nvSpPr>
        <p:spPr>
          <a:xfrm>
            <a:off x="3931920" y="1645920"/>
            <a:ext cx="914400" cy="1097280"/>
          </a:xfrm>
          <a:prstGeom prst="rect">
            <a:avLst/>
          </a:prstGeom>
          <a:noFill/>
          <a:ln/>
        </p:spPr>
        <p:txBody>
          <a:bodyPr wrap="square" rtlCol="0" anchor="ctr"/>
          <a:lstStyle/>
          <a:p>
            <a:pPr algn="ctr" indent="0" marL="0">
              <a:buNone/>
            </a:pPr>
            <a:r>
              <a:rPr lang="en-US" sz="4800" dirty="0">
                <a:solidFill>
                  <a:srgbClr val="06418C"/>
                </a:solidFill>
                <a:latin typeface="Arial" pitchFamily="34" charset="0"/>
                <a:ea typeface="Arial" pitchFamily="34" charset="-122"/>
                <a:cs typeface="Arial" pitchFamily="34" charset="-120"/>
              </a:rPr>
              <a:t>→</a:t>
            </a:r>
            <a:endParaRPr lang="en-US" sz="4800" dirty="0"/>
          </a:p>
        </p:txBody>
      </p:sp>
      <p:sp>
        <p:nvSpPr>
          <p:cNvPr id="12" name="Shape 10"/>
          <p:cNvSpPr/>
          <p:nvPr/>
        </p:nvSpPr>
        <p:spPr>
          <a:xfrm>
            <a:off x="5029200" y="1371600"/>
            <a:ext cx="3474720" cy="1645920"/>
          </a:xfrm>
          <a:prstGeom prst="rect">
            <a:avLst/>
          </a:prstGeom>
          <a:solidFill>
            <a:srgbClr val="06418C"/>
          </a:solidFill>
          <a:ln/>
          <a:effectLst>
            <a:outerShdw sx="100000" sy="100000" kx="0" ky="0" algn="bl" rotWithShape="0" blurRad="101600" dist="25400" dir="8100000">
              <a:srgbClr val="000000">
                <a:alpha val="12000"/>
              </a:srgbClr>
            </a:outerShdw>
          </a:effectLst>
        </p:spPr>
      </p:sp>
      <p:sp>
        <p:nvSpPr>
          <p:cNvPr id="13" name="Text 11"/>
          <p:cNvSpPr/>
          <p:nvPr/>
        </p:nvSpPr>
        <p:spPr>
          <a:xfrm>
            <a:off x="5029200" y="1463040"/>
            <a:ext cx="347472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Japan Implementation</a:t>
            </a:r>
            <a:endParaRPr lang="en-US" sz="1600" dirty="0"/>
          </a:p>
        </p:txBody>
      </p:sp>
      <p:sp>
        <p:nvSpPr>
          <p:cNvPr id="14" name="Text 12"/>
          <p:cNvSpPr/>
          <p:nvPr/>
        </p:nvSpPr>
        <p:spPr>
          <a:xfrm>
            <a:off x="5212080" y="1920240"/>
            <a:ext cx="3108960" cy="1005840"/>
          </a:xfrm>
          <a:prstGeom prst="rect">
            <a:avLst/>
          </a:prstGeom>
          <a:noFill/>
          <a:ln/>
        </p:spPr>
        <p:txBody>
          <a:bodyPr wrap="square" lIns="0" tIns="0" rIns="0" bIns="0" rtlCol="0" anchor="ctr"/>
          <a:lstStyle/>
          <a:p>
            <a:pPr algn="ctr" indent="0" marL="0">
              <a:lnSpc>
                <a:spcPct val="120000"/>
              </a:lnSpc>
              <a:buNone/>
            </a:pPr>
            <a:r>
              <a:rPr lang="en-US" sz="1100" dirty="0">
                <a:solidFill>
                  <a:srgbClr val="D0D8E8"/>
                </a:solidFill>
                <a:latin typeface="Arial" pitchFamily="34" charset="0"/>
                <a:ea typeface="Arial" pitchFamily="34" charset="-122"/>
                <a:cs typeface="Arial" pitchFamily="34" charset="-120"/>
              </a:rPr>
              <a:t>Adapted for Renesas</a:t>
            </a:r>
            <a:endParaRPr lang="en-US" sz="1100" dirty="0"/>
          </a:p>
          <a:p>
            <a:pPr algn="ctr" indent="0" marL="0">
              <a:lnSpc>
                <a:spcPct val="120000"/>
              </a:lnSpc>
              <a:buNone/>
            </a:pPr>
            <a:endParaRPr lang="en-US" sz="1100" dirty="0"/>
          </a:p>
          <a:p>
            <a:pPr algn="ctr" indent="0" marL="0">
              <a:lnSpc>
                <a:spcPct val="120000"/>
              </a:lnSpc>
              <a:buNone/>
            </a:pPr>
            <a:r>
              <a:rPr lang="en-US" sz="1100" dirty="0">
                <a:solidFill>
                  <a:srgbClr val="D0D8E8"/>
                </a:solidFill>
                <a:latin typeface="Arial" pitchFamily="34" charset="0"/>
                <a:ea typeface="Arial" pitchFamily="34" charset="-122"/>
                <a:cs typeface="Arial" pitchFamily="34" charset="-120"/>
              </a:rPr>
              <a:t>Japan's precision engineering is supercharged by AI. Quality mindset + AI traceability = competitive advantage.</a:t>
            </a:r>
            <a:endParaRPr lang="en-US" sz="1100" dirty="0"/>
          </a:p>
        </p:txBody>
      </p:sp>
      <p:sp>
        <p:nvSpPr>
          <p:cNvPr id="15" name="Text 13"/>
          <p:cNvSpPr/>
          <p:nvPr/>
        </p:nvSpPr>
        <p:spPr>
          <a:xfrm>
            <a:off x="1371600" y="3657600"/>
            <a:ext cx="6400800" cy="411480"/>
          </a:xfrm>
          <a:prstGeom prst="rect">
            <a:avLst/>
          </a:prstGeom>
          <a:noFill/>
          <a:ln/>
        </p:spPr>
        <p:txBody>
          <a:bodyPr wrap="square" lIns="0" tIns="0" rIns="0" bIns="0" rtlCol="0" anchor="ctr"/>
          <a:lstStyle/>
          <a:p>
            <a:pPr algn="ctr" indent="0" marL="0">
              <a:buNone/>
            </a:pPr>
            <a:r>
              <a:rPr lang="en-US" sz="1600" b="1" i="1" dirty="0">
                <a:solidFill>
                  <a:srgbClr val="06418C"/>
                </a:solidFill>
                <a:latin typeface="Arial" pitchFamily="34" charset="0"/>
                <a:ea typeface="Arial" pitchFamily="34" charset="-122"/>
                <a:cs typeface="Arial" pitchFamily="34" charset="-120"/>
              </a:rPr>
              <a:t>"AI is what Japan's engineering culture has been waiting for."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42D5E"/>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4471A9"/>
          </a:solidFill>
          <a:ln/>
        </p:spPr>
      </p:sp>
      <p:sp>
        <p:nvSpPr>
          <p:cNvPr id="3" name="Text 1"/>
          <p:cNvSpPr/>
          <p:nvPr/>
        </p:nvSpPr>
        <p:spPr>
          <a:xfrm>
            <a:off x="640080" y="320040"/>
            <a:ext cx="786384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When this works, technology becomes a multiplier.</a:t>
            </a:r>
            <a:endParaRPr lang="en-US" sz="2600" dirty="0"/>
          </a:p>
        </p:txBody>
      </p:sp>
      <p:sp>
        <p:nvSpPr>
          <p:cNvPr id="4" name="Shape 2"/>
          <p:cNvSpPr/>
          <p:nvPr/>
        </p:nvSpPr>
        <p:spPr>
          <a:xfrm>
            <a:off x="365760" y="1463040"/>
            <a:ext cx="1554480" cy="914400"/>
          </a:xfrm>
          <a:prstGeom prst="rect">
            <a:avLst/>
          </a:prstGeom>
          <a:solidFill>
            <a:srgbClr val="06418C"/>
          </a:solidFill>
          <a:ln/>
          <a:effectLst>
            <a:outerShdw sx="100000" sy="100000" kx="0" ky="0" algn="bl" rotWithShape="0" blurRad="76200" dist="25400" dir="8100000">
              <a:srgbClr val="000000">
                <a:alpha val="10000"/>
              </a:srgbClr>
            </a:outerShdw>
          </a:effectLst>
        </p:spPr>
      </p:sp>
      <p:sp>
        <p:nvSpPr>
          <p:cNvPr id="5" name="Text 3"/>
          <p:cNvSpPr/>
          <p:nvPr/>
        </p:nvSpPr>
        <p:spPr>
          <a:xfrm>
            <a:off x="365760" y="1463040"/>
            <a:ext cx="155448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Faster R&amp;D</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cycles</a:t>
            </a:r>
            <a:endParaRPr lang="en-US" sz="1300" dirty="0"/>
          </a:p>
        </p:txBody>
      </p:sp>
      <p:sp>
        <p:nvSpPr>
          <p:cNvPr id="6" name="Text 4"/>
          <p:cNvSpPr/>
          <p:nvPr/>
        </p:nvSpPr>
        <p:spPr>
          <a:xfrm>
            <a:off x="1874520" y="1554480"/>
            <a:ext cx="274320" cy="731520"/>
          </a:xfrm>
          <a:prstGeom prst="rect">
            <a:avLst/>
          </a:prstGeom>
          <a:noFill/>
          <a:ln/>
        </p:spPr>
        <p:txBody>
          <a:bodyPr wrap="square" rtlCol="0" anchor="ctr"/>
          <a:lstStyle/>
          <a:p>
            <a:pPr algn="ctr" indent="0" marL="0">
              <a:buNone/>
            </a:pPr>
            <a:r>
              <a:rPr lang="en-US" sz="2400" dirty="0">
                <a:solidFill>
                  <a:srgbClr val="4471A9"/>
                </a:solidFill>
                <a:latin typeface="Arial" pitchFamily="34" charset="0"/>
                <a:ea typeface="Arial" pitchFamily="34" charset="-122"/>
                <a:cs typeface="Arial" pitchFamily="34" charset="-120"/>
              </a:rPr>
              <a:t>→</a:t>
            </a:r>
            <a:endParaRPr lang="en-US" sz="2400" dirty="0"/>
          </a:p>
        </p:txBody>
      </p:sp>
      <p:sp>
        <p:nvSpPr>
          <p:cNvPr id="7" name="Shape 5"/>
          <p:cNvSpPr/>
          <p:nvPr/>
        </p:nvSpPr>
        <p:spPr>
          <a:xfrm>
            <a:off x="2103120" y="1463040"/>
            <a:ext cx="1554480" cy="914400"/>
          </a:xfrm>
          <a:prstGeom prst="rect">
            <a:avLst/>
          </a:prstGeom>
          <a:solidFill>
            <a:srgbClr val="06418C"/>
          </a:solidFill>
          <a:ln/>
          <a:effectLst>
            <a:outerShdw sx="100000" sy="100000" kx="0" ky="0" algn="bl" rotWithShape="0" blurRad="76200" dist="25400" dir="8100000">
              <a:srgbClr val="000000">
                <a:alpha val="10000"/>
              </a:srgbClr>
            </a:outerShdw>
          </a:effectLst>
        </p:spPr>
      </p:sp>
      <p:sp>
        <p:nvSpPr>
          <p:cNvPr id="8" name="Text 6"/>
          <p:cNvSpPr/>
          <p:nvPr/>
        </p:nvSpPr>
        <p:spPr>
          <a:xfrm>
            <a:off x="2103120" y="1463040"/>
            <a:ext cx="155448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Higher engineering</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throughput</a:t>
            </a:r>
            <a:endParaRPr lang="en-US" sz="1300" dirty="0"/>
          </a:p>
        </p:txBody>
      </p:sp>
      <p:sp>
        <p:nvSpPr>
          <p:cNvPr id="9" name="Text 7"/>
          <p:cNvSpPr/>
          <p:nvPr/>
        </p:nvSpPr>
        <p:spPr>
          <a:xfrm>
            <a:off x="3611880" y="1554480"/>
            <a:ext cx="274320" cy="731520"/>
          </a:xfrm>
          <a:prstGeom prst="rect">
            <a:avLst/>
          </a:prstGeom>
          <a:noFill/>
          <a:ln/>
        </p:spPr>
        <p:txBody>
          <a:bodyPr wrap="square" rtlCol="0" anchor="ctr"/>
          <a:lstStyle/>
          <a:p>
            <a:pPr algn="ctr" indent="0" marL="0">
              <a:buNone/>
            </a:pPr>
            <a:r>
              <a:rPr lang="en-US" sz="2400" dirty="0">
                <a:solidFill>
                  <a:srgbClr val="4471A9"/>
                </a:solidFill>
                <a:latin typeface="Arial" pitchFamily="34" charset="0"/>
                <a:ea typeface="Arial" pitchFamily="34" charset="-122"/>
                <a:cs typeface="Arial" pitchFamily="34" charset="-120"/>
              </a:rPr>
              <a:t>→</a:t>
            </a:r>
            <a:endParaRPr lang="en-US" sz="2400" dirty="0"/>
          </a:p>
        </p:txBody>
      </p:sp>
      <p:sp>
        <p:nvSpPr>
          <p:cNvPr id="10" name="Shape 8"/>
          <p:cNvSpPr/>
          <p:nvPr/>
        </p:nvSpPr>
        <p:spPr>
          <a:xfrm>
            <a:off x="3840480" y="1463040"/>
            <a:ext cx="1554480" cy="914400"/>
          </a:xfrm>
          <a:prstGeom prst="rect">
            <a:avLst/>
          </a:prstGeom>
          <a:solidFill>
            <a:srgbClr val="06418C"/>
          </a:solidFill>
          <a:ln/>
          <a:effectLst>
            <a:outerShdw sx="100000" sy="100000" kx="0" ky="0" algn="bl" rotWithShape="0" blurRad="76200" dist="25400" dir="8100000">
              <a:srgbClr val="000000">
                <a:alpha val="10000"/>
              </a:srgbClr>
            </a:outerShdw>
          </a:effectLst>
        </p:spPr>
      </p:sp>
      <p:sp>
        <p:nvSpPr>
          <p:cNvPr id="11" name="Text 9"/>
          <p:cNvSpPr/>
          <p:nvPr/>
        </p:nvSpPr>
        <p:spPr>
          <a:xfrm>
            <a:off x="3840480" y="1463040"/>
            <a:ext cx="155448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Lower operating</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cost</a:t>
            </a:r>
            <a:endParaRPr lang="en-US" sz="1300" dirty="0"/>
          </a:p>
        </p:txBody>
      </p:sp>
      <p:sp>
        <p:nvSpPr>
          <p:cNvPr id="12" name="Text 10"/>
          <p:cNvSpPr/>
          <p:nvPr/>
        </p:nvSpPr>
        <p:spPr>
          <a:xfrm>
            <a:off x="5349240" y="1554480"/>
            <a:ext cx="274320" cy="731520"/>
          </a:xfrm>
          <a:prstGeom prst="rect">
            <a:avLst/>
          </a:prstGeom>
          <a:noFill/>
          <a:ln/>
        </p:spPr>
        <p:txBody>
          <a:bodyPr wrap="square" rtlCol="0" anchor="ctr"/>
          <a:lstStyle/>
          <a:p>
            <a:pPr algn="ctr" indent="0" marL="0">
              <a:buNone/>
            </a:pPr>
            <a:r>
              <a:rPr lang="en-US" sz="2400" dirty="0">
                <a:solidFill>
                  <a:srgbClr val="4471A9"/>
                </a:solidFill>
                <a:latin typeface="Arial" pitchFamily="34" charset="0"/>
                <a:ea typeface="Arial" pitchFamily="34" charset="-122"/>
                <a:cs typeface="Arial" pitchFamily="34" charset="-120"/>
              </a:rPr>
              <a:t>→</a:t>
            </a:r>
            <a:endParaRPr lang="en-US" sz="2400" dirty="0"/>
          </a:p>
        </p:txBody>
      </p:sp>
      <p:sp>
        <p:nvSpPr>
          <p:cNvPr id="13" name="Shape 11"/>
          <p:cNvSpPr/>
          <p:nvPr/>
        </p:nvSpPr>
        <p:spPr>
          <a:xfrm>
            <a:off x="5577840" y="1463040"/>
            <a:ext cx="1554480" cy="914400"/>
          </a:xfrm>
          <a:prstGeom prst="rect">
            <a:avLst/>
          </a:prstGeom>
          <a:solidFill>
            <a:srgbClr val="06418C"/>
          </a:solidFill>
          <a:ln/>
          <a:effectLst>
            <a:outerShdw sx="100000" sy="100000" kx="0" ky="0" algn="bl" rotWithShape="0" blurRad="76200" dist="25400" dir="8100000">
              <a:srgbClr val="000000">
                <a:alpha val="10000"/>
              </a:srgbClr>
            </a:outerShdw>
          </a:effectLst>
        </p:spPr>
      </p:sp>
      <p:sp>
        <p:nvSpPr>
          <p:cNvPr id="14" name="Text 12"/>
          <p:cNvSpPr/>
          <p:nvPr/>
        </p:nvSpPr>
        <p:spPr>
          <a:xfrm>
            <a:off x="5577840" y="1463040"/>
            <a:ext cx="155448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Stronger digital</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capabilities</a:t>
            </a:r>
            <a:endParaRPr lang="en-US" sz="1300" dirty="0"/>
          </a:p>
        </p:txBody>
      </p:sp>
      <p:sp>
        <p:nvSpPr>
          <p:cNvPr id="15" name="Text 13"/>
          <p:cNvSpPr/>
          <p:nvPr/>
        </p:nvSpPr>
        <p:spPr>
          <a:xfrm>
            <a:off x="7086600" y="1554480"/>
            <a:ext cx="274320" cy="731520"/>
          </a:xfrm>
          <a:prstGeom prst="rect">
            <a:avLst/>
          </a:prstGeom>
          <a:noFill/>
          <a:ln/>
        </p:spPr>
        <p:txBody>
          <a:bodyPr wrap="square" rtlCol="0" anchor="ctr"/>
          <a:lstStyle/>
          <a:p>
            <a:pPr algn="ctr" indent="0" marL="0">
              <a:buNone/>
            </a:pPr>
            <a:r>
              <a:rPr lang="en-US" sz="2400" dirty="0">
                <a:solidFill>
                  <a:srgbClr val="4471A9"/>
                </a:solidFill>
                <a:latin typeface="Arial" pitchFamily="34" charset="0"/>
                <a:ea typeface="Arial" pitchFamily="34" charset="-122"/>
                <a:cs typeface="Arial" pitchFamily="34" charset="-120"/>
              </a:rPr>
              <a:t>→</a:t>
            </a:r>
            <a:endParaRPr lang="en-US" sz="2400" dirty="0"/>
          </a:p>
        </p:txBody>
      </p:sp>
      <p:sp>
        <p:nvSpPr>
          <p:cNvPr id="16" name="Shape 14"/>
          <p:cNvSpPr/>
          <p:nvPr/>
        </p:nvSpPr>
        <p:spPr>
          <a:xfrm>
            <a:off x="7315200" y="1463040"/>
            <a:ext cx="1554480" cy="914400"/>
          </a:xfrm>
          <a:prstGeom prst="rect">
            <a:avLst/>
          </a:prstGeom>
          <a:solidFill>
            <a:srgbClr val="06418C"/>
          </a:solidFill>
          <a:ln/>
          <a:effectLst>
            <a:outerShdw sx="100000" sy="100000" kx="0" ky="0" algn="bl" rotWithShape="0" blurRad="76200" dist="25400" dir="8100000">
              <a:srgbClr val="000000">
                <a:alpha val="10000"/>
              </a:srgbClr>
            </a:outerShdw>
          </a:effectLst>
        </p:spPr>
      </p:sp>
      <p:sp>
        <p:nvSpPr>
          <p:cNvPr id="17" name="Text 15"/>
          <p:cNvSpPr/>
          <p:nvPr/>
        </p:nvSpPr>
        <p:spPr>
          <a:xfrm>
            <a:off x="7315200" y="1463040"/>
            <a:ext cx="155448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Compounding</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competitive moat</a:t>
            </a:r>
            <a:endParaRPr lang="en-US" sz="1300" dirty="0"/>
          </a:p>
        </p:txBody>
      </p:sp>
      <p:sp>
        <p:nvSpPr>
          <p:cNvPr id="18" name="Text 16"/>
          <p:cNvSpPr/>
          <p:nvPr/>
        </p:nvSpPr>
        <p:spPr>
          <a:xfrm>
            <a:off x="1828800" y="3108960"/>
            <a:ext cx="5486400" cy="548640"/>
          </a:xfrm>
          <a:prstGeom prst="rect">
            <a:avLst/>
          </a:prstGeom>
          <a:noFill/>
          <a:ln/>
        </p:spPr>
        <p:txBody>
          <a:bodyPr wrap="square" lIns="0" tIns="0" rIns="0" bIns="0" rtlCol="0" anchor="ctr"/>
          <a:lstStyle/>
          <a:p>
            <a:pPr algn="ctr" indent="0" marL="0">
              <a:buNone/>
            </a:pPr>
            <a:r>
              <a:rPr lang="en-US" sz="2200" b="1" i="1" dirty="0">
                <a:solidFill>
                  <a:srgbClr val="FFFFFF"/>
                </a:solidFill>
                <a:latin typeface="Arial" pitchFamily="34" charset="0"/>
                <a:ea typeface="Arial" pitchFamily="34" charset="-122"/>
                <a:cs typeface="Arial" pitchFamily="34" charset="-120"/>
              </a:rPr>
              <a:t>"This changes how Renesas competes."</a:t>
            </a:r>
            <a:endParaRPr lang="en-US" sz="2200" dirty="0"/>
          </a:p>
        </p:txBody>
      </p:sp>
      <p:sp>
        <p:nvSpPr>
          <p:cNvPr id="19" name="Shape 17"/>
          <p:cNvSpPr/>
          <p:nvPr/>
        </p:nvSpPr>
        <p:spPr>
          <a:xfrm>
            <a:off x="457200" y="4645152"/>
            <a:ext cx="8229600" cy="0"/>
          </a:xfrm>
          <a:prstGeom prst="line">
            <a:avLst/>
          </a:prstGeom>
          <a:noFill/>
          <a:ln w="6350">
            <a:solidFill>
              <a:srgbClr val="D0D0D0"/>
            </a:solidFill>
            <a:prstDash val="solid"/>
          </a:ln>
        </p:spPr>
      </p:sp>
      <p:sp>
        <p:nvSpPr>
          <p:cNvPr id="20" name="Text 18"/>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21" name="Shape 19"/>
          <p:cNvSpPr/>
          <p:nvPr/>
        </p:nvSpPr>
        <p:spPr>
          <a:xfrm>
            <a:off x="3840480" y="4764024"/>
            <a:ext cx="1188720" cy="182880"/>
          </a:xfrm>
          <a:prstGeom prst="rect">
            <a:avLst/>
          </a:prstGeom>
          <a:solidFill>
            <a:srgbClr val="993399"/>
          </a:solidFill>
          <a:ln/>
        </p:spPr>
      </p:sp>
      <p:sp>
        <p:nvSpPr>
          <p:cNvPr id="22" name="Text 20"/>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23" name="Text 21"/>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11</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42D5E"/>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4471A9"/>
          </a:solidFill>
          <a:ln/>
        </p:spPr>
      </p:sp>
      <p:sp>
        <p:nvSpPr>
          <p:cNvPr id="3" name="Text 1"/>
          <p:cNvSpPr/>
          <p:nvPr/>
        </p:nvSpPr>
        <p:spPr>
          <a:xfrm>
            <a:off x="640080" y="1371600"/>
            <a:ext cx="1097280" cy="731520"/>
          </a:xfrm>
          <a:prstGeom prst="rect">
            <a:avLst/>
          </a:prstGeom>
          <a:noFill/>
          <a:ln/>
        </p:spPr>
        <p:txBody>
          <a:bodyPr wrap="square" lIns="0" tIns="0" rIns="0" bIns="0" rtlCol="0" anchor="ctr"/>
          <a:lstStyle/>
          <a:p>
            <a:pPr indent="0" marL="0">
              <a:buNone/>
            </a:pPr>
            <a:r>
              <a:rPr lang="en-US" sz="4800" b="1" dirty="0">
                <a:solidFill>
                  <a:srgbClr val="4471A9"/>
                </a:solidFill>
                <a:latin typeface="Arial" pitchFamily="34" charset="0"/>
                <a:ea typeface="Arial" pitchFamily="34" charset="-122"/>
                <a:cs typeface="Arial" pitchFamily="34" charset="-120"/>
              </a:rPr>
              <a:t>03</a:t>
            </a:r>
            <a:endParaRPr lang="en-US" sz="4800" dirty="0"/>
          </a:p>
        </p:txBody>
      </p:sp>
      <p:sp>
        <p:nvSpPr>
          <p:cNvPr id="4" name="Text 2"/>
          <p:cNvSpPr/>
          <p:nvPr/>
        </p:nvSpPr>
        <p:spPr>
          <a:xfrm>
            <a:off x="640080" y="2103120"/>
            <a:ext cx="7315200" cy="914400"/>
          </a:xfrm>
          <a:prstGeom prst="rect">
            <a:avLst/>
          </a:prstGeom>
          <a:noFill/>
          <a:ln/>
        </p:spPr>
        <p:txBody>
          <a:bodyPr wrap="square" lIns="0" tIns="0" rIns="0" bIns="0" rtlCol="0" anchor="ctr"/>
          <a:lstStyle/>
          <a:p>
            <a:pPr indent="0" marL="0">
              <a:buNone/>
            </a:pPr>
            <a:r>
              <a:rPr lang="en-US" sz="3600" b="1" spc="300" kern="0" dirty="0">
                <a:solidFill>
                  <a:srgbClr val="FFFFFF"/>
                </a:solidFill>
                <a:latin typeface="Arial" pitchFamily="34" charset="0"/>
                <a:ea typeface="Arial" pitchFamily="34" charset="-122"/>
                <a:cs typeface="Arial" pitchFamily="34" charset="-120"/>
              </a:rPr>
              <a:t>THREE PHASES</a:t>
            </a:r>
            <a:endParaRPr lang="en-US" sz="3600" dirty="0"/>
          </a:p>
        </p:txBody>
      </p:sp>
      <p:sp>
        <p:nvSpPr>
          <p:cNvPr id="5" name="Text 3"/>
          <p:cNvSpPr/>
          <p:nvPr/>
        </p:nvSpPr>
        <p:spPr>
          <a:xfrm>
            <a:off x="640080" y="3017520"/>
            <a:ext cx="6400800" cy="548640"/>
          </a:xfrm>
          <a:prstGeom prst="rect">
            <a:avLst/>
          </a:prstGeom>
          <a:noFill/>
          <a:ln/>
        </p:spPr>
        <p:txBody>
          <a:bodyPr wrap="square" rtlCol="0" anchor="ctr"/>
          <a:lstStyle/>
          <a:p>
            <a:pPr indent="0" marL="0">
              <a:buNone/>
            </a:pPr>
            <a:r>
              <a:rPr lang="en-US" sz="1600" dirty="0">
                <a:solidFill>
                  <a:srgbClr val="4471A9"/>
                </a:solidFill>
                <a:latin typeface="Arial" pitchFamily="34" charset="0"/>
                <a:ea typeface="Arial" pitchFamily="34" charset="-122"/>
                <a:cs typeface="Arial" pitchFamily="34" charset="-120"/>
              </a:rPr>
              <a:t>Each one earns the next. Each one funds the next.</a:t>
            </a:r>
            <a:endParaRPr lang="en-US" sz="1600" dirty="0"/>
          </a:p>
        </p:txBody>
      </p:sp>
      <p:sp>
        <p:nvSpPr>
          <p:cNvPr id="6" name="Shape 4"/>
          <p:cNvSpPr/>
          <p:nvPr/>
        </p:nvSpPr>
        <p:spPr>
          <a:xfrm>
            <a:off x="0" y="5106924"/>
            <a:ext cx="9144000" cy="36576"/>
          </a:xfrm>
          <a:prstGeom prst="rect">
            <a:avLst/>
          </a:prstGeom>
          <a:solidFill>
            <a:srgbClr val="993399"/>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Three overlapping phases. Each one earns the next.</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12</a:t>
            </a:r>
            <a:endParaRPr lang="en-US" sz="700" dirty="0"/>
          </a:p>
        </p:txBody>
      </p:sp>
      <p:sp>
        <p:nvSpPr>
          <p:cNvPr id="8" name="Text 6"/>
          <p:cNvSpPr/>
          <p:nvPr/>
        </p:nvSpPr>
        <p:spPr>
          <a:xfrm>
            <a:off x="365760" y="1188720"/>
            <a:ext cx="548640" cy="274320"/>
          </a:xfrm>
          <a:prstGeom prst="rect">
            <a:avLst/>
          </a:prstGeom>
          <a:noFill/>
          <a:ln/>
        </p:spPr>
        <p:txBody>
          <a:bodyPr wrap="square" lIns="0" tIns="0" rIns="0" bIns="0" rtlCol="0" anchor="ctr"/>
          <a:lstStyle/>
          <a:p>
            <a:pPr algn="ctr" indent="0" marL="0">
              <a:buNone/>
            </a:pPr>
            <a:r>
              <a:rPr lang="en-US" sz="1000" dirty="0">
                <a:solidFill>
                  <a:srgbClr val="9D9D9D"/>
                </a:solidFill>
                <a:latin typeface="Arial" pitchFamily="34" charset="0"/>
                <a:ea typeface="Arial" pitchFamily="34" charset="-122"/>
                <a:cs typeface="Arial" pitchFamily="34" charset="-120"/>
              </a:rPr>
              <a:t>M0</a:t>
            </a:r>
            <a:endParaRPr lang="en-US" sz="1000" dirty="0"/>
          </a:p>
        </p:txBody>
      </p:sp>
      <p:sp>
        <p:nvSpPr>
          <p:cNvPr id="9" name="Shape 7"/>
          <p:cNvSpPr/>
          <p:nvPr/>
        </p:nvSpPr>
        <p:spPr>
          <a:xfrm>
            <a:off x="640080" y="1463040"/>
            <a:ext cx="0" cy="2194560"/>
          </a:xfrm>
          <a:prstGeom prst="line">
            <a:avLst/>
          </a:prstGeom>
          <a:noFill/>
          <a:ln w="6350">
            <a:solidFill>
              <a:srgbClr val="E0E0E0"/>
            </a:solidFill>
            <a:prstDash val="dash"/>
          </a:ln>
        </p:spPr>
      </p:sp>
      <p:sp>
        <p:nvSpPr>
          <p:cNvPr id="10" name="Text 8"/>
          <p:cNvSpPr/>
          <p:nvPr/>
        </p:nvSpPr>
        <p:spPr>
          <a:xfrm>
            <a:off x="2331720" y="1188720"/>
            <a:ext cx="548640" cy="274320"/>
          </a:xfrm>
          <a:prstGeom prst="rect">
            <a:avLst/>
          </a:prstGeom>
          <a:noFill/>
          <a:ln/>
        </p:spPr>
        <p:txBody>
          <a:bodyPr wrap="square" lIns="0" tIns="0" rIns="0" bIns="0" rtlCol="0" anchor="ctr"/>
          <a:lstStyle/>
          <a:p>
            <a:pPr algn="ctr" indent="0" marL="0">
              <a:buNone/>
            </a:pPr>
            <a:r>
              <a:rPr lang="en-US" sz="1000" dirty="0">
                <a:solidFill>
                  <a:srgbClr val="9D9D9D"/>
                </a:solidFill>
                <a:latin typeface="Arial" pitchFamily="34" charset="0"/>
                <a:ea typeface="Arial" pitchFamily="34" charset="-122"/>
                <a:cs typeface="Arial" pitchFamily="34" charset="-120"/>
              </a:rPr>
              <a:t>M9</a:t>
            </a:r>
            <a:endParaRPr lang="en-US" sz="1000" dirty="0"/>
          </a:p>
        </p:txBody>
      </p:sp>
      <p:sp>
        <p:nvSpPr>
          <p:cNvPr id="11" name="Shape 9"/>
          <p:cNvSpPr/>
          <p:nvPr/>
        </p:nvSpPr>
        <p:spPr>
          <a:xfrm>
            <a:off x="2606040" y="1463040"/>
            <a:ext cx="0" cy="2194560"/>
          </a:xfrm>
          <a:prstGeom prst="line">
            <a:avLst/>
          </a:prstGeom>
          <a:noFill/>
          <a:ln w="6350">
            <a:solidFill>
              <a:srgbClr val="E0E0E0"/>
            </a:solidFill>
            <a:prstDash val="dash"/>
          </a:ln>
        </p:spPr>
      </p:sp>
      <p:sp>
        <p:nvSpPr>
          <p:cNvPr id="12" name="Text 10"/>
          <p:cNvSpPr/>
          <p:nvPr/>
        </p:nvSpPr>
        <p:spPr>
          <a:xfrm>
            <a:off x="4297680" y="1188720"/>
            <a:ext cx="548640" cy="274320"/>
          </a:xfrm>
          <a:prstGeom prst="rect">
            <a:avLst/>
          </a:prstGeom>
          <a:noFill/>
          <a:ln/>
        </p:spPr>
        <p:txBody>
          <a:bodyPr wrap="square" lIns="0" tIns="0" rIns="0" bIns="0" rtlCol="0" anchor="ctr"/>
          <a:lstStyle/>
          <a:p>
            <a:pPr algn="ctr" indent="0" marL="0">
              <a:buNone/>
            </a:pPr>
            <a:r>
              <a:rPr lang="en-US" sz="1000" dirty="0">
                <a:solidFill>
                  <a:srgbClr val="9D9D9D"/>
                </a:solidFill>
                <a:latin typeface="Arial" pitchFamily="34" charset="0"/>
                <a:ea typeface="Arial" pitchFamily="34" charset="-122"/>
                <a:cs typeface="Arial" pitchFamily="34" charset="-120"/>
              </a:rPr>
              <a:t>M18</a:t>
            </a:r>
            <a:endParaRPr lang="en-US" sz="1000" dirty="0"/>
          </a:p>
        </p:txBody>
      </p:sp>
      <p:sp>
        <p:nvSpPr>
          <p:cNvPr id="13" name="Shape 11"/>
          <p:cNvSpPr/>
          <p:nvPr/>
        </p:nvSpPr>
        <p:spPr>
          <a:xfrm>
            <a:off x="4572000" y="1463040"/>
            <a:ext cx="0" cy="2194560"/>
          </a:xfrm>
          <a:prstGeom prst="line">
            <a:avLst/>
          </a:prstGeom>
          <a:noFill/>
          <a:ln w="6350">
            <a:solidFill>
              <a:srgbClr val="E0E0E0"/>
            </a:solidFill>
            <a:prstDash val="dash"/>
          </a:ln>
        </p:spPr>
      </p:sp>
      <p:sp>
        <p:nvSpPr>
          <p:cNvPr id="14" name="Text 12"/>
          <p:cNvSpPr/>
          <p:nvPr/>
        </p:nvSpPr>
        <p:spPr>
          <a:xfrm>
            <a:off x="6263640" y="1188720"/>
            <a:ext cx="548640" cy="274320"/>
          </a:xfrm>
          <a:prstGeom prst="rect">
            <a:avLst/>
          </a:prstGeom>
          <a:noFill/>
          <a:ln/>
        </p:spPr>
        <p:txBody>
          <a:bodyPr wrap="square" lIns="0" tIns="0" rIns="0" bIns="0" rtlCol="0" anchor="ctr"/>
          <a:lstStyle/>
          <a:p>
            <a:pPr algn="ctr" indent="0" marL="0">
              <a:buNone/>
            </a:pPr>
            <a:r>
              <a:rPr lang="en-US" sz="1000" dirty="0">
                <a:solidFill>
                  <a:srgbClr val="9D9D9D"/>
                </a:solidFill>
                <a:latin typeface="Arial" pitchFamily="34" charset="0"/>
                <a:ea typeface="Arial" pitchFamily="34" charset="-122"/>
                <a:cs typeface="Arial" pitchFamily="34" charset="-120"/>
              </a:rPr>
              <a:t>M27</a:t>
            </a:r>
            <a:endParaRPr lang="en-US" sz="1000" dirty="0"/>
          </a:p>
        </p:txBody>
      </p:sp>
      <p:sp>
        <p:nvSpPr>
          <p:cNvPr id="15" name="Shape 13"/>
          <p:cNvSpPr/>
          <p:nvPr/>
        </p:nvSpPr>
        <p:spPr>
          <a:xfrm>
            <a:off x="6537960" y="1463040"/>
            <a:ext cx="0" cy="2194560"/>
          </a:xfrm>
          <a:prstGeom prst="line">
            <a:avLst/>
          </a:prstGeom>
          <a:noFill/>
          <a:ln w="6350">
            <a:solidFill>
              <a:srgbClr val="E0E0E0"/>
            </a:solidFill>
            <a:prstDash val="dash"/>
          </a:ln>
        </p:spPr>
      </p:sp>
      <p:sp>
        <p:nvSpPr>
          <p:cNvPr id="16" name="Text 14"/>
          <p:cNvSpPr/>
          <p:nvPr/>
        </p:nvSpPr>
        <p:spPr>
          <a:xfrm>
            <a:off x="8229600" y="1188720"/>
            <a:ext cx="548640" cy="274320"/>
          </a:xfrm>
          <a:prstGeom prst="rect">
            <a:avLst/>
          </a:prstGeom>
          <a:noFill/>
          <a:ln/>
        </p:spPr>
        <p:txBody>
          <a:bodyPr wrap="square" lIns="0" tIns="0" rIns="0" bIns="0" rtlCol="0" anchor="ctr"/>
          <a:lstStyle/>
          <a:p>
            <a:pPr algn="ctr" indent="0" marL="0">
              <a:buNone/>
            </a:pPr>
            <a:r>
              <a:rPr lang="en-US" sz="1000" dirty="0">
                <a:solidFill>
                  <a:srgbClr val="9D9D9D"/>
                </a:solidFill>
                <a:latin typeface="Arial" pitchFamily="34" charset="0"/>
                <a:ea typeface="Arial" pitchFamily="34" charset="-122"/>
                <a:cs typeface="Arial" pitchFamily="34" charset="-120"/>
              </a:rPr>
              <a:t>M36</a:t>
            </a:r>
            <a:endParaRPr lang="en-US" sz="1000" dirty="0"/>
          </a:p>
        </p:txBody>
      </p:sp>
      <p:sp>
        <p:nvSpPr>
          <p:cNvPr id="17" name="Shape 15"/>
          <p:cNvSpPr/>
          <p:nvPr/>
        </p:nvSpPr>
        <p:spPr>
          <a:xfrm>
            <a:off x="8503920" y="1463040"/>
            <a:ext cx="0" cy="2194560"/>
          </a:xfrm>
          <a:prstGeom prst="line">
            <a:avLst/>
          </a:prstGeom>
          <a:noFill/>
          <a:ln w="6350">
            <a:solidFill>
              <a:srgbClr val="E0E0E0"/>
            </a:solidFill>
            <a:prstDash val="dash"/>
          </a:ln>
        </p:spPr>
      </p:sp>
      <p:sp>
        <p:nvSpPr>
          <p:cNvPr id="18" name="Shape 16"/>
          <p:cNvSpPr/>
          <p:nvPr/>
        </p:nvSpPr>
        <p:spPr>
          <a:xfrm>
            <a:off x="640080" y="1554480"/>
            <a:ext cx="3931920" cy="502920"/>
          </a:xfrm>
          <a:prstGeom prst="rect">
            <a:avLst/>
          </a:prstGeom>
          <a:solidFill>
            <a:srgbClr val="4471A9"/>
          </a:solidFill>
          <a:ln/>
          <a:effectLst>
            <a:outerShdw sx="100000" sy="100000" kx="0" ky="0" algn="bl" rotWithShape="0" blurRad="50800" dist="12700" dir="8100000">
              <a:srgbClr val="000000">
                <a:alpha val="8000"/>
              </a:srgbClr>
            </a:outerShdw>
          </a:effectLst>
        </p:spPr>
      </p:sp>
      <p:sp>
        <p:nvSpPr>
          <p:cNvPr id="19" name="Text 17"/>
          <p:cNvSpPr/>
          <p:nvPr/>
        </p:nvSpPr>
        <p:spPr>
          <a:xfrm>
            <a:off x="777240" y="1572768"/>
            <a:ext cx="3657600" cy="25603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1: PROVE IT</a:t>
            </a:r>
            <a:endParaRPr lang="en-US" sz="1200" dirty="0"/>
          </a:p>
        </p:txBody>
      </p:sp>
      <p:sp>
        <p:nvSpPr>
          <p:cNvPr id="20" name="Text 18"/>
          <p:cNvSpPr/>
          <p:nvPr/>
        </p:nvSpPr>
        <p:spPr>
          <a:xfrm>
            <a:off x="777240" y="1810512"/>
            <a:ext cx="3657600" cy="228600"/>
          </a:xfrm>
          <a:prstGeom prst="rect">
            <a:avLst/>
          </a:prstGeom>
          <a:noFill/>
          <a:ln/>
        </p:spPr>
        <p:txBody>
          <a:bodyPr wrap="square" lIns="0" tIns="0" rIns="0" bIns="0" rtlCol="0" anchor="ctr"/>
          <a:lstStyle/>
          <a:p>
            <a:pPr indent="0" marL="0">
              <a:buNone/>
            </a:pPr>
            <a:r>
              <a:rPr lang="en-US" sz="900" dirty="0">
                <a:solidFill>
                  <a:srgbClr val="D0D8E8"/>
                </a:solidFill>
                <a:latin typeface="Arial" pitchFamily="34" charset="0"/>
                <a:ea typeface="Arial" pitchFamily="34" charset="-122"/>
                <a:cs typeface="Arial" pitchFamily="34" charset="-120"/>
              </a:rPr>
              <a:t>Efficiency, cost out, data foundation</a:t>
            </a:r>
            <a:endParaRPr lang="en-US" sz="900" dirty="0"/>
          </a:p>
        </p:txBody>
      </p:sp>
      <p:sp>
        <p:nvSpPr>
          <p:cNvPr id="21" name="Shape 19"/>
          <p:cNvSpPr/>
          <p:nvPr/>
        </p:nvSpPr>
        <p:spPr>
          <a:xfrm>
            <a:off x="2606040" y="2194560"/>
            <a:ext cx="3931920" cy="502920"/>
          </a:xfrm>
          <a:prstGeom prst="rect">
            <a:avLst/>
          </a:prstGeom>
          <a:solidFill>
            <a:srgbClr val="06418C"/>
          </a:solidFill>
          <a:ln/>
          <a:effectLst>
            <a:outerShdw sx="100000" sy="100000" kx="0" ky="0" algn="bl" rotWithShape="0" blurRad="50800" dist="12700" dir="8100000">
              <a:srgbClr val="000000">
                <a:alpha val="8000"/>
              </a:srgbClr>
            </a:outerShdw>
          </a:effectLst>
        </p:spPr>
      </p:sp>
      <p:sp>
        <p:nvSpPr>
          <p:cNvPr id="22" name="Text 20"/>
          <p:cNvSpPr/>
          <p:nvPr/>
        </p:nvSpPr>
        <p:spPr>
          <a:xfrm>
            <a:off x="2743200" y="2212848"/>
            <a:ext cx="3657600" cy="25603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 SCALE IT</a:t>
            </a:r>
            <a:endParaRPr lang="en-US" sz="1200" dirty="0"/>
          </a:p>
        </p:txBody>
      </p:sp>
      <p:sp>
        <p:nvSpPr>
          <p:cNvPr id="23" name="Text 21"/>
          <p:cNvSpPr/>
          <p:nvPr/>
        </p:nvSpPr>
        <p:spPr>
          <a:xfrm>
            <a:off x="2743200" y="2450592"/>
            <a:ext cx="3657600" cy="228600"/>
          </a:xfrm>
          <a:prstGeom prst="rect">
            <a:avLst/>
          </a:prstGeom>
          <a:noFill/>
          <a:ln/>
        </p:spPr>
        <p:txBody>
          <a:bodyPr wrap="square" lIns="0" tIns="0" rIns="0" bIns="0" rtlCol="0" anchor="ctr"/>
          <a:lstStyle/>
          <a:p>
            <a:pPr indent="0" marL="0">
              <a:buNone/>
            </a:pPr>
            <a:r>
              <a:rPr lang="en-US" sz="900" dirty="0">
                <a:solidFill>
                  <a:srgbClr val="D0D8E8"/>
                </a:solidFill>
                <a:latin typeface="Arial" pitchFamily="34" charset="0"/>
                <a:ea typeface="Arial" pitchFamily="34" charset="-122"/>
                <a:cs typeface="Arial" pitchFamily="34" charset="-120"/>
              </a:rPr>
              <a:t>R&amp;D acceleration, AI-enabled operations</a:t>
            </a:r>
            <a:endParaRPr lang="en-US" sz="900" dirty="0"/>
          </a:p>
        </p:txBody>
      </p:sp>
      <p:sp>
        <p:nvSpPr>
          <p:cNvPr id="24" name="Shape 22"/>
          <p:cNvSpPr/>
          <p:nvPr/>
        </p:nvSpPr>
        <p:spPr>
          <a:xfrm>
            <a:off x="4572000" y="2834640"/>
            <a:ext cx="3931920" cy="502920"/>
          </a:xfrm>
          <a:prstGeom prst="rect">
            <a:avLst/>
          </a:prstGeom>
          <a:solidFill>
            <a:srgbClr val="993399"/>
          </a:solidFill>
          <a:ln/>
          <a:effectLst>
            <a:outerShdw sx="100000" sy="100000" kx="0" ky="0" algn="bl" rotWithShape="0" blurRad="50800" dist="12700" dir="8100000">
              <a:srgbClr val="000000">
                <a:alpha val="8000"/>
              </a:srgbClr>
            </a:outerShdw>
          </a:effectLst>
        </p:spPr>
      </p:sp>
      <p:sp>
        <p:nvSpPr>
          <p:cNvPr id="25" name="Text 23"/>
          <p:cNvSpPr/>
          <p:nvPr/>
        </p:nvSpPr>
        <p:spPr>
          <a:xfrm>
            <a:off x="4709160" y="2852928"/>
            <a:ext cx="3657600" cy="25603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 ARCHITECT IT</a:t>
            </a:r>
            <a:endParaRPr lang="en-US" sz="1200" dirty="0"/>
          </a:p>
        </p:txBody>
      </p:sp>
      <p:sp>
        <p:nvSpPr>
          <p:cNvPr id="26" name="Text 24"/>
          <p:cNvSpPr/>
          <p:nvPr/>
        </p:nvSpPr>
        <p:spPr>
          <a:xfrm>
            <a:off x="4709160" y="3090672"/>
            <a:ext cx="3657600" cy="228600"/>
          </a:xfrm>
          <a:prstGeom prst="rect">
            <a:avLst/>
          </a:prstGeom>
          <a:noFill/>
          <a:ln/>
        </p:spPr>
        <p:txBody>
          <a:bodyPr wrap="square" lIns="0" tIns="0" rIns="0" bIns="0" rtlCol="0" anchor="ctr"/>
          <a:lstStyle/>
          <a:p>
            <a:pPr indent="0" marL="0">
              <a:buNone/>
            </a:pPr>
            <a:r>
              <a:rPr lang="en-US" sz="900" dirty="0">
                <a:solidFill>
                  <a:srgbClr val="D0D8E8"/>
                </a:solidFill>
                <a:latin typeface="Arial" pitchFamily="34" charset="0"/>
                <a:ea typeface="Arial" pitchFamily="34" charset="-122"/>
                <a:cs typeface="Arial" pitchFamily="34" charset="-120"/>
              </a:rPr>
              <a:t>AI-native company design, workforce of the future</a:t>
            </a:r>
            <a:endParaRPr lang="en-US" sz="900" dirty="0"/>
          </a:p>
        </p:txBody>
      </p:sp>
      <p:sp>
        <p:nvSpPr>
          <p:cNvPr id="27" name="Shape 25"/>
          <p:cNvSpPr/>
          <p:nvPr/>
        </p:nvSpPr>
        <p:spPr>
          <a:xfrm>
            <a:off x="640080" y="3840480"/>
            <a:ext cx="7863840" cy="45720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28" name="Text 26"/>
          <p:cNvSpPr/>
          <p:nvPr/>
        </p:nvSpPr>
        <p:spPr>
          <a:xfrm>
            <a:off x="822960" y="3840480"/>
            <a:ext cx="7498080" cy="457200"/>
          </a:xfrm>
          <a:prstGeom prst="rect">
            <a:avLst/>
          </a:prstGeom>
          <a:noFill/>
          <a:ln/>
        </p:spPr>
        <p:txBody>
          <a:bodyPr wrap="square" lIns="0" tIns="0" rIns="0" bIns="0" rtlCol="0" anchor="ctr"/>
          <a:lstStyle/>
          <a:p>
            <a:pPr indent="0" marL="0">
              <a:buNone/>
            </a:pPr>
            <a:r>
              <a:rPr lang="en-US" sz="1300" b="1" i="1" dirty="0">
                <a:solidFill>
                  <a:srgbClr val="06418C"/>
                </a:solidFill>
                <a:latin typeface="Arial" pitchFamily="34" charset="0"/>
                <a:ea typeface="Arial" pitchFamily="34" charset="-122"/>
                <a:cs typeface="Arial" pitchFamily="34" charset="-120"/>
              </a:rPr>
              <a:t>Self-funding: cost reductions in each phase directly fund the next. We are not asking for unlimited budget.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400" b="1" dirty="0">
                <a:solidFill>
                  <a:srgbClr val="06418C"/>
                </a:solidFill>
                <a:latin typeface="Arial" pitchFamily="34" charset="0"/>
                <a:ea typeface="Arial" pitchFamily="34" charset="-122"/>
                <a:cs typeface="Arial" pitchFamily="34" charset="-120"/>
              </a:rPr>
              <a:t>Phase 1: Show results. Build credibility. Lay the data foundation.</a:t>
            </a:r>
            <a:endParaRPr lang="en-US" sz="24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13</a:t>
            </a:r>
            <a:endParaRPr lang="en-US" sz="700" dirty="0"/>
          </a:p>
        </p:txBody>
      </p:sp>
      <p:sp>
        <p:nvSpPr>
          <p:cNvPr id="8" name="Text 6"/>
          <p:cNvSpPr/>
          <p:nvPr/>
        </p:nvSpPr>
        <p:spPr>
          <a:xfrm>
            <a:off x="640080" y="868680"/>
            <a:ext cx="4572000" cy="274320"/>
          </a:xfrm>
          <a:prstGeom prst="rect">
            <a:avLst/>
          </a:prstGeom>
          <a:noFill/>
          <a:ln/>
        </p:spPr>
        <p:txBody>
          <a:bodyPr wrap="square" lIns="0" tIns="0" rIns="0" bIns="0" rtlCol="0" anchor="ctr"/>
          <a:lstStyle/>
          <a:p>
            <a:pPr indent="0" marL="0">
              <a:buNone/>
            </a:pPr>
            <a:r>
              <a:rPr lang="en-US" sz="1200" dirty="0">
                <a:solidFill>
                  <a:srgbClr val="4471A9"/>
                </a:solidFill>
                <a:latin typeface="Arial" pitchFamily="34" charset="0"/>
                <a:ea typeface="Arial" pitchFamily="34" charset="-122"/>
                <a:cs typeface="Arial" pitchFamily="34" charset="-120"/>
              </a:rPr>
              <a:t>Months 0–18  |  Start where ROI is clearest</a:t>
            </a:r>
            <a:endParaRPr lang="en-US" sz="1200" dirty="0"/>
          </a:p>
        </p:txBody>
      </p:sp>
      <p:sp>
        <p:nvSpPr>
          <p:cNvPr id="9" name="Shape 7"/>
          <p:cNvSpPr/>
          <p:nvPr/>
        </p:nvSpPr>
        <p:spPr>
          <a:xfrm>
            <a:off x="640080" y="1280160"/>
            <a:ext cx="2468880" cy="22860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0" name="Shape 8"/>
          <p:cNvSpPr/>
          <p:nvPr/>
        </p:nvSpPr>
        <p:spPr>
          <a:xfrm>
            <a:off x="640080" y="1280160"/>
            <a:ext cx="64008" cy="2286000"/>
          </a:xfrm>
          <a:prstGeom prst="rect">
            <a:avLst/>
          </a:prstGeom>
          <a:solidFill>
            <a:srgbClr val="06418C"/>
          </a:solidFill>
          <a:ln/>
        </p:spPr>
      </p:sp>
      <p:sp>
        <p:nvSpPr>
          <p:cNvPr id="11" name="Text 9"/>
          <p:cNvSpPr/>
          <p:nvPr/>
        </p:nvSpPr>
        <p:spPr>
          <a:xfrm>
            <a:off x="822960" y="1389888"/>
            <a:ext cx="2148840" cy="320040"/>
          </a:xfrm>
          <a:prstGeom prst="rect">
            <a:avLst/>
          </a:prstGeom>
          <a:noFill/>
          <a:ln/>
        </p:spPr>
        <p:txBody>
          <a:bodyPr wrap="square" lIns="0" tIns="0" rIns="0" bIns="0" rtlCol="0" anchor="t"/>
          <a:lstStyle/>
          <a:p>
            <a:pPr indent="0" marL="0">
              <a:buNone/>
            </a:pPr>
            <a:r>
              <a:rPr lang="en-US" sz="1500" b="1" dirty="0">
                <a:solidFill>
                  <a:srgbClr val="06418C"/>
                </a:solidFill>
                <a:latin typeface="Arial" pitchFamily="34" charset="0"/>
                <a:ea typeface="Arial" pitchFamily="34" charset="-122"/>
                <a:cs typeface="Arial" pitchFamily="34" charset="-120"/>
              </a:rPr>
              <a:t>Data Foundation</a:t>
            </a:r>
            <a:endParaRPr lang="en-US" sz="1500" dirty="0"/>
          </a:p>
        </p:txBody>
      </p:sp>
      <p:sp>
        <p:nvSpPr>
          <p:cNvPr id="12" name="Text 10"/>
          <p:cNvSpPr/>
          <p:nvPr/>
        </p:nvSpPr>
        <p:spPr>
          <a:xfrm>
            <a:off x="822960" y="1719072"/>
            <a:ext cx="2148840" cy="1755648"/>
          </a:xfrm>
          <a:prstGeom prst="rect">
            <a:avLst/>
          </a:prstGeom>
          <a:noFill/>
          <a:ln/>
        </p:spPr>
        <p:txBody>
          <a:bodyPr wrap="square" lIns="0" tIns="0" rIns="0" bIns="0" rtlCol="0" anchor="t"/>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Unified data lakehouse. Clean, governed, accessible. Without this, nothing else scales. The single most important investment in Phase 1.</a:t>
            </a:r>
            <a:endParaRPr lang="en-US" sz="1200" dirty="0"/>
          </a:p>
        </p:txBody>
      </p:sp>
      <p:sp>
        <p:nvSpPr>
          <p:cNvPr id="13" name="Shape 11"/>
          <p:cNvSpPr/>
          <p:nvPr/>
        </p:nvSpPr>
        <p:spPr>
          <a:xfrm>
            <a:off x="3337560" y="1280160"/>
            <a:ext cx="2468880" cy="22860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4" name="Shape 12"/>
          <p:cNvSpPr/>
          <p:nvPr/>
        </p:nvSpPr>
        <p:spPr>
          <a:xfrm>
            <a:off x="3337560" y="1280160"/>
            <a:ext cx="64008" cy="2286000"/>
          </a:xfrm>
          <a:prstGeom prst="rect">
            <a:avLst/>
          </a:prstGeom>
          <a:solidFill>
            <a:srgbClr val="4471A9"/>
          </a:solidFill>
          <a:ln/>
        </p:spPr>
      </p:sp>
      <p:sp>
        <p:nvSpPr>
          <p:cNvPr id="15" name="Text 13"/>
          <p:cNvSpPr/>
          <p:nvPr/>
        </p:nvSpPr>
        <p:spPr>
          <a:xfrm>
            <a:off x="3520440" y="1389888"/>
            <a:ext cx="2148840" cy="320040"/>
          </a:xfrm>
          <a:prstGeom prst="rect">
            <a:avLst/>
          </a:prstGeom>
          <a:noFill/>
          <a:ln/>
        </p:spPr>
        <p:txBody>
          <a:bodyPr wrap="square" lIns="0" tIns="0" rIns="0" bIns="0" rtlCol="0" anchor="t"/>
          <a:lstStyle/>
          <a:p>
            <a:pPr indent="0" marL="0">
              <a:buNone/>
            </a:pPr>
            <a:r>
              <a:rPr lang="en-US" sz="1500" b="1" dirty="0">
                <a:solidFill>
                  <a:srgbClr val="06418C"/>
                </a:solidFill>
                <a:latin typeface="Arial" pitchFamily="34" charset="0"/>
                <a:ea typeface="Arial" pitchFamily="34" charset="-122"/>
                <a:cs typeface="Arial" pitchFamily="34" charset="-120"/>
              </a:rPr>
              <a:t>Enterprise Automation</a:t>
            </a:r>
            <a:endParaRPr lang="en-US" sz="1500" dirty="0"/>
          </a:p>
        </p:txBody>
      </p:sp>
      <p:sp>
        <p:nvSpPr>
          <p:cNvPr id="16" name="Text 14"/>
          <p:cNvSpPr/>
          <p:nvPr/>
        </p:nvSpPr>
        <p:spPr>
          <a:xfrm>
            <a:off x="3520440" y="1719072"/>
            <a:ext cx="2148840" cy="1755648"/>
          </a:xfrm>
          <a:prstGeom prst="rect">
            <a:avLst/>
          </a:prstGeom>
          <a:noFill/>
          <a:ln/>
        </p:spPr>
        <p:txBody>
          <a:bodyPr wrap="square" lIns="0" tIns="0" rIns="0" bIns="0" rtlCol="0" anchor="t"/>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Finance workflows, reporting, compliance, supply chain ops. Remove manual drag. Cut cost and show results fast.</a:t>
            </a:r>
            <a:endParaRPr lang="en-US" sz="1200" dirty="0"/>
          </a:p>
        </p:txBody>
      </p:sp>
      <p:sp>
        <p:nvSpPr>
          <p:cNvPr id="17" name="Shape 15"/>
          <p:cNvSpPr/>
          <p:nvPr/>
        </p:nvSpPr>
        <p:spPr>
          <a:xfrm>
            <a:off x="6035040" y="1280160"/>
            <a:ext cx="2468880" cy="22860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8" name="Shape 16"/>
          <p:cNvSpPr/>
          <p:nvPr/>
        </p:nvSpPr>
        <p:spPr>
          <a:xfrm>
            <a:off x="6035040" y="1280160"/>
            <a:ext cx="64008" cy="2286000"/>
          </a:xfrm>
          <a:prstGeom prst="rect">
            <a:avLst/>
          </a:prstGeom>
          <a:solidFill>
            <a:srgbClr val="0891B2"/>
          </a:solidFill>
          <a:ln/>
        </p:spPr>
      </p:sp>
      <p:sp>
        <p:nvSpPr>
          <p:cNvPr id="19" name="Text 17"/>
          <p:cNvSpPr/>
          <p:nvPr/>
        </p:nvSpPr>
        <p:spPr>
          <a:xfrm>
            <a:off x="6217920" y="1389888"/>
            <a:ext cx="2148840" cy="320040"/>
          </a:xfrm>
          <a:prstGeom prst="rect">
            <a:avLst/>
          </a:prstGeom>
          <a:noFill/>
          <a:ln/>
        </p:spPr>
        <p:txBody>
          <a:bodyPr wrap="square" lIns="0" tIns="0" rIns="0" bIns="0" rtlCol="0" anchor="t"/>
          <a:lstStyle/>
          <a:p>
            <a:pPr indent="0" marL="0">
              <a:buNone/>
            </a:pPr>
            <a:r>
              <a:rPr lang="en-US" sz="1500" b="1" dirty="0">
                <a:solidFill>
                  <a:srgbClr val="06418C"/>
                </a:solidFill>
                <a:latin typeface="Arial" pitchFamily="34" charset="0"/>
                <a:ea typeface="Arial" pitchFamily="34" charset="-122"/>
                <a:cs typeface="Arial" pitchFamily="34" charset="-120"/>
              </a:rPr>
              <a:t>AI-First Tools</a:t>
            </a:r>
            <a:endParaRPr lang="en-US" sz="1500" dirty="0"/>
          </a:p>
        </p:txBody>
      </p:sp>
      <p:sp>
        <p:nvSpPr>
          <p:cNvPr id="20" name="Text 18"/>
          <p:cNvSpPr/>
          <p:nvPr/>
        </p:nvSpPr>
        <p:spPr>
          <a:xfrm>
            <a:off x="6217920" y="1719072"/>
            <a:ext cx="2148840" cy="1755648"/>
          </a:xfrm>
          <a:prstGeom prst="rect">
            <a:avLst/>
          </a:prstGeom>
          <a:noFill/>
          <a:ln/>
        </p:spPr>
        <p:txBody>
          <a:bodyPr wrap="square" lIns="0" tIns="0" rIns="0" bIns="0" rtlCol="0" anchor="t"/>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Deploy productivity tools across all functions. Measure adoption. Build internal champions. Every employee gets AI training — table stakes.</a:t>
            </a:r>
            <a:endParaRPr lang="en-US" sz="1200" dirty="0"/>
          </a:p>
        </p:txBody>
      </p:sp>
      <p:sp>
        <p:nvSpPr>
          <p:cNvPr id="21" name="Shape 19"/>
          <p:cNvSpPr/>
          <p:nvPr/>
        </p:nvSpPr>
        <p:spPr>
          <a:xfrm>
            <a:off x="640080" y="3840480"/>
            <a:ext cx="7863840" cy="45720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22" name="Text 20"/>
          <p:cNvSpPr/>
          <p:nvPr/>
        </p:nvSpPr>
        <p:spPr>
          <a:xfrm>
            <a:off x="822960" y="3840480"/>
            <a:ext cx="7498080" cy="457200"/>
          </a:xfrm>
          <a:prstGeom prst="rect">
            <a:avLst/>
          </a:prstGeom>
          <a:noFill/>
          <a:ln/>
        </p:spPr>
        <p:txBody>
          <a:bodyPr wrap="square" lIns="0" tIns="0" rIns="0" bIns="0" rtlCol="0" anchor="ctr"/>
          <a:lstStyle/>
          <a:p>
            <a:pPr indent="0" marL="0">
              <a:buNone/>
            </a:pPr>
            <a:r>
              <a:rPr lang="en-US" sz="1300" b="1" i="1" dirty="0">
                <a:solidFill>
                  <a:srgbClr val="06418C"/>
                </a:solidFill>
                <a:latin typeface="Arial" pitchFamily="34" charset="0"/>
                <a:ea typeface="Arial" pitchFamily="34" charset="-122"/>
                <a:cs typeface="Arial" pitchFamily="34" charset="-120"/>
              </a:rPr>
              <a:t>We are not asking for unlimited budget. We are asking to prove what's possible — and reinvest the savings.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Concrete targets. Not theory.</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14</a:t>
            </a:r>
            <a:endParaRPr lang="en-US" sz="700" dirty="0"/>
          </a:p>
        </p:txBody>
      </p:sp>
      <p:sp>
        <p:nvSpPr>
          <p:cNvPr id="8" name="Shape 6"/>
          <p:cNvSpPr/>
          <p:nvPr/>
        </p:nvSpPr>
        <p:spPr>
          <a:xfrm>
            <a:off x="640080" y="1097280"/>
            <a:ext cx="2468880" cy="13258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9" name="Shape 7"/>
          <p:cNvSpPr/>
          <p:nvPr/>
        </p:nvSpPr>
        <p:spPr>
          <a:xfrm>
            <a:off x="640080" y="1097280"/>
            <a:ext cx="2468880" cy="320040"/>
          </a:xfrm>
          <a:prstGeom prst="rect">
            <a:avLst/>
          </a:prstGeom>
          <a:solidFill>
            <a:srgbClr val="06418C"/>
          </a:solidFill>
          <a:ln/>
        </p:spPr>
      </p:sp>
      <p:sp>
        <p:nvSpPr>
          <p:cNvPr id="10" name="Text 8"/>
          <p:cNvSpPr/>
          <p:nvPr/>
        </p:nvSpPr>
        <p:spPr>
          <a:xfrm>
            <a:off x="640080" y="1097280"/>
            <a:ext cx="24688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Finance</a:t>
            </a:r>
            <a:endParaRPr lang="en-US" sz="1200" dirty="0"/>
          </a:p>
        </p:txBody>
      </p:sp>
      <p:sp>
        <p:nvSpPr>
          <p:cNvPr id="11" name="Text 9"/>
          <p:cNvSpPr/>
          <p:nvPr/>
        </p:nvSpPr>
        <p:spPr>
          <a:xfrm>
            <a:off x="749808" y="1463040"/>
            <a:ext cx="2249424" cy="475488"/>
          </a:xfrm>
          <a:prstGeom prst="rect">
            <a:avLst/>
          </a:prstGeom>
          <a:noFill/>
          <a:ln/>
        </p:spPr>
        <p:txBody>
          <a:bodyPr wrap="square" lIns="0" tIns="0" rIns="0" bIns="0" rtlCol="0" anchor="t"/>
          <a:lstStyle/>
          <a:p>
            <a:pPr indent="0" marL="0">
              <a:buNone/>
            </a:pPr>
            <a:r>
              <a:rPr lang="en-US" sz="1100" dirty="0">
                <a:solidFill>
                  <a:srgbClr val="4A4A4A"/>
                </a:solidFill>
                <a:latin typeface="Arial" pitchFamily="34" charset="0"/>
                <a:ea typeface="Arial" pitchFamily="34" charset="-122"/>
                <a:cs typeface="Arial" pitchFamily="34" charset="-120"/>
              </a:rPr>
              <a:t>Automated variance reporting + FP&amp;A narrative generation</a:t>
            </a:r>
            <a:endParaRPr lang="en-US" sz="1100" dirty="0"/>
          </a:p>
        </p:txBody>
      </p:sp>
      <p:sp>
        <p:nvSpPr>
          <p:cNvPr id="12" name="Text 10"/>
          <p:cNvSpPr/>
          <p:nvPr/>
        </p:nvSpPr>
        <p:spPr>
          <a:xfrm>
            <a:off x="749808" y="1965960"/>
            <a:ext cx="2249424" cy="365760"/>
          </a:xfrm>
          <a:prstGeom prst="rect">
            <a:avLst/>
          </a:prstGeom>
          <a:noFill/>
          <a:ln/>
        </p:spPr>
        <p:txBody>
          <a:bodyPr wrap="square" lIns="0" tIns="0" rIns="0" bIns="0" rtlCol="0" anchor="b"/>
          <a:lstStyle/>
          <a:p>
            <a:pPr indent="0" marL="0">
              <a:buNone/>
            </a:pPr>
            <a:r>
              <a:rPr lang="en-US" sz="1100" b="1" dirty="0">
                <a:solidFill>
                  <a:srgbClr val="06418C"/>
                </a:solidFill>
                <a:latin typeface="Arial" pitchFamily="34" charset="0"/>
                <a:ea typeface="Arial" pitchFamily="34" charset="-122"/>
                <a:cs typeface="Arial" pitchFamily="34" charset="-120"/>
              </a:rPr>
              <a:t>40-60% reduction in manual close prep</a:t>
            </a:r>
            <a:endParaRPr lang="en-US" sz="1100" dirty="0"/>
          </a:p>
        </p:txBody>
      </p:sp>
      <p:sp>
        <p:nvSpPr>
          <p:cNvPr id="13" name="Shape 11"/>
          <p:cNvSpPr/>
          <p:nvPr/>
        </p:nvSpPr>
        <p:spPr>
          <a:xfrm>
            <a:off x="3337560" y="1097280"/>
            <a:ext cx="2468880" cy="13258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4" name="Shape 12"/>
          <p:cNvSpPr/>
          <p:nvPr/>
        </p:nvSpPr>
        <p:spPr>
          <a:xfrm>
            <a:off x="3337560" y="1097280"/>
            <a:ext cx="2468880" cy="320040"/>
          </a:xfrm>
          <a:prstGeom prst="rect">
            <a:avLst/>
          </a:prstGeom>
          <a:solidFill>
            <a:srgbClr val="06418C"/>
          </a:solidFill>
          <a:ln/>
        </p:spPr>
      </p:sp>
      <p:sp>
        <p:nvSpPr>
          <p:cNvPr id="15" name="Text 13"/>
          <p:cNvSpPr/>
          <p:nvPr/>
        </p:nvSpPr>
        <p:spPr>
          <a:xfrm>
            <a:off x="3337560" y="1097280"/>
            <a:ext cx="24688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Legal</a:t>
            </a:r>
            <a:endParaRPr lang="en-US" sz="1200" dirty="0"/>
          </a:p>
        </p:txBody>
      </p:sp>
      <p:sp>
        <p:nvSpPr>
          <p:cNvPr id="16" name="Text 14"/>
          <p:cNvSpPr/>
          <p:nvPr/>
        </p:nvSpPr>
        <p:spPr>
          <a:xfrm>
            <a:off x="3447288" y="1463040"/>
            <a:ext cx="2249424" cy="475488"/>
          </a:xfrm>
          <a:prstGeom prst="rect">
            <a:avLst/>
          </a:prstGeom>
          <a:noFill/>
          <a:ln/>
        </p:spPr>
        <p:txBody>
          <a:bodyPr wrap="square" lIns="0" tIns="0" rIns="0" bIns="0" rtlCol="0" anchor="t"/>
          <a:lstStyle/>
          <a:p>
            <a:pPr indent="0" marL="0">
              <a:buNone/>
            </a:pPr>
            <a:r>
              <a:rPr lang="en-US" sz="1100" dirty="0">
                <a:solidFill>
                  <a:srgbClr val="4A4A4A"/>
                </a:solidFill>
                <a:latin typeface="Arial" pitchFamily="34" charset="0"/>
                <a:ea typeface="Arial" pitchFamily="34" charset="-122"/>
                <a:cs typeface="Arial" pitchFamily="34" charset="-120"/>
              </a:rPr>
              <a:t>Contract review AI (NDA, supplier agreements)</a:t>
            </a:r>
            <a:endParaRPr lang="en-US" sz="1100" dirty="0"/>
          </a:p>
        </p:txBody>
      </p:sp>
      <p:sp>
        <p:nvSpPr>
          <p:cNvPr id="17" name="Text 15"/>
          <p:cNvSpPr/>
          <p:nvPr/>
        </p:nvSpPr>
        <p:spPr>
          <a:xfrm>
            <a:off x="3447288" y="1965960"/>
            <a:ext cx="2249424" cy="365760"/>
          </a:xfrm>
          <a:prstGeom prst="rect">
            <a:avLst/>
          </a:prstGeom>
          <a:noFill/>
          <a:ln/>
        </p:spPr>
        <p:txBody>
          <a:bodyPr wrap="square" lIns="0" tIns="0" rIns="0" bIns="0" rtlCol="0" anchor="b"/>
          <a:lstStyle/>
          <a:p>
            <a:pPr indent="0" marL="0">
              <a:buNone/>
            </a:pPr>
            <a:r>
              <a:rPr lang="en-US" sz="1100" b="1" dirty="0">
                <a:solidFill>
                  <a:srgbClr val="06418C"/>
                </a:solidFill>
                <a:latin typeface="Arial" pitchFamily="34" charset="0"/>
                <a:ea typeface="Arial" pitchFamily="34" charset="-122"/>
                <a:cs typeface="Arial" pitchFamily="34" charset="-120"/>
              </a:rPr>
              <a:t>70% faster first-pass review</a:t>
            </a:r>
            <a:endParaRPr lang="en-US" sz="1100" dirty="0"/>
          </a:p>
        </p:txBody>
      </p:sp>
      <p:sp>
        <p:nvSpPr>
          <p:cNvPr id="18" name="Shape 16"/>
          <p:cNvSpPr/>
          <p:nvPr/>
        </p:nvSpPr>
        <p:spPr>
          <a:xfrm>
            <a:off x="6035040" y="1097280"/>
            <a:ext cx="2468880" cy="13258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9" name="Shape 17"/>
          <p:cNvSpPr/>
          <p:nvPr/>
        </p:nvSpPr>
        <p:spPr>
          <a:xfrm>
            <a:off x="6035040" y="1097280"/>
            <a:ext cx="2468880" cy="320040"/>
          </a:xfrm>
          <a:prstGeom prst="rect">
            <a:avLst/>
          </a:prstGeom>
          <a:solidFill>
            <a:srgbClr val="06418C"/>
          </a:solidFill>
          <a:ln/>
        </p:spPr>
      </p:sp>
      <p:sp>
        <p:nvSpPr>
          <p:cNvPr id="20" name="Text 18"/>
          <p:cNvSpPr/>
          <p:nvPr/>
        </p:nvSpPr>
        <p:spPr>
          <a:xfrm>
            <a:off x="6035040" y="1097280"/>
            <a:ext cx="24688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HR</a:t>
            </a:r>
            <a:endParaRPr lang="en-US" sz="1200" dirty="0"/>
          </a:p>
        </p:txBody>
      </p:sp>
      <p:sp>
        <p:nvSpPr>
          <p:cNvPr id="21" name="Text 19"/>
          <p:cNvSpPr/>
          <p:nvPr/>
        </p:nvSpPr>
        <p:spPr>
          <a:xfrm>
            <a:off x="6144768" y="1463040"/>
            <a:ext cx="2249424" cy="475488"/>
          </a:xfrm>
          <a:prstGeom prst="rect">
            <a:avLst/>
          </a:prstGeom>
          <a:noFill/>
          <a:ln/>
        </p:spPr>
        <p:txBody>
          <a:bodyPr wrap="square" lIns="0" tIns="0" rIns="0" bIns="0" rtlCol="0" anchor="t"/>
          <a:lstStyle/>
          <a:p>
            <a:pPr indent="0" marL="0">
              <a:buNone/>
            </a:pPr>
            <a:r>
              <a:rPr lang="en-US" sz="1100" dirty="0">
                <a:solidFill>
                  <a:srgbClr val="4A4A4A"/>
                </a:solidFill>
                <a:latin typeface="Arial" pitchFamily="34" charset="0"/>
                <a:ea typeface="Arial" pitchFamily="34" charset="-122"/>
                <a:cs typeface="Arial" pitchFamily="34" charset="-120"/>
              </a:rPr>
              <a:t>Job description generation, candidate screening AI</a:t>
            </a:r>
            <a:endParaRPr lang="en-US" sz="1100" dirty="0"/>
          </a:p>
        </p:txBody>
      </p:sp>
      <p:sp>
        <p:nvSpPr>
          <p:cNvPr id="22" name="Text 20"/>
          <p:cNvSpPr/>
          <p:nvPr/>
        </p:nvSpPr>
        <p:spPr>
          <a:xfrm>
            <a:off x="6144768" y="1965960"/>
            <a:ext cx="2249424" cy="365760"/>
          </a:xfrm>
          <a:prstGeom prst="rect">
            <a:avLst/>
          </a:prstGeom>
          <a:noFill/>
          <a:ln/>
        </p:spPr>
        <p:txBody>
          <a:bodyPr wrap="square" lIns="0" tIns="0" rIns="0" bIns="0" rtlCol="0" anchor="b"/>
          <a:lstStyle/>
          <a:p>
            <a:pPr indent="0" marL="0">
              <a:buNone/>
            </a:pPr>
            <a:r>
              <a:rPr lang="en-US" sz="1100" b="1" dirty="0">
                <a:solidFill>
                  <a:srgbClr val="06418C"/>
                </a:solidFill>
                <a:latin typeface="Arial" pitchFamily="34" charset="0"/>
                <a:ea typeface="Arial" pitchFamily="34" charset="-122"/>
                <a:cs typeface="Arial" pitchFamily="34" charset="-120"/>
              </a:rPr>
              <a:t>Faster hiring, reduced agency cost</a:t>
            </a:r>
            <a:endParaRPr lang="en-US" sz="1100" dirty="0"/>
          </a:p>
        </p:txBody>
      </p:sp>
      <p:sp>
        <p:nvSpPr>
          <p:cNvPr id="23" name="Shape 21"/>
          <p:cNvSpPr/>
          <p:nvPr/>
        </p:nvSpPr>
        <p:spPr>
          <a:xfrm>
            <a:off x="640080" y="2606040"/>
            <a:ext cx="2468880" cy="13258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4" name="Shape 22"/>
          <p:cNvSpPr/>
          <p:nvPr/>
        </p:nvSpPr>
        <p:spPr>
          <a:xfrm>
            <a:off x="640080" y="2606040"/>
            <a:ext cx="2468880" cy="320040"/>
          </a:xfrm>
          <a:prstGeom prst="rect">
            <a:avLst/>
          </a:prstGeom>
          <a:solidFill>
            <a:srgbClr val="06418C"/>
          </a:solidFill>
          <a:ln/>
        </p:spPr>
      </p:sp>
      <p:sp>
        <p:nvSpPr>
          <p:cNvPr id="25" name="Text 23"/>
          <p:cNvSpPr/>
          <p:nvPr/>
        </p:nvSpPr>
        <p:spPr>
          <a:xfrm>
            <a:off x="640080" y="2606040"/>
            <a:ext cx="24688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Engineering</a:t>
            </a:r>
            <a:endParaRPr lang="en-US" sz="1200" dirty="0"/>
          </a:p>
        </p:txBody>
      </p:sp>
      <p:sp>
        <p:nvSpPr>
          <p:cNvPr id="26" name="Text 24"/>
          <p:cNvSpPr/>
          <p:nvPr/>
        </p:nvSpPr>
        <p:spPr>
          <a:xfrm>
            <a:off x="749808" y="2971800"/>
            <a:ext cx="2249424" cy="475488"/>
          </a:xfrm>
          <a:prstGeom prst="rect">
            <a:avLst/>
          </a:prstGeom>
          <a:noFill/>
          <a:ln/>
        </p:spPr>
        <p:txBody>
          <a:bodyPr wrap="square" lIns="0" tIns="0" rIns="0" bIns="0" rtlCol="0" anchor="t"/>
          <a:lstStyle/>
          <a:p>
            <a:pPr indent="0" marL="0">
              <a:buNone/>
            </a:pPr>
            <a:r>
              <a:rPr lang="en-US" sz="1100" dirty="0">
                <a:solidFill>
                  <a:srgbClr val="4A4A4A"/>
                </a:solidFill>
                <a:latin typeface="Arial" pitchFamily="34" charset="0"/>
                <a:ea typeface="Arial" pitchFamily="34" charset="-122"/>
                <a:cs typeface="Arial" pitchFamily="34" charset="-120"/>
              </a:rPr>
              <a:t>AI-assisted documentation + spec extraction</a:t>
            </a:r>
            <a:endParaRPr lang="en-US" sz="1100" dirty="0"/>
          </a:p>
        </p:txBody>
      </p:sp>
      <p:sp>
        <p:nvSpPr>
          <p:cNvPr id="27" name="Text 25"/>
          <p:cNvSpPr/>
          <p:nvPr/>
        </p:nvSpPr>
        <p:spPr>
          <a:xfrm>
            <a:off x="749808" y="3474720"/>
            <a:ext cx="2249424" cy="365760"/>
          </a:xfrm>
          <a:prstGeom prst="rect">
            <a:avLst/>
          </a:prstGeom>
          <a:noFill/>
          <a:ln/>
        </p:spPr>
        <p:txBody>
          <a:bodyPr wrap="square" lIns="0" tIns="0" rIns="0" bIns="0" rtlCol="0" anchor="b"/>
          <a:lstStyle/>
          <a:p>
            <a:pPr indent="0" marL="0">
              <a:buNone/>
            </a:pPr>
            <a:r>
              <a:rPr lang="en-US" sz="1100" b="1" dirty="0">
                <a:solidFill>
                  <a:srgbClr val="06418C"/>
                </a:solidFill>
                <a:latin typeface="Arial" pitchFamily="34" charset="0"/>
                <a:ea typeface="Arial" pitchFamily="34" charset="-122"/>
                <a:cs typeface="Arial" pitchFamily="34" charset="-120"/>
              </a:rPr>
              <a:t>Less writeup, more actual engineering</a:t>
            </a:r>
            <a:endParaRPr lang="en-US" sz="1100" dirty="0"/>
          </a:p>
        </p:txBody>
      </p:sp>
      <p:sp>
        <p:nvSpPr>
          <p:cNvPr id="28" name="Shape 26"/>
          <p:cNvSpPr/>
          <p:nvPr/>
        </p:nvSpPr>
        <p:spPr>
          <a:xfrm>
            <a:off x="3337560" y="2606040"/>
            <a:ext cx="2468880" cy="13258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9" name="Shape 27"/>
          <p:cNvSpPr/>
          <p:nvPr/>
        </p:nvSpPr>
        <p:spPr>
          <a:xfrm>
            <a:off x="3337560" y="2606040"/>
            <a:ext cx="2468880" cy="320040"/>
          </a:xfrm>
          <a:prstGeom prst="rect">
            <a:avLst/>
          </a:prstGeom>
          <a:solidFill>
            <a:srgbClr val="06418C"/>
          </a:solidFill>
          <a:ln/>
        </p:spPr>
      </p:sp>
      <p:sp>
        <p:nvSpPr>
          <p:cNvPr id="30" name="Text 28"/>
          <p:cNvSpPr/>
          <p:nvPr/>
        </p:nvSpPr>
        <p:spPr>
          <a:xfrm>
            <a:off x="3337560" y="2606040"/>
            <a:ext cx="24688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Supply Chain</a:t>
            </a:r>
            <a:endParaRPr lang="en-US" sz="1200" dirty="0"/>
          </a:p>
        </p:txBody>
      </p:sp>
      <p:sp>
        <p:nvSpPr>
          <p:cNvPr id="31" name="Text 29"/>
          <p:cNvSpPr/>
          <p:nvPr/>
        </p:nvSpPr>
        <p:spPr>
          <a:xfrm>
            <a:off x="3447288" y="2971800"/>
            <a:ext cx="2249424" cy="475488"/>
          </a:xfrm>
          <a:prstGeom prst="rect">
            <a:avLst/>
          </a:prstGeom>
          <a:noFill/>
          <a:ln/>
        </p:spPr>
        <p:txBody>
          <a:bodyPr wrap="square" lIns="0" tIns="0" rIns="0" bIns="0" rtlCol="0" anchor="t"/>
          <a:lstStyle/>
          <a:p>
            <a:pPr indent="0" marL="0">
              <a:buNone/>
            </a:pPr>
            <a:r>
              <a:rPr lang="en-US" sz="1100" dirty="0">
                <a:solidFill>
                  <a:srgbClr val="4A4A4A"/>
                </a:solidFill>
                <a:latin typeface="Arial" pitchFamily="34" charset="0"/>
                <a:ea typeface="Arial" pitchFamily="34" charset="-122"/>
                <a:cs typeface="Arial" pitchFamily="34" charset="-120"/>
              </a:rPr>
              <a:t>Demand forecasting + disruption signal detection</a:t>
            </a:r>
            <a:endParaRPr lang="en-US" sz="1100" dirty="0"/>
          </a:p>
        </p:txBody>
      </p:sp>
      <p:sp>
        <p:nvSpPr>
          <p:cNvPr id="32" name="Text 30"/>
          <p:cNvSpPr/>
          <p:nvPr/>
        </p:nvSpPr>
        <p:spPr>
          <a:xfrm>
            <a:off x="3447288" y="3474720"/>
            <a:ext cx="2249424" cy="365760"/>
          </a:xfrm>
          <a:prstGeom prst="rect">
            <a:avLst/>
          </a:prstGeom>
          <a:noFill/>
          <a:ln/>
        </p:spPr>
        <p:txBody>
          <a:bodyPr wrap="square" lIns="0" tIns="0" rIns="0" bIns="0" rtlCol="0" anchor="b"/>
          <a:lstStyle/>
          <a:p>
            <a:pPr indent="0" marL="0">
              <a:buNone/>
            </a:pPr>
            <a:r>
              <a:rPr lang="en-US" sz="1100" b="1" dirty="0">
                <a:solidFill>
                  <a:srgbClr val="06418C"/>
                </a:solidFill>
                <a:latin typeface="Arial" pitchFamily="34" charset="0"/>
                <a:ea typeface="Arial" pitchFamily="34" charset="-122"/>
                <a:cs typeface="Arial" pitchFamily="34" charset="-120"/>
              </a:rPr>
              <a:t>Better inventory, fewer surprises</a:t>
            </a:r>
            <a:endParaRPr lang="en-US" sz="1100" dirty="0"/>
          </a:p>
        </p:txBody>
      </p:sp>
      <p:sp>
        <p:nvSpPr>
          <p:cNvPr id="33" name="Shape 31"/>
          <p:cNvSpPr/>
          <p:nvPr/>
        </p:nvSpPr>
        <p:spPr>
          <a:xfrm>
            <a:off x="6035040" y="2606040"/>
            <a:ext cx="2468880" cy="13258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34" name="Shape 32"/>
          <p:cNvSpPr/>
          <p:nvPr/>
        </p:nvSpPr>
        <p:spPr>
          <a:xfrm>
            <a:off x="6035040" y="2606040"/>
            <a:ext cx="2468880" cy="320040"/>
          </a:xfrm>
          <a:prstGeom prst="rect">
            <a:avLst/>
          </a:prstGeom>
          <a:solidFill>
            <a:srgbClr val="06418C"/>
          </a:solidFill>
          <a:ln/>
        </p:spPr>
      </p:sp>
      <p:sp>
        <p:nvSpPr>
          <p:cNvPr id="35" name="Text 33"/>
          <p:cNvSpPr/>
          <p:nvPr/>
        </p:nvSpPr>
        <p:spPr>
          <a:xfrm>
            <a:off x="6035040" y="2606040"/>
            <a:ext cx="24688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Communications</a:t>
            </a:r>
            <a:endParaRPr lang="en-US" sz="1200" dirty="0"/>
          </a:p>
        </p:txBody>
      </p:sp>
      <p:sp>
        <p:nvSpPr>
          <p:cNvPr id="36" name="Text 34"/>
          <p:cNvSpPr/>
          <p:nvPr/>
        </p:nvSpPr>
        <p:spPr>
          <a:xfrm>
            <a:off x="6144768" y="2971800"/>
            <a:ext cx="2249424" cy="475488"/>
          </a:xfrm>
          <a:prstGeom prst="rect">
            <a:avLst/>
          </a:prstGeom>
          <a:noFill/>
          <a:ln/>
        </p:spPr>
        <p:txBody>
          <a:bodyPr wrap="square" lIns="0" tIns="0" rIns="0" bIns="0" rtlCol="0" anchor="t"/>
          <a:lstStyle/>
          <a:p>
            <a:pPr indent="0" marL="0">
              <a:buNone/>
            </a:pPr>
            <a:r>
              <a:rPr lang="en-US" sz="1100" dirty="0">
                <a:solidFill>
                  <a:srgbClr val="4A4A4A"/>
                </a:solidFill>
                <a:latin typeface="Arial" pitchFamily="34" charset="0"/>
                <a:ea typeface="Arial" pitchFamily="34" charset="-122"/>
                <a:cs typeface="Arial" pitchFamily="34" charset="-120"/>
              </a:rPr>
              <a:t>Knowledge retrieval system (RAG-based)</a:t>
            </a:r>
            <a:endParaRPr lang="en-US" sz="1100" dirty="0"/>
          </a:p>
        </p:txBody>
      </p:sp>
      <p:sp>
        <p:nvSpPr>
          <p:cNvPr id="37" name="Text 35"/>
          <p:cNvSpPr/>
          <p:nvPr/>
        </p:nvSpPr>
        <p:spPr>
          <a:xfrm>
            <a:off x="6144768" y="3474720"/>
            <a:ext cx="2249424" cy="365760"/>
          </a:xfrm>
          <a:prstGeom prst="rect">
            <a:avLst/>
          </a:prstGeom>
          <a:noFill/>
          <a:ln/>
        </p:spPr>
        <p:txBody>
          <a:bodyPr wrap="square" lIns="0" tIns="0" rIns="0" bIns="0" rtlCol="0" anchor="b"/>
          <a:lstStyle/>
          <a:p>
            <a:pPr indent="0" marL="0">
              <a:buNone/>
            </a:pPr>
            <a:r>
              <a:rPr lang="en-US" sz="1100" b="1" dirty="0">
                <a:solidFill>
                  <a:srgbClr val="06418C"/>
                </a:solidFill>
                <a:latin typeface="Arial" pitchFamily="34" charset="0"/>
                <a:ea typeface="Arial" pitchFamily="34" charset="-122"/>
                <a:cs typeface="Arial" pitchFamily="34" charset="-120"/>
              </a:rPr>
              <a:t>Institutional knowledge on-demand</a:t>
            </a:r>
            <a:endParaRPr lang="en-US" sz="1100" dirty="0"/>
          </a:p>
        </p:txBody>
      </p:sp>
      <p:sp>
        <p:nvSpPr>
          <p:cNvPr id="38" name="Shape 36"/>
          <p:cNvSpPr/>
          <p:nvPr/>
        </p:nvSpPr>
        <p:spPr>
          <a:xfrm>
            <a:off x="640080" y="4114800"/>
            <a:ext cx="7863840" cy="45720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39" name="Text 37"/>
          <p:cNvSpPr/>
          <p:nvPr/>
        </p:nvSpPr>
        <p:spPr>
          <a:xfrm>
            <a:off x="822960" y="4114800"/>
            <a:ext cx="7498080" cy="457200"/>
          </a:xfrm>
          <a:prstGeom prst="rect">
            <a:avLst/>
          </a:prstGeom>
          <a:noFill/>
          <a:ln/>
        </p:spPr>
        <p:txBody>
          <a:bodyPr wrap="square" lIns="0" tIns="0" rIns="0" bIns="0" rtlCol="0" anchor="ctr"/>
          <a:lstStyle/>
          <a:p>
            <a:pPr indent="0" marL="0">
              <a:buNone/>
            </a:pPr>
            <a:r>
              <a:rPr lang="en-US" sz="1300" b="1" i="1" dirty="0">
                <a:solidFill>
                  <a:srgbClr val="06418C"/>
                </a:solidFill>
                <a:latin typeface="Arial" pitchFamily="34" charset="0"/>
                <a:ea typeface="Arial" pitchFamily="34" charset="-122"/>
                <a:cs typeface="Arial" pitchFamily="34" charset="-120"/>
              </a:rPr>
              <a:t>These are production deployments with measurable ROI — not experiments.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400" b="1" dirty="0">
                <a:solidFill>
                  <a:srgbClr val="06418C"/>
                </a:solidFill>
                <a:latin typeface="Arial" pitchFamily="34" charset="0"/>
                <a:ea typeface="Arial" pitchFamily="34" charset="-122"/>
                <a:cs typeface="Arial" pitchFamily="34" charset="-120"/>
              </a:rPr>
              <a:t>Phase 2: R&amp;D becomes the primary lever.</a:t>
            </a:r>
            <a:endParaRPr lang="en-US" sz="24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15</a:t>
            </a:r>
            <a:endParaRPr lang="en-US" sz="700" dirty="0"/>
          </a:p>
        </p:txBody>
      </p:sp>
      <p:sp>
        <p:nvSpPr>
          <p:cNvPr id="8" name="Text 6"/>
          <p:cNvSpPr/>
          <p:nvPr/>
        </p:nvSpPr>
        <p:spPr>
          <a:xfrm>
            <a:off x="640080" y="868680"/>
            <a:ext cx="4572000" cy="274320"/>
          </a:xfrm>
          <a:prstGeom prst="rect">
            <a:avLst/>
          </a:prstGeom>
          <a:noFill/>
          <a:ln/>
        </p:spPr>
        <p:txBody>
          <a:bodyPr wrap="square" lIns="0" tIns="0" rIns="0" bIns="0" rtlCol="0" anchor="ctr"/>
          <a:lstStyle/>
          <a:p>
            <a:pPr indent="0" marL="0">
              <a:buNone/>
            </a:pPr>
            <a:r>
              <a:rPr lang="en-US" sz="1200" dirty="0">
                <a:solidFill>
                  <a:srgbClr val="4471A9"/>
                </a:solidFill>
                <a:latin typeface="Arial" pitchFamily="34" charset="0"/>
                <a:ea typeface="Arial" pitchFamily="34" charset="-122"/>
                <a:cs typeface="Arial" pitchFamily="34" charset="-120"/>
              </a:rPr>
              <a:t>Months 9–27  |  Operations goes AI-first</a:t>
            </a:r>
            <a:endParaRPr lang="en-US" sz="1200" dirty="0"/>
          </a:p>
        </p:txBody>
      </p:sp>
      <p:sp>
        <p:nvSpPr>
          <p:cNvPr id="9" name="Shape 7"/>
          <p:cNvSpPr/>
          <p:nvPr/>
        </p:nvSpPr>
        <p:spPr>
          <a:xfrm>
            <a:off x="640080" y="1280160"/>
            <a:ext cx="3657600" cy="365760"/>
          </a:xfrm>
          <a:prstGeom prst="rect">
            <a:avLst/>
          </a:prstGeom>
          <a:solidFill>
            <a:srgbClr val="06418C"/>
          </a:solidFill>
          <a:ln/>
        </p:spPr>
      </p:sp>
      <p:sp>
        <p:nvSpPr>
          <p:cNvPr id="10" name="Text 8"/>
          <p:cNvSpPr/>
          <p:nvPr/>
        </p:nvSpPr>
        <p:spPr>
          <a:xfrm>
            <a:off x="640080" y="1280160"/>
            <a:ext cx="365760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R&amp;D ACCELERATION</a:t>
            </a:r>
            <a:endParaRPr lang="en-US" sz="1400" dirty="0"/>
          </a:p>
        </p:txBody>
      </p:sp>
      <p:sp>
        <p:nvSpPr>
          <p:cNvPr id="11" name="Text 9"/>
          <p:cNvSpPr/>
          <p:nvPr/>
        </p:nvSpPr>
        <p:spPr>
          <a:xfrm>
            <a:off x="777240" y="1783080"/>
            <a:ext cx="3383280" cy="329184"/>
          </a:xfrm>
          <a:prstGeom prst="rect">
            <a:avLst/>
          </a:prstGeom>
          <a:noFill/>
          <a:ln/>
        </p:spPr>
        <p:txBody>
          <a:bodyPr wrap="square" lIns="0" tIns="0" rIns="0" bIns="0" rtlCol="0" anchor="ctr"/>
          <a:lstStyle/>
          <a:p>
            <a:pPr indent="0" marL="0">
              <a:buNone/>
            </a:pPr>
            <a:r>
              <a:rPr lang="en-US" sz="1200" b="1" dirty="0">
                <a:solidFill>
                  <a:srgbClr val="4471A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AI-assisted chip design (spec → architecture)</a:t>
            </a:r>
            <a:endParaRPr lang="en-US" sz="1200" dirty="0"/>
          </a:p>
        </p:txBody>
      </p:sp>
      <p:sp>
        <p:nvSpPr>
          <p:cNvPr id="12" name="Text 10"/>
          <p:cNvSpPr/>
          <p:nvPr/>
        </p:nvSpPr>
        <p:spPr>
          <a:xfrm>
            <a:off x="777240" y="2130552"/>
            <a:ext cx="3383280" cy="329184"/>
          </a:xfrm>
          <a:prstGeom prst="rect">
            <a:avLst/>
          </a:prstGeom>
          <a:noFill/>
          <a:ln/>
        </p:spPr>
        <p:txBody>
          <a:bodyPr wrap="square" lIns="0" tIns="0" rIns="0" bIns="0" rtlCol="0" anchor="ctr"/>
          <a:lstStyle/>
          <a:p>
            <a:pPr indent="0" marL="0">
              <a:buNone/>
            </a:pPr>
            <a:r>
              <a:rPr lang="en-US" sz="1200" b="1" dirty="0">
                <a:solidFill>
                  <a:srgbClr val="4471A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EDA workflow automation (RTL, place-and-route)</a:t>
            </a:r>
            <a:endParaRPr lang="en-US" sz="1200" dirty="0"/>
          </a:p>
        </p:txBody>
      </p:sp>
      <p:sp>
        <p:nvSpPr>
          <p:cNvPr id="13" name="Text 11"/>
          <p:cNvSpPr/>
          <p:nvPr/>
        </p:nvSpPr>
        <p:spPr>
          <a:xfrm>
            <a:off x="777240" y="2478024"/>
            <a:ext cx="3383280" cy="329184"/>
          </a:xfrm>
          <a:prstGeom prst="rect">
            <a:avLst/>
          </a:prstGeom>
          <a:noFill/>
          <a:ln/>
        </p:spPr>
        <p:txBody>
          <a:bodyPr wrap="square" lIns="0" tIns="0" rIns="0" bIns="0" rtlCol="0" anchor="ctr"/>
          <a:lstStyle/>
          <a:p>
            <a:pPr indent="0" marL="0">
              <a:buNone/>
            </a:pPr>
            <a:r>
              <a:rPr lang="en-US" sz="1200" b="1" dirty="0">
                <a:solidFill>
                  <a:srgbClr val="4471A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Simulation acceleration</a:t>
            </a:r>
            <a:endParaRPr lang="en-US" sz="1200" dirty="0"/>
          </a:p>
        </p:txBody>
      </p:sp>
      <p:sp>
        <p:nvSpPr>
          <p:cNvPr id="14" name="Text 12"/>
          <p:cNvSpPr/>
          <p:nvPr/>
        </p:nvSpPr>
        <p:spPr>
          <a:xfrm>
            <a:off x="777240" y="2825496"/>
            <a:ext cx="3383280" cy="329184"/>
          </a:xfrm>
          <a:prstGeom prst="rect">
            <a:avLst/>
          </a:prstGeom>
          <a:noFill/>
          <a:ln/>
        </p:spPr>
        <p:txBody>
          <a:bodyPr wrap="square" lIns="0" tIns="0" rIns="0" bIns="0" rtlCol="0" anchor="ctr"/>
          <a:lstStyle/>
          <a:p>
            <a:pPr indent="0" marL="0">
              <a:buNone/>
            </a:pPr>
            <a:r>
              <a:rPr lang="en-US" sz="1200" b="1" dirty="0">
                <a:solidFill>
                  <a:srgbClr val="4471A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IP reuse via knowledge graph</a:t>
            </a:r>
            <a:endParaRPr lang="en-US" sz="1200" dirty="0"/>
          </a:p>
        </p:txBody>
      </p:sp>
      <p:sp>
        <p:nvSpPr>
          <p:cNvPr id="15" name="Text 13"/>
          <p:cNvSpPr/>
          <p:nvPr/>
        </p:nvSpPr>
        <p:spPr>
          <a:xfrm>
            <a:off x="777240" y="3172968"/>
            <a:ext cx="3383280" cy="329184"/>
          </a:xfrm>
          <a:prstGeom prst="rect">
            <a:avLst/>
          </a:prstGeom>
          <a:noFill/>
          <a:ln/>
        </p:spPr>
        <p:txBody>
          <a:bodyPr wrap="square" lIns="0" tIns="0" rIns="0" bIns="0" rtlCol="0" anchor="ctr"/>
          <a:lstStyle/>
          <a:p>
            <a:pPr indent="0" marL="0">
              <a:buNone/>
            </a:pPr>
            <a:r>
              <a:rPr lang="en-US" sz="1200" b="1" dirty="0">
                <a:solidFill>
                  <a:srgbClr val="4471A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Intelligent design review</a:t>
            </a:r>
            <a:endParaRPr lang="en-US" sz="1200" dirty="0"/>
          </a:p>
        </p:txBody>
      </p:sp>
      <p:sp>
        <p:nvSpPr>
          <p:cNvPr id="16" name="Shape 14"/>
          <p:cNvSpPr/>
          <p:nvPr/>
        </p:nvSpPr>
        <p:spPr>
          <a:xfrm>
            <a:off x="4709160" y="1280160"/>
            <a:ext cx="3794760" cy="365760"/>
          </a:xfrm>
          <a:prstGeom prst="rect">
            <a:avLst/>
          </a:prstGeom>
          <a:solidFill>
            <a:srgbClr val="4471A9"/>
          </a:solidFill>
          <a:ln/>
        </p:spPr>
      </p:sp>
      <p:sp>
        <p:nvSpPr>
          <p:cNvPr id="17" name="Text 15"/>
          <p:cNvSpPr/>
          <p:nvPr/>
        </p:nvSpPr>
        <p:spPr>
          <a:xfrm>
            <a:off x="4709160" y="1280160"/>
            <a:ext cx="3794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OPERATIONAL AI</a:t>
            </a:r>
            <a:endParaRPr lang="en-US" sz="1400" dirty="0"/>
          </a:p>
        </p:txBody>
      </p:sp>
      <p:sp>
        <p:nvSpPr>
          <p:cNvPr id="18" name="Text 16"/>
          <p:cNvSpPr/>
          <p:nvPr/>
        </p:nvSpPr>
        <p:spPr>
          <a:xfrm>
            <a:off x="4846320" y="1783080"/>
            <a:ext cx="3474720" cy="329184"/>
          </a:xfrm>
          <a:prstGeom prst="rect">
            <a:avLst/>
          </a:prstGeom>
          <a:noFill/>
          <a:ln/>
        </p:spPr>
        <p:txBody>
          <a:bodyPr wrap="square" lIns="0" tIns="0" rIns="0" bIns="0" rtlCol="0" anchor="ctr"/>
          <a:lstStyle/>
          <a:p>
            <a:pPr indent="0" marL="0">
              <a:buNone/>
            </a:pPr>
            <a:r>
              <a:rPr lang="en-US" sz="1200" b="1" dirty="0">
                <a:solidFill>
                  <a:srgbClr val="99339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Predictive maintenance at manufacturing</a:t>
            </a:r>
            <a:endParaRPr lang="en-US" sz="1200" dirty="0"/>
          </a:p>
        </p:txBody>
      </p:sp>
      <p:sp>
        <p:nvSpPr>
          <p:cNvPr id="19" name="Text 17"/>
          <p:cNvSpPr/>
          <p:nvPr/>
        </p:nvSpPr>
        <p:spPr>
          <a:xfrm>
            <a:off x="4846320" y="2130552"/>
            <a:ext cx="3474720" cy="329184"/>
          </a:xfrm>
          <a:prstGeom prst="rect">
            <a:avLst/>
          </a:prstGeom>
          <a:noFill/>
          <a:ln/>
        </p:spPr>
        <p:txBody>
          <a:bodyPr wrap="square" lIns="0" tIns="0" rIns="0" bIns="0" rtlCol="0" anchor="ctr"/>
          <a:lstStyle/>
          <a:p>
            <a:pPr indent="0" marL="0">
              <a:buNone/>
            </a:pPr>
            <a:r>
              <a:rPr lang="en-US" sz="1200" b="1" dirty="0">
                <a:solidFill>
                  <a:srgbClr val="99339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Yield optimization</a:t>
            </a:r>
            <a:endParaRPr lang="en-US" sz="1200" dirty="0"/>
          </a:p>
        </p:txBody>
      </p:sp>
      <p:sp>
        <p:nvSpPr>
          <p:cNvPr id="20" name="Text 18"/>
          <p:cNvSpPr/>
          <p:nvPr/>
        </p:nvSpPr>
        <p:spPr>
          <a:xfrm>
            <a:off x="4846320" y="2478024"/>
            <a:ext cx="3474720" cy="329184"/>
          </a:xfrm>
          <a:prstGeom prst="rect">
            <a:avLst/>
          </a:prstGeom>
          <a:noFill/>
          <a:ln/>
        </p:spPr>
        <p:txBody>
          <a:bodyPr wrap="square" lIns="0" tIns="0" rIns="0" bIns="0" rtlCol="0" anchor="ctr"/>
          <a:lstStyle/>
          <a:p>
            <a:pPr indent="0" marL="0">
              <a:buNone/>
            </a:pPr>
            <a:r>
              <a:rPr lang="en-US" sz="1200" b="1" dirty="0">
                <a:solidFill>
                  <a:srgbClr val="99339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Supply chain intelligence at scale</a:t>
            </a:r>
            <a:endParaRPr lang="en-US" sz="1200" dirty="0"/>
          </a:p>
        </p:txBody>
      </p:sp>
      <p:sp>
        <p:nvSpPr>
          <p:cNvPr id="21" name="Text 19"/>
          <p:cNvSpPr/>
          <p:nvPr/>
        </p:nvSpPr>
        <p:spPr>
          <a:xfrm>
            <a:off x="4846320" y="2825496"/>
            <a:ext cx="3474720" cy="329184"/>
          </a:xfrm>
          <a:prstGeom prst="rect">
            <a:avLst/>
          </a:prstGeom>
          <a:noFill/>
          <a:ln/>
        </p:spPr>
        <p:txBody>
          <a:bodyPr wrap="square" lIns="0" tIns="0" rIns="0" bIns="0" rtlCol="0" anchor="ctr"/>
          <a:lstStyle/>
          <a:p>
            <a:pPr indent="0" marL="0">
              <a:buNone/>
            </a:pPr>
            <a:r>
              <a:rPr lang="en-US" sz="1200" b="1" dirty="0">
                <a:solidFill>
                  <a:srgbClr val="99339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Quality pattern detection</a:t>
            </a:r>
            <a:endParaRPr lang="en-US" sz="1200" dirty="0"/>
          </a:p>
        </p:txBody>
      </p:sp>
      <p:sp>
        <p:nvSpPr>
          <p:cNvPr id="22" name="Text 20"/>
          <p:cNvSpPr/>
          <p:nvPr/>
        </p:nvSpPr>
        <p:spPr>
          <a:xfrm>
            <a:off x="4846320" y="3172968"/>
            <a:ext cx="3474720" cy="329184"/>
          </a:xfrm>
          <a:prstGeom prst="rect">
            <a:avLst/>
          </a:prstGeom>
          <a:noFill/>
          <a:ln/>
        </p:spPr>
        <p:txBody>
          <a:bodyPr wrap="square" lIns="0" tIns="0" rIns="0" bIns="0" rtlCol="0" anchor="ctr"/>
          <a:lstStyle/>
          <a:p>
            <a:pPr indent="0" marL="0">
              <a:buNone/>
            </a:pPr>
            <a:r>
              <a:rPr lang="en-US" sz="1200" b="1" dirty="0">
                <a:solidFill>
                  <a:srgbClr val="99339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Automated compliance checking</a:t>
            </a:r>
            <a:endParaRPr lang="en-US" sz="1200" dirty="0"/>
          </a:p>
        </p:txBody>
      </p:sp>
      <p:sp>
        <p:nvSpPr>
          <p:cNvPr id="23" name="Shape 21"/>
          <p:cNvSpPr/>
          <p:nvPr/>
        </p:nvSpPr>
        <p:spPr>
          <a:xfrm>
            <a:off x="640080" y="3840480"/>
            <a:ext cx="7863840" cy="45720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24" name="Text 22"/>
          <p:cNvSpPr/>
          <p:nvPr/>
        </p:nvSpPr>
        <p:spPr>
          <a:xfrm>
            <a:off x="822960" y="3840480"/>
            <a:ext cx="7498080" cy="457200"/>
          </a:xfrm>
          <a:prstGeom prst="rect">
            <a:avLst/>
          </a:prstGeom>
          <a:noFill/>
          <a:ln/>
        </p:spPr>
        <p:txBody>
          <a:bodyPr wrap="square" lIns="0" tIns="0" rIns="0" bIns="0" rtlCol="0" anchor="ctr"/>
          <a:lstStyle/>
          <a:p>
            <a:pPr indent="0" marL="0">
              <a:buNone/>
            </a:pPr>
            <a:r>
              <a:rPr lang="en-US" sz="1300" b="1" i="1" dirty="0">
                <a:solidFill>
                  <a:srgbClr val="06418C"/>
                </a:solidFill>
                <a:latin typeface="Arial" pitchFamily="34" charset="0"/>
                <a:ea typeface="Arial" pitchFamily="34" charset="-122"/>
                <a:cs typeface="Arial" pitchFamily="34" charset="-120"/>
              </a:rPr>
              <a:t>Phase 2 is where engineering productivity compounds. Shorter R&amp;D cycles = faster time-to-market = competitive weapon.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Engineering productivity: the most asymmetric value.</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16</a:t>
            </a:r>
            <a:endParaRPr lang="en-US" sz="700" dirty="0"/>
          </a:p>
        </p:txBody>
      </p:sp>
      <p:sp>
        <p:nvSpPr>
          <p:cNvPr id="8" name="Shape 6"/>
          <p:cNvSpPr/>
          <p:nvPr/>
        </p:nvSpPr>
        <p:spPr>
          <a:xfrm>
            <a:off x="320040" y="1097280"/>
            <a:ext cx="2011680" cy="22860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9" name="Text 7"/>
          <p:cNvSpPr/>
          <p:nvPr/>
        </p:nvSpPr>
        <p:spPr>
          <a:xfrm>
            <a:off x="320040" y="1234440"/>
            <a:ext cx="2011680" cy="640080"/>
          </a:xfrm>
          <a:prstGeom prst="rect">
            <a:avLst/>
          </a:prstGeom>
          <a:noFill/>
          <a:ln/>
        </p:spPr>
        <p:txBody>
          <a:bodyPr wrap="square" lIns="0" tIns="0" rIns="0" bIns="0" rtlCol="0" anchor="ctr"/>
          <a:lstStyle/>
          <a:p>
            <a:pPr algn="ctr" indent="0" marL="0">
              <a:buNone/>
            </a:pPr>
            <a:r>
              <a:rPr lang="en-US" sz="3200" b="1" dirty="0">
                <a:solidFill>
                  <a:srgbClr val="06418C"/>
                </a:solidFill>
                <a:latin typeface="Arial" pitchFamily="34" charset="0"/>
                <a:ea typeface="Arial" pitchFamily="34" charset="-122"/>
                <a:cs typeface="Arial" pitchFamily="34" charset="-120"/>
              </a:rPr>
              <a:t>8%</a:t>
            </a:r>
            <a:endParaRPr lang="en-US" sz="3200" dirty="0"/>
          </a:p>
        </p:txBody>
      </p:sp>
      <p:sp>
        <p:nvSpPr>
          <p:cNvPr id="10" name="Text 8"/>
          <p:cNvSpPr/>
          <p:nvPr/>
        </p:nvSpPr>
        <p:spPr>
          <a:xfrm>
            <a:off x="411480" y="1920240"/>
            <a:ext cx="1828800" cy="548640"/>
          </a:xfrm>
          <a:prstGeom prst="rect">
            <a:avLst/>
          </a:prstGeom>
          <a:noFill/>
          <a:ln/>
        </p:spPr>
        <p:txBody>
          <a:bodyPr wrap="square" lIns="0" tIns="0" rIns="0" bIns="0" rtlCol="0" anchor="ctr"/>
          <a:lstStyle/>
          <a:p>
            <a:pPr algn="ctr" indent="0" marL="0">
              <a:buNone/>
            </a:pPr>
            <a:r>
              <a:rPr lang="en-US" sz="1200" dirty="0">
                <a:solidFill>
                  <a:srgbClr val="4A4A4A"/>
                </a:solidFill>
                <a:latin typeface="Arial" pitchFamily="34" charset="0"/>
                <a:ea typeface="Arial" pitchFamily="34" charset="-122"/>
                <a:cs typeface="Arial" pitchFamily="34" charset="-120"/>
              </a:rPr>
              <a:t>Power reduction</a:t>
            </a:r>
            <a:endParaRPr lang="en-US" sz="1200" dirty="0"/>
          </a:p>
          <a:p>
            <a:pPr algn="ctr" indent="0" marL="0">
              <a:buNone/>
            </a:pPr>
            <a:r>
              <a:rPr lang="en-US" sz="1200" dirty="0">
                <a:solidFill>
                  <a:srgbClr val="4A4A4A"/>
                </a:solidFill>
                <a:latin typeface="Arial" pitchFamily="34" charset="0"/>
                <a:ea typeface="Arial" pitchFamily="34" charset="-122"/>
                <a:cs typeface="Arial" pitchFamily="34" charset="-120"/>
              </a:rPr>
              <a:t>(Cadence Cerebrus)</a:t>
            </a:r>
            <a:endParaRPr lang="en-US" sz="1200" dirty="0"/>
          </a:p>
        </p:txBody>
      </p:sp>
      <p:sp>
        <p:nvSpPr>
          <p:cNvPr id="11" name="Text 9"/>
          <p:cNvSpPr/>
          <p:nvPr/>
        </p:nvSpPr>
        <p:spPr>
          <a:xfrm>
            <a:off x="411480" y="2514600"/>
            <a:ext cx="1828800" cy="457200"/>
          </a:xfrm>
          <a:prstGeom prst="rect">
            <a:avLst/>
          </a:prstGeom>
          <a:noFill/>
          <a:ln/>
        </p:spPr>
        <p:txBody>
          <a:bodyPr wrap="square" lIns="0" tIns="0" rIns="0" bIns="0" rtlCol="0" anchor="ctr"/>
          <a:lstStyle/>
          <a:p>
            <a:pPr algn="ctr" indent="0" marL="0">
              <a:buNone/>
            </a:pPr>
            <a:r>
              <a:rPr lang="en-US" sz="1000" i="1" dirty="0">
                <a:solidFill>
                  <a:srgbClr val="9D9D9D"/>
                </a:solidFill>
                <a:latin typeface="Arial" pitchFamily="34" charset="0"/>
                <a:ea typeface="Arial" pitchFamily="34" charset="-122"/>
                <a:cs typeface="Arial" pitchFamily="34" charset="-120"/>
              </a:rPr>
              <a:t>1,000+ production tape-outs</a:t>
            </a:r>
            <a:endParaRPr lang="en-US" sz="1000" dirty="0"/>
          </a:p>
        </p:txBody>
      </p:sp>
      <p:sp>
        <p:nvSpPr>
          <p:cNvPr id="12" name="Shape 10"/>
          <p:cNvSpPr/>
          <p:nvPr/>
        </p:nvSpPr>
        <p:spPr>
          <a:xfrm>
            <a:off x="2514600" y="1097280"/>
            <a:ext cx="2011680" cy="22860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3" name="Text 11"/>
          <p:cNvSpPr/>
          <p:nvPr/>
        </p:nvSpPr>
        <p:spPr>
          <a:xfrm>
            <a:off x="2514600" y="1234440"/>
            <a:ext cx="2011680" cy="640080"/>
          </a:xfrm>
          <a:prstGeom prst="rect">
            <a:avLst/>
          </a:prstGeom>
          <a:noFill/>
          <a:ln/>
        </p:spPr>
        <p:txBody>
          <a:bodyPr wrap="square" lIns="0" tIns="0" rIns="0" bIns="0" rtlCol="0" anchor="ctr"/>
          <a:lstStyle/>
          <a:p>
            <a:pPr algn="ctr" indent="0" marL="0">
              <a:buNone/>
            </a:pPr>
            <a:r>
              <a:rPr lang="en-US" sz="3200" b="1" dirty="0">
                <a:solidFill>
                  <a:srgbClr val="06418C"/>
                </a:solidFill>
                <a:latin typeface="Arial" pitchFamily="34" charset="0"/>
                <a:ea typeface="Arial" pitchFamily="34" charset="-122"/>
                <a:cs typeface="Arial" pitchFamily="34" charset="-120"/>
              </a:rPr>
              <a:t>13B→70B</a:t>
            </a:r>
            <a:endParaRPr lang="en-US" sz="3200" dirty="0"/>
          </a:p>
        </p:txBody>
      </p:sp>
      <p:sp>
        <p:nvSpPr>
          <p:cNvPr id="14" name="Text 12"/>
          <p:cNvSpPr/>
          <p:nvPr/>
        </p:nvSpPr>
        <p:spPr>
          <a:xfrm>
            <a:off x="2606040" y="1920240"/>
            <a:ext cx="1828800" cy="548640"/>
          </a:xfrm>
          <a:prstGeom prst="rect">
            <a:avLst/>
          </a:prstGeom>
          <a:noFill/>
          <a:ln/>
        </p:spPr>
        <p:txBody>
          <a:bodyPr wrap="square" lIns="0" tIns="0" rIns="0" bIns="0" rtlCol="0" anchor="ctr"/>
          <a:lstStyle/>
          <a:p>
            <a:pPr algn="ctr" indent="0" marL="0">
              <a:buNone/>
            </a:pPr>
            <a:r>
              <a:rPr lang="en-US" sz="1200" dirty="0">
                <a:solidFill>
                  <a:srgbClr val="4A4A4A"/>
                </a:solidFill>
                <a:latin typeface="Arial" pitchFamily="34" charset="0"/>
                <a:ea typeface="Arial" pitchFamily="34" charset="-122"/>
                <a:cs typeface="Arial" pitchFamily="34" charset="-120"/>
              </a:rPr>
              <a:t>ChipNeMo matches</a:t>
            </a:r>
            <a:endParaRPr lang="en-US" sz="1200" dirty="0"/>
          </a:p>
          <a:p>
            <a:pPr algn="ctr" indent="0" marL="0">
              <a:buNone/>
            </a:pPr>
            <a:r>
              <a:rPr lang="en-US" sz="1200" dirty="0">
                <a:solidFill>
                  <a:srgbClr val="4A4A4A"/>
                </a:solidFill>
                <a:latin typeface="Arial" pitchFamily="34" charset="0"/>
                <a:ea typeface="Arial" pitchFamily="34" charset="-122"/>
                <a:cs typeface="Arial" pitchFamily="34" charset="-120"/>
              </a:rPr>
              <a:t>70B general model</a:t>
            </a:r>
            <a:endParaRPr lang="en-US" sz="1200" dirty="0"/>
          </a:p>
        </p:txBody>
      </p:sp>
      <p:sp>
        <p:nvSpPr>
          <p:cNvPr id="15" name="Text 13"/>
          <p:cNvSpPr/>
          <p:nvPr/>
        </p:nvSpPr>
        <p:spPr>
          <a:xfrm>
            <a:off x="2606040" y="2514600"/>
            <a:ext cx="1828800" cy="457200"/>
          </a:xfrm>
          <a:prstGeom prst="rect">
            <a:avLst/>
          </a:prstGeom>
          <a:noFill/>
          <a:ln/>
        </p:spPr>
        <p:txBody>
          <a:bodyPr wrap="square" lIns="0" tIns="0" rIns="0" bIns="0" rtlCol="0" anchor="ctr"/>
          <a:lstStyle/>
          <a:p>
            <a:pPr algn="ctr" indent="0" marL="0">
              <a:buNone/>
            </a:pPr>
            <a:r>
              <a:rPr lang="en-US" sz="1000" i="1" dirty="0">
                <a:solidFill>
                  <a:srgbClr val="9D9D9D"/>
                </a:solidFill>
                <a:latin typeface="Arial" pitchFamily="34" charset="0"/>
                <a:ea typeface="Arial" pitchFamily="34" charset="-122"/>
                <a:cs typeface="Arial" pitchFamily="34" charset="-120"/>
              </a:rPr>
              <a:t>Domain-specific training wins</a:t>
            </a:r>
            <a:endParaRPr lang="en-US" sz="1000" dirty="0"/>
          </a:p>
        </p:txBody>
      </p:sp>
      <p:sp>
        <p:nvSpPr>
          <p:cNvPr id="16" name="Shape 14"/>
          <p:cNvSpPr/>
          <p:nvPr/>
        </p:nvSpPr>
        <p:spPr>
          <a:xfrm>
            <a:off x="4709160" y="1097280"/>
            <a:ext cx="2011680" cy="22860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7" name="Text 15"/>
          <p:cNvSpPr/>
          <p:nvPr/>
        </p:nvSpPr>
        <p:spPr>
          <a:xfrm>
            <a:off x="4709160" y="1234440"/>
            <a:ext cx="2011680" cy="640080"/>
          </a:xfrm>
          <a:prstGeom prst="rect">
            <a:avLst/>
          </a:prstGeom>
          <a:noFill/>
          <a:ln/>
        </p:spPr>
        <p:txBody>
          <a:bodyPr wrap="square" lIns="0" tIns="0" rIns="0" bIns="0" rtlCol="0" anchor="ctr"/>
          <a:lstStyle/>
          <a:p>
            <a:pPr algn="ctr" indent="0" marL="0">
              <a:buNone/>
            </a:pPr>
            <a:r>
              <a:rPr lang="en-US" sz="3200" b="1" dirty="0">
                <a:solidFill>
                  <a:srgbClr val="06418C"/>
                </a:solidFill>
                <a:latin typeface="Arial" pitchFamily="34" charset="0"/>
                <a:ea typeface="Arial" pitchFamily="34" charset="-122"/>
                <a:cs typeface="Arial" pitchFamily="34" charset="-120"/>
              </a:rPr>
              <a:t>15-25%</a:t>
            </a:r>
            <a:endParaRPr lang="en-US" sz="3200" dirty="0"/>
          </a:p>
        </p:txBody>
      </p:sp>
      <p:sp>
        <p:nvSpPr>
          <p:cNvPr id="18" name="Text 16"/>
          <p:cNvSpPr/>
          <p:nvPr/>
        </p:nvSpPr>
        <p:spPr>
          <a:xfrm>
            <a:off x="4800600" y="1920240"/>
            <a:ext cx="1828800" cy="548640"/>
          </a:xfrm>
          <a:prstGeom prst="rect">
            <a:avLst/>
          </a:prstGeom>
          <a:noFill/>
          <a:ln/>
        </p:spPr>
        <p:txBody>
          <a:bodyPr wrap="square" lIns="0" tIns="0" rIns="0" bIns="0" rtlCol="0" anchor="ctr"/>
          <a:lstStyle/>
          <a:p>
            <a:pPr algn="ctr" indent="0" marL="0">
              <a:buNone/>
            </a:pPr>
            <a:r>
              <a:rPr lang="en-US" sz="1200" dirty="0">
                <a:solidFill>
                  <a:srgbClr val="4A4A4A"/>
                </a:solidFill>
                <a:latin typeface="Arial" pitchFamily="34" charset="0"/>
                <a:ea typeface="Arial" pitchFamily="34" charset="-122"/>
                <a:cs typeface="Arial" pitchFamily="34" charset="-120"/>
              </a:rPr>
              <a:t>NPI cycle time</a:t>
            </a:r>
            <a:endParaRPr lang="en-US" sz="1200" dirty="0"/>
          </a:p>
          <a:p>
            <a:pPr algn="ctr" indent="0" marL="0">
              <a:buNone/>
            </a:pPr>
            <a:r>
              <a:rPr lang="en-US" sz="1200" dirty="0">
                <a:solidFill>
                  <a:srgbClr val="4A4A4A"/>
                </a:solidFill>
                <a:latin typeface="Arial" pitchFamily="34" charset="0"/>
                <a:ea typeface="Arial" pitchFamily="34" charset="-122"/>
                <a:cs typeface="Arial" pitchFamily="34" charset="-120"/>
              </a:rPr>
              <a:t>reduction</a:t>
            </a:r>
            <a:endParaRPr lang="en-US" sz="1200" dirty="0"/>
          </a:p>
        </p:txBody>
      </p:sp>
      <p:sp>
        <p:nvSpPr>
          <p:cNvPr id="19" name="Text 17"/>
          <p:cNvSpPr/>
          <p:nvPr/>
        </p:nvSpPr>
        <p:spPr>
          <a:xfrm>
            <a:off x="4800600" y="2514600"/>
            <a:ext cx="1828800" cy="457200"/>
          </a:xfrm>
          <a:prstGeom prst="rect">
            <a:avLst/>
          </a:prstGeom>
          <a:noFill/>
          <a:ln/>
        </p:spPr>
        <p:txBody>
          <a:bodyPr wrap="square" lIns="0" tIns="0" rIns="0" bIns="0" rtlCol="0" anchor="ctr"/>
          <a:lstStyle/>
          <a:p>
            <a:pPr algn="ctr" indent="0" marL="0">
              <a:buNone/>
            </a:pPr>
            <a:r>
              <a:rPr lang="en-US" sz="1000" i="1" dirty="0">
                <a:solidFill>
                  <a:srgbClr val="9D9D9D"/>
                </a:solidFill>
                <a:latin typeface="Arial" pitchFamily="34" charset="0"/>
                <a:ea typeface="Arial" pitchFamily="34" charset="-122"/>
                <a:cs typeface="Arial" pitchFamily="34" charset="-120"/>
              </a:rPr>
              <a:t>AI-assisted IP reuse</a:t>
            </a:r>
            <a:endParaRPr lang="en-US" sz="1000" dirty="0"/>
          </a:p>
        </p:txBody>
      </p:sp>
      <p:sp>
        <p:nvSpPr>
          <p:cNvPr id="20" name="Shape 18"/>
          <p:cNvSpPr/>
          <p:nvPr/>
        </p:nvSpPr>
        <p:spPr>
          <a:xfrm>
            <a:off x="6903720" y="1097280"/>
            <a:ext cx="2011680" cy="22860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1" name="Text 19"/>
          <p:cNvSpPr/>
          <p:nvPr/>
        </p:nvSpPr>
        <p:spPr>
          <a:xfrm>
            <a:off x="6903720" y="1234440"/>
            <a:ext cx="2011680" cy="640080"/>
          </a:xfrm>
          <a:prstGeom prst="rect">
            <a:avLst/>
          </a:prstGeom>
          <a:noFill/>
          <a:ln/>
        </p:spPr>
        <p:txBody>
          <a:bodyPr wrap="square" lIns="0" tIns="0" rIns="0" bIns="0" rtlCol="0" anchor="ctr"/>
          <a:lstStyle/>
          <a:p>
            <a:pPr algn="ctr" indent="0" marL="0">
              <a:buNone/>
            </a:pPr>
            <a:r>
              <a:rPr lang="en-US" sz="3200" b="1" dirty="0">
                <a:solidFill>
                  <a:srgbClr val="06418C"/>
                </a:solidFill>
                <a:latin typeface="Arial" pitchFamily="34" charset="0"/>
                <a:ea typeface="Arial" pitchFamily="34" charset="-122"/>
                <a:cs typeface="Arial" pitchFamily="34" charset="-120"/>
              </a:rPr>
              <a:t>$10M+</a:t>
            </a:r>
            <a:endParaRPr lang="en-US" sz="3200" dirty="0"/>
          </a:p>
        </p:txBody>
      </p:sp>
      <p:sp>
        <p:nvSpPr>
          <p:cNvPr id="22" name="Text 20"/>
          <p:cNvSpPr/>
          <p:nvPr/>
        </p:nvSpPr>
        <p:spPr>
          <a:xfrm>
            <a:off x="6995160" y="1920240"/>
            <a:ext cx="1828800" cy="548640"/>
          </a:xfrm>
          <a:prstGeom prst="rect">
            <a:avLst/>
          </a:prstGeom>
          <a:noFill/>
          <a:ln/>
        </p:spPr>
        <p:txBody>
          <a:bodyPr wrap="square" lIns="0" tIns="0" rIns="0" bIns="0" rtlCol="0" anchor="ctr"/>
          <a:lstStyle/>
          <a:p>
            <a:pPr algn="ctr" indent="0" marL="0">
              <a:buNone/>
            </a:pPr>
            <a:r>
              <a:rPr lang="en-US" sz="1200" dirty="0">
                <a:solidFill>
                  <a:srgbClr val="4A4A4A"/>
                </a:solidFill>
                <a:latin typeface="Arial" pitchFamily="34" charset="0"/>
                <a:ea typeface="Arial" pitchFamily="34" charset="-122"/>
                <a:cs typeface="Arial" pitchFamily="34" charset="-120"/>
              </a:rPr>
              <a:t>Cost per tape-out</a:t>
            </a:r>
            <a:endParaRPr lang="en-US" sz="1200" dirty="0"/>
          </a:p>
          <a:p>
            <a:pPr algn="ctr" indent="0" marL="0">
              <a:buNone/>
            </a:pPr>
            <a:r>
              <a:rPr lang="en-US" sz="1200" dirty="0">
                <a:solidFill>
                  <a:srgbClr val="4A4A4A"/>
                </a:solidFill>
                <a:latin typeface="Arial" pitchFamily="34" charset="0"/>
                <a:ea typeface="Arial" pitchFamily="34" charset="-122"/>
                <a:cs typeface="Arial" pitchFamily="34" charset="-120"/>
              </a:rPr>
              <a:t>spin avoided</a:t>
            </a:r>
            <a:endParaRPr lang="en-US" sz="1200" dirty="0"/>
          </a:p>
        </p:txBody>
      </p:sp>
      <p:sp>
        <p:nvSpPr>
          <p:cNvPr id="23" name="Text 21"/>
          <p:cNvSpPr/>
          <p:nvPr/>
        </p:nvSpPr>
        <p:spPr>
          <a:xfrm>
            <a:off x="6995160" y="2514600"/>
            <a:ext cx="1828800" cy="457200"/>
          </a:xfrm>
          <a:prstGeom prst="rect">
            <a:avLst/>
          </a:prstGeom>
          <a:noFill/>
          <a:ln/>
        </p:spPr>
        <p:txBody>
          <a:bodyPr wrap="square" lIns="0" tIns="0" rIns="0" bIns="0" rtlCol="0" anchor="ctr"/>
          <a:lstStyle/>
          <a:p>
            <a:pPr algn="ctr" indent="0" marL="0">
              <a:buNone/>
            </a:pPr>
            <a:r>
              <a:rPr lang="en-US" sz="1000" i="1" dirty="0">
                <a:solidFill>
                  <a:srgbClr val="9D9D9D"/>
                </a:solidFill>
                <a:latin typeface="Arial" pitchFamily="34" charset="0"/>
                <a:ea typeface="Arial" pitchFamily="34" charset="-122"/>
                <a:cs typeface="Arial" pitchFamily="34" charset="-120"/>
              </a:rPr>
              <a:t>+ 3-6 months of time</a:t>
            </a:r>
            <a:endParaRPr lang="en-US" sz="1000" dirty="0"/>
          </a:p>
        </p:txBody>
      </p:sp>
      <p:sp>
        <p:nvSpPr>
          <p:cNvPr id="24" name="Shape 22"/>
          <p:cNvSpPr/>
          <p:nvPr/>
        </p:nvSpPr>
        <p:spPr>
          <a:xfrm>
            <a:off x="640080" y="3840480"/>
            <a:ext cx="7863840" cy="45720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25" name="Text 23"/>
          <p:cNvSpPr/>
          <p:nvPr/>
        </p:nvSpPr>
        <p:spPr>
          <a:xfrm>
            <a:off x="822960" y="3840480"/>
            <a:ext cx="7498080" cy="457200"/>
          </a:xfrm>
          <a:prstGeom prst="rect">
            <a:avLst/>
          </a:prstGeom>
          <a:noFill/>
          <a:ln/>
        </p:spPr>
        <p:txBody>
          <a:bodyPr wrap="square" lIns="0" tIns="0" rIns="0" bIns="0" rtlCol="0" anchor="ctr"/>
          <a:lstStyle/>
          <a:p>
            <a:pPr indent="0" marL="0">
              <a:buNone/>
            </a:pPr>
            <a:r>
              <a:rPr lang="en-US" sz="1300" b="1" i="1" dirty="0">
                <a:solidFill>
                  <a:srgbClr val="06418C"/>
                </a:solidFill>
                <a:latin typeface="Arial" pitchFamily="34" charset="0"/>
                <a:ea typeface="Arial" pitchFamily="34" charset="-122"/>
                <a:cs typeface="Arial" pitchFamily="34" charset="-120"/>
              </a:rPr>
              <a:t>The company that gets R&amp;D AI right ships products faster with fewer iterations. That advantage compounds.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400" b="1" dirty="0">
                <a:solidFill>
                  <a:srgbClr val="06418C"/>
                </a:solidFill>
                <a:latin typeface="Arial" pitchFamily="34" charset="0"/>
                <a:ea typeface="Arial" pitchFamily="34" charset="-122"/>
                <a:cs typeface="Arial" pitchFamily="34" charset="-120"/>
              </a:rPr>
              <a:t>Phase 3: By now, we are designing the company.</a:t>
            </a:r>
            <a:endParaRPr lang="en-US" sz="24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17</a:t>
            </a:r>
            <a:endParaRPr lang="en-US" sz="700" dirty="0"/>
          </a:p>
        </p:txBody>
      </p:sp>
      <p:sp>
        <p:nvSpPr>
          <p:cNvPr id="8" name="Text 6"/>
          <p:cNvSpPr/>
          <p:nvPr/>
        </p:nvSpPr>
        <p:spPr>
          <a:xfrm>
            <a:off x="640080" y="868680"/>
            <a:ext cx="4572000" cy="274320"/>
          </a:xfrm>
          <a:prstGeom prst="rect">
            <a:avLst/>
          </a:prstGeom>
          <a:noFill/>
          <a:ln/>
        </p:spPr>
        <p:txBody>
          <a:bodyPr wrap="square" lIns="0" tIns="0" rIns="0" bIns="0" rtlCol="0" anchor="ctr"/>
          <a:lstStyle/>
          <a:p>
            <a:pPr indent="0" marL="0">
              <a:buNone/>
            </a:pPr>
            <a:r>
              <a:rPr lang="en-US" sz="1200" dirty="0">
                <a:solidFill>
                  <a:srgbClr val="993399"/>
                </a:solidFill>
                <a:latin typeface="Arial" pitchFamily="34" charset="0"/>
                <a:ea typeface="Arial" pitchFamily="34" charset="-122"/>
                <a:cs typeface="Arial" pitchFamily="34" charset="-120"/>
              </a:rPr>
              <a:t>Months 18–36  |  Not improving — architecting</a:t>
            </a:r>
            <a:endParaRPr lang="en-US" sz="1200" dirty="0"/>
          </a:p>
        </p:txBody>
      </p:sp>
      <p:sp>
        <p:nvSpPr>
          <p:cNvPr id="9" name="Shape 7"/>
          <p:cNvSpPr/>
          <p:nvPr/>
        </p:nvSpPr>
        <p:spPr>
          <a:xfrm>
            <a:off x="640080" y="1371600"/>
            <a:ext cx="502920" cy="502920"/>
          </a:xfrm>
          <a:prstGeom prst="ellipse">
            <a:avLst/>
          </a:prstGeom>
          <a:solidFill>
            <a:srgbClr val="993399"/>
          </a:solidFill>
          <a:ln/>
        </p:spPr>
      </p:sp>
      <p:sp>
        <p:nvSpPr>
          <p:cNvPr id="10" name="Text 8"/>
          <p:cNvSpPr/>
          <p:nvPr/>
        </p:nvSpPr>
        <p:spPr>
          <a:xfrm>
            <a:off x="640080" y="137160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01</a:t>
            </a:r>
            <a:endParaRPr lang="en-US" sz="1600" dirty="0"/>
          </a:p>
        </p:txBody>
      </p:sp>
      <p:sp>
        <p:nvSpPr>
          <p:cNvPr id="11" name="Text 9"/>
          <p:cNvSpPr/>
          <p:nvPr/>
        </p:nvSpPr>
        <p:spPr>
          <a:xfrm>
            <a:off x="1325880" y="1325880"/>
            <a:ext cx="2286000" cy="320040"/>
          </a:xfrm>
          <a:prstGeom prst="rect">
            <a:avLst/>
          </a:prstGeom>
          <a:noFill/>
          <a:ln/>
        </p:spPr>
        <p:txBody>
          <a:bodyPr wrap="square" lIns="0" tIns="0" rIns="0" bIns="0" rtlCol="0" anchor="ctr"/>
          <a:lstStyle/>
          <a:p>
            <a:pPr indent="0" marL="0">
              <a:buNone/>
            </a:pPr>
            <a:r>
              <a:rPr lang="en-US" sz="1500" b="1" dirty="0">
                <a:solidFill>
                  <a:srgbClr val="06418C"/>
                </a:solidFill>
                <a:latin typeface="Arial" pitchFamily="34" charset="0"/>
                <a:ea typeface="Arial" pitchFamily="34" charset="-122"/>
                <a:cs typeface="Arial" pitchFamily="34" charset="-120"/>
              </a:rPr>
              <a:t>Workforce of the Future</a:t>
            </a:r>
            <a:endParaRPr lang="en-US" sz="1500" dirty="0"/>
          </a:p>
        </p:txBody>
      </p:sp>
      <p:sp>
        <p:nvSpPr>
          <p:cNvPr id="12" name="Text 10"/>
          <p:cNvSpPr/>
          <p:nvPr/>
        </p:nvSpPr>
        <p:spPr>
          <a:xfrm>
            <a:off x="3657600" y="1325880"/>
            <a:ext cx="4846320" cy="685800"/>
          </a:xfrm>
          <a:prstGeom prst="rect">
            <a:avLst/>
          </a:prstGeom>
          <a:noFill/>
          <a:ln/>
        </p:spPr>
        <p:txBody>
          <a:bodyPr wrap="square" lIns="0" tIns="0" rIns="0" bIns="0" rtlCol="0" anchor="ctr"/>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AI handles the routine. Engineers handle the creative. What does a 5,000-person R&amp;D org look like when AI does 30% of the repetitive work?</a:t>
            </a:r>
            <a:endParaRPr lang="en-US" sz="1200" dirty="0"/>
          </a:p>
        </p:txBody>
      </p:sp>
      <p:sp>
        <p:nvSpPr>
          <p:cNvPr id="13" name="Shape 11"/>
          <p:cNvSpPr/>
          <p:nvPr/>
        </p:nvSpPr>
        <p:spPr>
          <a:xfrm>
            <a:off x="640080" y="2240280"/>
            <a:ext cx="502920" cy="502920"/>
          </a:xfrm>
          <a:prstGeom prst="ellipse">
            <a:avLst/>
          </a:prstGeom>
          <a:solidFill>
            <a:srgbClr val="993399"/>
          </a:solidFill>
          <a:ln/>
        </p:spPr>
      </p:sp>
      <p:sp>
        <p:nvSpPr>
          <p:cNvPr id="14" name="Text 12"/>
          <p:cNvSpPr/>
          <p:nvPr/>
        </p:nvSpPr>
        <p:spPr>
          <a:xfrm>
            <a:off x="640080" y="224028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02</a:t>
            </a:r>
            <a:endParaRPr lang="en-US" sz="1600" dirty="0"/>
          </a:p>
        </p:txBody>
      </p:sp>
      <p:sp>
        <p:nvSpPr>
          <p:cNvPr id="15" name="Text 13"/>
          <p:cNvSpPr/>
          <p:nvPr/>
        </p:nvSpPr>
        <p:spPr>
          <a:xfrm>
            <a:off x="1325880" y="2194560"/>
            <a:ext cx="2286000" cy="320040"/>
          </a:xfrm>
          <a:prstGeom prst="rect">
            <a:avLst/>
          </a:prstGeom>
          <a:noFill/>
          <a:ln/>
        </p:spPr>
        <p:txBody>
          <a:bodyPr wrap="square" lIns="0" tIns="0" rIns="0" bIns="0" rtlCol="0" anchor="ctr"/>
          <a:lstStyle/>
          <a:p>
            <a:pPr indent="0" marL="0">
              <a:buNone/>
            </a:pPr>
            <a:r>
              <a:rPr lang="en-US" sz="1500" b="1" dirty="0">
                <a:solidFill>
                  <a:srgbClr val="06418C"/>
                </a:solidFill>
                <a:latin typeface="Arial" pitchFamily="34" charset="0"/>
                <a:ea typeface="Arial" pitchFamily="34" charset="-122"/>
                <a:cs typeface="Arial" pitchFamily="34" charset="-120"/>
              </a:rPr>
              <a:t>R&amp;D Organization Design</a:t>
            </a:r>
            <a:endParaRPr lang="en-US" sz="1500" dirty="0"/>
          </a:p>
        </p:txBody>
      </p:sp>
      <p:sp>
        <p:nvSpPr>
          <p:cNvPr id="16" name="Text 14"/>
          <p:cNvSpPr/>
          <p:nvPr/>
        </p:nvSpPr>
        <p:spPr>
          <a:xfrm>
            <a:off x="3657600" y="2194560"/>
            <a:ext cx="4846320" cy="685800"/>
          </a:xfrm>
          <a:prstGeom prst="rect">
            <a:avLst/>
          </a:prstGeom>
          <a:noFill/>
          <a:ln/>
        </p:spPr>
        <p:txBody>
          <a:bodyPr wrap="square" lIns="0" tIns="0" rIns="0" bIns="0" rtlCol="0" anchor="ctr"/>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If AI-enabled IP reuse dramatically improves throughput, does the org structure change? Could fewer, more integrated product groups serve the same market breadth?</a:t>
            </a:r>
            <a:endParaRPr lang="en-US" sz="1200" dirty="0"/>
          </a:p>
        </p:txBody>
      </p:sp>
      <p:sp>
        <p:nvSpPr>
          <p:cNvPr id="17" name="Shape 15"/>
          <p:cNvSpPr/>
          <p:nvPr/>
        </p:nvSpPr>
        <p:spPr>
          <a:xfrm>
            <a:off x="640080" y="3108960"/>
            <a:ext cx="502920" cy="502920"/>
          </a:xfrm>
          <a:prstGeom prst="ellipse">
            <a:avLst/>
          </a:prstGeom>
          <a:solidFill>
            <a:srgbClr val="993399"/>
          </a:solidFill>
          <a:ln/>
        </p:spPr>
      </p:sp>
      <p:sp>
        <p:nvSpPr>
          <p:cNvPr id="18" name="Text 16"/>
          <p:cNvSpPr/>
          <p:nvPr/>
        </p:nvSpPr>
        <p:spPr>
          <a:xfrm>
            <a:off x="640080" y="310896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03</a:t>
            </a:r>
            <a:endParaRPr lang="en-US" sz="1600" dirty="0"/>
          </a:p>
        </p:txBody>
      </p:sp>
      <p:sp>
        <p:nvSpPr>
          <p:cNvPr id="19" name="Text 17"/>
          <p:cNvSpPr/>
          <p:nvPr/>
        </p:nvSpPr>
        <p:spPr>
          <a:xfrm>
            <a:off x="1325880" y="3063240"/>
            <a:ext cx="2286000" cy="320040"/>
          </a:xfrm>
          <a:prstGeom prst="rect">
            <a:avLst/>
          </a:prstGeom>
          <a:noFill/>
          <a:ln/>
        </p:spPr>
        <p:txBody>
          <a:bodyPr wrap="square" lIns="0" tIns="0" rIns="0" bIns="0" rtlCol="0" anchor="ctr"/>
          <a:lstStyle/>
          <a:p>
            <a:pPr indent="0" marL="0">
              <a:buNone/>
            </a:pPr>
            <a:r>
              <a:rPr lang="en-US" sz="1500" b="1" dirty="0">
                <a:solidFill>
                  <a:srgbClr val="06418C"/>
                </a:solidFill>
                <a:latin typeface="Arial" pitchFamily="34" charset="0"/>
                <a:ea typeface="Arial" pitchFamily="34" charset="-122"/>
                <a:cs typeface="Arial" pitchFamily="34" charset="-120"/>
              </a:rPr>
              <a:t>AI-Native Product Development</a:t>
            </a:r>
            <a:endParaRPr lang="en-US" sz="1500" dirty="0"/>
          </a:p>
        </p:txBody>
      </p:sp>
      <p:sp>
        <p:nvSpPr>
          <p:cNvPr id="20" name="Text 18"/>
          <p:cNvSpPr/>
          <p:nvPr/>
        </p:nvSpPr>
        <p:spPr>
          <a:xfrm>
            <a:off x="3657600" y="3063240"/>
            <a:ext cx="4846320" cy="685800"/>
          </a:xfrm>
          <a:prstGeom prst="rect">
            <a:avLst/>
          </a:prstGeom>
          <a:noFill/>
          <a:ln/>
        </p:spPr>
        <p:txBody>
          <a:bodyPr wrap="square" lIns="0" tIns="0" rIns="0" bIns="0" rtlCol="0" anchor="ctr"/>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Products designed from day one with AI in the loop. Simulation-first. Digital twin. Generative design for power and area optimization.</a:t>
            </a:r>
            <a:endParaRPr lang="en-US" sz="1200" dirty="0"/>
          </a:p>
        </p:txBody>
      </p:sp>
      <p:sp>
        <p:nvSpPr>
          <p:cNvPr id="21" name="Shape 19"/>
          <p:cNvSpPr/>
          <p:nvPr/>
        </p:nvSpPr>
        <p:spPr>
          <a:xfrm>
            <a:off x="640080" y="3931920"/>
            <a:ext cx="7863840" cy="45720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22" name="Text 20"/>
          <p:cNvSpPr/>
          <p:nvPr/>
        </p:nvSpPr>
        <p:spPr>
          <a:xfrm>
            <a:off x="822960" y="3931920"/>
            <a:ext cx="7498080" cy="457200"/>
          </a:xfrm>
          <a:prstGeom prst="rect">
            <a:avLst/>
          </a:prstGeom>
          <a:noFill/>
          <a:ln/>
        </p:spPr>
        <p:txBody>
          <a:bodyPr wrap="square" lIns="0" tIns="0" rIns="0" bIns="0" rtlCol="0" anchor="ctr"/>
          <a:lstStyle/>
          <a:p>
            <a:pPr indent="0" marL="0">
              <a:buNone/>
            </a:pPr>
            <a:r>
              <a:rPr lang="en-US" sz="1300" b="1" i="1" dirty="0">
                <a:solidFill>
                  <a:srgbClr val="06418C"/>
                </a:solidFill>
                <a:latin typeface="Arial" pitchFamily="34" charset="0"/>
                <a:ea typeface="Arial" pitchFamily="34" charset="-122"/>
                <a:cs typeface="Arial" pitchFamily="34" charset="-120"/>
              </a:rPr>
              <a:t>This is why the transformation matters. Not to automate what we do today — to design what Renesas becomes.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Each phase funds the next. Savings compound.</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18</a:t>
            </a:r>
            <a:endParaRPr lang="en-US" sz="700" dirty="0"/>
          </a:p>
        </p:txBody>
      </p:sp>
      <p:sp>
        <p:nvSpPr>
          <p:cNvPr id="8" name="Shape 6"/>
          <p:cNvSpPr/>
          <p:nvPr/>
        </p:nvSpPr>
        <p:spPr>
          <a:xfrm>
            <a:off x="640080" y="1097280"/>
            <a:ext cx="3794760" cy="365760"/>
          </a:xfrm>
          <a:prstGeom prst="rect">
            <a:avLst/>
          </a:prstGeom>
          <a:solidFill>
            <a:srgbClr val="06418C"/>
          </a:solidFill>
          <a:ln/>
        </p:spPr>
      </p:sp>
      <p:sp>
        <p:nvSpPr>
          <p:cNvPr id="9" name="Text 7"/>
          <p:cNvSpPr/>
          <p:nvPr/>
        </p:nvSpPr>
        <p:spPr>
          <a:xfrm>
            <a:off x="640080" y="1097280"/>
            <a:ext cx="3794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COST SAVINGS FLYWHEEL</a:t>
            </a:r>
            <a:endParaRPr lang="en-US" sz="1300" dirty="0"/>
          </a:p>
        </p:txBody>
      </p:sp>
      <p:sp>
        <p:nvSpPr>
          <p:cNvPr id="10" name="Text 8"/>
          <p:cNvSpPr/>
          <p:nvPr/>
        </p:nvSpPr>
        <p:spPr>
          <a:xfrm>
            <a:off x="777240" y="1600200"/>
            <a:ext cx="3566160" cy="301752"/>
          </a:xfrm>
          <a:prstGeom prst="rect">
            <a:avLst/>
          </a:prstGeom>
          <a:noFill/>
          <a:ln/>
        </p:spPr>
        <p:txBody>
          <a:bodyPr wrap="square" lIns="0" tIns="0" rIns="0" bIns="0" rtlCol="0" anchor="ctr"/>
          <a:lstStyle/>
          <a:p>
            <a:pPr indent="0" marL="0">
              <a:buNone/>
            </a:pPr>
            <a:r>
              <a:rPr lang="en-US" sz="1100" b="1" dirty="0">
                <a:solidFill>
                  <a:srgbClr val="06418C"/>
                </a:solidFill>
                <a:latin typeface="Arial" pitchFamily="34" charset="0"/>
                <a:ea typeface="Arial" pitchFamily="34" charset="-122"/>
                <a:cs typeface="Arial" pitchFamily="34" charset="-120"/>
              </a:rPr>
              <a:t xml:space="preserve">1.  </a:t>
            </a:r>
            <a:pPr indent="0" marL="0">
              <a:buNone/>
            </a:pPr>
            <a:r>
              <a:rPr lang="en-US" sz="1100" dirty="0">
                <a:solidFill>
                  <a:srgbClr val="4A4A4A"/>
                </a:solidFill>
                <a:latin typeface="Arial" pitchFamily="34" charset="0"/>
                <a:ea typeface="Arial" pitchFamily="34" charset="-122"/>
                <a:cs typeface="Arial" pitchFamily="34" charset="-120"/>
              </a:rPr>
              <a:t>Phase 1 investment → efficiency gains</a:t>
            </a:r>
            <a:endParaRPr lang="en-US" sz="1100" dirty="0"/>
          </a:p>
        </p:txBody>
      </p:sp>
      <p:sp>
        <p:nvSpPr>
          <p:cNvPr id="11" name="Text 9"/>
          <p:cNvSpPr/>
          <p:nvPr/>
        </p:nvSpPr>
        <p:spPr>
          <a:xfrm>
            <a:off x="777240" y="1920240"/>
            <a:ext cx="3566160" cy="301752"/>
          </a:xfrm>
          <a:prstGeom prst="rect">
            <a:avLst/>
          </a:prstGeom>
          <a:noFill/>
          <a:ln/>
        </p:spPr>
        <p:txBody>
          <a:bodyPr wrap="square" lIns="0" tIns="0" rIns="0" bIns="0" rtlCol="0" anchor="ctr"/>
          <a:lstStyle/>
          <a:p>
            <a:pPr indent="0" marL="0">
              <a:buNone/>
            </a:pPr>
            <a:r>
              <a:rPr lang="en-US" sz="1100" b="1" dirty="0">
                <a:solidFill>
                  <a:srgbClr val="06418C"/>
                </a:solidFill>
                <a:latin typeface="Arial" pitchFamily="34" charset="0"/>
                <a:ea typeface="Arial" pitchFamily="34" charset="-122"/>
                <a:cs typeface="Arial" pitchFamily="34" charset="-120"/>
              </a:rPr>
              <a:t xml:space="preserve">2.  </a:t>
            </a:r>
            <a:pPr indent="0" marL="0">
              <a:buNone/>
            </a:pPr>
            <a:r>
              <a:rPr lang="en-US" sz="1100" dirty="0">
                <a:solidFill>
                  <a:srgbClr val="4A4A4A"/>
                </a:solidFill>
                <a:latin typeface="Arial" pitchFamily="34" charset="0"/>
                <a:ea typeface="Arial" pitchFamily="34" charset="-122"/>
                <a:cs typeface="Arial" pitchFamily="34" charset="-120"/>
              </a:rPr>
              <a:t>Savings reinvested into Phase 2</a:t>
            </a:r>
            <a:endParaRPr lang="en-US" sz="1100" dirty="0"/>
          </a:p>
        </p:txBody>
      </p:sp>
      <p:sp>
        <p:nvSpPr>
          <p:cNvPr id="12" name="Text 10"/>
          <p:cNvSpPr/>
          <p:nvPr/>
        </p:nvSpPr>
        <p:spPr>
          <a:xfrm>
            <a:off x="777240" y="2240280"/>
            <a:ext cx="3566160" cy="301752"/>
          </a:xfrm>
          <a:prstGeom prst="rect">
            <a:avLst/>
          </a:prstGeom>
          <a:noFill/>
          <a:ln/>
        </p:spPr>
        <p:txBody>
          <a:bodyPr wrap="square" lIns="0" tIns="0" rIns="0" bIns="0" rtlCol="0" anchor="ctr"/>
          <a:lstStyle/>
          <a:p>
            <a:pPr indent="0" marL="0">
              <a:buNone/>
            </a:pPr>
            <a:r>
              <a:rPr lang="en-US" sz="1100" b="1" dirty="0">
                <a:solidFill>
                  <a:srgbClr val="06418C"/>
                </a:solidFill>
                <a:latin typeface="Arial" pitchFamily="34" charset="0"/>
                <a:ea typeface="Arial" pitchFamily="34" charset="-122"/>
                <a:cs typeface="Arial" pitchFamily="34" charset="-120"/>
              </a:rPr>
              <a:t xml:space="preserve">3.  </a:t>
            </a:r>
            <a:pPr indent="0" marL="0">
              <a:buNone/>
            </a:pPr>
            <a:r>
              <a:rPr lang="en-US" sz="1100" dirty="0">
                <a:solidFill>
                  <a:srgbClr val="4A4A4A"/>
                </a:solidFill>
                <a:latin typeface="Arial" pitchFamily="34" charset="0"/>
                <a:ea typeface="Arial" pitchFamily="34" charset="-122"/>
                <a:cs typeface="Arial" pitchFamily="34" charset="-120"/>
              </a:rPr>
              <a:t>R&amp;D acceleration + operational savings</a:t>
            </a:r>
            <a:endParaRPr lang="en-US" sz="1100" dirty="0"/>
          </a:p>
        </p:txBody>
      </p:sp>
      <p:sp>
        <p:nvSpPr>
          <p:cNvPr id="13" name="Text 11"/>
          <p:cNvSpPr/>
          <p:nvPr/>
        </p:nvSpPr>
        <p:spPr>
          <a:xfrm>
            <a:off x="777240" y="2560320"/>
            <a:ext cx="3566160" cy="301752"/>
          </a:xfrm>
          <a:prstGeom prst="rect">
            <a:avLst/>
          </a:prstGeom>
          <a:noFill/>
          <a:ln/>
        </p:spPr>
        <p:txBody>
          <a:bodyPr wrap="square" lIns="0" tIns="0" rIns="0" bIns="0" rtlCol="0" anchor="ctr"/>
          <a:lstStyle/>
          <a:p>
            <a:pPr indent="0" marL="0">
              <a:buNone/>
            </a:pPr>
            <a:r>
              <a:rPr lang="en-US" sz="1100" b="1" dirty="0">
                <a:solidFill>
                  <a:srgbClr val="06418C"/>
                </a:solidFill>
                <a:latin typeface="Arial" pitchFamily="34" charset="0"/>
                <a:ea typeface="Arial" pitchFamily="34" charset="-122"/>
                <a:cs typeface="Arial" pitchFamily="34" charset="-120"/>
              </a:rPr>
              <a:t xml:space="preserve">4.  </a:t>
            </a:r>
            <a:pPr indent="0" marL="0">
              <a:buNone/>
            </a:pPr>
            <a:r>
              <a:rPr lang="en-US" sz="1100" dirty="0">
                <a:solidFill>
                  <a:srgbClr val="4A4A4A"/>
                </a:solidFill>
                <a:latin typeface="Arial" pitchFamily="34" charset="0"/>
                <a:ea typeface="Arial" pitchFamily="34" charset="-122"/>
                <a:cs typeface="Arial" pitchFamily="34" charset="-120"/>
              </a:rPr>
              <a:t>Phase 3 funded by compounding returns</a:t>
            </a:r>
            <a:endParaRPr lang="en-US" sz="1100" dirty="0"/>
          </a:p>
        </p:txBody>
      </p:sp>
      <p:sp>
        <p:nvSpPr>
          <p:cNvPr id="14" name="Text 12"/>
          <p:cNvSpPr/>
          <p:nvPr/>
        </p:nvSpPr>
        <p:spPr>
          <a:xfrm>
            <a:off x="777240" y="2880360"/>
            <a:ext cx="3566160" cy="301752"/>
          </a:xfrm>
          <a:prstGeom prst="rect">
            <a:avLst/>
          </a:prstGeom>
          <a:noFill/>
          <a:ln/>
        </p:spPr>
        <p:txBody>
          <a:bodyPr wrap="square" lIns="0" tIns="0" rIns="0" bIns="0" rtlCol="0" anchor="ctr"/>
          <a:lstStyle/>
          <a:p>
            <a:pPr indent="0" marL="0">
              <a:buNone/>
            </a:pPr>
            <a:r>
              <a:rPr lang="en-US" sz="1100" b="1" dirty="0">
                <a:solidFill>
                  <a:srgbClr val="06418C"/>
                </a:solidFill>
                <a:latin typeface="Arial" pitchFamily="34" charset="0"/>
                <a:ea typeface="Arial" pitchFamily="34" charset="-122"/>
                <a:cs typeface="Arial" pitchFamily="34" charset="-120"/>
              </a:rPr>
              <a:t xml:space="preserve">5.  </a:t>
            </a:r>
            <a:pPr indent="0" marL="0">
              <a:buNone/>
            </a:pPr>
            <a:r>
              <a:rPr lang="en-US" sz="1100" dirty="0">
                <a:solidFill>
                  <a:srgbClr val="4A4A4A"/>
                </a:solidFill>
                <a:latin typeface="Arial" pitchFamily="34" charset="0"/>
                <a:ea typeface="Arial" pitchFamily="34" charset="-122"/>
                <a:cs typeface="Arial" pitchFamily="34" charset="-120"/>
              </a:rPr>
              <a:t>Target: each phase self-funded by prior returns</a:t>
            </a:r>
            <a:endParaRPr lang="en-US" sz="1100" dirty="0"/>
          </a:p>
        </p:txBody>
      </p:sp>
      <p:sp>
        <p:nvSpPr>
          <p:cNvPr id="15" name="Shape 13"/>
          <p:cNvSpPr/>
          <p:nvPr/>
        </p:nvSpPr>
        <p:spPr>
          <a:xfrm>
            <a:off x="4709160" y="1097280"/>
            <a:ext cx="3794760" cy="365760"/>
          </a:xfrm>
          <a:prstGeom prst="rect">
            <a:avLst/>
          </a:prstGeom>
          <a:solidFill>
            <a:srgbClr val="4471A9"/>
          </a:solidFill>
          <a:ln/>
        </p:spPr>
      </p:sp>
      <p:sp>
        <p:nvSpPr>
          <p:cNvPr id="16" name="Text 14"/>
          <p:cNvSpPr/>
          <p:nvPr/>
        </p:nvSpPr>
        <p:spPr>
          <a:xfrm>
            <a:off x="4709160" y="1097280"/>
            <a:ext cx="3794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SPEED FLYWHEEL</a:t>
            </a:r>
            <a:endParaRPr lang="en-US" sz="1300" dirty="0"/>
          </a:p>
        </p:txBody>
      </p:sp>
      <p:sp>
        <p:nvSpPr>
          <p:cNvPr id="17" name="Text 15"/>
          <p:cNvSpPr/>
          <p:nvPr/>
        </p:nvSpPr>
        <p:spPr>
          <a:xfrm>
            <a:off x="4846320" y="1600200"/>
            <a:ext cx="1097280" cy="274320"/>
          </a:xfrm>
          <a:prstGeom prst="rect">
            <a:avLst/>
          </a:prstGeom>
          <a:noFill/>
          <a:ln/>
        </p:spPr>
        <p:txBody>
          <a:bodyPr wrap="square" lIns="0" tIns="0" rIns="0" bIns="0" rtlCol="0" anchor="ctr"/>
          <a:lstStyle/>
          <a:p>
            <a:pPr indent="0" marL="0">
              <a:buNone/>
            </a:pPr>
            <a:r>
              <a:rPr lang="en-US" sz="1200" b="1" dirty="0">
                <a:solidFill>
                  <a:srgbClr val="06418C"/>
                </a:solidFill>
                <a:latin typeface="Arial" pitchFamily="34" charset="0"/>
                <a:ea typeface="Arial" pitchFamily="34" charset="-122"/>
                <a:cs typeface="Arial" pitchFamily="34" charset="-120"/>
              </a:rPr>
              <a:t>Phase 1:</a:t>
            </a:r>
            <a:endParaRPr lang="en-US" sz="1200" dirty="0"/>
          </a:p>
        </p:txBody>
      </p:sp>
      <p:sp>
        <p:nvSpPr>
          <p:cNvPr id="18" name="Text 16"/>
          <p:cNvSpPr/>
          <p:nvPr/>
        </p:nvSpPr>
        <p:spPr>
          <a:xfrm>
            <a:off x="5943600" y="1600200"/>
            <a:ext cx="1828800" cy="274320"/>
          </a:xfrm>
          <a:prstGeom prst="rect">
            <a:avLst/>
          </a:prstGeom>
          <a:noFill/>
          <a:ln/>
        </p:spPr>
        <p:txBody>
          <a:bodyPr wrap="square" lIns="0" tIns="0" rIns="0" bIns="0" rtlCol="0" anchor="ctr"/>
          <a:lstStyle/>
          <a:p>
            <a:pPr indent="0" marL="0">
              <a:buNone/>
            </a:pPr>
            <a:r>
              <a:rPr lang="en-US" sz="1200" dirty="0">
                <a:solidFill>
                  <a:srgbClr val="4A4A4A"/>
                </a:solidFill>
                <a:latin typeface="Arial" pitchFamily="34" charset="0"/>
                <a:ea typeface="Arial" pitchFamily="34" charset="-122"/>
                <a:cs typeface="Arial" pitchFamily="34" charset="-120"/>
              </a:rPr>
              <a:t>6-9 months to ROI</a:t>
            </a:r>
            <a:endParaRPr lang="en-US" sz="1200" dirty="0"/>
          </a:p>
        </p:txBody>
      </p:sp>
      <p:sp>
        <p:nvSpPr>
          <p:cNvPr id="19" name="Text 17"/>
          <p:cNvSpPr/>
          <p:nvPr/>
        </p:nvSpPr>
        <p:spPr>
          <a:xfrm>
            <a:off x="4846320" y="1828800"/>
            <a:ext cx="3474720" cy="228600"/>
          </a:xfrm>
          <a:prstGeom prst="rect">
            <a:avLst/>
          </a:prstGeom>
          <a:noFill/>
          <a:ln/>
        </p:spPr>
        <p:txBody>
          <a:bodyPr wrap="square" lIns="0" tIns="0" rIns="0" bIns="0" rtlCol="0" anchor="ctr"/>
          <a:lstStyle/>
          <a:p>
            <a:pPr indent="0" marL="0">
              <a:buNone/>
            </a:pPr>
            <a:r>
              <a:rPr lang="en-US" sz="1000" i="1" dirty="0">
                <a:solidFill>
                  <a:srgbClr val="9D9D9D"/>
                </a:solidFill>
                <a:latin typeface="Arial" pitchFamily="34" charset="0"/>
                <a:ea typeface="Arial" pitchFamily="34" charset="-122"/>
                <a:cs typeface="Arial" pitchFamily="34" charset="-120"/>
              </a:rPr>
              <a:t>Building foundation</a:t>
            </a:r>
            <a:endParaRPr lang="en-US" sz="1000" dirty="0"/>
          </a:p>
        </p:txBody>
      </p:sp>
      <p:sp>
        <p:nvSpPr>
          <p:cNvPr id="20" name="Text 18"/>
          <p:cNvSpPr/>
          <p:nvPr/>
        </p:nvSpPr>
        <p:spPr>
          <a:xfrm>
            <a:off x="4846320" y="2148840"/>
            <a:ext cx="1097280" cy="274320"/>
          </a:xfrm>
          <a:prstGeom prst="rect">
            <a:avLst/>
          </a:prstGeom>
          <a:noFill/>
          <a:ln/>
        </p:spPr>
        <p:txBody>
          <a:bodyPr wrap="square" lIns="0" tIns="0" rIns="0" bIns="0" rtlCol="0" anchor="ctr"/>
          <a:lstStyle/>
          <a:p>
            <a:pPr indent="0" marL="0">
              <a:buNone/>
            </a:pPr>
            <a:r>
              <a:rPr lang="en-US" sz="1200" b="1" dirty="0">
                <a:solidFill>
                  <a:srgbClr val="06418C"/>
                </a:solidFill>
                <a:latin typeface="Arial" pitchFamily="34" charset="0"/>
                <a:ea typeface="Arial" pitchFamily="34" charset="-122"/>
                <a:cs typeface="Arial" pitchFamily="34" charset="-120"/>
              </a:rPr>
              <a:t>Phase 2:</a:t>
            </a:r>
            <a:endParaRPr lang="en-US" sz="1200" dirty="0"/>
          </a:p>
        </p:txBody>
      </p:sp>
      <p:sp>
        <p:nvSpPr>
          <p:cNvPr id="21" name="Text 19"/>
          <p:cNvSpPr/>
          <p:nvPr/>
        </p:nvSpPr>
        <p:spPr>
          <a:xfrm>
            <a:off x="5943600" y="2148840"/>
            <a:ext cx="1828800" cy="274320"/>
          </a:xfrm>
          <a:prstGeom prst="rect">
            <a:avLst/>
          </a:prstGeom>
          <a:noFill/>
          <a:ln/>
        </p:spPr>
        <p:txBody>
          <a:bodyPr wrap="square" lIns="0" tIns="0" rIns="0" bIns="0" rtlCol="0" anchor="ctr"/>
          <a:lstStyle/>
          <a:p>
            <a:pPr indent="0" marL="0">
              <a:buNone/>
            </a:pPr>
            <a:r>
              <a:rPr lang="en-US" sz="1200" dirty="0">
                <a:solidFill>
                  <a:srgbClr val="4A4A4A"/>
                </a:solidFill>
                <a:latin typeface="Arial" pitchFamily="34" charset="0"/>
                <a:ea typeface="Arial" pitchFamily="34" charset="-122"/>
                <a:cs typeface="Arial" pitchFamily="34" charset="-120"/>
              </a:rPr>
              <a:t>3-6 months to ROI</a:t>
            </a:r>
            <a:endParaRPr lang="en-US" sz="1200" dirty="0"/>
          </a:p>
        </p:txBody>
      </p:sp>
      <p:sp>
        <p:nvSpPr>
          <p:cNvPr id="22" name="Text 20"/>
          <p:cNvSpPr/>
          <p:nvPr/>
        </p:nvSpPr>
        <p:spPr>
          <a:xfrm>
            <a:off x="4846320" y="2377440"/>
            <a:ext cx="3474720" cy="228600"/>
          </a:xfrm>
          <a:prstGeom prst="rect">
            <a:avLst/>
          </a:prstGeom>
          <a:noFill/>
          <a:ln/>
        </p:spPr>
        <p:txBody>
          <a:bodyPr wrap="square" lIns="0" tIns="0" rIns="0" bIns="0" rtlCol="0" anchor="ctr"/>
          <a:lstStyle/>
          <a:p>
            <a:pPr indent="0" marL="0">
              <a:buNone/>
            </a:pPr>
            <a:r>
              <a:rPr lang="en-US" sz="1000" i="1" dirty="0">
                <a:solidFill>
                  <a:srgbClr val="9D9D9D"/>
                </a:solidFill>
                <a:latin typeface="Arial" pitchFamily="34" charset="0"/>
                <a:ea typeface="Arial" pitchFamily="34" charset="-122"/>
                <a:cs typeface="Arial" pitchFamily="34" charset="-120"/>
              </a:rPr>
              <a:t>Infrastructure exists</a:t>
            </a:r>
            <a:endParaRPr lang="en-US" sz="1000" dirty="0"/>
          </a:p>
        </p:txBody>
      </p:sp>
      <p:sp>
        <p:nvSpPr>
          <p:cNvPr id="23" name="Text 21"/>
          <p:cNvSpPr/>
          <p:nvPr/>
        </p:nvSpPr>
        <p:spPr>
          <a:xfrm>
            <a:off x="4846320" y="2697480"/>
            <a:ext cx="1097280" cy="274320"/>
          </a:xfrm>
          <a:prstGeom prst="rect">
            <a:avLst/>
          </a:prstGeom>
          <a:noFill/>
          <a:ln/>
        </p:spPr>
        <p:txBody>
          <a:bodyPr wrap="square" lIns="0" tIns="0" rIns="0" bIns="0" rtlCol="0" anchor="ctr"/>
          <a:lstStyle/>
          <a:p>
            <a:pPr indent="0" marL="0">
              <a:buNone/>
            </a:pPr>
            <a:r>
              <a:rPr lang="en-US" sz="1200" b="1" dirty="0">
                <a:solidFill>
                  <a:srgbClr val="06418C"/>
                </a:solidFill>
                <a:latin typeface="Arial" pitchFamily="34" charset="0"/>
                <a:ea typeface="Arial" pitchFamily="34" charset="-122"/>
                <a:cs typeface="Arial" pitchFamily="34" charset="-120"/>
              </a:rPr>
              <a:t>Phase 3:</a:t>
            </a:r>
            <a:endParaRPr lang="en-US" sz="1200" dirty="0"/>
          </a:p>
        </p:txBody>
      </p:sp>
      <p:sp>
        <p:nvSpPr>
          <p:cNvPr id="24" name="Text 22"/>
          <p:cNvSpPr/>
          <p:nvPr/>
        </p:nvSpPr>
        <p:spPr>
          <a:xfrm>
            <a:off x="5943600" y="2697480"/>
            <a:ext cx="1828800" cy="274320"/>
          </a:xfrm>
          <a:prstGeom prst="rect">
            <a:avLst/>
          </a:prstGeom>
          <a:noFill/>
          <a:ln/>
        </p:spPr>
        <p:txBody>
          <a:bodyPr wrap="square" lIns="0" tIns="0" rIns="0" bIns="0" rtlCol="0" anchor="ctr"/>
          <a:lstStyle/>
          <a:p>
            <a:pPr indent="0" marL="0">
              <a:buNone/>
            </a:pPr>
            <a:r>
              <a:rPr lang="en-US" sz="1200" dirty="0">
                <a:solidFill>
                  <a:srgbClr val="4A4A4A"/>
                </a:solidFill>
                <a:latin typeface="Arial" pitchFamily="34" charset="0"/>
                <a:ea typeface="Arial" pitchFamily="34" charset="-122"/>
                <a:cs typeface="Arial" pitchFamily="34" charset="-120"/>
              </a:rPr>
              <a:t>Weeks to value</a:t>
            </a:r>
            <a:endParaRPr lang="en-US" sz="1200" dirty="0"/>
          </a:p>
        </p:txBody>
      </p:sp>
      <p:sp>
        <p:nvSpPr>
          <p:cNvPr id="25" name="Text 23"/>
          <p:cNvSpPr/>
          <p:nvPr/>
        </p:nvSpPr>
        <p:spPr>
          <a:xfrm>
            <a:off x="4846320" y="2926080"/>
            <a:ext cx="3474720" cy="228600"/>
          </a:xfrm>
          <a:prstGeom prst="rect">
            <a:avLst/>
          </a:prstGeom>
          <a:noFill/>
          <a:ln/>
        </p:spPr>
        <p:txBody>
          <a:bodyPr wrap="square" lIns="0" tIns="0" rIns="0" bIns="0" rtlCol="0" anchor="ctr"/>
          <a:lstStyle/>
          <a:p>
            <a:pPr indent="0" marL="0">
              <a:buNone/>
            </a:pPr>
            <a:r>
              <a:rPr lang="en-US" sz="1000" i="1" dirty="0">
                <a:solidFill>
                  <a:srgbClr val="9D9D9D"/>
                </a:solidFill>
                <a:latin typeface="Arial" pitchFamily="34" charset="0"/>
                <a:ea typeface="Arial" pitchFamily="34" charset="-122"/>
                <a:cs typeface="Arial" pitchFamily="34" charset="-120"/>
              </a:rPr>
              <a:t>Deploying on mature platform</a:t>
            </a:r>
            <a:endParaRPr lang="en-US" sz="1000" dirty="0"/>
          </a:p>
        </p:txBody>
      </p:sp>
      <p:sp>
        <p:nvSpPr>
          <p:cNvPr id="26" name="Shape 24"/>
          <p:cNvSpPr/>
          <p:nvPr/>
        </p:nvSpPr>
        <p:spPr>
          <a:xfrm>
            <a:off x="640080" y="3840480"/>
            <a:ext cx="7863840" cy="45720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27" name="Text 25"/>
          <p:cNvSpPr/>
          <p:nvPr/>
        </p:nvSpPr>
        <p:spPr>
          <a:xfrm>
            <a:off x="822960" y="3840480"/>
            <a:ext cx="7498080" cy="457200"/>
          </a:xfrm>
          <a:prstGeom prst="rect">
            <a:avLst/>
          </a:prstGeom>
          <a:noFill/>
          <a:ln/>
        </p:spPr>
        <p:txBody>
          <a:bodyPr wrap="square" lIns="0" tIns="0" rIns="0" bIns="0" rtlCol="0" anchor="ctr"/>
          <a:lstStyle/>
          <a:p>
            <a:pPr indent="0" marL="0">
              <a:buNone/>
            </a:pPr>
            <a:r>
              <a:rPr lang="en-US" sz="1300" b="1" i="1" dirty="0">
                <a:solidFill>
                  <a:srgbClr val="06418C"/>
                </a:solidFill>
                <a:latin typeface="Arial" pitchFamily="34" charset="0"/>
                <a:ea typeface="Arial" pitchFamily="34" charset="-122"/>
                <a:cs typeface="Arial" pitchFamily="34" charset="-120"/>
              </a:rPr>
              <a:t>The crossover point — where savings exceed investment — is the target. That should happen mid-Phase 2.</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42D5E"/>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4471A9"/>
          </a:solidFill>
          <a:ln/>
        </p:spPr>
      </p:sp>
      <p:sp>
        <p:nvSpPr>
          <p:cNvPr id="3" name="Text 1"/>
          <p:cNvSpPr/>
          <p:nvPr/>
        </p:nvSpPr>
        <p:spPr>
          <a:xfrm>
            <a:off x="640080" y="320040"/>
            <a:ext cx="7863840" cy="54864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Pragmatic sequencing is not a lack of ambition.</a:t>
            </a:r>
            <a:endParaRPr lang="en-US" sz="2400" dirty="0"/>
          </a:p>
        </p:txBody>
      </p:sp>
      <p:sp>
        <p:nvSpPr>
          <p:cNvPr id="4" name="Text 2"/>
          <p:cNvSpPr/>
          <p:nvPr/>
        </p:nvSpPr>
        <p:spPr>
          <a:xfrm>
            <a:off x="640080" y="777240"/>
            <a:ext cx="7863840" cy="411480"/>
          </a:xfrm>
          <a:prstGeom prst="rect">
            <a:avLst/>
          </a:prstGeom>
          <a:noFill/>
          <a:ln/>
        </p:spPr>
        <p:txBody>
          <a:bodyPr wrap="square" lIns="0" tIns="0" rIns="0" bIns="0" rtlCol="0" anchor="ctr"/>
          <a:lstStyle/>
          <a:p>
            <a:pPr indent="0" marL="0">
              <a:buNone/>
            </a:pPr>
            <a:r>
              <a:rPr lang="en-US" sz="2000" dirty="0">
                <a:solidFill>
                  <a:srgbClr val="4471A9"/>
                </a:solidFill>
                <a:latin typeface="Arial" pitchFamily="34" charset="0"/>
                <a:ea typeface="Arial" pitchFamily="34" charset="-122"/>
                <a:cs typeface="Arial" pitchFamily="34" charset="-120"/>
              </a:rPr>
              <a:t>It's how transformation earns trust.</a:t>
            </a:r>
            <a:endParaRPr lang="en-US" sz="2000" dirty="0"/>
          </a:p>
        </p:txBody>
      </p:sp>
      <p:sp>
        <p:nvSpPr>
          <p:cNvPr id="5" name="Shape 3"/>
          <p:cNvSpPr/>
          <p:nvPr/>
        </p:nvSpPr>
        <p:spPr>
          <a:xfrm>
            <a:off x="914400" y="1645920"/>
            <a:ext cx="7315200" cy="640080"/>
          </a:xfrm>
          <a:prstGeom prst="rect">
            <a:avLst/>
          </a:prstGeom>
          <a:solidFill>
            <a:srgbClr val="06418C"/>
          </a:solidFill>
          <a:ln/>
        </p:spPr>
      </p:sp>
      <p:sp>
        <p:nvSpPr>
          <p:cNvPr id="6" name="Text 4"/>
          <p:cNvSpPr/>
          <p:nvPr/>
        </p:nvSpPr>
        <p:spPr>
          <a:xfrm>
            <a:off x="1097280" y="1645920"/>
            <a:ext cx="6949440" cy="640080"/>
          </a:xfrm>
          <a:prstGeom prst="rect">
            <a:avLst/>
          </a:prstGeom>
          <a:noFill/>
          <a:ln/>
        </p:spPr>
        <p:txBody>
          <a:bodyPr wrap="square" lIns="0" tIns="0" rIns="0" bIns="0" rtlCol="0" anchor="ctr"/>
          <a:lstStyle/>
          <a:p>
            <a:pPr indent="0" marL="0">
              <a:buNone/>
            </a:pPr>
            <a:r>
              <a:rPr lang="en-US" sz="1500" b="1" i="1" dirty="0">
                <a:solidFill>
                  <a:srgbClr val="FFFFFF"/>
                </a:solidFill>
                <a:latin typeface="Arial" pitchFamily="34" charset="0"/>
                <a:ea typeface="Arial" pitchFamily="34" charset="-122"/>
                <a:cs typeface="Arial" pitchFamily="34" charset="-120"/>
              </a:rPr>
              <a:t>"Phase 1 delivers measurable results before Phase 2 asks for expanded investment."</a:t>
            </a:r>
            <a:endParaRPr lang="en-US" sz="1500" dirty="0"/>
          </a:p>
        </p:txBody>
      </p:sp>
      <p:sp>
        <p:nvSpPr>
          <p:cNvPr id="7" name="Shape 5"/>
          <p:cNvSpPr/>
          <p:nvPr/>
        </p:nvSpPr>
        <p:spPr>
          <a:xfrm>
            <a:off x="914400" y="2468880"/>
            <a:ext cx="7315200" cy="640080"/>
          </a:xfrm>
          <a:prstGeom prst="rect">
            <a:avLst/>
          </a:prstGeom>
          <a:solidFill>
            <a:srgbClr val="06418C"/>
          </a:solidFill>
          <a:ln/>
        </p:spPr>
      </p:sp>
      <p:sp>
        <p:nvSpPr>
          <p:cNvPr id="8" name="Text 6"/>
          <p:cNvSpPr/>
          <p:nvPr/>
        </p:nvSpPr>
        <p:spPr>
          <a:xfrm>
            <a:off x="1097280" y="2468880"/>
            <a:ext cx="6949440" cy="640080"/>
          </a:xfrm>
          <a:prstGeom prst="rect">
            <a:avLst/>
          </a:prstGeom>
          <a:noFill/>
          <a:ln/>
        </p:spPr>
        <p:txBody>
          <a:bodyPr wrap="square" lIns="0" tIns="0" rIns="0" bIns="0" rtlCol="0" anchor="ctr"/>
          <a:lstStyle/>
          <a:p>
            <a:pPr indent="0" marL="0">
              <a:buNone/>
            </a:pPr>
            <a:r>
              <a:rPr lang="en-US" sz="1500" b="1" i="1" dirty="0">
                <a:solidFill>
                  <a:srgbClr val="FFFFFF"/>
                </a:solidFill>
                <a:latin typeface="Arial" pitchFamily="34" charset="0"/>
                <a:ea typeface="Arial" pitchFamily="34" charset="-122"/>
                <a:cs typeface="Arial" pitchFamily="34" charset="-120"/>
              </a:rPr>
              <a:t>"Every tool deployed in Phase 1 is production-grade, not a demo."</a:t>
            </a:r>
            <a:endParaRPr lang="en-US" sz="1500" dirty="0"/>
          </a:p>
        </p:txBody>
      </p:sp>
      <p:sp>
        <p:nvSpPr>
          <p:cNvPr id="9" name="Shape 7"/>
          <p:cNvSpPr/>
          <p:nvPr/>
        </p:nvSpPr>
        <p:spPr>
          <a:xfrm>
            <a:off x="914400" y="3291840"/>
            <a:ext cx="7315200" cy="640080"/>
          </a:xfrm>
          <a:prstGeom prst="rect">
            <a:avLst/>
          </a:prstGeom>
          <a:solidFill>
            <a:srgbClr val="06418C"/>
          </a:solidFill>
          <a:ln/>
        </p:spPr>
      </p:sp>
      <p:sp>
        <p:nvSpPr>
          <p:cNvPr id="10" name="Text 8"/>
          <p:cNvSpPr/>
          <p:nvPr/>
        </p:nvSpPr>
        <p:spPr>
          <a:xfrm>
            <a:off x="1097280" y="3291840"/>
            <a:ext cx="6949440" cy="640080"/>
          </a:xfrm>
          <a:prstGeom prst="rect">
            <a:avLst/>
          </a:prstGeom>
          <a:noFill/>
          <a:ln/>
        </p:spPr>
        <p:txBody>
          <a:bodyPr wrap="square" lIns="0" tIns="0" rIns="0" bIns="0" rtlCol="0" anchor="ctr"/>
          <a:lstStyle/>
          <a:p>
            <a:pPr indent="0" marL="0">
              <a:buNone/>
            </a:pPr>
            <a:r>
              <a:rPr lang="en-US" sz="1500" b="1" i="1" dirty="0">
                <a:solidFill>
                  <a:srgbClr val="FFFFFF"/>
                </a:solidFill>
                <a:latin typeface="Arial" pitchFamily="34" charset="0"/>
                <a:ea typeface="Arial" pitchFamily="34" charset="-122"/>
                <a:cs typeface="Arial" pitchFamily="34" charset="-120"/>
              </a:rPr>
              <a:t>"The Phase 1 foundation is architected to support Phase 3 — we are not doing this twice."</a:t>
            </a:r>
            <a:endParaRPr lang="en-US" sz="1500" dirty="0"/>
          </a:p>
        </p:txBody>
      </p:sp>
      <p:sp>
        <p:nvSpPr>
          <p:cNvPr id="11" name="Shape 9"/>
          <p:cNvSpPr/>
          <p:nvPr/>
        </p:nvSpPr>
        <p:spPr>
          <a:xfrm>
            <a:off x="0" y="5106924"/>
            <a:ext cx="9144000" cy="36576"/>
          </a:xfrm>
          <a:prstGeom prst="rect">
            <a:avLst/>
          </a:prstGeom>
          <a:solidFill>
            <a:srgbClr val="993399"/>
          </a:solidFill>
          <a:ln/>
        </p:spPr>
      </p:sp>
      <p:sp>
        <p:nvSpPr>
          <p:cNvPr id="12" name="Shape 10"/>
          <p:cNvSpPr/>
          <p:nvPr/>
        </p:nvSpPr>
        <p:spPr>
          <a:xfrm>
            <a:off x="457200" y="4645152"/>
            <a:ext cx="8229600" cy="0"/>
          </a:xfrm>
          <a:prstGeom prst="line">
            <a:avLst/>
          </a:prstGeom>
          <a:noFill/>
          <a:ln w="6350">
            <a:solidFill>
              <a:srgbClr val="D0D0D0"/>
            </a:solidFill>
            <a:prstDash val="solid"/>
          </a:ln>
        </p:spPr>
      </p:sp>
      <p:sp>
        <p:nvSpPr>
          <p:cNvPr id="13" name="Text 11"/>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14" name="Shape 12"/>
          <p:cNvSpPr/>
          <p:nvPr/>
        </p:nvSpPr>
        <p:spPr>
          <a:xfrm>
            <a:off x="3840480" y="4764024"/>
            <a:ext cx="1188720" cy="182880"/>
          </a:xfrm>
          <a:prstGeom prst="rect">
            <a:avLst/>
          </a:prstGeom>
          <a:solidFill>
            <a:srgbClr val="993399"/>
          </a:solidFill>
          <a:ln/>
        </p:spPr>
      </p:sp>
      <p:sp>
        <p:nvSpPr>
          <p:cNvPr id="15" name="Text 13"/>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16" name="Text 14"/>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19</a:t>
            </a:r>
            <a:endParaRPr lang="en-US" sz="7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42D5E"/>
        </a:solidFill>
        <a:effectLst/>
      </p:bgPr>
    </p:bg>
    <p:spTree>
      <p:nvGrpSpPr>
        <p:cNvPr id="1" name=""/>
        <p:cNvGrpSpPr/>
        <p:nvPr/>
      </p:nvGrpSpPr>
      <p:grpSpPr/>
      <p:sp>
        <p:nvSpPr>
          <p:cNvPr id="2" name="Shape 0"/>
          <p:cNvSpPr/>
          <p:nvPr/>
        </p:nvSpPr>
        <p:spPr>
          <a:xfrm>
            <a:off x="0" y="0"/>
            <a:ext cx="9144000" cy="36576"/>
          </a:xfrm>
          <a:prstGeom prst="rect">
            <a:avLst/>
          </a:prstGeom>
          <a:solidFill>
            <a:srgbClr val="4471A9"/>
          </a:solidFill>
          <a:ln/>
        </p:spPr>
      </p:sp>
      <p:sp>
        <p:nvSpPr>
          <p:cNvPr id="3" name="Text 1"/>
          <p:cNvSpPr/>
          <p:nvPr/>
        </p:nvSpPr>
        <p:spPr>
          <a:xfrm>
            <a:off x="640080" y="1371600"/>
            <a:ext cx="1097280" cy="731520"/>
          </a:xfrm>
          <a:prstGeom prst="rect">
            <a:avLst/>
          </a:prstGeom>
          <a:noFill/>
          <a:ln/>
        </p:spPr>
        <p:txBody>
          <a:bodyPr wrap="square" lIns="0" tIns="0" rIns="0" bIns="0" rtlCol="0" anchor="ctr"/>
          <a:lstStyle/>
          <a:p>
            <a:pPr indent="0" marL="0">
              <a:buNone/>
            </a:pPr>
            <a:r>
              <a:rPr lang="en-US" sz="4800" b="1" dirty="0">
                <a:solidFill>
                  <a:srgbClr val="4471A9"/>
                </a:solidFill>
                <a:latin typeface="Arial" pitchFamily="34" charset="0"/>
                <a:ea typeface="Arial" pitchFamily="34" charset="-122"/>
                <a:cs typeface="Arial" pitchFamily="34" charset="-120"/>
              </a:rPr>
              <a:t>04</a:t>
            </a:r>
            <a:endParaRPr lang="en-US" sz="4800" dirty="0"/>
          </a:p>
        </p:txBody>
      </p:sp>
      <p:sp>
        <p:nvSpPr>
          <p:cNvPr id="4" name="Text 2"/>
          <p:cNvSpPr/>
          <p:nvPr/>
        </p:nvSpPr>
        <p:spPr>
          <a:xfrm>
            <a:off x="640080" y="2103120"/>
            <a:ext cx="7315200" cy="914400"/>
          </a:xfrm>
          <a:prstGeom prst="rect">
            <a:avLst/>
          </a:prstGeom>
          <a:noFill/>
          <a:ln/>
        </p:spPr>
        <p:txBody>
          <a:bodyPr wrap="square" lIns="0" tIns="0" rIns="0" bIns="0" rtlCol="0" anchor="ctr"/>
          <a:lstStyle/>
          <a:p>
            <a:pPr indent="0" marL="0">
              <a:buNone/>
            </a:pPr>
            <a:r>
              <a:rPr lang="en-US" sz="3600" b="1" spc="300" kern="0" dirty="0">
                <a:solidFill>
                  <a:srgbClr val="FFFFFF"/>
                </a:solidFill>
                <a:latin typeface="Arial" pitchFamily="34" charset="0"/>
                <a:ea typeface="Arial" pitchFamily="34" charset="-122"/>
                <a:cs typeface="Arial" pitchFamily="34" charset="-120"/>
              </a:rPr>
              <a:t>TECHNOLOGY FOUNDATION</a:t>
            </a:r>
            <a:endParaRPr lang="en-US" sz="3600" dirty="0"/>
          </a:p>
        </p:txBody>
      </p:sp>
      <p:sp>
        <p:nvSpPr>
          <p:cNvPr id="5" name="Text 3"/>
          <p:cNvSpPr/>
          <p:nvPr/>
        </p:nvSpPr>
        <p:spPr>
          <a:xfrm>
            <a:off x="640080" y="3017520"/>
            <a:ext cx="6400800" cy="548640"/>
          </a:xfrm>
          <a:prstGeom prst="rect">
            <a:avLst/>
          </a:prstGeom>
          <a:noFill/>
          <a:ln/>
        </p:spPr>
        <p:txBody>
          <a:bodyPr wrap="square" rtlCol="0" anchor="ctr"/>
          <a:lstStyle/>
          <a:p>
            <a:pPr indent="0" marL="0">
              <a:buNone/>
            </a:pPr>
            <a:r>
              <a:rPr lang="en-US" sz="1600" dirty="0">
                <a:solidFill>
                  <a:srgbClr val="4471A9"/>
                </a:solidFill>
                <a:latin typeface="Arial" pitchFamily="34" charset="0"/>
                <a:ea typeface="Arial" pitchFamily="34" charset="-122"/>
                <a:cs typeface="Arial" pitchFamily="34" charset="-120"/>
              </a:rPr>
              <a:t>The stack that makes everything else possible</a:t>
            </a:r>
            <a:endParaRPr lang="en-US" sz="1600" dirty="0"/>
          </a:p>
        </p:txBody>
      </p:sp>
      <p:sp>
        <p:nvSpPr>
          <p:cNvPr id="6" name="Shape 4"/>
          <p:cNvSpPr/>
          <p:nvPr/>
        </p:nvSpPr>
        <p:spPr>
          <a:xfrm>
            <a:off x="0" y="5106924"/>
            <a:ext cx="9144000" cy="36576"/>
          </a:xfrm>
          <a:prstGeom prst="rect">
            <a:avLst/>
          </a:prstGeom>
          <a:solidFill>
            <a:srgbClr val="993399"/>
          </a:solidFill>
          <a:ln/>
        </p:spPr>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Four layers. Each one enables the next.</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20</a:t>
            </a:r>
            <a:endParaRPr lang="en-US" sz="700" dirty="0"/>
          </a:p>
        </p:txBody>
      </p:sp>
      <p:sp>
        <p:nvSpPr>
          <p:cNvPr id="8" name="Shape 6"/>
          <p:cNvSpPr/>
          <p:nvPr/>
        </p:nvSpPr>
        <p:spPr>
          <a:xfrm>
            <a:off x="1371600" y="1097280"/>
            <a:ext cx="6400800" cy="640080"/>
          </a:xfrm>
          <a:prstGeom prst="rect">
            <a:avLst/>
          </a:prstGeom>
          <a:solidFill>
            <a:srgbClr val="993399"/>
          </a:solidFill>
          <a:ln/>
          <a:effectLst>
            <a:outerShdw sx="100000" sy="100000" kx="0" ky="0" algn="bl" rotWithShape="0" blurRad="50800" dist="12700" dir="8100000">
              <a:srgbClr val="000000">
                <a:alpha val="8000"/>
              </a:srgbClr>
            </a:outerShdw>
          </a:effectLst>
        </p:spPr>
      </p:sp>
      <p:sp>
        <p:nvSpPr>
          <p:cNvPr id="9" name="Text 7"/>
          <p:cNvSpPr/>
          <p:nvPr/>
        </p:nvSpPr>
        <p:spPr>
          <a:xfrm>
            <a:off x="1554480" y="1124712"/>
            <a:ext cx="6035040" cy="30175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APPLICATION LAYER</a:t>
            </a:r>
            <a:endParaRPr lang="en-US" sz="1400" dirty="0"/>
          </a:p>
        </p:txBody>
      </p:sp>
      <p:sp>
        <p:nvSpPr>
          <p:cNvPr id="10" name="Text 8"/>
          <p:cNvSpPr/>
          <p:nvPr/>
        </p:nvSpPr>
        <p:spPr>
          <a:xfrm>
            <a:off x="1554480" y="1417320"/>
            <a:ext cx="6035040" cy="274320"/>
          </a:xfrm>
          <a:prstGeom prst="rect">
            <a:avLst/>
          </a:prstGeom>
          <a:noFill/>
          <a:ln/>
        </p:spPr>
        <p:txBody>
          <a:bodyPr wrap="square" lIns="0" tIns="0" rIns="0" bIns="0" rtlCol="0" anchor="ctr"/>
          <a:lstStyle/>
          <a:p>
            <a:pPr indent="0" marL="0">
              <a:buNone/>
            </a:pPr>
            <a:r>
              <a:rPr lang="en-US" sz="1100" dirty="0">
                <a:solidFill>
                  <a:srgbClr val="D0D8E8"/>
                </a:solidFill>
                <a:latin typeface="Arial" pitchFamily="34" charset="0"/>
                <a:ea typeface="Arial" pitchFamily="34" charset="-122"/>
                <a:cs typeface="Arial" pitchFamily="34" charset="-120"/>
              </a:rPr>
              <a:t>Tools, copilots, workflows — what users touch</a:t>
            </a:r>
            <a:endParaRPr lang="en-US" sz="1100" dirty="0"/>
          </a:p>
        </p:txBody>
      </p:sp>
      <p:sp>
        <p:nvSpPr>
          <p:cNvPr id="11" name="Shape 9"/>
          <p:cNvSpPr/>
          <p:nvPr/>
        </p:nvSpPr>
        <p:spPr>
          <a:xfrm>
            <a:off x="1554480" y="1874520"/>
            <a:ext cx="6035040" cy="640080"/>
          </a:xfrm>
          <a:prstGeom prst="rect">
            <a:avLst/>
          </a:prstGeom>
          <a:solidFill>
            <a:srgbClr val="4471A9"/>
          </a:solidFill>
          <a:ln/>
          <a:effectLst>
            <a:outerShdw sx="100000" sy="100000" kx="0" ky="0" algn="bl" rotWithShape="0" blurRad="50800" dist="12700" dir="8100000">
              <a:srgbClr val="000000">
                <a:alpha val="8000"/>
              </a:srgbClr>
            </a:outerShdw>
          </a:effectLst>
        </p:spPr>
      </p:sp>
      <p:sp>
        <p:nvSpPr>
          <p:cNvPr id="12" name="Text 10"/>
          <p:cNvSpPr/>
          <p:nvPr/>
        </p:nvSpPr>
        <p:spPr>
          <a:xfrm>
            <a:off x="1737360" y="1901952"/>
            <a:ext cx="5669280" cy="30175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AI / ML LAYER</a:t>
            </a:r>
            <a:endParaRPr lang="en-US" sz="1400" dirty="0"/>
          </a:p>
        </p:txBody>
      </p:sp>
      <p:sp>
        <p:nvSpPr>
          <p:cNvPr id="13" name="Text 11"/>
          <p:cNvSpPr/>
          <p:nvPr/>
        </p:nvSpPr>
        <p:spPr>
          <a:xfrm>
            <a:off x="1737360" y="2194560"/>
            <a:ext cx="5669280" cy="274320"/>
          </a:xfrm>
          <a:prstGeom prst="rect">
            <a:avLst/>
          </a:prstGeom>
          <a:noFill/>
          <a:ln/>
        </p:spPr>
        <p:txBody>
          <a:bodyPr wrap="square" lIns="0" tIns="0" rIns="0" bIns="0" rtlCol="0" anchor="ctr"/>
          <a:lstStyle/>
          <a:p>
            <a:pPr indent="0" marL="0">
              <a:buNone/>
            </a:pPr>
            <a:r>
              <a:rPr lang="en-US" sz="1100" dirty="0">
                <a:solidFill>
                  <a:srgbClr val="D0D8E8"/>
                </a:solidFill>
                <a:latin typeface="Arial" pitchFamily="34" charset="0"/>
                <a:ea typeface="Arial" pitchFamily="34" charset="-122"/>
                <a:cs typeface="Arial" pitchFamily="34" charset="-120"/>
              </a:rPr>
              <a:t>Models, fine-tuning, RAG, agents — intelligence on structured data</a:t>
            </a:r>
            <a:endParaRPr lang="en-US" sz="1100" dirty="0"/>
          </a:p>
        </p:txBody>
      </p:sp>
      <p:sp>
        <p:nvSpPr>
          <p:cNvPr id="14" name="Shape 12"/>
          <p:cNvSpPr/>
          <p:nvPr/>
        </p:nvSpPr>
        <p:spPr>
          <a:xfrm>
            <a:off x="1737360" y="2651760"/>
            <a:ext cx="5669280" cy="640080"/>
          </a:xfrm>
          <a:prstGeom prst="rect">
            <a:avLst/>
          </a:prstGeom>
          <a:solidFill>
            <a:srgbClr val="06418C"/>
          </a:solidFill>
          <a:ln/>
          <a:effectLst>
            <a:outerShdw sx="100000" sy="100000" kx="0" ky="0" algn="bl" rotWithShape="0" blurRad="50800" dist="12700" dir="8100000">
              <a:srgbClr val="000000">
                <a:alpha val="8000"/>
              </a:srgbClr>
            </a:outerShdw>
          </a:effectLst>
        </p:spPr>
      </p:sp>
      <p:sp>
        <p:nvSpPr>
          <p:cNvPr id="15" name="Text 13"/>
          <p:cNvSpPr/>
          <p:nvPr/>
        </p:nvSpPr>
        <p:spPr>
          <a:xfrm>
            <a:off x="1920240" y="2679192"/>
            <a:ext cx="5303520" cy="30175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SEMANTIC LAYER</a:t>
            </a:r>
            <a:endParaRPr lang="en-US" sz="1400" dirty="0"/>
          </a:p>
        </p:txBody>
      </p:sp>
      <p:sp>
        <p:nvSpPr>
          <p:cNvPr id="16" name="Text 14"/>
          <p:cNvSpPr/>
          <p:nvPr/>
        </p:nvSpPr>
        <p:spPr>
          <a:xfrm>
            <a:off x="1920240" y="2971800"/>
            <a:ext cx="5303520" cy="274320"/>
          </a:xfrm>
          <a:prstGeom prst="rect">
            <a:avLst/>
          </a:prstGeom>
          <a:noFill/>
          <a:ln/>
        </p:spPr>
        <p:txBody>
          <a:bodyPr wrap="square" lIns="0" tIns="0" rIns="0" bIns="0" rtlCol="0" anchor="ctr"/>
          <a:lstStyle/>
          <a:p>
            <a:pPr indent="0" marL="0">
              <a:buNone/>
            </a:pPr>
            <a:r>
              <a:rPr lang="en-US" sz="1100" dirty="0">
                <a:solidFill>
                  <a:srgbClr val="D0D8E8"/>
                </a:solidFill>
                <a:latin typeface="Arial" pitchFamily="34" charset="0"/>
                <a:ea typeface="Arial" pitchFamily="34" charset="-122"/>
                <a:cs typeface="Arial" pitchFamily="34" charset="-120"/>
              </a:rPr>
              <a:t>Ontology + knowledge graph — structured meaning and traceability</a:t>
            </a:r>
            <a:endParaRPr lang="en-US" sz="1100" dirty="0"/>
          </a:p>
        </p:txBody>
      </p:sp>
      <p:sp>
        <p:nvSpPr>
          <p:cNvPr id="17" name="Shape 15"/>
          <p:cNvSpPr/>
          <p:nvPr/>
        </p:nvSpPr>
        <p:spPr>
          <a:xfrm>
            <a:off x="1920240" y="3429000"/>
            <a:ext cx="5303520" cy="640080"/>
          </a:xfrm>
          <a:prstGeom prst="rect">
            <a:avLst/>
          </a:prstGeom>
          <a:solidFill>
            <a:srgbClr val="042D5E"/>
          </a:solidFill>
          <a:ln/>
          <a:effectLst>
            <a:outerShdw sx="100000" sy="100000" kx="0" ky="0" algn="bl" rotWithShape="0" blurRad="50800" dist="12700" dir="8100000">
              <a:srgbClr val="000000">
                <a:alpha val="8000"/>
              </a:srgbClr>
            </a:outerShdw>
          </a:effectLst>
        </p:spPr>
      </p:sp>
      <p:sp>
        <p:nvSpPr>
          <p:cNvPr id="18" name="Text 16"/>
          <p:cNvSpPr/>
          <p:nvPr/>
        </p:nvSpPr>
        <p:spPr>
          <a:xfrm>
            <a:off x="2103120" y="3456432"/>
            <a:ext cx="4937760" cy="30175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DATA LAYER</a:t>
            </a:r>
            <a:endParaRPr lang="en-US" sz="1400" dirty="0"/>
          </a:p>
        </p:txBody>
      </p:sp>
      <p:sp>
        <p:nvSpPr>
          <p:cNvPr id="19" name="Text 17"/>
          <p:cNvSpPr/>
          <p:nvPr/>
        </p:nvSpPr>
        <p:spPr>
          <a:xfrm>
            <a:off x="2103120" y="3749040"/>
            <a:ext cx="4937760" cy="274320"/>
          </a:xfrm>
          <a:prstGeom prst="rect">
            <a:avLst/>
          </a:prstGeom>
          <a:noFill/>
          <a:ln/>
        </p:spPr>
        <p:txBody>
          <a:bodyPr wrap="square" lIns="0" tIns="0" rIns="0" bIns="0" rtlCol="0" anchor="ctr"/>
          <a:lstStyle/>
          <a:p>
            <a:pPr indent="0" marL="0">
              <a:buNone/>
            </a:pPr>
            <a:r>
              <a:rPr lang="en-US" sz="1100" dirty="0">
                <a:solidFill>
                  <a:srgbClr val="D0D8E8"/>
                </a:solidFill>
                <a:latin typeface="Arial" pitchFamily="34" charset="0"/>
                <a:ea typeface="Arial" pitchFamily="34" charset="-122"/>
                <a:cs typeface="Arial" pitchFamily="34" charset="-120"/>
              </a:rPr>
              <a:t>Unified lakehouse — single source of truth across all functions</a:t>
            </a:r>
            <a:endParaRPr lang="en-US" sz="1100" dirty="0"/>
          </a:p>
        </p:txBody>
      </p:sp>
      <p:sp>
        <p:nvSpPr>
          <p:cNvPr id="20" name="Shape 18"/>
          <p:cNvSpPr/>
          <p:nvPr/>
        </p:nvSpPr>
        <p:spPr>
          <a:xfrm>
            <a:off x="640080" y="4343400"/>
            <a:ext cx="7863840" cy="45720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21" name="Text 19"/>
          <p:cNvSpPr/>
          <p:nvPr/>
        </p:nvSpPr>
        <p:spPr>
          <a:xfrm>
            <a:off x="822960" y="4343400"/>
            <a:ext cx="7498080" cy="457200"/>
          </a:xfrm>
          <a:prstGeom prst="rect">
            <a:avLst/>
          </a:prstGeom>
          <a:noFill/>
          <a:ln/>
        </p:spPr>
        <p:txBody>
          <a:bodyPr wrap="square" lIns="0" tIns="0" rIns="0" bIns="0" rtlCol="0" anchor="ctr"/>
          <a:lstStyle/>
          <a:p>
            <a:pPr indent="0" marL="0">
              <a:buNone/>
            </a:pPr>
            <a:r>
              <a:rPr lang="en-US" sz="1300" b="1" i="1" dirty="0">
                <a:solidFill>
                  <a:srgbClr val="06418C"/>
                </a:solidFill>
                <a:latin typeface="Arial" pitchFamily="34" charset="0"/>
                <a:ea typeface="Arial" pitchFamily="34" charset="-122"/>
                <a:cs typeface="Arial" pitchFamily="34" charset="-120"/>
              </a:rPr>
              <a:t>Most failed transformations build the application layer first and wonder why nothing scales. We build the foundation first.</a:t>
            </a:r>
            <a:endParaRPr lang="en-US" sz="13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400" b="1" dirty="0">
                <a:solidFill>
                  <a:srgbClr val="06418C"/>
                </a:solidFill>
                <a:latin typeface="Arial" pitchFamily="34" charset="0"/>
                <a:ea typeface="Arial" pitchFamily="34" charset="-122"/>
                <a:cs typeface="Arial" pitchFamily="34" charset="-120"/>
              </a:rPr>
              <a:t>How AI uses data: the strategic choices that matter.</a:t>
            </a:r>
            <a:endParaRPr lang="en-US" sz="24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21</a:t>
            </a:r>
            <a:endParaRPr lang="en-US" sz="700" dirty="0"/>
          </a:p>
        </p:txBody>
      </p:sp>
      <p:sp>
        <p:nvSpPr>
          <p:cNvPr id="8" name="Shape 6"/>
          <p:cNvSpPr/>
          <p:nvPr/>
        </p:nvSpPr>
        <p:spPr>
          <a:xfrm>
            <a:off x="640080" y="1051560"/>
            <a:ext cx="3794760" cy="14630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9" name="Shape 7"/>
          <p:cNvSpPr/>
          <p:nvPr/>
        </p:nvSpPr>
        <p:spPr>
          <a:xfrm>
            <a:off x="640080" y="1051560"/>
            <a:ext cx="1097280" cy="320040"/>
          </a:xfrm>
          <a:prstGeom prst="rect">
            <a:avLst/>
          </a:prstGeom>
          <a:solidFill>
            <a:srgbClr val="06418C"/>
          </a:solidFill>
          <a:ln/>
        </p:spPr>
      </p:sp>
      <p:sp>
        <p:nvSpPr>
          <p:cNvPr id="10" name="Text 8"/>
          <p:cNvSpPr/>
          <p:nvPr/>
        </p:nvSpPr>
        <p:spPr>
          <a:xfrm>
            <a:off x="640080" y="1051560"/>
            <a:ext cx="10972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RAG</a:t>
            </a:r>
            <a:endParaRPr lang="en-US" sz="1200" dirty="0"/>
          </a:p>
        </p:txBody>
      </p:sp>
      <p:sp>
        <p:nvSpPr>
          <p:cNvPr id="11" name="Text 9"/>
          <p:cNvSpPr/>
          <p:nvPr/>
        </p:nvSpPr>
        <p:spPr>
          <a:xfrm>
            <a:off x="777240" y="1435608"/>
            <a:ext cx="3520440" cy="365760"/>
          </a:xfrm>
          <a:prstGeom prst="rect">
            <a:avLst/>
          </a:prstGeom>
          <a:noFill/>
          <a:ln/>
        </p:spPr>
        <p:txBody>
          <a:bodyPr wrap="square" lIns="0" tIns="0" rIns="0" bIns="0" rtlCol="0" anchor="ctr"/>
          <a:lstStyle/>
          <a:p>
            <a:pPr indent="0" marL="0">
              <a:lnSpc>
                <a:spcPct val="115000"/>
              </a:lnSpc>
              <a:buNone/>
            </a:pPr>
            <a:r>
              <a:rPr lang="en-US" sz="1100" dirty="0">
                <a:solidFill>
                  <a:srgbClr val="4A4A4A"/>
                </a:solidFill>
                <a:latin typeface="Arial" pitchFamily="34" charset="0"/>
                <a:ea typeface="Arial" pitchFamily="34" charset="-122"/>
                <a:cs typeface="Arial" pitchFamily="34" charset="-120"/>
              </a:rPr>
              <a:t>AI searches your documents before answering. Pulls relevant context in real time.</a:t>
            </a:r>
            <a:endParaRPr lang="en-US" sz="1100" dirty="0"/>
          </a:p>
        </p:txBody>
      </p:sp>
      <p:sp>
        <p:nvSpPr>
          <p:cNvPr id="12" name="Text 10"/>
          <p:cNvSpPr/>
          <p:nvPr/>
        </p:nvSpPr>
        <p:spPr>
          <a:xfrm>
            <a:off x="777240" y="1828800"/>
            <a:ext cx="3520440" cy="320040"/>
          </a:xfrm>
          <a:prstGeom prst="rect">
            <a:avLst/>
          </a:prstGeom>
          <a:noFill/>
          <a:ln/>
        </p:spPr>
        <p:txBody>
          <a:bodyPr wrap="square" lIns="0" tIns="0" rIns="0" bIns="0" rtlCol="0" anchor="ctr"/>
          <a:lstStyle/>
          <a:p>
            <a:pPr indent="0" marL="0">
              <a:buNone/>
            </a:pPr>
            <a:r>
              <a:rPr lang="en-US" sz="1000" b="1" dirty="0">
                <a:solidFill>
                  <a:srgbClr val="06418C"/>
                </a:solidFill>
                <a:latin typeface="Arial" pitchFamily="34" charset="0"/>
                <a:ea typeface="Arial" pitchFamily="34" charset="-122"/>
                <a:cs typeface="Arial" pitchFamily="34" charset="-120"/>
              </a:rPr>
              <a:t xml:space="preserve">Where:  </a:t>
            </a:r>
            <a:pPr indent="0" marL="0">
              <a:buNone/>
            </a:pPr>
            <a:r>
              <a:rPr lang="en-US" sz="1000" dirty="0">
                <a:solidFill>
                  <a:srgbClr val="4A4A4A"/>
                </a:solidFill>
                <a:latin typeface="Arial" pitchFamily="34" charset="0"/>
                <a:ea typeface="Arial" pitchFamily="34" charset="-122"/>
                <a:cs typeface="Arial" pitchFamily="34" charset="-120"/>
              </a:rPr>
              <a:t>Comms, HR, legal first-pass, knowledge bases</a:t>
            </a:r>
            <a:endParaRPr lang="en-US" sz="1000" dirty="0"/>
          </a:p>
        </p:txBody>
      </p:sp>
      <p:sp>
        <p:nvSpPr>
          <p:cNvPr id="13" name="Text 11"/>
          <p:cNvSpPr/>
          <p:nvPr/>
        </p:nvSpPr>
        <p:spPr>
          <a:xfrm>
            <a:off x="777240" y="2148840"/>
            <a:ext cx="3520440" cy="274320"/>
          </a:xfrm>
          <a:prstGeom prst="rect">
            <a:avLst/>
          </a:prstGeom>
          <a:noFill/>
          <a:ln/>
        </p:spPr>
        <p:txBody>
          <a:bodyPr wrap="square" lIns="0" tIns="0" rIns="0" bIns="0" rtlCol="0" anchor="ctr"/>
          <a:lstStyle/>
          <a:p>
            <a:pPr indent="0" marL="0">
              <a:buNone/>
            </a:pPr>
            <a:r>
              <a:rPr lang="en-US" sz="1000" i="1" dirty="0">
                <a:solidFill>
                  <a:srgbClr val="9D9D9D"/>
                </a:solidFill>
                <a:latin typeface="Arial" pitchFamily="34" charset="0"/>
                <a:ea typeface="Arial" pitchFamily="34" charset="-122"/>
                <a:cs typeface="Arial" pitchFamily="34" charset="-120"/>
              </a:rPr>
              <a:t>Retrieves &amp; generates — does not create traceability</a:t>
            </a:r>
            <a:endParaRPr lang="en-US" sz="1000" dirty="0"/>
          </a:p>
        </p:txBody>
      </p:sp>
      <p:sp>
        <p:nvSpPr>
          <p:cNvPr id="14" name="Shape 12"/>
          <p:cNvSpPr/>
          <p:nvPr/>
        </p:nvSpPr>
        <p:spPr>
          <a:xfrm>
            <a:off x="4709160" y="1051560"/>
            <a:ext cx="3794760" cy="14630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5" name="Shape 13"/>
          <p:cNvSpPr/>
          <p:nvPr/>
        </p:nvSpPr>
        <p:spPr>
          <a:xfrm>
            <a:off x="4709160" y="1051560"/>
            <a:ext cx="1097280" cy="320040"/>
          </a:xfrm>
          <a:prstGeom prst="rect">
            <a:avLst/>
          </a:prstGeom>
          <a:solidFill>
            <a:srgbClr val="06418C"/>
          </a:solidFill>
          <a:ln/>
        </p:spPr>
      </p:sp>
      <p:sp>
        <p:nvSpPr>
          <p:cNvPr id="16" name="Text 14"/>
          <p:cNvSpPr/>
          <p:nvPr/>
        </p:nvSpPr>
        <p:spPr>
          <a:xfrm>
            <a:off x="4709160" y="1051560"/>
            <a:ext cx="10972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Ontology</a:t>
            </a:r>
            <a:endParaRPr lang="en-US" sz="1200" dirty="0"/>
          </a:p>
        </p:txBody>
      </p:sp>
      <p:sp>
        <p:nvSpPr>
          <p:cNvPr id="17" name="Text 15"/>
          <p:cNvSpPr/>
          <p:nvPr/>
        </p:nvSpPr>
        <p:spPr>
          <a:xfrm>
            <a:off x="4846320" y="1435608"/>
            <a:ext cx="3520440" cy="365760"/>
          </a:xfrm>
          <a:prstGeom prst="rect">
            <a:avLst/>
          </a:prstGeom>
          <a:noFill/>
          <a:ln/>
        </p:spPr>
        <p:txBody>
          <a:bodyPr wrap="square" lIns="0" tIns="0" rIns="0" bIns="0" rtlCol="0" anchor="ctr"/>
          <a:lstStyle/>
          <a:p>
            <a:pPr indent="0" marL="0">
              <a:lnSpc>
                <a:spcPct val="115000"/>
              </a:lnSpc>
              <a:buNone/>
            </a:pPr>
            <a:r>
              <a:rPr lang="en-US" sz="1100" dirty="0">
                <a:solidFill>
                  <a:srgbClr val="4A4A4A"/>
                </a:solidFill>
                <a:latin typeface="Arial" pitchFamily="34" charset="0"/>
                <a:ea typeface="Arial" pitchFamily="34" charset="-122"/>
                <a:cs typeface="Arial" pitchFamily="34" charset="-120"/>
              </a:rPr>
              <a:t>Structured map of how everything relates. A relationship engine, not a search engine.</a:t>
            </a:r>
            <a:endParaRPr lang="en-US" sz="1100" dirty="0"/>
          </a:p>
        </p:txBody>
      </p:sp>
      <p:sp>
        <p:nvSpPr>
          <p:cNvPr id="18" name="Text 16"/>
          <p:cNvSpPr/>
          <p:nvPr/>
        </p:nvSpPr>
        <p:spPr>
          <a:xfrm>
            <a:off x="4846320" y="1828800"/>
            <a:ext cx="3520440" cy="320040"/>
          </a:xfrm>
          <a:prstGeom prst="rect">
            <a:avLst/>
          </a:prstGeom>
          <a:noFill/>
          <a:ln/>
        </p:spPr>
        <p:txBody>
          <a:bodyPr wrap="square" lIns="0" tIns="0" rIns="0" bIns="0" rtlCol="0" anchor="ctr"/>
          <a:lstStyle/>
          <a:p>
            <a:pPr indent="0" marL="0">
              <a:buNone/>
            </a:pPr>
            <a:r>
              <a:rPr lang="en-US" sz="1000" b="1" dirty="0">
                <a:solidFill>
                  <a:srgbClr val="06418C"/>
                </a:solidFill>
                <a:latin typeface="Arial" pitchFamily="34" charset="0"/>
                <a:ea typeface="Arial" pitchFamily="34" charset="-122"/>
                <a:cs typeface="Arial" pitchFamily="34" charset="-120"/>
              </a:rPr>
              <a:t xml:space="preserve">Where:  </a:t>
            </a:r>
            <a:pPr indent="0" marL="0">
              <a:buNone/>
            </a:pPr>
            <a:r>
              <a:rPr lang="en-US" sz="1000" dirty="0">
                <a:solidFill>
                  <a:srgbClr val="4A4A4A"/>
                </a:solidFill>
                <a:latin typeface="Arial" pitchFamily="34" charset="0"/>
                <a:ea typeface="Arial" pitchFamily="34" charset="-122"/>
                <a:cs typeface="Arial" pitchFamily="34" charset="-120"/>
              </a:rPr>
              <a:t>R&amp;D traceability, audit, compliance, IP reuse</a:t>
            </a:r>
            <a:endParaRPr lang="en-US" sz="1000" dirty="0"/>
          </a:p>
        </p:txBody>
      </p:sp>
      <p:sp>
        <p:nvSpPr>
          <p:cNvPr id="19" name="Text 17"/>
          <p:cNvSpPr/>
          <p:nvPr/>
        </p:nvSpPr>
        <p:spPr>
          <a:xfrm>
            <a:off x="4846320" y="2148840"/>
            <a:ext cx="3520440" cy="274320"/>
          </a:xfrm>
          <a:prstGeom prst="rect">
            <a:avLst/>
          </a:prstGeom>
          <a:noFill/>
          <a:ln/>
        </p:spPr>
        <p:txBody>
          <a:bodyPr wrap="square" lIns="0" tIns="0" rIns="0" bIns="0" rtlCol="0" anchor="ctr"/>
          <a:lstStyle/>
          <a:p>
            <a:pPr indent="0" marL="0">
              <a:buNone/>
            </a:pPr>
            <a:r>
              <a:rPr lang="en-US" sz="1000" i="1" dirty="0">
                <a:solidFill>
                  <a:srgbClr val="9D9D9D"/>
                </a:solidFill>
                <a:latin typeface="Arial" pitchFamily="34" charset="0"/>
                <a:ea typeface="Arial" pitchFamily="34" charset="-122"/>
                <a:cs typeface="Arial" pitchFamily="34" charset="-120"/>
              </a:rPr>
              <a:t>Full audit-grade provenance. More efficient than RAG for structured queries.</a:t>
            </a:r>
            <a:endParaRPr lang="en-US" sz="1000" dirty="0"/>
          </a:p>
        </p:txBody>
      </p:sp>
      <p:sp>
        <p:nvSpPr>
          <p:cNvPr id="20" name="Shape 18"/>
          <p:cNvSpPr/>
          <p:nvPr/>
        </p:nvSpPr>
        <p:spPr>
          <a:xfrm>
            <a:off x="640080" y="2697480"/>
            <a:ext cx="3794760" cy="14630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1" name="Shape 19"/>
          <p:cNvSpPr/>
          <p:nvPr/>
        </p:nvSpPr>
        <p:spPr>
          <a:xfrm>
            <a:off x="640080" y="2697480"/>
            <a:ext cx="1097280" cy="320040"/>
          </a:xfrm>
          <a:prstGeom prst="rect">
            <a:avLst/>
          </a:prstGeom>
          <a:solidFill>
            <a:srgbClr val="06418C"/>
          </a:solidFill>
          <a:ln/>
        </p:spPr>
      </p:sp>
      <p:sp>
        <p:nvSpPr>
          <p:cNvPr id="22" name="Text 20"/>
          <p:cNvSpPr/>
          <p:nvPr/>
        </p:nvSpPr>
        <p:spPr>
          <a:xfrm>
            <a:off x="640080" y="2697480"/>
            <a:ext cx="10972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Fine-Tuning</a:t>
            </a:r>
            <a:endParaRPr lang="en-US" sz="1200" dirty="0"/>
          </a:p>
        </p:txBody>
      </p:sp>
      <p:sp>
        <p:nvSpPr>
          <p:cNvPr id="23" name="Text 21"/>
          <p:cNvSpPr/>
          <p:nvPr/>
        </p:nvSpPr>
        <p:spPr>
          <a:xfrm>
            <a:off x="777240" y="3081528"/>
            <a:ext cx="3520440" cy="365760"/>
          </a:xfrm>
          <a:prstGeom prst="rect">
            <a:avLst/>
          </a:prstGeom>
          <a:noFill/>
          <a:ln/>
        </p:spPr>
        <p:txBody>
          <a:bodyPr wrap="square" lIns="0" tIns="0" rIns="0" bIns="0" rtlCol="0" anchor="ctr"/>
          <a:lstStyle/>
          <a:p>
            <a:pPr indent="0" marL="0">
              <a:lnSpc>
                <a:spcPct val="115000"/>
              </a:lnSpc>
              <a:buNone/>
            </a:pPr>
            <a:r>
              <a:rPr lang="en-US" sz="1100" dirty="0">
                <a:solidFill>
                  <a:srgbClr val="4A4A4A"/>
                </a:solidFill>
                <a:latin typeface="Arial" pitchFamily="34" charset="0"/>
                <a:ea typeface="Arial" pitchFamily="34" charset="-122"/>
                <a:cs typeface="Arial" pitchFamily="34" charset="-120"/>
              </a:rPr>
              <a:t>Trains a general model on Renesas-specific data. Understands our terminology and context.</a:t>
            </a:r>
            <a:endParaRPr lang="en-US" sz="1100" dirty="0"/>
          </a:p>
        </p:txBody>
      </p:sp>
      <p:sp>
        <p:nvSpPr>
          <p:cNvPr id="24" name="Text 22"/>
          <p:cNvSpPr/>
          <p:nvPr/>
        </p:nvSpPr>
        <p:spPr>
          <a:xfrm>
            <a:off x="777240" y="3474720"/>
            <a:ext cx="3520440" cy="320040"/>
          </a:xfrm>
          <a:prstGeom prst="rect">
            <a:avLst/>
          </a:prstGeom>
          <a:noFill/>
          <a:ln/>
        </p:spPr>
        <p:txBody>
          <a:bodyPr wrap="square" lIns="0" tIns="0" rIns="0" bIns="0" rtlCol="0" anchor="ctr"/>
          <a:lstStyle/>
          <a:p>
            <a:pPr indent="0" marL="0">
              <a:buNone/>
            </a:pPr>
            <a:r>
              <a:rPr lang="en-US" sz="1000" b="1" dirty="0">
                <a:solidFill>
                  <a:srgbClr val="06418C"/>
                </a:solidFill>
                <a:latin typeface="Arial" pitchFamily="34" charset="0"/>
                <a:ea typeface="Arial" pitchFamily="34" charset="-122"/>
                <a:cs typeface="Arial" pitchFamily="34" charset="-120"/>
              </a:rPr>
              <a:t xml:space="preserve">Where:  </a:t>
            </a:r>
            <a:pPr indent="0" marL="0">
              <a:buNone/>
            </a:pPr>
            <a:r>
              <a:rPr lang="en-US" sz="1000" dirty="0">
                <a:solidFill>
                  <a:srgbClr val="4A4A4A"/>
                </a:solidFill>
                <a:latin typeface="Arial" pitchFamily="34" charset="0"/>
                <a:ea typeface="Arial" pitchFamily="34" charset="-122"/>
                <a:cs typeface="Arial" pitchFamily="34" charset="-120"/>
              </a:rPr>
              <a:t>Engineering docs, product support, internal knowledge</a:t>
            </a:r>
            <a:endParaRPr lang="en-US" sz="1000" dirty="0"/>
          </a:p>
        </p:txBody>
      </p:sp>
      <p:sp>
        <p:nvSpPr>
          <p:cNvPr id="25" name="Text 23"/>
          <p:cNvSpPr/>
          <p:nvPr/>
        </p:nvSpPr>
        <p:spPr>
          <a:xfrm>
            <a:off x="777240" y="3794760"/>
            <a:ext cx="3520440" cy="274320"/>
          </a:xfrm>
          <a:prstGeom prst="rect">
            <a:avLst/>
          </a:prstGeom>
          <a:noFill/>
          <a:ln/>
        </p:spPr>
        <p:txBody>
          <a:bodyPr wrap="square" lIns="0" tIns="0" rIns="0" bIns="0" rtlCol="0" anchor="ctr"/>
          <a:lstStyle/>
          <a:p>
            <a:pPr indent="0" marL="0">
              <a:buNone/>
            </a:pPr>
            <a:r>
              <a:rPr lang="en-US" sz="1000" i="1" dirty="0">
                <a:solidFill>
                  <a:srgbClr val="9D9D9D"/>
                </a:solidFill>
                <a:latin typeface="Arial" pitchFamily="34" charset="0"/>
                <a:ea typeface="Arial" pitchFamily="34" charset="-122"/>
                <a:cs typeface="Arial" pitchFamily="34" charset="-120"/>
              </a:rPr>
              <a:t>Renesas-specific answers, not generic ones.</a:t>
            </a:r>
            <a:endParaRPr lang="en-US" sz="1000" dirty="0"/>
          </a:p>
        </p:txBody>
      </p:sp>
      <p:sp>
        <p:nvSpPr>
          <p:cNvPr id="26" name="Shape 24"/>
          <p:cNvSpPr/>
          <p:nvPr/>
        </p:nvSpPr>
        <p:spPr>
          <a:xfrm>
            <a:off x="4709160" y="2697480"/>
            <a:ext cx="3794760" cy="14630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7" name="Shape 25"/>
          <p:cNvSpPr/>
          <p:nvPr/>
        </p:nvSpPr>
        <p:spPr>
          <a:xfrm>
            <a:off x="4709160" y="2697480"/>
            <a:ext cx="1097280" cy="320040"/>
          </a:xfrm>
          <a:prstGeom prst="rect">
            <a:avLst/>
          </a:prstGeom>
          <a:solidFill>
            <a:srgbClr val="06418C"/>
          </a:solidFill>
          <a:ln/>
        </p:spPr>
      </p:sp>
      <p:sp>
        <p:nvSpPr>
          <p:cNvPr id="28" name="Text 26"/>
          <p:cNvSpPr/>
          <p:nvPr/>
        </p:nvSpPr>
        <p:spPr>
          <a:xfrm>
            <a:off x="4709160" y="2697480"/>
            <a:ext cx="10972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Agentic AI</a:t>
            </a:r>
            <a:endParaRPr lang="en-US" sz="1200" dirty="0"/>
          </a:p>
        </p:txBody>
      </p:sp>
      <p:sp>
        <p:nvSpPr>
          <p:cNvPr id="29" name="Text 27"/>
          <p:cNvSpPr/>
          <p:nvPr/>
        </p:nvSpPr>
        <p:spPr>
          <a:xfrm>
            <a:off x="4846320" y="3081528"/>
            <a:ext cx="3520440" cy="365760"/>
          </a:xfrm>
          <a:prstGeom prst="rect">
            <a:avLst/>
          </a:prstGeom>
          <a:noFill/>
          <a:ln/>
        </p:spPr>
        <p:txBody>
          <a:bodyPr wrap="square" lIns="0" tIns="0" rIns="0" bIns="0" rtlCol="0" anchor="ctr"/>
          <a:lstStyle/>
          <a:p>
            <a:pPr indent="0" marL="0">
              <a:lnSpc>
                <a:spcPct val="115000"/>
              </a:lnSpc>
              <a:buNone/>
            </a:pPr>
            <a:r>
              <a:rPr lang="en-US" sz="1100" dirty="0">
                <a:solidFill>
                  <a:srgbClr val="4A4A4A"/>
                </a:solidFill>
                <a:latin typeface="Arial" pitchFamily="34" charset="0"/>
                <a:ea typeface="Arial" pitchFamily="34" charset="-122"/>
                <a:cs typeface="Arial" pitchFamily="34" charset="-120"/>
              </a:rPr>
              <a:t>AI that takes multi-step actions autonomously — not just answering, but executing.</a:t>
            </a:r>
            <a:endParaRPr lang="en-US" sz="1100" dirty="0"/>
          </a:p>
        </p:txBody>
      </p:sp>
      <p:sp>
        <p:nvSpPr>
          <p:cNvPr id="30" name="Text 28"/>
          <p:cNvSpPr/>
          <p:nvPr/>
        </p:nvSpPr>
        <p:spPr>
          <a:xfrm>
            <a:off x="4846320" y="3474720"/>
            <a:ext cx="3520440" cy="320040"/>
          </a:xfrm>
          <a:prstGeom prst="rect">
            <a:avLst/>
          </a:prstGeom>
          <a:noFill/>
          <a:ln/>
        </p:spPr>
        <p:txBody>
          <a:bodyPr wrap="square" lIns="0" tIns="0" rIns="0" bIns="0" rtlCol="0" anchor="ctr"/>
          <a:lstStyle/>
          <a:p>
            <a:pPr indent="0" marL="0">
              <a:buNone/>
            </a:pPr>
            <a:r>
              <a:rPr lang="en-US" sz="1000" b="1" dirty="0">
                <a:solidFill>
                  <a:srgbClr val="06418C"/>
                </a:solidFill>
                <a:latin typeface="Arial" pitchFamily="34" charset="0"/>
                <a:ea typeface="Arial" pitchFamily="34" charset="-122"/>
                <a:cs typeface="Arial" pitchFamily="34" charset="-120"/>
              </a:rPr>
              <a:t xml:space="preserve">Where:  </a:t>
            </a:r>
            <a:pPr indent="0" marL="0">
              <a:buNone/>
            </a:pPr>
            <a:r>
              <a:rPr lang="en-US" sz="1000" dirty="0">
                <a:solidFill>
                  <a:srgbClr val="4A4A4A"/>
                </a:solidFill>
                <a:latin typeface="Arial" pitchFamily="34" charset="0"/>
                <a:ea typeface="Arial" pitchFamily="34" charset="-122"/>
                <a:cs typeface="Arial" pitchFamily="34" charset="-120"/>
              </a:rPr>
              <a:t>Supply chain monitoring, compliance, design review</a:t>
            </a:r>
            <a:endParaRPr lang="en-US" sz="1000" dirty="0"/>
          </a:p>
        </p:txBody>
      </p:sp>
      <p:sp>
        <p:nvSpPr>
          <p:cNvPr id="31" name="Text 29"/>
          <p:cNvSpPr/>
          <p:nvPr/>
        </p:nvSpPr>
        <p:spPr>
          <a:xfrm>
            <a:off x="4846320" y="3794760"/>
            <a:ext cx="3520440" cy="274320"/>
          </a:xfrm>
          <a:prstGeom prst="rect">
            <a:avLst/>
          </a:prstGeom>
          <a:noFill/>
          <a:ln/>
        </p:spPr>
        <p:txBody>
          <a:bodyPr wrap="square" lIns="0" tIns="0" rIns="0" bIns="0" rtlCol="0" anchor="ctr"/>
          <a:lstStyle/>
          <a:p>
            <a:pPr indent="0" marL="0">
              <a:buNone/>
            </a:pPr>
            <a:r>
              <a:rPr lang="en-US" sz="1000" i="1" dirty="0">
                <a:solidFill>
                  <a:srgbClr val="9D9D9D"/>
                </a:solidFill>
                <a:latin typeface="Arial" pitchFamily="34" charset="0"/>
                <a:ea typeface="Arial" pitchFamily="34" charset="-122"/>
                <a:cs typeface="Arial" pitchFamily="34" charset="-120"/>
              </a:rPr>
              <a:t>Phase 2-3 capability built on Phase 1 foundations.</a:t>
            </a:r>
            <a:endParaRPr lang="en-US" sz="1000"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Not every problem needs the same AI approach.</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22</a:t>
            </a:r>
            <a:endParaRPr lang="en-US" sz="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051560"/>
          <a:ext cx="7863840" cy="914400"/>
        </p:xfrm>
        <a:graphic>
          <a:graphicData uri="http://schemas.openxmlformats.org/drawingml/2006/table">
            <a:tbl>
              <a:tblPr/>
              <a:tblGrid>
                <a:gridCol w="3200400"/>
                <a:gridCol w="2331720"/>
                <a:gridCol w="2331720"/>
              </a:tblGrid>
              <a:tr h="347472">
                <a:tc>
                  <a:txBody>
                    <a:bodyPr/>
                    <a:lstStyle/>
                    <a:p>
                      <a:pPr indent="0" marL="0">
                        <a:buNone/>
                      </a:pPr>
                      <a:r>
                        <a:rPr lang="en-US" sz="1200" b="1" dirty="0">
                          <a:solidFill>
                            <a:srgbClr val="FFFFFF"/>
                          </a:solidFill>
                          <a:latin typeface="Arial" pitchFamily="34" charset="0"/>
                          <a:ea typeface="Arial" pitchFamily="34" charset="-122"/>
                          <a:cs typeface="Arial" pitchFamily="34" charset="-120"/>
                        </a:rPr>
                        <a:t>Use Case</a:t>
                      </a:r>
                      <a:endParaRPr lang="en-US" sz="12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6418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RAG</a:t>
                      </a:r>
                      <a:endParaRPr lang="en-US" sz="12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6418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Ontology</a:t>
                      </a:r>
                      <a:endParaRPr lang="en-US" sz="12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6418C"/>
                    </a:solidFill>
                  </a:tcPr>
                </a:tc>
              </a:tr>
              <a:tr h="347472">
                <a:tc>
                  <a:txBody>
                    <a:bodyPr/>
                    <a:lstStyle/>
                    <a:p>
                      <a:pPr indent="0" marL="0">
                        <a:buNone/>
                      </a:pPr>
                      <a:r>
                        <a:rPr lang="en-US" sz="1100" dirty="0">
                          <a:solidFill>
                            <a:srgbClr val="000000"/>
                          </a:solidFill>
                          <a:latin typeface="Arial" pitchFamily="34" charset="0"/>
                          <a:ea typeface="Arial" pitchFamily="34" charset="-122"/>
                          <a:cs typeface="Arial" pitchFamily="34" charset="-120"/>
                        </a:rPr>
                        <a:t>Communications &amp; content</a:t>
                      </a:r>
                      <a:endParaRPr lang="en-US" sz="11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100" b="1" dirty="0">
                          <a:solidFill>
                            <a:srgbClr val="669933"/>
                          </a:solidFill>
                          <a:latin typeface="Arial" pitchFamily="34" charset="0"/>
                          <a:ea typeface="Arial" pitchFamily="34" charset="-122"/>
                          <a:cs typeface="Arial" pitchFamily="34" charset="-120"/>
                        </a:rPr>
                        <a:t>✓ Best fit</a:t>
                      </a:r>
                      <a:endParaRPr lang="en-US" sz="11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100" dirty="0">
                          <a:solidFill>
                            <a:srgbClr val="9D9D9D"/>
                          </a:solidFill>
                          <a:latin typeface="Arial" pitchFamily="34" charset="0"/>
                          <a:ea typeface="Arial" pitchFamily="34" charset="-122"/>
                          <a:cs typeface="Arial" pitchFamily="34" charset="-120"/>
                        </a:rPr>
                        <a:t>Overkill</a:t>
                      </a:r>
                      <a:endParaRPr lang="en-US" sz="11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Arial" pitchFamily="34" charset="0"/>
                          <a:ea typeface="Arial" pitchFamily="34" charset="-122"/>
                          <a:cs typeface="Arial" pitchFamily="34" charset="-120"/>
                        </a:rPr>
                        <a:t>Legal — first pass review</a:t>
                      </a:r>
                      <a:endParaRPr lang="en-US" sz="11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100" b="1" dirty="0">
                          <a:solidFill>
                            <a:srgbClr val="669933"/>
                          </a:solidFill>
                          <a:latin typeface="Arial" pitchFamily="34" charset="0"/>
                          <a:ea typeface="Arial" pitchFamily="34" charset="-122"/>
                          <a:cs typeface="Arial" pitchFamily="34" charset="-120"/>
                        </a:rPr>
                        <a:t>✓ Good</a:t>
                      </a:r>
                      <a:endParaRPr lang="en-US" sz="11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100" dirty="0">
                          <a:solidFill>
                            <a:srgbClr val="9D9D9D"/>
                          </a:solidFill>
                          <a:latin typeface="Arial" pitchFamily="34" charset="0"/>
                          <a:ea typeface="Arial" pitchFamily="34" charset="-122"/>
                          <a:cs typeface="Arial" pitchFamily="34" charset="-120"/>
                        </a:rPr>
                        <a:t>Not needed</a:t>
                      </a:r>
                      <a:endParaRPr lang="en-US" sz="11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Arial" pitchFamily="34" charset="0"/>
                          <a:ea typeface="Arial" pitchFamily="34" charset="-122"/>
                          <a:cs typeface="Arial" pitchFamily="34" charset="-120"/>
                        </a:rPr>
                        <a:t>Legal — regulatory compliance</a:t>
                      </a:r>
                      <a:endParaRPr lang="en-US" sz="11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100" dirty="0">
                          <a:solidFill>
                            <a:srgbClr val="D70000"/>
                          </a:solidFill>
                          <a:latin typeface="Arial" pitchFamily="34" charset="0"/>
                          <a:ea typeface="Arial" pitchFamily="34" charset="-122"/>
                          <a:cs typeface="Arial" pitchFamily="34" charset="-120"/>
                        </a:rPr>
                        <a:t>✗ Insufficient</a:t>
                      </a:r>
                      <a:endParaRPr lang="en-US" sz="11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100" b="1" dirty="0">
                          <a:solidFill>
                            <a:srgbClr val="669933"/>
                          </a:solidFill>
                          <a:latin typeface="Arial" pitchFamily="34" charset="0"/>
                          <a:ea typeface="Arial" pitchFamily="34" charset="-122"/>
                          <a:cs typeface="Arial" pitchFamily="34" charset="-120"/>
                        </a:rPr>
                        <a:t>✓ Required</a:t>
                      </a:r>
                      <a:endParaRPr lang="en-US" sz="11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Arial" pitchFamily="34" charset="0"/>
                          <a:ea typeface="Arial" pitchFamily="34" charset="-122"/>
                          <a:cs typeface="Arial" pitchFamily="34" charset="-120"/>
                        </a:rPr>
                        <a:t>R&amp;D design traceability</a:t>
                      </a:r>
                      <a:endParaRPr lang="en-US" sz="11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100" dirty="0">
                          <a:solidFill>
                            <a:srgbClr val="D70000"/>
                          </a:solidFill>
                          <a:latin typeface="Arial" pitchFamily="34" charset="0"/>
                          <a:ea typeface="Arial" pitchFamily="34" charset="-122"/>
                          <a:cs typeface="Arial" pitchFamily="34" charset="-120"/>
                        </a:rPr>
                        <a:t>✗ Cannot prove chain</a:t>
                      </a:r>
                      <a:endParaRPr lang="en-US" sz="11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100" b="1" dirty="0">
                          <a:solidFill>
                            <a:srgbClr val="669933"/>
                          </a:solidFill>
                          <a:latin typeface="Arial" pitchFamily="34" charset="0"/>
                          <a:ea typeface="Arial" pitchFamily="34" charset="-122"/>
                          <a:cs typeface="Arial" pitchFamily="34" charset="-120"/>
                        </a:rPr>
                        <a:t>✓ Required</a:t>
                      </a:r>
                      <a:endParaRPr lang="en-US" sz="11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Arial" pitchFamily="34" charset="0"/>
                          <a:ea typeface="Arial" pitchFamily="34" charset="-122"/>
                          <a:cs typeface="Arial" pitchFamily="34" charset="-120"/>
                        </a:rPr>
                        <a:t>Audit trail / regulatory proof</a:t>
                      </a:r>
                      <a:endParaRPr lang="en-US" sz="11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100" dirty="0">
                          <a:solidFill>
                            <a:srgbClr val="D70000"/>
                          </a:solidFill>
                          <a:latin typeface="Arial" pitchFamily="34" charset="0"/>
                          <a:ea typeface="Arial" pitchFamily="34" charset="-122"/>
                          <a:cs typeface="Arial" pitchFamily="34" charset="-120"/>
                        </a:rPr>
                        <a:t>✗ Not auditable</a:t>
                      </a:r>
                      <a:endParaRPr lang="en-US" sz="11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100" b="1" dirty="0">
                          <a:solidFill>
                            <a:srgbClr val="669933"/>
                          </a:solidFill>
                          <a:latin typeface="Arial" pitchFamily="34" charset="0"/>
                          <a:ea typeface="Arial" pitchFamily="34" charset="-122"/>
                          <a:cs typeface="Arial" pitchFamily="34" charset="-120"/>
                        </a:rPr>
                        <a:t>✓ Required</a:t>
                      </a:r>
                      <a:endParaRPr lang="en-US" sz="11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Arial" pitchFamily="34" charset="0"/>
                          <a:ea typeface="Arial" pitchFamily="34" charset="-122"/>
                          <a:cs typeface="Arial" pitchFamily="34" charset="-120"/>
                        </a:rPr>
                        <a:t>Customer knowledge base</a:t>
                      </a:r>
                      <a:endParaRPr lang="en-US" sz="11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100" b="1" dirty="0">
                          <a:solidFill>
                            <a:srgbClr val="669933"/>
                          </a:solidFill>
                          <a:latin typeface="Arial" pitchFamily="34" charset="0"/>
                          <a:ea typeface="Arial" pitchFamily="34" charset="-122"/>
                          <a:cs typeface="Arial" pitchFamily="34" charset="-120"/>
                        </a:rPr>
                        <a:t>✓ Good fit</a:t>
                      </a:r>
                      <a:endParaRPr lang="en-US" sz="11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100" dirty="0">
                          <a:solidFill>
                            <a:srgbClr val="9D9D9D"/>
                          </a:solidFill>
                          <a:latin typeface="Arial" pitchFamily="34" charset="0"/>
                          <a:ea typeface="Arial" pitchFamily="34" charset="-122"/>
                          <a:cs typeface="Arial" pitchFamily="34" charset="-120"/>
                        </a:rPr>
                        <a:t>Optional</a:t>
                      </a:r>
                      <a:endParaRPr lang="en-US" sz="11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47472">
                <a:tc>
                  <a:txBody>
                    <a:bodyPr/>
                    <a:lstStyle/>
                    <a:p>
                      <a:pPr indent="0" marL="0">
                        <a:buNone/>
                      </a:pPr>
                      <a:r>
                        <a:rPr lang="en-US" sz="1100" dirty="0">
                          <a:solidFill>
                            <a:srgbClr val="000000"/>
                          </a:solidFill>
                          <a:latin typeface="Arial" pitchFamily="34" charset="0"/>
                          <a:ea typeface="Arial" pitchFamily="34" charset="-122"/>
                          <a:cs typeface="Arial" pitchFamily="34" charset="-120"/>
                        </a:rPr>
                        <a:t>IP reuse across portfolio</a:t>
                      </a:r>
                      <a:endParaRPr lang="en-US" sz="11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100" dirty="0">
                          <a:solidFill>
                            <a:srgbClr val="FFC800"/>
                          </a:solidFill>
                          <a:latin typeface="Arial" pitchFamily="34" charset="0"/>
                          <a:ea typeface="Arial" pitchFamily="34" charset="-122"/>
                          <a:cs typeface="Arial" pitchFamily="34" charset="-120"/>
                        </a:rPr>
                        <a:t>Partial (search)</a:t>
                      </a:r>
                      <a:endParaRPr lang="en-US" sz="11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100" b="1" dirty="0">
                          <a:solidFill>
                            <a:srgbClr val="669933"/>
                          </a:solidFill>
                          <a:latin typeface="Arial" pitchFamily="34" charset="0"/>
                          <a:ea typeface="Arial" pitchFamily="34" charset="-122"/>
                          <a:cs typeface="Arial" pitchFamily="34" charset="-120"/>
                        </a:rPr>
                        <a:t>✓ Full context</a:t>
                      </a:r>
                      <a:endParaRPr lang="en-US" sz="11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bl>
          </a:graphicData>
        </a:graphic>
      </p:graphicFrame>
      <p:sp>
        <p:nvSpPr>
          <p:cNvPr id="9" name="Shape 6"/>
          <p:cNvSpPr/>
          <p:nvPr/>
        </p:nvSpPr>
        <p:spPr>
          <a:xfrm>
            <a:off x="640080" y="4114800"/>
            <a:ext cx="7863840" cy="45720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10" name="Text 7"/>
          <p:cNvSpPr/>
          <p:nvPr/>
        </p:nvSpPr>
        <p:spPr>
          <a:xfrm>
            <a:off x="822960" y="4114800"/>
            <a:ext cx="7498080" cy="457200"/>
          </a:xfrm>
          <a:prstGeom prst="rect">
            <a:avLst/>
          </a:prstGeom>
          <a:noFill/>
          <a:ln/>
        </p:spPr>
        <p:txBody>
          <a:bodyPr wrap="square" lIns="0" tIns="0" rIns="0" bIns="0" rtlCol="0" anchor="ctr"/>
          <a:lstStyle/>
          <a:p>
            <a:pPr indent="0" marL="0">
              <a:buNone/>
            </a:pPr>
            <a:r>
              <a:rPr lang="en-US" sz="1300" b="1" i="1" dirty="0">
                <a:solidFill>
                  <a:srgbClr val="06418C"/>
                </a:solidFill>
                <a:latin typeface="Arial" pitchFamily="34" charset="0"/>
                <a:ea typeface="Arial" pitchFamily="34" charset="-122"/>
                <a:cs typeface="Arial" pitchFamily="34" charset="-120"/>
              </a:rPr>
              <a:t>RAG is great for finding. Ontology is required for knowing — and for proving what you know.</a:t>
            </a:r>
            <a:endParaRPr lang="en-US" sz="130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One platform for data, AI, and intelligence.</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23</a:t>
            </a:r>
            <a:endParaRPr lang="en-US" sz="700" dirty="0"/>
          </a:p>
        </p:txBody>
      </p:sp>
      <p:sp>
        <p:nvSpPr>
          <p:cNvPr id="8" name="Shape 6"/>
          <p:cNvSpPr/>
          <p:nvPr/>
        </p:nvSpPr>
        <p:spPr>
          <a:xfrm>
            <a:off x="3200400" y="1463040"/>
            <a:ext cx="2743200" cy="1645920"/>
          </a:xfrm>
          <a:prstGeom prst="ellipse">
            <a:avLst/>
          </a:prstGeom>
          <a:solidFill>
            <a:srgbClr val="06418C"/>
          </a:solidFill>
          <a:ln/>
          <a:effectLst>
            <a:outerShdw sx="100000" sy="100000" kx="0" ky="0" algn="bl" rotWithShape="0" blurRad="101600" dist="25400" dir="8100000">
              <a:srgbClr val="000000">
                <a:alpha val="12000"/>
              </a:srgbClr>
            </a:outerShdw>
          </a:effectLst>
        </p:spPr>
      </p:sp>
      <p:sp>
        <p:nvSpPr>
          <p:cNvPr id="9" name="Text 7"/>
          <p:cNvSpPr/>
          <p:nvPr/>
        </p:nvSpPr>
        <p:spPr>
          <a:xfrm>
            <a:off x="3200400" y="1645920"/>
            <a:ext cx="274320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UNIFIED</a:t>
            </a:r>
            <a:endParaRPr lang="en-US" sz="1600" dirty="0"/>
          </a:p>
          <a:p>
            <a:pPr algn="ctr" indent="0" marL="0">
              <a:buNone/>
            </a:pPr>
            <a:r>
              <a:rPr lang="en-US" sz="1600" b="1" dirty="0">
                <a:solidFill>
                  <a:srgbClr val="FFFFFF"/>
                </a:solidFill>
                <a:latin typeface="Arial" pitchFamily="34" charset="0"/>
                <a:ea typeface="Arial" pitchFamily="34" charset="-122"/>
                <a:cs typeface="Arial" pitchFamily="34" charset="-120"/>
              </a:rPr>
              <a:t>DATA PLATFORM</a:t>
            </a:r>
            <a:endParaRPr lang="en-US" sz="1600" dirty="0"/>
          </a:p>
        </p:txBody>
      </p:sp>
      <p:sp>
        <p:nvSpPr>
          <p:cNvPr id="10" name="Text 8"/>
          <p:cNvSpPr/>
          <p:nvPr/>
        </p:nvSpPr>
        <p:spPr>
          <a:xfrm>
            <a:off x="3291840" y="2514600"/>
            <a:ext cx="2560320" cy="548640"/>
          </a:xfrm>
          <a:prstGeom prst="rect">
            <a:avLst/>
          </a:prstGeom>
          <a:noFill/>
          <a:ln/>
        </p:spPr>
        <p:txBody>
          <a:bodyPr wrap="square" lIns="0" tIns="0" rIns="0" bIns="0" rtlCol="0" anchor="ctr"/>
          <a:lstStyle/>
          <a:p>
            <a:pPr algn="ctr" indent="0" marL="0">
              <a:buNone/>
            </a:pPr>
            <a:r>
              <a:rPr lang="en-US" sz="900" dirty="0">
                <a:solidFill>
                  <a:srgbClr val="B0C4DE"/>
                </a:solidFill>
                <a:latin typeface="Arial" pitchFamily="34" charset="0"/>
                <a:ea typeface="Arial" pitchFamily="34" charset="-122"/>
                <a:cs typeface="Arial" pitchFamily="34" charset="-120"/>
              </a:rPr>
              <a:t>Single governed layer →</a:t>
            </a:r>
            <a:endParaRPr lang="en-US" sz="900" dirty="0"/>
          </a:p>
          <a:p>
            <a:pPr algn="ctr" indent="0" marL="0">
              <a:buNone/>
            </a:pPr>
            <a:r>
              <a:rPr lang="en-US" sz="900" dirty="0">
                <a:solidFill>
                  <a:srgbClr val="B0C4DE"/>
                </a:solidFill>
                <a:latin typeface="Arial" pitchFamily="34" charset="0"/>
                <a:ea typeface="Arial" pitchFamily="34" charset="-122"/>
                <a:cs typeface="Arial" pitchFamily="34" charset="-120"/>
              </a:rPr>
              <a:t>ML training → Inference →</a:t>
            </a:r>
            <a:endParaRPr lang="en-US" sz="900" dirty="0"/>
          </a:p>
          <a:p>
            <a:pPr algn="ctr" indent="0" marL="0">
              <a:buNone/>
            </a:pPr>
            <a:r>
              <a:rPr lang="en-US" sz="900" dirty="0">
                <a:solidFill>
                  <a:srgbClr val="B0C4DE"/>
                </a:solidFill>
                <a:latin typeface="Arial" pitchFamily="34" charset="0"/>
                <a:ea typeface="Arial" pitchFamily="34" charset="-122"/>
                <a:cs typeface="Arial" pitchFamily="34" charset="-120"/>
              </a:rPr>
              <a:t>Feedback loop</a:t>
            </a:r>
            <a:endParaRPr lang="en-US" sz="900" dirty="0"/>
          </a:p>
        </p:txBody>
      </p:sp>
      <p:sp>
        <p:nvSpPr>
          <p:cNvPr id="11" name="Shape 9"/>
          <p:cNvSpPr/>
          <p:nvPr/>
        </p:nvSpPr>
        <p:spPr>
          <a:xfrm>
            <a:off x="457200" y="822960"/>
            <a:ext cx="2103120" cy="54864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12" name="Text 10"/>
          <p:cNvSpPr/>
          <p:nvPr/>
        </p:nvSpPr>
        <p:spPr>
          <a:xfrm>
            <a:off x="457200" y="822960"/>
            <a:ext cx="2103120" cy="548640"/>
          </a:xfrm>
          <a:prstGeom prst="rect">
            <a:avLst/>
          </a:prstGeom>
          <a:noFill/>
          <a:ln/>
        </p:spPr>
        <p:txBody>
          <a:bodyPr wrap="square" rtlCol="0" anchor="ctr"/>
          <a:lstStyle/>
          <a:p>
            <a:pPr algn="ctr" indent="0" marL="0">
              <a:buNone/>
            </a:pPr>
            <a:r>
              <a:rPr lang="en-US" sz="1200" b="1" dirty="0">
                <a:solidFill>
                  <a:srgbClr val="06418C"/>
                </a:solidFill>
                <a:latin typeface="Arial" pitchFamily="34" charset="0"/>
                <a:ea typeface="Arial" pitchFamily="34" charset="-122"/>
                <a:cs typeface="Arial" pitchFamily="34" charset="-120"/>
              </a:rPr>
              <a:t>ERP / Finance</a:t>
            </a:r>
            <a:endParaRPr lang="en-US" sz="1200" dirty="0"/>
          </a:p>
        </p:txBody>
      </p:sp>
      <p:sp>
        <p:nvSpPr>
          <p:cNvPr id="13" name="Shape 11"/>
          <p:cNvSpPr/>
          <p:nvPr/>
        </p:nvSpPr>
        <p:spPr>
          <a:xfrm>
            <a:off x="2560320" y="1097280"/>
            <a:ext cx="640080" cy="0"/>
          </a:xfrm>
          <a:prstGeom prst="line">
            <a:avLst/>
          </a:prstGeom>
          <a:noFill/>
          <a:ln w="19050">
            <a:solidFill>
              <a:srgbClr val="4471A9"/>
            </a:solidFill>
            <a:prstDash val="dash"/>
          </a:ln>
        </p:spPr>
      </p:sp>
      <p:sp>
        <p:nvSpPr>
          <p:cNvPr id="14" name="Shape 12"/>
          <p:cNvSpPr/>
          <p:nvPr/>
        </p:nvSpPr>
        <p:spPr>
          <a:xfrm>
            <a:off x="457200" y="1920240"/>
            <a:ext cx="2103120" cy="54864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15" name="Text 13"/>
          <p:cNvSpPr/>
          <p:nvPr/>
        </p:nvSpPr>
        <p:spPr>
          <a:xfrm>
            <a:off x="457200" y="1920240"/>
            <a:ext cx="2103120" cy="548640"/>
          </a:xfrm>
          <a:prstGeom prst="rect">
            <a:avLst/>
          </a:prstGeom>
          <a:noFill/>
          <a:ln/>
        </p:spPr>
        <p:txBody>
          <a:bodyPr wrap="square" rtlCol="0" anchor="ctr"/>
          <a:lstStyle/>
          <a:p>
            <a:pPr algn="ctr" indent="0" marL="0">
              <a:buNone/>
            </a:pPr>
            <a:r>
              <a:rPr lang="en-US" sz="1200" b="1" dirty="0">
                <a:solidFill>
                  <a:srgbClr val="06418C"/>
                </a:solidFill>
                <a:latin typeface="Arial" pitchFamily="34" charset="0"/>
                <a:ea typeface="Arial" pitchFamily="34" charset="-122"/>
                <a:cs typeface="Arial" pitchFamily="34" charset="-120"/>
              </a:rPr>
              <a:t>PLM / Engineering</a:t>
            </a:r>
            <a:endParaRPr lang="en-US" sz="1200" dirty="0"/>
          </a:p>
        </p:txBody>
      </p:sp>
      <p:sp>
        <p:nvSpPr>
          <p:cNvPr id="16" name="Shape 14"/>
          <p:cNvSpPr/>
          <p:nvPr/>
        </p:nvSpPr>
        <p:spPr>
          <a:xfrm>
            <a:off x="2560320" y="2194560"/>
            <a:ext cx="640080" cy="0"/>
          </a:xfrm>
          <a:prstGeom prst="line">
            <a:avLst/>
          </a:prstGeom>
          <a:noFill/>
          <a:ln w="19050">
            <a:solidFill>
              <a:srgbClr val="4471A9"/>
            </a:solidFill>
            <a:prstDash val="dash"/>
          </a:ln>
        </p:spPr>
      </p:sp>
      <p:sp>
        <p:nvSpPr>
          <p:cNvPr id="17" name="Shape 15"/>
          <p:cNvSpPr/>
          <p:nvPr/>
        </p:nvSpPr>
        <p:spPr>
          <a:xfrm>
            <a:off x="457200" y="3017520"/>
            <a:ext cx="2103120" cy="54864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18" name="Text 16"/>
          <p:cNvSpPr/>
          <p:nvPr/>
        </p:nvSpPr>
        <p:spPr>
          <a:xfrm>
            <a:off x="457200" y="3017520"/>
            <a:ext cx="2103120" cy="548640"/>
          </a:xfrm>
          <a:prstGeom prst="rect">
            <a:avLst/>
          </a:prstGeom>
          <a:noFill/>
          <a:ln/>
        </p:spPr>
        <p:txBody>
          <a:bodyPr wrap="square" rtlCol="0" anchor="ctr"/>
          <a:lstStyle/>
          <a:p>
            <a:pPr algn="ctr" indent="0" marL="0">
              <a:buNone/>
            </a:pPr>
            <a:r>
              <a:rPr lang="en-US" sz="1200" b="1" dirty="0">
                <a:solidFill>
                  <a:srgbClr val="06418C"/>
                </a:solidFill>
                <a:latin typeface="Arial" pitchFamily="34" charset="0"/>
                <a:ea typeface="Arial" pitchFamily="34" charset="-122"/>
                <a:cs typeface="Arial" pitchFamily="34" charset="-120"/>
              </a:rPr>
              <a:t>Supply Chain</a:t>
            </a:r>
            <a:endParaRPr lang="en-US" sz="1200" dirty="0"/>
          </a:p>
        </p:txBody>
      </p:sp>
      <p:sp>
        <p:nvSpPr>
          <p:cNvPr id="19" name="Shape 17"/>
          <p:cNvSpPr/>
          <p:nvPr/>
        </p:nvSpPr>
        <p:spPr>
          <a:xfrm>
            <a:off x="2560320" y="3291840"/>
            <a:ext cx="640080" cy="0"/>
          </a:xfrm>
          <a:prstGeom prst="line">
            <a:avLst/>
          </a:prstGeom>
          <a:noFill/>
          <a:ln w="19050">
            <a:solidFill>
              <a:srgbClr val="4471A9"/>
            </a:solidFill>
            <a:prstDash val="dash"/>
          </a:ln>
        </p:spPr>
      </p:sp>
      <p:sp>
        <p:nvSpPr>
          <p:cNvPr id="20" name="Shape 18"/>
          <p:cNvSpPr/>
          <p:nvPr/>
        </p:nvSpPr>
        <p:spPr>
          <a:xfrm>
            <a:off x="6583680" y="822960"/>
            <a:ext cx="2103120" cy="54864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21" name="Text 19"/>
          <p:cNvSpPr/>
          <p:nvPr/>
        </p:nvSpPr>
        <p:spPr>
          <a:xfrm>
            <a:off x="6583680" y="822960"/>
            <a:ext cx="2103120" cy="548640"/>
          </a:xfrm>
          <a:prstGeom prst="rect">
            <a:avLst/>
          </a:prstGeom>
          <a:noFill/>
          <a:ln/>
        </p:spPr>
        <p:txBody>
          <a:bodyPr wrap="square" rtlCol="0" anchor="ctr"/>
          <a:lstStyle/>
          <a:p>
            <a:pPr algn="ctr" indent="0" marL="0">
              <a:buNone/>
            </a:pPr>
            <a:r>
              <a:rPr lang="en-US" sz="1200" b="1" dirty="0">
                <a:solidFill>
                  <a:srgbClr val="06418C"/>
                </a:solidFill>
                <a:latin typeface="Arial" pitchFamily="34" charset="0"/>
                <a:ea typeface="Arial" pitchFamily="34" charset="-122"/>
                <a:cs typeface="Arial" pitchFamily="34" charset="-120"/>
              </a:rPr>
              <a:t>Manufacturing / IoT</a:t>
            </a:r>
            <a:endParaRPr lang="en-US" sz="1200" dirty="0"/>
          </a:p>
        </p:txBody>
      </p:sp>
      <p:sp>
        <p:nvSpPr>
          <p:cNvPr id="22" name="Shape 20"/>
          <p:cNvSpPr/>
          <p:nvPr/>
        </p:nvSpPr>
        <p:spPr>
          <a:xfrm>
            <a:off x="5943600" y="1097280"/>
            <a:ext cx="640080" cy="0"/>
          </a:xfrm>
          <a:prstGeom prst="line">
            <a:avLst/>
          </a:prstGeom>
          <a:noFill/>
          <a:ln w="19050">
            <a:solidFill>
              <a:srgbClr val="4471A9"/>
            </a:solidFill>
            <a:prstDash val="dash"/>
          </a:ln>
        </p:spPr>
      </p:sp>
      <p:sp>
        <p:nvSpPr>
          <p:cNvPr id="23" name="Shape 21"/>
          <p:cNvSpPr/>
          <p:nvPr/>
        </p:nvSpPr>
        <p:spPr>
          <a:xfrm>
            <a:off x="6583680" y="1920240"/>
            <a:ext cx="2103120" cy="54864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24" name="Text 22"/>
          <p:cNvSpPr/>
          <p:nvPr/>
        </p:nvSpPr>
        <p:spPr>
          <a:xfrm>
            <a:off x="6583680" y="1920240"/>
            <a:ext cx="2103120" cy="548640"/>
          </a:xfrm>
          <a:prstGeom prst="rect">
            <a:avLst/>
          </a:prstGeom>
          <a:noFill/>
          <a:ln/>
        </p:spPr>
        <p:txBody>
          <a:bodyPr wrap="square" rtlCol="0" anchor="ctr"/>
          <a:lstStyle/>
          <a:p>
            <a:pPr algn="ctr" indent="0" marL="0">
              <a:buNone/>
            </a:pPr>
            <a:r>
              <a:rPr lang="en-US" sz="1200" b="1" dirty="0">
                <a:solidFill>
                  <a:srgbClr val="06418C"/>
                </a:solidFill>
                <a:latin typeface="Arial" pitchFamily="34" charset="0"/>
                <a:ea typeface="Arial" pitchFamily="34" charset="-122"/>
                <a:cs typeface="Arial" pitchFamily="34" charset="-120"/>
              </a:rPr>
              <a:t>CRM / Sales</a:t>
            </a:r>
            <a:endParaRPr lang="en-US" sz="1200" dirty="0"/>
          </a:p>
        </p:txBody>
      </p:sp>
      <p:sp>
        <p:nvSpPr>
          <p:cNvPr id="25" name="Shape 23"/>
          <p:cNvSpPr/>
          <p:nvPr/>
        </p:nvSpPr>
        <p:spPr>
          <a:xfrm>
            <a:off x="5943600" y="2194560"/>
            <a:ext cx="640080" cy="0"/>
          </a:xfrm>
          <a:prstGeom prst="line">
            <a:avLst/>
          </a:prstGeom>
          <a:noFill/>
          <a:ln w="19050">
            <a:solidFill>
              <a:srgbClr val="4471A9"/>
            </a:solidFill>
            <a:prstDash val="dash"/>
          </a:ln>
        </p:spPr>
      </p:sp>
      <p:sp>
        <p:nvSpPr>
          <p:cNvPr id="26" name="Shape 24"/>
          <p:cNvSpPr/>
          <p:nvPr/>
        </p:nvSpPr>
        <p:spPr>
          <a:xfrm>
            <a:off x="6583680" y="3017520"/>
            <a:ext cx="2103120" cy="54864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27" name="Text 25"/>
          <p:cNvSpPr/>
          <p:nvPr/>
        </p:nvSpPr>
        <p:spPr>
          <a:xfrm>
            <a:off x="6583680" y="3017520"/>
            <a:ext cx="2103120" cy="548640"/>
          </a:xfrm>
          <a:prstGeom prst="rect">
            <a:avLst/>
          </a:prstGeom>
          <a:noFill/>
          <a:ln/>
        </p:spPr>
        <p:txBody>
          <a:bodyPr wrap="square" rtlCol="0" anchor="ctr"/>
          <a:lstStyle/>
          <a:p>
            <a:pPr algn="ctr" indent="0" marL="0">
              <a:buNone/>
            </a:pPr>
            <a:r>
              <a:rPr lang="en-US" sz="1200" b="1" dirty="0">
                <a:solidFill>
                  <a:srgbClr val="06418C"/>
                </a:solidFill>
                <a:latin typeface="Arial" pitchFamily="34" charset="0"/>
                <a:ea typeface="Arial" pitchFamily="34" charset="-122"/>
                <a:cs typeface="Arial" pitchFamily="34" charset="-120"/>
              </a:rPr>
              <a:t>HR Data</a:t>
            </a:r>
            <a:endParaRPr lang="en-US" sz="1200" dirty="0"/>
          </a:p>
        </p:txBody>
      </p:sp>
      <p:sp>
        <p:nvSpPr>
          <p:cNvPr id="28" name="Shape 26"/>
          <p:cNvSpPr/>
          <p:nvPr/>
        </p:nvSpPr>
        <p:spPr>
          <a:xfrm>
            <a:off x="5943600" y="3291840"/>
            <a:ext cx="640080" cy="0"/>
          </a:xfrm>
          <a:prstGeom prst="line">
            <a:avLst/>
          </a:prstGeom>
          <a:noFill/>
          <a:ln w="19050">
            <a:solidFill>
              <a:srgbClr val="4471A9"/>
            </a:solidFill>
            <a:prstDash val="dash"/>
          </a:ln>
        </p:spPr>
      </p:sp>
      <p:sp>
        <p:nvSpPr>
          <p:cNvPr id="29" name="Text 27"/>
          <p:cNvSpPr/>
          <p:nvPr/>
        </p:nvSpPr>
        <p:spPr>
          <a:xfrm>
            <a:off x="1371600" y="3931920"/>
            <a:ext cx="6400800" cy="365760"/>
          </a:xfrm>
          <a:prstGeom prst="rect">
            <a:avLst/>
          </a:prstGeom>
          <a:noFill/>
          <a:ln/>
        </p:spPr>
        <p:txBody>
          <a:bodyPr wrap="square" lIns="0" tIns="0" rIns="0" bIns="0" rtlCol="0" anchor="ctr"/>
          <a:lstStyle/>
          <a:p>
            <a:pPr algn="ctr" indent="0" marL="0">
              <a:buNone/>
            </a:pPr>
            <a:r>
              <a:rPr lang="en-US" sz="1400" b="1" i="1" dirty="0">
                <a:solidFill>
                  <a:srgbClr val="06418C"/>
                </a:solidFill>
                <a:latin typeface="Arial" pitchFamily="34" charset="0"/>
                <a:ea typeface="Arial" pitchFamily="34" charset="-122"/>
                <a:cs typeface="Arial" pitchFamily="34" charset="-120"/>
              </a:rPr>
              <a:t>Data fragmentation is why most AI initiatives fail.</a:t>
            </a:r>
            <a:endParaRPr lang="en-US" sz="1400" dirty="0"/>
          </a:p>
        </p:txBody>
      </p:sp>
      <p:sp>
        <p:nvSpPr>
          <p:cNvPr id="30" name="Text 28"/>
          <p:cNvSpPr/>
          <p:nvPr/>
        </p:nvSpPr>
        <p:spPr>
          <a:xfrm>
            <a:off x="640080" y="4343400"/>
            <a:ext cx="7863840" cy="228600"/>
          </a:xfrm>
          <a:prstGeom prst="rect">
            <a:avLst/>
          </a:prstGeom>
          <a:noFill/>
          <a:ln/>
        </p:spPr>
        <p:txBody>
          <a:bodyPr wrap="square" lIns="0" tIns="0" rIns="0" bIns="0" rtlCol="0" anchor="ctr"/>
          <a:lstStyle/>
          <a:p>
            <a:pPr indent="0" marL="0">
              <a:buNone/>
            </a:pPr>
            <a:r>
              <a:rPr lang="en-US" sz="800" dirty="0">
                <a:solidFill>
                  <a:srgbClr val="9D9D9D"/>
                </a:solidFill>
                <a:latin typeface="Arial" pitchFamily="34" charset="0"/>
                <a:ea typeface="Arial" pitchFamily="34" charset="-122"/>
                <a:cs typeface="Arial" pitchFamily="34" charset="-120"/>
              </a:rPr>
              <a:t>¹ Leading candidate: Databricks. Evaluation against alternatives in progress.</a:t>
            </a:r>
            <a:endParaRPr lang="en-US" sz="8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The next wave is not better search. It's AI that works.</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24</a:t>
            </a:r>
            <a:endParaRPr lang="en-US" sz="700" dirty="0"/>
          </a:p>
        </p:txBody>
      </p:sp>
      <p:sp>
        <p:nvSpPr>
          <p:cNvPr id="8" name="Shape 6"/>
          <p:cNvSpPr/>
          <p:nvPr/>
        </p:nvSpPr>
        <p:spPr>
          <a:xfrm>
            <a:off x="457200" y="1188720"/>
            <a:ext cx="2651760" cy="2377440"/>
          </a:xfrm>
          <a:prstGeom prst="rect">
            <a:avLst/>
          </a:prstGeom>
          <a:solidFill>
            <a:srgbClr val="4471A9"/>
          </a:solidFill>
          <a:ln/>
          <a:effectLst>
            <a:outerShdw sx="100000" sy="100000" kx="0" ky="0" algn="bl" rotWithShape="0" blurRad="101600" dist="25400" dir="8100000">
              <a:srgbClr val="000000">
                <a:alpha val="12000"/>
              </a:srgbClr>
            </a:outerShdw>
          </a:effectLst>
        </p:spPr>
      </p:sp>
      <p:sp>
        <p:nvSpPr>
          <p:cNvPr id="9" name="Text 7"/>
          <p:cNvSpPr/>
          <p:nvPr/>
        </p:nvSpPr>
        <p:spPr>
          <a:xfrm>
            <a:off x="594360" y="1280160"/>
            <a:ext cx="2377440" cy="274320"/>
          </a:xfrm>
          <a:prstGeom prst="rect">
            <a:avLst/>
          </a:prstGeom>
          <a:noFill/>
          <a:ln/>
        </p:spPr>
        <p:txBody>
          <a:bodyPr wrap="square" lIns="0" tIns="0" rIns="0" bIns="0" rtlCol="0" anchor="ctr"/>
          <a:lstStyle/>
          <a:p>
            <a:pPr indent="0" marL="0">
              <a:buNone/>
            </a:pPr>
            <a:r>
              <a:rPr lang="en-US" sz="1100" dirty="0">
                <a:solidFill>
                  <a:srgbClr val="B0C4DE"/>
                </a:solidFill>
                <a:latin typeface="Arial" pitchFamily="34" charset="0"/>
                <a:ea typeface="Arial" pitchFamily="34" charset="-122"/>
                <a:cs typeface="Arial" pitchFamily="34" charset="-120"/>
              </a:rPr>
              <a:t>STAGE 1</a:t>
            </a:r>
            <a:endParaRPr lang="en-US" sz="1100" dirty="0"/>
          </a:p>
        </p:txBody>
      </p:sp>
      <p:sp>
        <p:nvSpPr>
          <p:cNvPr id="10" name="Text 8"/>
          <p:cNvSpPr/>
          <p:nvPr/>
        </p:nvSpPr>
        <p:spPr>
          <a:xfrm>
            <a:off x="594360" y="1600200"/>
            <a:ext cx="237744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AI Answers Questions</a:t>
            </a:r>
            <a:endParaRPr lang="en-US" sz="1800" dirty="0"/>
          </a:p>
        </p:txBody>
      </p:sp>
      <p:sp>
        <p:nvSpPr>
          <p:cNvPr id="11" name="Text 9"/>
          <p:cNvSpPr/>
          <p:nvPr/>
        </p:nvSpPr>
        <p:spPr>
          <a:xfrm>
            <a:off x="594360" y="2148840"/>
            <a:ext cx="2377440" cy="457200"/>
          </a:xfrm>
          <a:prstGeom prst="rect">
            <a:avLst/>
          </a:prstGeom>
          <a:noFill/>
          <a:ln/>
        </p:spPr>
        <p:txBody>
          <a:bodyPr wrap="square" lIns="0" tIns="0" rIns="0" bIns="0" rtlCol="0" anchor="ctr"/>
          <a:lstStyle/>
          <a:p>
            <a:pPr indent="0" marL="0">
              <a:lnSpc>
                <a:spcPct val="120000"/>
              </a:lnSpc>
              <a:buNone/>
            </a:pPr>
            <a:r>
              <a:rPr lang="en-US" sz="1200" dirty="0">
                <a:solidFill>
                  <a:srgbClr val="D0D8E8"/>
                </a:solidFill>
                <a:latin typeface="Arial" pitchFamily="34" charset="0"/>
                <a:ea typeface="Arial" pitchFamily="34" charset="-122"/>
                <a:cs typeface="Arial" pitchFamily="34" charset="-120"/>
              </a:rPr>
              <a:t>Knowledge retrieval, document search, Q&amp;A</a:t>
            </a:r>
            <a:endParaRPr lang="en-US" sz="1200" dirty="0"/>
          </a:p>
        </p:txBody>
      </p:sp>
      <p:sp>
        <p:nvSpPr>
          <p:cNvPr id="12" name="Shape 10"/>
          <p:cNvSpPr/>
          <p:nvPr/>
        </p:nvSpPr>
        <p:spPr>
          <a:xfrm>
            <a:off x="594360" y="3017520"/>
            <a:ext cx="914400" cy="274320"/>
          </a:xfrm>
          <a:prstGeom prst="rect">
            <a:avLst/>
          </a:prstGeom>
          <a:solidFill>
            <a:srgbClr val="993399"/>
          </a:solidFill>
          <a:ln/>
        </p:spPr>
      </p:sp>
      <p:sp>
        <p:nvSpPr>
          <p:cNvPr id="13" name="Text 11"/>
          <p:cNvSpPr/>
          <p:nvPr/>
        </p:nvSpPr>
        <p:spPr>
          <a:xfrm>
            <a:off x="594360" y="3017520"/>
            <a:ext cx="91440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Phase 1</a:t>
            </a:r>
            <a:endParaRPr lang="en-US" sz="1000" dirty="0"/>
          </a:p>
        </p:txBody>
      </p:sp>
      <p:sp>
        <p:nvSpPr>
          <p:cNvPr id="14" name="Text 12"/>
          <p:cNvSpPr/>
          <p:nvPr/>
        </p:nvSpPr>
        <p:spPr>
          <a:xfrm>
            <a:off x="3063240" y="1828800"/>
            <a:ext cx="365760" cy="731520"/>
          </a:xfrm>
          <a:prstGeom prst="rect">
            <a:avLst/>
          </a:prstGeom>
          <a:noFill/>
          <a:ln/>
        </p:spPr>
        <p:txBody>
          <a:bodyPr wrap="square" rtlCol="0" anchor="ctr"/>
          <a:lstStyle/>
          <a:p>
            <a:pPr algn="ctr" indent="0" marL="0">
              <a:buNone/>
            </a:pPr>
            <a:r>
              <a:rPr lang="en-US" sz="2800" dirty="0">
                <a:solidFill>
                  <a:srgbClr val="06418C"/>
                </a:solidFill>
                <a:latin typeface="Arial" pitchFamily="34" charset="0"/>
                <a:ea typeface="Arial" pitchFamily="34" charset="-122"/>
                <a:cs typeface="Arial" pitchFamily="34" charset="-120"/>
              </a:rPr>
              <a:t>→</a:t>
            </a:r>
            <a:endParaRPr lang="en-US" sz="2800" dirty="0"/>
          </a:p>
        </p:txBody>
      </p:sp>
      <p:sp>
        <p:nvSpPr>
          <p:cNvPr id="15" name="Shape 13"/>
          <p:cNvSpPr/>
          <p:nvPr/>
        </p:nvSpPr>
        <p:spPr>
          <a:xfrm>
            <a:off x="3337560" y="1188720"/>
            <a:ext cx="2651760" cy="2377440"/>
          </a:xfrm>
          <a:prstGeom prst="rect">
            <a:avLst/>
          </a:prstGeom>
          <a:solidFill>
            <a:srgbClr val="06418C"/>
          </a:solidFill>
          <a:ln/>
          <a:effectLst>
            <a:outerShdw sx="100000" sy="100000" kx="0" ky="0" algn="bl" rotWithShape="0" blurRad="101600" dist="25400" dir="8100000">
              <a:srgbClr val="000000">
                <a:alpha val="12000"/>
              </a:srgbClr>
            </a:outerShdw>
          </a:effectLst>
        </p:spPr>
      </p:sp>
      <p:sp>
        <p:nvSpPr>
          <p:cNvPr id="16" name="Text 14"/>
          <p:cNvSpPr/>
          <p:nvPr/>
        </p:nvSpPr>
        <p:spPr>
          <a:xfrm>
            <a:off x="3474720" y="1280160"/>
            <a:ext cx="2377440" cy="274320"/>
          </a:xfrm>
          <a:prstGeom prst="rect">
            <a:avLst/>
          </a:prstGeom>
          <a:noFill/>
          <a:ln/>
        </p:spPr>
        <p:txBody>
          <a:bodyPr wrap="square" lIns="0" tIns="0" rIns="0" bIns="0" rtlCol="0" anchor="ctr"/>
          <a:lstStyle/>
          <a:p>
            <a:pPr indent="0" marL="0">
              <a:buNone/>
            </a:pPr>
            <a:r>
              <a:rPr lang="en-US" sz="1100" dirty="0">
                <a:solidFill>
                  <a:srgbClr val="B0C4DE"/>
                </a:solidFill>
                <a:latin typeface="Arial" pitchFamily="34" charset="0"/>
                <a:ea typeface="Arial" pitchFamily="34" charset="-122"/>
                <a:cs typeface="Arial" pitchFamily="34" charset="-120"/>
              </a:rPr>
              <a:t>STAGE 2</a:t>
            </a:r>
            <a:endParaRPr lang="en-US" sz="1100" dirty="0"/>
          </a:p>
        </p:txBody>
      </p:sp>
      <p:sp>
        <p:nvSpPr>
          <p:cNvPr id="17" name="Text 15"/>
          <p:cNvSpPr/>
          <p:nvPr/>
        </p:nvSpPr>
        <p:spPr>
          <a:xfrm>
            <a:off x="3474720" y="1600200"/>
            <a:ext cx="237744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AI Writes &amp; Suggests</a:t>
            </a:r>
            <a:endParaRPr lang="en-US" sz="1800" dirty="0"/>
          </a:p>
        </p:txBody>
      </p:sp>
      <p:sp>
        <p:nvSpPr>
          <p:cNvPr id="18" name="Text 16"/>
          <p:cNvSpPr/>
          <p:nvPr/>
        </p:nvSpPr>
        <p:spPr>
          <a:xfrm>
            <a:off x="3474720" y="2148840"/>
            <a:ext cx="2377440" cy="457200"/>
          </a:xfrm>
          <a:prstGeom prst="rect">
            <a:avLst/>
          </a:prstGeom>
          <a:noFill/>
          <a:ln/>
        </p:spPr>
        <p:txBody>
          <a:bodyPr wrap="square" lIns="0" tIns="0" rIns="0" bIns="0" rtlCol="0" anchor="ctr"/>
          <a:lstStyle/>
          <a:p>
            <a:pPr indent="0" marL="0">
              <a:lnSpc>
                <a:spcPct val="120000"/>
              </a:lnSpc>
              <a:buNone/>
            </a:pPr>
            <a:r>
              <a:rPr lang="en-US" sz="1200" dirty="0">
                <a:solidFill>
                  <a:srgbClr val="D0D8E8"/>
                </a:solidFill>
                <a:latin typeface="Arial" pitchFamily="34" charset="0"/>
                <a:ea typeface="Arial" pitchFamily="34" charset="-122"/>
                <a:cs typeface="Arial" pitchFamily="34" charset="-120"/>
              </a:rPr>
              <a:t>Copilots, document generation, analysis support</a:t>
            </a:r>
            <a:endParaRPr lang="en-US" sz="1200" dirty="0"/>
          </a:p>
        </p:txBody>
      </p:sp>
      <p:sp>
        <p:nvSpPr>
          <p:cNvPr id="19" name="Shape 17"/>
          <p:cNvSpPr/>
          <p:nvPr/>
        </p:nvSpPr>
        <p:spPr>
          <a:xfrm>
            <a:off x="3474720" y="3017520"/>
            <a:ext cx="914400" cy="274320"/>
          </a:xfrm>
          <a:prstGeom prst="rect">
            <a:avLst/>
          </a:prstGeom>
          <a:solidFill>
            <a:srgbClr val="993399"/>
          </a:solidFill>
          <a:ln/>
        </p:spPr>
      </p:sp>
      <p:sp>
        <p:nvSpPr>
          <p:cNvPr id="20" name="Text 18"/>
          <p:cNvSpPr/>
          <p:nvPr/>
        </p:nvSpPr>
        <p:spPr>
          <a:xfrm>
            <a:off x="3474720" y="3017520"/>
            <a:ext cx="91440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Phase 1-2</a:t>
            </a:r>
            <a:endParaRPr lang="en-US" sz="1000" dirty="0"/>
          </a:p>
        </p:txBody>
      </p:sp>
      <p:sp>
        <p:nvSpPr>
          <p:cNvPr id="21" name="Text 19"/>
          <p:cNvSpPr/>
          <p:nvPr/>
        </p:nvSpPr>
        <p:spPr>
          <a:xfrm>
            <a:off x="5943600" y="1828800"/>
            <a:ext cx="365760" cy="731520"/>
          </a:xfrm>
          <a:prstGeom prst="rect">
            <a:avLst/>
          </a:prstGeom>
          <a:noFill/>
          <a:ln/>
        </p:spPr>
        <p:txBody>
          <a:bodyPr wrap="square" rtlCol="0" anchor="ctr"/>
          <a:lstStyle/>
          <a:p>
            <a:pPr algn="ctr" indent="0" marL="0">
              <a:buNone/>
            </a:pPr>
            <a:r>
              <a:rPr lang="en-US" sz="2800" dirty="0">
                <a:solidFill>
                  <a:srgbClr val="06418C"/>
                </a:solidFill>
                <a:latin typeface="Arial" pitchFamily="34" charset="0"/>
                <a:ea typeface="Arial" pitchFamily="34" charset="-122"/>
                <a:cs typeface="Arial" pitchFamily="34" charset="-120"/>
              </a:rPr>
              <a:t>→</a:t>
            </a:r>
            <a:endParaRPr lang="en-US" sz="2800" dirty="0"/>
          </a:p>
        </p:txBody>
      </p:sp>
      <p:sp>
        <p:nvSpPr>
          <p:cNvPr id="22" name="Shape 20"/>
          <p:cNvSpPr/>
          <p:nvPr/>
        </p:nvSpPr>
        <p:spPr>
          <a:xfrm>
            <a:off x="6217920" y="1188720"/>
            <a:ext cx="2651760" cy="2377440"/>
          </a:xfrm>
          <a:prstGeom prst="rect">
            <a:avLst/>
          </a:prstGeom>
          <a:solidFill>
            <a:srgbClr val="042D5E"/>
          </a:solidFill>
          <a:ln/>
          <a:effectLst>
            <a:outerShdw sx="100000" sy="100000" kx="0" ky="0" algn="bl" rotWithShape="0" blurRad="101600" dist="25400" dir="8100000">
              <a:srgbClr val="000000">
                <a:alpha val="12000"/>
              </a:srgbClr>
            </a:outerShdw>
          </a:effectLst>
        </p:spPr>
      </p:sp>
      <p:sp>
        <p:nvSpPr>
          <p:cNvPr id="23" name="Text 21"/>
          <p:cNvSpPr/>
          <p:nvPr/>
        </p:nvSpPr>
        <p:spPr>
          <a:xfrm>
            <a:off x="6355080" y="1280160"/>
            <a:ext cx="2377440" cy="274320"/>
          </a:xfrm>
          <a:prstGeom prst="rect">
            <a:avLst/>
          </a:prstGeom>
          <a:noFill/>
          <a:ln/>
        </p:spPr>
        <p:txBody>
          <a:bodyPr wrap="square" lIns="0" tIns="0" rIns="0" bIns="0" rtlCol="0" anchor="ctr"/>
          <a:lstStyle/>
          <a:p>
            <a:pPr indent="0" marL="0">
              <a:buNone/>
            </a:pPr>
            <a:r>
              <a:rPr lang="en-US" sz="1100" dirty="0">
                <a:solidFill>
                  <a:srgbClr val="B0C4DE"/>
                </a:solidFill>
                <a:latin typeface="Arial" pitchFamily="34" charset="0"/>
                <a:ea typeface="Arial" pitchFamily="34" charset="-122"/>
                <a:cs typeface="Arial" pitchFamily="34" charset="-120"/>
              </a:rPr>
              <a:t>STAGE 3</a:t>
            </a:r>
            <a:endParaRPr lang="en-US" sz="1100" dirty="0"/>
          </a:p>
        </p:txBody>
      </p:sp>
      <p:sp>
        <p:nvSpPr>
          <p:cNvPr id="24" name="Text 22"/>
          <p:cNvSpPr/>
          <p:nvPr/>
        </p:nvSpPr>
        <p:spPr>
          <a:xfrm>
            <a:off x="6355080" y="1600200"/>
            <a:ext cx="237744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AI Executes Tasks</a:t>
            </a:r>
            <a:endParaRPr lang="en-US" sz="1800" dirty="0"/>
          </a:p>
        </p:txBody>
      </p:sp>
      <p:sp>
        <p:nvSpPr>
          <p:cNvPr id="25" name="Text 23"/>
          <p:cNvSpPr/>
          <p:nvPr/>
        </p:nvSpPr>
        <p:spPr>
          <a:xfrm>
            <a:off x="6355080" y="2148840"/>
            <a:ext cx="2377440" cy="457200"/>
          </a:xfrm>
          <a:prstGeom prst="rect">
            <a:avLst/>
          </a:prstGeom>
          <a:noFill/>
          <a:ln/>
        </p:spPr>
        <p:txBody>
          <a:bodyPr wrap="square" lIns="0" tIns="0" rIns="0" bIns="0" rtlCol="0" anchor="ctr"/>
          <a:lstStyle/>
          <a:p>
            <a:pPr indent="0" marL="0">
              <a:lnSpc>
                <a:spcPct val="120000"/>
              </a:lnSpc>
              <a:buNone/>
            </a:pPr>
            <a:r>
              <a:rPr lang="en-US" sz="1200" dirty="0">
                <a:solidFill>
                  <a:srgbClr val="D0D8E8"/>
                </a:solidFill>
                <a:latin typeface="Arial" pitchFamily="34" charset="0"/>
                <a:ea typeface="Arial" pitchFamily="34" charset="-122"/>
                <a:cs typeface="Arial" pitchFamily="34" charset="-120"/>
              </a:rPr>
              <a:t>Monitors, acts, routes, decides within guardrails</a:t>
            </a:r>
            <a:endParaRPr lang="en-US" sz="1200" dirty="0"/>
          </a:p>
        </p:txBody>
      </p:sp>
      <p:sp>
        <p:nvSpPr>
          <p:cNvPr id="26" name="Shape 24"/>
          <p:cNvSpPr/>
          <p:nvPr/>
        </p:nvSpPr>
        <p:spPr>
          <a:xfrm>
            <a:off x="6355080" y="3017520"/>
            <a:ext cx="914400" cy="274320"/>
          </a:xfrm>
          <a:prstGeom prst="rect">
            <a:avLst/>
          </a:prstGeom>
          <a:solidFill>
            <a:srgbClr val="993399"/>
          </a:solidFill>
          <a:ln/>
        </p:spPr>
      </p:sp>
      <p:sp>
        <p:nvSpPr>
          <p:cNvPr id="27" name="Text 25"/>
          <p:cNvSpPr/>
          <p:nvPr/>
        </p:nvSpPr>
        <p:spPr>
          <a:xfrm>
            <a:off x="6355080" y="3017520"/>
            <a:ext cx="91440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Phase 2-3</a:t>
            </a:r>
            <a:endParaRPr lang="en-US" sz="1000" dirty="0"/>
          </a:p>
        </p:txBody>
      </p:sp>
      <p:sp>
        <p:nvSpPr>
          <p:cNvPr id="28" name="Text 26"/>
          <p:cNvSpPr/>
          <p:nvPr/>
        </p:nvSpPr>
        <p:spPr>
          <a:xfrm>
            <a:off x="2286000" y="3931920"/>
            <a:ext cx="4572000" cy="365760"/>
          </a:xfrm>
          <a:prstGeom prst="rect">
            <a:avLst/>
          </a:prstGeom>
          <a:noFill/>
          <a:ln/>
        </p:spPr>
        <p:txBody>
          <a:bodyPr wrap="square" lIns="0" tIns="0" rIns="0" bIns="0" rtlCol="0" anchor="ctr"/>
          <a:lstStyle/>
          <a:p>
            <a:pPr algn="ctr" indent="0" marL="0">
              <a:buNone/>
            </a:pPr>
            <a:r>
              <a:rPr lang="en-US" sz="1800" b="1" dirty="0">
                <a:solidFill>
                  <a:srgbClr val="06418C"/>
                </a:solidFill>
                <a:latin typeface="Arial" pitchFamily="34" charset="0"/>
                <a:ea typeface="Arial" pitchFamily="34" charset="-122"/>
                <a:cs typeface="Arial" pitchFamily="34" charset="-120"/>
              </a:rPr>
              <a:t>Ask → Assist → Act</a:t>
            </a:r>
            <a:endParaRPr lang="en-US" sz="180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The way work gets done is changing.</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25</a:t>
            </a:r>
            <a:endParaRPr lang="en-US" sz="700" dirty="0"/>
          </a:p>
        </p:txBody>
      </p:sp>
      <p:sp>
        <p:nvSpPr>
          <p:cNvPr id="8" name="Shape 6"/>
          <p:cNvSpPr/>
          <p:nvPr/>
        </p:nvSpPr>
        <p:spPr>
          <a:xfrm>
            <a:off x="457200" y="1051560"/>
            <a:ext cx="3931920" cy="2926080"/>
          </a:xfrm>
          <a:prstGeom prst="rect">
            <a:avLst/>
          </a:prstGeom>
          <a:solidFill>
            <a:srgbClr val="F0F2F5"/>
          </a:solidFill>
          <a:ln/>
          <a:effectLst>
            <a:outerShdw sx="100000" sy="100000" kx="0" ky="0" algn="bl" rotWithShape="0" blurRad="76200" dist="25400" dir="8100000">
              <a:srgbClr val="000000">
                <a:alpha val="10000"/>
              </a:srgbClr>
            </a:outerShdw>
          </a:effectLst>
        </p:spPr>
      </p:sp>
      <p:sp>
        <p:nvSpPr>
          <p:cNvPr id="9" name="Shape 7"/>
          <p:cNvSpPr/>
          <p:nvPr/>
        </p:nvSpPr>
        <p:spPr>
          <a:xfrm>
            <a:off x="457200" y="1051560"/>
            <a:ext cx="3931920" cy="411480"/>
          </a:xfrm>
          <a:prstGeom prst="rect">
            <a:avLst/>
          </a:prstGeom>
          <a:solidFill>
            <a:srgbClr val="9D9D9D"/>
          </a:solidFill>
          <a:ln/>
        </p:spPr>
      </p:sp>
      <p:sp>
        <p:nvSpPr>
          <p:cNvPr id="10" name="Text 8"/>
          <p:cNvSpPr/>
          <p:nvPr/>
        </p:nvSpPr>
        <p:spPr>
          <a:xfrm>
            <a:off x="457200" y="1051560"/>
            <a:ext cx="3931920" cy="4114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DETERMINISTIC (Traditional)</a:t>
            </a:r>
            <a:endParaRPr lang="en-US" sz="1400" dirty="0"/>
          </a:p>
        </p:txBody>
      </p:sp>
      <p:sp>
        <p:nvSpPr>
          <p:cNvPr id="11" name="Text 9"/>
          <p:cNvSpPr/>
          <p:nvPr/>
        </p:nvSpPr>
        <p:spPr>
          <a:xfrm>
            <a:off x="640080" y="1600200"/>
            <a:ext cx="3566160" cy="411480"/>
          </a:xfrm>
          <a:prstGeom prst="rect">
            <a:avLst/>
          </a:prstGeom>
          <a:noFill/>
          <a:ln/>
        </p:spPr>
        <p:txBody>
          <a:bodyPr wrap="square" lIns="0" tIns="0" rIns="0" bIns="0" rtlCol="0" anchor="ctr"/>
          <a:lstStyle/>
          <a:p>
            <a:pPr indent="0" marL="0">
              <a:buNone/>
            </a:pPr>
            <a:r>
              <a:rPr lang="en-US" sz="1200" dirty="0">
                <a:solidFill>
                  <a:srgbClr val="4A4A4A"/>
                </a:solidFill>
                <a:latin typeface="Arial" pitchFamily="34" charset="0"/>
                <a:ea typeface="Arial" pitchFamily="34" charset="-122"/>
                <a:cs typeface="Arial" pitchFamily="34" charset="-120"/>
              </a:rPr>
              <a:t>You define every input → specify every step → execute → review</a:t>
            </a:r>
            <a:endParaRPr lang="en-US" sz="1200" dirty="0"/>
          </a:p>
        </p:txBody>
      </p:sp>
      <p:sp>
        <p:nvSpPr>
          <p:cNvPr id="12" name="Text 10"/>
          <p:cNvSpPr/>
          <p:nvPr/>
        </p:nvSpPr>
        <p:spPr>
          <a:xfrm>
            <a:off x="640080" y="2103120"/>
            <a:ext cx="3566160" cy="1280160"/>
          </a:xfrm>
          <a:prstGeom prst="rect">
            <a:avLst/>
          </a:prstGeom>
          <a:noFill/>
          <a:ln/>
        </p:spPr>
        <p:txBody>
          <a:bodyPr wrap="square" lIns="0" tIns="0" rIns="0" bIns="0" rtlCol="0" anchor="ctr"/>
          <a:lstStyle/>
          <a:p>
            <a:pPr indent="0" marL="0">
              <a:lnSpc>
                <a:spcPct val="140000"/>
              </a:lnSpc>
              <a:buNone/>
            </a:pPr>
            <a:r>
              <a:rPr lang="en-US" sz="1200" b="1" dirty="0">
                <a:solidFill>
                  <a:srgbClr val="4471A9"/>
                </a:solidFill>
                <a:latin typeface="Arial" pitchFamily="34" charset="0"/>
                <a:ea typeface="Arial" pitchFamily="34" charset="-122"/>
                <a:cs typeface="Arial" pitchFamily="34" charset="-120"/>
              </a:rPr>
              <a:t xml:space="preserve">→  </a:t>
            </a:r>
            <a:pPr indent="0" marL="0">
              <a:lnSpc>
                <a:spcPct val="140000"/>
              </a:lnSpc>
              <a:buNone/>
            </a:pPr>
            <a:r>
              <a:rPr lang="en-US" sz="1200" dirty="0">
                <a:solidFill>
                  <a:srgbClr val="4A4A4A"/>
                </a:solidFill>
                <a:latin typeface="Arial" pitchFamily="34" charset="0"/>
                <a:ea typeface="Arial" pitchFamily="34" charset="-122"/>
                <a:cs typeface="Arial" pitchFamily="34" charset="-120"/>
              </a:rPr>
              <a:t>Human drives every step</a:t>
            </a:r>
            <a:endParaRPr lang="en-US" sz="1200" dirty="0"/>
          </a:p>
          <a:p>
            <a:pPr indent="0" marL="0">
              <a:lnSpc>
                <a:spcPct val="140000"/>
              </a:lnSpc>
              <a:buNone/>
            </a:pPr>
            <a:r>
              <a:rPr lang="en-US" sz="1200" b="1" dirty="0">
                <a:solidFill>
                  <a:srgbClr val="4471A9"/>
                </a:solidFill>
                <a:latin typeface="Arial" pitchFamily="34" charset="0"/>
                <a:ea typeface="Arial" pitchFamily="34" charset="-122"/>
                <a:cs typeface="Arial" pitchFamily="34" charset="-120"/>
              </a:rPr>
              <a:t xml:space="preserve">→  </a:t>
            </a:r>
            <a:pPr indent="0" marL="0">
              <a:lnSpc>
                <a:spcPct val="140000"/>
              </a:lnSpc>
              <a:buNone/>
            </a:pPr>
            <a:r>
              <a:rPr lang="en-US" sz="1200" dirty="0">
                <a:solidFill>
                  <a:srgbClr val="4A4A4A"/>
                </a:solidFill>
                <a:latin typeface="Arial" pitchFamily="34" charset="0"/>
                <a:ea typeface="Arial" pitchFamily="34" charset="-122"/>
                <a:cs typeface="Arial" pitchFamily="34" charset="-120"/>
              </a:rPr>
              <a:t>AI accelerates individual tasks</a:t>
            </a:r>
            <a:endParaRPr lang="en-US" sz="1200" dirty="0"/>
          </a:p>
          <a:p>
            <a:pPr indent="0" marL="0">
              <a:lnSpc>
                <a:spcPct val="140000"/>
              </a:lnSpc>
              <a:buNone/>
            </a:pPr>
            <a:r>
              <a:rPr lang="en-US" sz="1200" b="1" dirty="0">
                <a:solidFill>
                  <a:srgbClr val="4471A9"/>
                </a:solidFill>
                <a:latin typeface="Arial" pitchFamily="34" charset="0"/>
                <a:ea typeface="Arial" pitchFamily="34" charset="-122"/>
                <a:cs typeface="Arial" pitchFamily="34" charset="-120"/>
              </a:rPr>
              <a:t xml:space="preserve">→  </a:t>
            </a:r>
            <a:pPr indent="0" marL="0">
              <a:lnSpc>
                <a:spcPct val="140000"/>
              </a:lnSpc>
              <a:buNone/>
            </a:pPr>
            <a:r>
              <a:rPr lang="en-US" sz="1200" dirty="0">
                <a:solidFill>
                  <a:srgbClr val="4A4A4A"/>
                </a:solidFill>
                <a:latin typeface="Arial" pitchFamily="34" charset="0"/>
                <a:ea typeface="Arial" pitchFamily="34" charset="-122"/>
                <a:cs typeface="Arial" pitchFamily="34" charset="-120"/>
              </a:rPr>
              <a:t>The workflow stays the same. Just faster.</a:t>
            </a:r>
            <a:endParaRPr lang="en-US" sz="1200" dirty="0"/>
          </a:p>
        </p:txBody>
      </p:sp>
      <p:sp>
        <p:nvSpPr>
          <p:cNvPr id="13" name="Shape 11"/>
          <p:cNvSpPr/>
          <p:nvPr/>
        </p:nvSpPr>
        <p:spPr>
          <a:xfrm>
            <a:off x="4754880" y="1051560"/>
            <a:ext cx="3931920" cy="2926080"/>
          </a:xfrm>
          <a:prstGeom prst="rect">
            <a:avLst/>
          </a:prstGeom>
          <a:solidFill>
            <a:srgbClr val="E8EFF7"/>
          </a:solidFill>
          <a:ln/>
          <a:effectLst>
            <a:outerShdw sx="100000" sy="100000" kx="0" ky="0" algn="bl" rotWithShape="0" blurRad="76200" dist="25400" dir="8100000">
              <a:srgbClr val="000000">
                <a:alpha val="10000"/>
              </a:srgbClr>
            </a:outerShdw>
          </a:effectLst>
        </p:spPr>
      </p:sp>
      <p:sp>
        <p:nvSpPr>
          <p:cNvPr id="14" name="Shape 12"/>
          <p:cNvSpPr/>
          <p:nvPr/>
        </p:nvSpPr>
        <p:spPr>
          <a:xfrm>
            <a:off x="4754880" y="1051560"/>
            <a:ext cx="3931920" cy="411480"/>
          </a:xfrm>
          <a:prstGeom prst="rect">
            <a:avLst/>
          </a:prstGeom>
          <a:solidFill>
            <a:srgbClr val="06418C"/>
          </a:solidFill>
          <a:ln/>
        </p:spPr>
      </p:sp>
      <p:sp>
        <p:nvSpPr>
          <p:cNvPr id="15" name="Text 13"/>
          <p:cNvSpPr/>
          <p:nvPr/>
        </p:nvSpPr>
        <p:spPr>
          <a:xfrm>
            <a:off x="4754880" y="1051560"/>
            <a:ext cx="3931920" cy="4114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"VIBE CODING" (AI-Native)</a:t>
            </a:r>
            <a:endParaRPr lang="en-US" sz="1400" dirty="0"/>
          </a:p>
        </p:txBody>
      </p:sp>
      <p:sp>
        <p:nvSpPr>
          <p:cNvPr id="16" name="Text 14"/>
          <p:cNvSpPr/>
          <p:nvPr/>
        </p:nvSpPr>
        <p:spPr>
          <a:xfrm>
            <a:off x="4937760" y="1600200"/>
            <a:ext cx="3566160" cy="411480"/>
          </a:xfrm>
          <a:prstGeom prst="rect">
            <a:avLst/>
          </a:prstGeom>
          <a:noFill/>
          <a:ln/>
        </p:spPr>
        <p:txBody>
          <a:bodyPr wrap="square" lIns="0" tIns="0" rIns="0" bIns="0" rtlCol="0" anchor="ctr"/>
          <a:lstStyle/>
          <a:p>
            <a:pPr indent="0" marL="0">
              <a:buNone/>
            </a:pPr>
            <a:r>
              <a:rPr lang="en-US" sz="1200" dirty="0">
                <a:solidFill>
                  <a:srgbClr val="4A4A4A"/>
                </a:solidFill>
                <a:latin typeface="Arial" pitchFamily="34" charset="0"/>
                <a:ea typeface="Arial" pitchFamily="34" charset="-122"/>
                <a:cs typeface="Arial" pitchFamily="34" charset="-120"/>
              </a:rPr>
              <a:t>You describe intent → AI determines best path → executes → you validate</a:t>
            </a:r>
            <a:endParaRPr lang="en-US" sz="1200" dirty="0"/>
          </a:p>
        </p:txBody>
      </p:sp>
      <p:sp>
        <p:nvSpPr>
          <p:cNvPr id="17" name="Text 15"/>
          <p:cNvSpPr/>
          <p:nvPr/>
        </p:nvSpPr>
        <p:spPr>
          <a:xfrm>
            <a:off x="4937760" y="2103120"/>
            <a:ext cx="3566160" cy="1280160"/>
          </a:xfrm>
          <a:prstGeom prst="rect">
            <a:avLst/>
          </a:prstGeom>
          <a:noFill/>
          <a:ln/>
        </p:spPr>
        <p:txBody>
          <a:bodyPr wrap="square" lIns="0" tIns="0" rIns="0" bIns="0" rtlCol="0" anchor="ctr"/>
          <a:lstStyle/>
          <a:p>
            <a:pPr indent="0" marL="0">
              <a:lnSpc>
                <a:spcPct val="140000"/>
              </a:lnSpc>
              <a:buNone/>
            </a:pPr>
            <a:r>
              <a:rPr lang="en-US" sz="1200" b="1" dirty="0">
                <a:solidFill>
                  <a:srgbClr val="993399"/>
                </a:solidFill>
                <a:latin typeface="Arial" pitchFamily="34" charset="0"/>
                <a:ea typeface="Arial" pitchFamily="34" charset="-122"/>
                <a:cs typeface="Arial" pitchFamily="34" charset="-120"/>
              </a:rPr>
              <a:t xml:space="preserve">→  </a:t>
            </a:r>
            <a:pPr indent="0" marL="0">
              <a:lnSpc>
                <a:spcPct val="140000"/>
              </a:lnSpc>
              <a:buNone/>
            </a:pPr>
            <a:r>
              <a:rPr lang="en-US" sz="1200" dirty="0">
                <a:solidFill>
                  <a:srgbClr val="4A4A4A"/>
                </a:solidFill>
                <a:latin typeface="Arial" pitchFamily="34" charset="0"/>
                <a:ea typeface="Arial" pitchFamily="34" charset="-122"/>
                <a:cs typeface="Arial" pitchFamily="34" charset="-120"/>
              </a:rPr>
              <a:t>Human sets direction and validates</a:t>
            </a:r>
            <a:endParaRPr lang="en-US" sz="1200" dirty="0"/>
          </a:p>
          <a:p>
            <a:pPr indent="0" marL="0">
              <a:lnSpc>
                <a:spcPct val="140000"/>
              </a:lnSpc>
              <a:buNone/>
            </a:pPr>
            <a:r>
              <a:rPr lang="en-US" sz="1200" b="1" dirty="0">
                <a:solidFill>
                  <a:srgbClr val="993399"/>
                </a:solidFill>
                <a:latin typeface="Arial" pitchFamily="34" charset="0"/>
                <a:ea typeface="Arial" pitchFamily="34" charset="-122"/>
                <a:cs typeface="Arial" pitchFamily="34" charset="-120"/>
              </a:rPr>
              <a:t xml:space="preserve">→  </a:t>
            </a:r>
            <a:pPr indent="0" marL="0">
              <a:lnSpc>
                <a:spcPct val="140000"/>
              </a:lnSpc>
              <a:buNone/>
            </a:pPr>
            <a:r>
              <a:rPr lang="en-US" sz="1200" dirty="0">
                <a:solidFill>
                  <a:srgbClr val="4A4A4A"/>
                </a:solidFill>
                <a:latin typeface="Arial" pitchFamily="34" charset="0"/>
                <a:ea typeface="Arial" pitchFamily="34" charset="-122"/>
                <a:cs typeface="Arial" pitchFamily="34" charset="-120"/>
              </a:rPr>
              <a:t>AI navigates the complexity</a:t>
            </a:r>
            <a:endParaRPr lang="en-US" sz="1200" dirty="0"/>
          </a:p>
          <a:p>
            <a:pPr indent="0" marL="0">
              <a:lnSpc>
                <a:spcPct val="140000"/>
              </a:lnSpc>
              <a:buNone/>
            </a:pPr>
            <a:r>
              <a:rPr lang="en-US" sz="1200" b="1" dirty="0">
                <a:solidFill>
                  <a:srgbClr val="993399"/>
                </a:solidFill>
                <a:latin typeface="Arial" pitchFamily="34" charset="0"/>
                <a:ea typeface="Arial" pitchFamily="34" charset="-122"/>
                <a:cs typeface="Arial" pitchFamily="34" charset="-120"/>
              </a:rPr>
              <a:t xml:space="preserve">→  </a:t>
            </a:r>
            <a:pPr indent="0" marL="0">
              <a:lnSpc>
                <a:spcPct val="140000"/>
              </a:lnSpc>
              <a:buNone/>
            </a:pPr>
            <a:r>
              <a:rPr lang="en-US" sz="1200" b="1" dirty="0">
                <a:solidFill>
                  <a:srgbClr val="06418C"/>
                </a:solidFill>
                <a:latin typeface="Arial" pitchFamily="34" charset="0"/>
                <a:ea typeface="Arial" pitchFamily="34" charset="-122"/>
                <a:cs typeface="Arial" pitchFamily="34" charset="-120"/>
              </a:rPr>
              <a:t>The workflow is fundamentally different.</a:t>
            </a:r>
            <a:endParaRPr lang="en-US" sz="1200" dirty="0"/>
          </a:p>
        </p:txBody>
      </p:sp>
      <p:sp>
        <p:nvSpPr>
          <p:cNvPr id="18" name="Shape 16"/>
          <p:cNvSpPr/>
          <p:nvPr/>
        </p:nvSpPr>
        <p:spPr>
          <a:xfrm>
            <a:off x="640080" y="4023360"/>
            <a:ext cx="7863840" cy="45720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19" name="Text 17"/>
          <p:cNvSpPr/>
          <p:nvPr/>
        </p:nvSpPr>
        <p:spPr>
          <a:xfrm>
            <a:off x="822960" y="4023360"/>
            <a:ext cx="7498080" cy="457200"/>
          </a:xfrm>
          <a:prstGeom prst="rect">
            <a:avLst/>
          </a:prstGeom>
          <a:noFill/>
          <a:ln/>
        </p:spPr>
        <p:txBody>
          <a:bodyPr wrap="square" lIns="0" tIns="0" rIns="0" bIns="0" rtlCol="0" anchor="ctr"/>
          <a:lstStyle/>
          <a:p>
            <a:pPr indent="0" marL="0">
              <a:buNone/>
            </a:pPr>
            <a:r>
              <a:rPr lang="en-US" sz="1300" b="1" i="1" dirty="0">
                <a:solidFill>
                  <a:srgbClr val="06418C"/>
                </a:solidFill>
                <a:latin typeface="Arial" pitchFamily="34" charset="0"/>
                <a:ea typeface="Arial" pitchFamily="34" charset="-122"/>
                <a:cs typeface="Arial" pitchFamily="34" charset="-120"/>
              </a:rPr>
              <a:t>Phase 1 = deterministic + AI tools. Phase 3 = vibe engineering at scale. The companies that get there first are structurally faster.</a:t>
            </a:r>
            <a:endParaRPr lang="en-US" sz="130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Different people need different tools. Budget accordingly.</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26</a:t>
            </a:r>
            <a:endParaRPr lang="en-US" sz="700" dirty="0"/>
          </a:p>
        </p:txBody>
      </p:sp>
      <p:sp>
        <p:nvSpPr>
          <p:cNvPr id="8" name="Shape 6"/>
          <p:cNvSpPr/>
          <p:nvPr/>
        </p:nvSpPr>
        <p:spPr>
          <a:xfrm>
            <a:off x="2514600" y="1097280"/>
            <a:ext cx="4114800" cy="822960"/>
          </a:xfrm>
          <a:prstGeom prst="rect">
            <a:avLst/>
          </a:prstGeom>
          <a:solidFill>
            <a:srgbClr val="042D5E"/>
          </a:solidFill>
          <a:ln/>
          <a:effectLst>
            <a:outerShdw sx="100000" sy="100000" kx="0" ky="0" algn="bl" rotWithShape="0" blurRad="50800" dist="12700" dir="8100000">
              <a:srgbClr val="000000">
                <a:alpha val="8000"/>
              </a:srgbClr>
            </a:outerShdw>
          </a:effectLst>
        </p:spPr>
      </p:sp>
      <p:sp>
        <p:nvSpPr>
          <p:cNvPr id="9" name="Text 7"/>
          <p:cNvSpPr/>
          <p:nvPr/>
        </p:nvSpPr>
        <p:spPr>
          <a:xfrm>
            <a:off x="2651760" y="114300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TIER 3 — HIGH-IMPACT ROLES</a:t>
            </a:r>
            <a:endParaRPr lang="en-US" sz="1200" dirty="0"/>
          </a:p>
        </p:txBody>
      </p:sp>
      <p:sp>
        <p:nvSpPr>
          <p:cNvPr id="10" name="Text 8"/>
          <p:cNvSpPr/>
          <p:nvPr/>
        </p:nvSpPr>
        <p:spPr>
          <a:xfrm>
            <a:off x="2651760" y="1417320"/>
            <a:ext cx="2743200" cy="457200"/>
          </a:xfrm>
          <a:prstGeom prst="rect">
            <a:avLst/>
          </a:prstGeom>
          <a:noFill/>
          <a:ln/>
        </p:spPr>
        <p:txBody>
          <a:bodyPr wrap="square" lIns="0" tIns="0" rIns="0" bIns="0" rtlCol="0" anchor="ctr"/>
          <a:lstStyle/>
          <a:p>
            <a:pPr indent="0" marL="0">
              <a:buNone/>
            </a:pPr>
            <a:r>
              <a:rPr lang="en-US" sz="1000" dirty="0">
                <a:solidFill>
                  <a:srgbClr val="D0D8E8"/>
                </a:solidFill>
                <a:latin typeface="Arial" pitchFamily="34" charset="0"/>
                <a:ea typeface="Arial" pitchFamily="34" charset="-122"/>
                <a:cs typeface="Arial" pitchFamily="34" charset="-120"/>
              </a:rPr>
              <a:t>Premium AI tools: top-tier models, domain-specific fine-tuned.</a:t>
            </a:r>
            <a:endParaRPr lang="en-US" sz="1000" dirty="0"/>
          </a:p>
          <a:p>
            <a:pPr indent="0" marL="0">
              <a:buNone/>
            </a:pPr>
            <a:r>
              <a:rPr lang="en-US" sz="1000" dirty="0">
                <a:solidFill>
                  <a:srgbClr val="D0D8E8"/>
                </a:solidFill>
                <a:latin typeface="Arial" pitchFamily="34" charset="0"/>
                <a:ea typeface="Arial" pitchFamily="34" charset="-122"/>
                <a:cs typeface="Arial" pitchFamily="34" charset="-120"/>
              </a:rPr>
              <a:t>Engineering, Data Science, Strategic Planning.</a:t>
            </a:r>
            <a:endParaRPr lang="en-US" sz="1000" dirty="0"/>
          </a:p>
        </p:txBody>
      </p:sp>
      <p:sp>
        <p:nvSpPr>
          <p:cNvPr id="11" name="Text 9"/>
          <p:cNvSpPr/>
          <p:nvPr/>
        </p:nvSpPr>
        <p:spPr>
          <a:xfrm>
            <a:off x="5349240" y="1371600"/>
            <a:ext cx="1097280" cy="274320"/>
          </a:xfrm>
          <a:prstGeom prst="rect">
            <a:avLst/>
          </a:prstGeom>
          <a:noFill/>
          <a:ln/>
        </p:spPr>
        <p:txBody>
          <a:bodyPr wrap="square" lIns="0" tIns="0" rIns="0" bIns="0" rtlCol="0" anchor="ctr"/>
          <a:lstStyle/>
          <a:p>
            <a:pPr algn="r" indent="0" marL="0">
              <a:buNone/>
            </a:pPr>
            <a:r>
              <a:rPr lang="en-US" sz="1000" b="1" dirty="0">
                <a:solidFill>
                  <a:srgbClr val="993399"/>
                </a:solidFill>
                <a:latin typeface="Arial" pitchFamily="34" charset="0"/>
                <a:ea typeface="Arial" pitchFamily="34" charset="-122"/>
                <a:cs typeface="Arial" pitchFamily="34" charset="-120"/>
              </a:rPr>
              <a:t>Highest per-seat</a:t>
            </a:r>
            <a:endParaRPr lang="en-US" sz="1000" dirty="0"/>
          </a:p>
        </p:txBody>
      </p:sp>
      <p:sp>
        <p:nvSpPr>
          <p:cNvPr id="12" name="Shape 10"/>
          <p:cNvSpPr/>
          <p:nvPr/>
        </p:nvSpPr>
        <p:spPr>
          <a:xfrm>
            <a:off x="1600200" y="2057400"/>
            <a:ext cx="5943600" cy="822960"/>
          </a:xfrm>
          <a:prstGeom prst="rect">
            <a:avLst/>
          </a:prstGeom>
          <a:solidFill>
            <a:srgbClr val="06418C"/>
          </a:solidFill>
          <a:ln/>
          <a:effectLst>
            <a:outerShdw sx="100000" sy="100000" kx="0" ky="0" algn="bl" rotWithShape="0" blurRad="50800" dist="12700" dir="8100000">
              <a:srgbClr val="000000">
                <a:alpha val="8000"/>
              </a:srgbClr>
            </a:outerShdw>
          </a:effectLst>
        </p:spPr>
      </p:sp>
      <p:sp>
        <p:nvSpPr>
          <p:cNvPr id="13" name="Text 11"/>
          <p:cNvSpPr/>
          <p:nvPr/>
        </p:nvSpPr>
        <p:spPr>
          <a:xfrm>
            <a:off x="1737360" y="2103120"/>
            <a:ext cx="56692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TIER 2 — KNOWLEDGE WORKERS</a:t>
            </a:r>
            <a:endParaRPr lang="en-US" sz="1200" dirty="0"/>
          </a:p>
        </p:txBody>
      </p:sp>
      <p:sp>
        <p:nvSpPr>
          <p:cNvPr id="14" name="Text 12"/>
          <p:cNvSpPr/>
          <p:nvPr/>
        </p:nvSpPr>
        <p:spPr>
          <a:xfrm>
            <a:off x="1737360" y="2377440"/>
            <a:ext cx="4572000" cy="457200"/>
          </a:xfrm>
          <a:prstGeom prst="rect">
            <a:avLst/>
          </a:prstGeom>
          <a:noFill/>
          <a:ln/>
        </p:spPr>
        <p:txBody>
          <a:bodyPr wrap="square" lIns="0" tIns="0" rIns="0" bIns="0" rtlCol="0" anchor="ctr"/>
          <a:lstStyle/>
          <a:p>
            <a:pPr indent="0" marL="0">
              <a:buNone/>
            </a:pPr>
            <a:r>
              <a:rPr lang="en-US" sz="1000" dirty="0">
                <a:solidFill>
                  <a:srgbClr val="D0D8E8"/>
                </a:solidFill>
                <a:latin typeface="Arial" pitchFamily="34" charset="0"/>
                <a:ea typeface="Arial" pitchFamily="34" charset="-122"/>
                <a:cs typeface="Arial" pitchFamily="34" charset="-120"/>
              </a:rPr>
              <a:t>Advanced tools for analysis, writing, decision support.</a:t>
            </a:r>
            <a:endParaRPr lang="en-US" sz="1000" dirty="0"/>
          </a:p>
          <a:p>
            <a:pPr indent="0" marL="0">
              <a:buNone/>
            </a:pPr>
            <a:r>
              <a:rPr lang="en-US" sz="1000" dirty="0">
                <a:solidFill>
                  <a:srgbClr val="D0D8E8"/>
                </a:solidFill>
                <a:latin typeface="Arial" pitchFamily="34" charset="0"/>
                <a:ea typeface="Arial" pitchFamily="34" charset="-122"/>
                <a:cs typeface="Arial" pitchFamily="34" charset="-120"/>
              </a:rPr>
              <a:t>Multi-vendor: best tool for the task.</a:t>
            </a:r>
            <a:endParaRPr lang="en-US" sz="1000" dirty="0"/>
          </a:p>
        </p:txBody>
      </p:sp>
      <p:sp>
        <p:nvSpPr>
          <p:cNvPr id="15" name="Text 13"/>
          <p:cNvSpPr/>
          <p:nvPr/>
        </p:nvSpPr>
        <p:spPr>
          <a:xfrm>
            <a:off x="6263640" y="2331720"/>
            <a:ext cx="1097280" cy="274320"/>
          </a:xfrm>
          <a:prstGeom prst="rect">
            <a:avLst/>
          </a:prstGeom>
          <a:noFill/>
          <a:ln/>
        </p:spPr>
        <p:txBody>
          <a:bodyPr wrap="square" lIns="0" tIns="0" rIns="0" bIns="0" rtlCol="0" anchor="ctr"/>
          <a:lstStyle/>
          <a:p>
            <a:pPr algn="r" indent="0" marL="0">
              <a:buNone/>
            </a:pPr>
            <a:r>
              <a:rPr lang="en-US" sz="1000" b="1" dirty="0">
                <a:solidFill>
                  <a:srgbClr val="993399"/>
                </a:solidFill>
                <a:latin typeface="Arial" pitchFamily="34" charset="0"/>
                <a:ea typeface="Arial" pitchFamily="34" charset="-122"/>
                <a:cs typeface="Arial" pitchFamily="34" charset="-120"/>
              </a:rPr>
              <a:t>Moderate</a:t>
            </a:r>
            <a:endParaRPr lang="en-US" sz="1000" dirty="0"/>
          </a:p>
        </p:txBody>
      </p:sp>
      <p:sp>
        <p:nvSpPr>
          <p:cNvPr id="16" name="Shape 14"/>
          <p:cNvSpPr/>
          <p:nvPr/>
        </p:nvSpPr>
        <p:spPr>
          <a:xfrm>
            <a:off x="640080" y="3017520"/>
            <a:ext cx="7863840" cy="822960"/>
          </a:xfrm>
          <a:prstGeom prst="rect">
            <a:avLst/>
          </a:prstGeom>
          <a:solidFill>
            <a:srgbClr val="4471A9"/>
          </a:solidFill>
          <a:ln/>
          <a:effectLst>
            <a:outerShdw sx="100000" sy="100000" kx="0" ky="0" algn="bl" rotWithShape="0" blurRad="50800" dist="12700" dir="8100000">
              <a:srgbClr val="000000">
                <a:alpha val="8000"/>
              </a:srgbClr>
            </a:outerShdw>
          </a:effectLst>
        </p:spPr>
      </p:sp>
      <p:sp>
        <p:nvSpPr>
          <p:cNvPr id="17" name="Text 15"/>
          <p:cNvSpPr/>
          <p:nvPr/>
        </p:nvSpPr>
        <p:spPr>
          <a:xfrm>
            <a:off x="777240" y="3063240"/>
            <a:ext cx="758952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TIER 1 — ALL EMPLOYEES</a:t>
            </a:r>
            <a:endParaRPr lang="en-US" sz="1200" dirty="0"/>
          </a:p>
        </p:txBody>
      </p:sp>
      <p:sp>
        <p:nvSpPr>
          <p:cNvPr id="18" name="Text 16"/>
          <p:cNvSpPr/>
          <p:nvPr/>
        </p:nvSpPr>
        <p:spPr>
          <a:xfrm>
            <a:off x="777240" y="3337560"/>
            <a:ext cx="6492240" cy="457200"/>
          </a:xfrm>
          <a:prstGeom prst="rect">
            <a:avLst/>
          </a:prstGeom>
          <a:noFill/>
          <a:ln/>
        </p:spPr>
        <p:txBody>
          <a:bodyPr wrap="square" lIns="0" tIns="0" rIns="0" bIns="0" rtlCol="0" anchor="ctr"/>
          <a:lstStyle/>
          <a:p>
            <a:pPr indent="0" marL="0">
              <a:buNone/>
            </a:pPr>
            <a:r>
              <a:rPr lang="en-US" sz="1000" dirty="0">
                <a:solidFill>
                  <a:srgbClr val="D0D8E8"/>
                </a:solidFill>
                <a:latin typeface="Arial" pitchFamily="34" charset="0"/>
                <a:ea typeface="Arial" pitchFamily="34" charset="-122"/>
                <a:cs typeface="Arial" pitchFamily="34" charset="-120"/>
              </a:rPr>
              <a:t>AI literacy certification (mandatory). Standard productivity AI.</a:t>
            </a:r>
            <a:endParaRPr lang="en-US" sz="1000" dirty="0"/>
          </a:p>
          <a:p>
            <a:pPr indent="0" marL="0">
              <a:buNone/>
            </a:pPr>
            <a:r>
              <a:rPr lang="en-US" sz="1000" dirty="0">
                <a:solidFill>
                  <a:srgbClr val="D0D8E8"/>
                </a:solidFill>
                <a:latin typeface="Arial" pitchFamily="34" charset="0"/>
                <a:ea typeface="Arial" pitchFamily="34" charset="-122"/>
                <a:cs typeface="Arial" pitchFamily="34" charset="-120"/>
              </a:rPr>
              <a:t>Knowledge retrieval tools (RAG-based, internal).</a:t>
            </a:r>
            <a:endParaRPr lang="en-US" sz="1000" dirty="0"/>
          </a:p>
        </p:txBody>
      </p:sp>
      <p:sp>
        <p:nvSpPr>
          <p:cNvPr id="19" name="Text 17"/>
          <p:cNvSpPr/>
          <p:nvPr/>
        </p:nvSpPr>
        <p:spPr>
          <a:xfrm>
            <a:off x="7223760" y="3291840"/>
            <a:ext cx="1097280" cy="274320"/>
          </a:xfrm>
          <a:prstGeom prst="rect">
            <a:avLst/>
          </a:prstGeom>
          <a:noFill/>
          <a:ln/>
        </p:spPr>
        <p:txBody>
          <a:bodyPr wrap="square" lIns="0" tIns="0" rIns="0" bIns="0" rtlCol="0" anchor="ctr"/>
          <a:lstStyle/>
          <a:p>
            <a:pPr algn="r" indent="0" marL="0">
              <a:buNone/>
            </a:pPr>
            <a:r>
              <a:rPr lang="en-US" sz="1000" b="1" dirty="0">
                <a:solidFill>
                  <a:srgbClr val="993399"/>
                </a:solidFill>
                <a:latin typeface="Arial" pitchFamily="34" charset="0"/>
                <a:ea typeface="Arial" pitchFamily="34" charset="-122"/>
                <a:cs typeface="Arial" pitchFamily="34" charset="-120"/>
              </a:rPr>
              <a:t>Lowest per-seat</a:t>
            </a:r>
            <a:endParaRPr lang="en-US" sz="1000" dirty="0"/>
          </a:p>
        </p:txBody>
      </p:sp>
      <p:sp>
        <p:nvSpPr>
          <p:cNvPr id="20" name="Shape 18"/>
          <p:cNvSpPr/>
          <p:nvPr/>
        </p:nvSpPr>
        <p:spPr>
          <a:xfrm>
            <a:off x="640080" y="3657600"/>
            <a:ext cx="7863840" cy="548640"/>
          </a:xfrm>
          <a:prstGeom prst="rect">
            <a:avLst/>
          </a:prstGeom>
          <a:solidFill>
            <a:srgbClr val="F5F6FA"/>
          </a:solidFill>
          <a:ln/>
          <a:effectLst>
            <a:outerShdw sx="100000" sy="100000" kx="0" ky="0" algn="bl" rotWithShape="0" blurRad="50800" dist="12700" dir="8100000">
              <a:srgbClr val="000000">
                <a:alpha val="8000"/>
              </a:srgbClr>
            </a:outerShdw>
          </a:effectLst>
        </p:spPr>
      </p:sp>
      <p:sp>
        <p:nvSpPr>
          <p:cNvPr id="21" name="Text 19"/>
          <p:cNvSpPr/>
          <p:nvPr/>
        </p:nvSpPr>
        <p:spPr>
          <a:xfrm>
            <a:off x="777240" y="3657600"/>
            <a:ext cx="7589520" cy="548640"/>
          </a:xfrm>
          <a:prstGeom prst="rect">
            <a:avLst/>
          </a:prstGeom>
          <a:noFill/>
          <a:ln/>
        </p:spPr>
        <p:txBody>
          <a:bodyPr wrap="square" lIns="0" tIns="0" rIns="0" bIns="0" rtlCol="0" anchor="ctr"/>
          <a:lstStyle/>
          <a:p>
            <a:pPr indent="0" marL="0">
              <a:buNone/>
            </a:pPr>
            <a:r>
              <a:rPr lang="en-US" sz="1000" b="1" dirty="0">
                <a:solidFill>
                  <a:srgbClr val="06418C"/>
                </a:solidFill>
                <a:latin typeface="Arial" pitchFamily="34" charset="0"/>
                <a:ea typeface="Arial" pitchFamily="34" charset="-122"/>
                <a:cs typeface="Arial" pitchFamily="34" charset="-120"/>
              </a:rPr>
              <a:t xml:space="preserve">Copilot assessment: </a:t>
            </a:r>
            <a:pPr indent="0" marL="0">
              <a:buNone/>
            </a:pPr>
            <a:r>
              <a:rPr lang="en-US" sz="1000" dirty="0">
                <a:solidFill>
                  <a:srgbClr val="4A4A4A"/>
                </a:solidFill>
                <a:latin typeface="Arial" pitchFamily="34" charset="0"/>
                <a:ea typeface="Arial" pitchFamily="34" charset="-122"/>
                <a:cs typeface="Arial" pitchFamily="34" charset="-120"/>
              </a:rPr>
              <a:t>Gartner: only 5% of Copilot pilots scaled. Market share: 18.8% → 11.5% (Jul 2025 – Jan 2026). We evaluate alternatives on productivity, cost, and integration.</a:t>
            </a:r>
            <a:endParaRPr lang="en-US" sz="10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42D5E"/>
        </a:solidFill>
        <a:effectLst/>
      </p:bgPr>
    </p:bg>
    <p:spTree>
      <p:nvGrpSpPr>
        <p:cNvPr id="1" name=""/>
        <p:cNvGrpSpPr/>
        <p:nvPr/>
      </p:nvGrpSpPr>
      <p:grpSpPr/>
      <p:sp>
        <p:nvSpPr>
          <p:cNvPr id="2" name="Shape 0"/>
          <p:cNvSpPr/>
          <p:nvPr/>
        </p:nvSpPr>
        <p:spPr>
          <a:xfrm>
            <a:off x="0" y="0"/>
            <a:ext cx="9144000" cy="36576"/>
          </a:xfrm>
          <a:prstGeom prst="rect">
            <a:avLst/>
          </a:prstGeom>
          <a:solidFill>
            <a:srgbClr val="4471A9"/>
          </a:solidFill>
          <a:ln/>
        </p:spPr>
      </p:sp>
      <p:sp>
        <p:nvSpPr>
          <p:cNvPr id="3" name="Text 1"/>
          <p:cNvSpPr/>
          <p:nvPr/>
        </p:nvSpPr>
        <p:spPr>
          <a:xfrm>
            <a:off x="640080" y="1371600"/>
            <a:ext cx="1097280" cy="731520"/>
          </a:xfrm>
          <a:prstGeom prst="rect">
            <a:avLst/>
          </a:prstGeom>
          <a:noFill/>
          <a:ln/>
        </p:spPr>
        <p:txBody>
          <a:bodyPr wrap="square" lIns="0" tIns="0" rIns="0" bIns="0" rtlCol="0" anchor="ctr"/>
          <a:lstStyle/>
          <a:p>
            <a:pPr indent="0" marL="0">
              <a:buNone/>
            </a:pPr>
            <a:r>
              <a:rPr lang="en-US" sz="4800" b="1" dirty="0">
                <a:solidFill>
                  <a:srgbClr val="4471A9"/>
                </a:solidFill>
                <a:latin typeface="Arial" pitchFamily="34" charset="0"/>
                <a:ea typeface="Arial" pitchFamily="34" charset="-122"/>
                <a:cs typeface="Arial" pitchFamily="34" charset="-120"/>
              </a:rPr>
              <a:t>05</a:t>
            </a:r>
            <a:endParaRPr lang="en-US" sz="4800" dirty="0"/>
          </a:p>
        </p:txBody>
      </p:sp>
      <p:sp>
        <p:nvSpPr>
          <p:cNvPr id="4" name="Text 2"/>
          <p:cNvSpPr/>
          <p:nvPr/>
        </p:nvSpPr>
        <p:spPr>
          <a:xfrm>
            <a:off x="640080" y="2103120"/>
            <a:ext cx="7315200" cy="914400"/>
          </a:xfrm>
          <a:prstGeom prst="rect">
            <a:avLst/>
          </a:prstGeom>
          <a:noFill/>
          <a:ln/>
        </p:spPr>
        <p:txBody>
          <a:bodyPr wrap="square" lIns="0" tIns="0" rIns="0" bIns="0" rtlCol="0" anchor="ctr"/>
          <a:lstStyle/>
          <a:p>
            <a:pPr indent="0" marL="0">
              <a:buNone/>
            </a:pPr>
            <a:r>
              <a:rPr lang="en-US" sz="3600" b="1" spc="300" kern="0" dirty="0">
                <a:solidFill>
                  <a:srgbClr val="FFFFFF"/>
                </a:solidFill>
                <a:latin typeface="Arial" pitchFamily="34" charset="0"/>
                <a:ea typeface="Arial" pitchFamily="34" charset="-122"/>
                <a:cs typeface="Arial" pitchFamily="34" charset="-120"/>
              </a:rPr>
              <a:t>USE CASES BY FUNCTION</a:t>
            </a:r>
            <a:endParaRPr lang="en-US" sz="3600" dirty="0"/>
          </a:p>
        </p:txBody>
      </p:sp>
      <p:sp>
        <p:nvSpPr>
          <p:cNvPr id="5" name="Text 3"/>
          <p:cNvSpPr/>
          <p:nvPr/>
        </p:nvSpPr>
        <p:spPr>
          <a:xfrm>
            <a:off x="640080" y="3017520"/>
            <a:ext cx="6400800" cy="548640"/>
          </a:xfrm>
          <a:prstGeom prst="rect">
            <a:avLst/>
          </a:prstGeom>
          <a:noFill/>
          <a:ln/>
        </p:spPr>
        <p:txBody>
          <a:bodyPr wrap="square" rtlCol="0" anchor="ctr"/>
          <a:lstStyle/>
          <a:p>
            <a:pPr indent="0" marL="0">
              <a:buNone/>
            </a:pPr>
            <a:r>
              <a:rPr lang="en-US" sz="1600" dirty="0">
                <a:solidFill>
                  <a:srgbClr val="4471A9"/>
                </a:solidFill>
                <a:latin typeface="Arial" pitchFamily="34" charset="0"/>
                <a:ea typeface="Arial" pitchFamily="34" charset="-122"/>
                <a:cs typeface="Arial" pitchFamily="34" charset="-120"/>
              </a:rPr>
              <a:t>Where AI creates value — and in what order</a:t>
            </a:r>
            <a:endParaRPr lang="en-US" sz="1600" dirty="0"/>
          </a:p>
        </p:txBody>
      </p:sp>
      <p:sp>
        <p:nvSpPr>
          <p:cNvPr id="6" name="Shape 4"/>
          <p:cNvSpPr/>
          <p:nvPr/>
        </p:nvSpPr>
        <p:spPr>
          <a:xfrm>
            <a:off x="0" y="5106924"/>
            <a:ext cx="9144000" cy="36576"/>
          </a:xfrm>
          <a:prstGeom prst="rect">
            <a:avLst/>
          </a:prstGeom>
          <a:solidFill>
            <a:srgbClr val="993399"/>
          </a:solidFill>
          <a:ln/>
        </p:spPr>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400" b="1" dirty="0">
                <a:solidFill>
                  <a:srgbClr val="06418C"/>
                </a:solidFill>
                <a:latin typeface="Arial" pitchFamily="34" charset="0"/>
                <a:ea typeface="Arial" pitchFamily="34" charset="-122"/>
                <a:cs typeface="Arial" pitchFamily="34" charset="-120"/>
              </a:rPr>
              <a:t>The opportunity spans every function.</a:t>
            </a:r>
            <a:endParaRPr lang="en-US" sz="24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27</a:t>
            </a:r>
            <a:endParaRPr lang="en-US" sz="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645920"/>
                <a:gridCol w="2194560"/>
                <a:gridCol w="2194560"/>
                <a:gridCol w="2194560"/>
              </a:tblGrid>
              <a:tr h="329184">
                <a:tc>
                  <a:txBody>
                    <a:bodyPr/>
                    <a:lstStyle/>
                    <a:p>
                      <a:pPr indent="0" marL="0">
                        <a:buNone/>
                      </a:pPr>
                      <a:r>
                        <a:rPr lang="en-US" sz="1000" b="1" dirty="0">
                          <a:solidFill>
                            <a:srgbClr val="FFFFFF"/>
                          </a:solidFill>
                          <a:latin typeface="Arial" pitchFamily="34" charset="0"/>
                          <a:ea typeface="Arial" pitchFamily="34" charset="-122"/>
                          <a:cs typeface="Arial" pitchFamily="34" charset="-120"/>
                        </a:rPr>
                        <a:t>Function</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42D5E"/>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Phase 1 (0-18mo)</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4471A9"/>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Phase 2 (9-27mo)</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6418C"/>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Phase 3 (18-36mo)</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993399"/>
                    </a:solidFill>
                  </a:tcPr>
                </a:tc>
              </a:tr>
              <a:tr h="329184">
                <a:tc>
                  <a:txBody>
                    <a:bodyPr/>
                    <a:lstStyle/>
                    <a:p>
                      <a:pPr indent="0" marL="0">
                        <a:buNone/>
                      </a:pPr>
                      <a:r>
                        <a:rPr lang="en-US" sz="1000" b="1" dirty="0">
                          <a:solidFill>
                            <a:srgbClr val="06418C"/>
                          </a:solidFill>
                          <a:latin typeface="Arial" pitchFamily="34" charset="0"/>
                          <a:ea typeface="Arial" pitchFamily="34" charset="-122"/>
                          <a:cs typeface="Arial" pitchFamily="34" charset="-120"/>
                        </a:rPr>
                        <a:t>R&amp;D / Engineering</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Doc automation, IP search</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EDA AI, design copilot</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AI-native design</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06418C"/>
                          </a:solidFill>
                          <a:latin typeface="Arial" pitchFamily="34" charset="0"/>
                          <a:ea typeface="Arial" pitchFamily="34" charset="-122"/>
                          <a:cs typeface="Arial" pitchFamily="34" charset="-120"/>
                        </a:rPr>
                        <a:t>CEO / ELT</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Instant intelligence</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Scenario modeling</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Predictive BI</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r>
              <a:tr h="329184">
                <a:tc>
                  <a:txBody>
                    <a:bodyPr/>
                    <a:lstStyle/>
                    <a:p>
                      <a:pPr indent="0" marL="0">
                        <a:buNone/>
                      </a:pPr>
                      <a:r>
                        <a:rPr lang="en-US" sz="1000" b="1" dirty="0">
                          <a:solidFill>
                            <a:srgbClr val="06418C"/>
                          </a:solidFill>
                          <a:latin typeface="Arial" pitchFamily="34" charset="0"/>
                          <a:ea typeface="Arial" pitchFamily="34" charset="-122"/>
                          <a:cs typeface="Arial" pitchFamily="34" charset="-120"/>
                        </a:rPr>
                        <a:t>Operations</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Predictive maintenance</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Yield optimization</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Autonomous loops</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06418C"/>
                          </a:solidFill>
                          <a:latin typeface="Arial" pitchFamily="34" charset="0"/>
                          <a:ea typeface="Arial" pitchFamily="34" charset="-122"/>
                          <a:cs typeface="Arial" pitchFamily="34" charset="-120"/>
                        </a:rPr>
                        <a:t>Supply Chain</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Demand forecasting</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Supplier intelligence</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Self-optimizing</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r>
              <a:tr h="329184">
                <a:tc>
                  <a:txBody>
                    <a:bodyPr/>
                    <a:lstStyle/>
                    <a:p>
                      <a:pPr indent="0" marL="0">
                        <a:buNone/>
                      </a:pPr>
                      <a:r>
                        <a:rPr lang="en-US" sz="1000" b="1" dirty="0">
                          <a:solidFill>
                            <a:srgbClr val="06418C"/>
                          </a:solidFill>
                          <a:latin typeface="Arial" pitchFamily="34" charset="0"/>
                          <a:ea typeface="Arial" pitchFamily="34" charset="-122"/>
                          <a:cs typeface="Arial" pitchFamily="34" charset="-120"/>
                        </a:rPr>
                        <a:t>Finance</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Auto reporting</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Pricing optimization</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Autonomous close</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06418C"/>
                          </a:solidFill>
                          <a:latin typeface="Arial" pitchFamily="34" charset="0"/>
                          <a:ea typeface="Arial" pitchFamily="34" charset="-122"/>
                          <a:cs typeface="Arial" pitchFamily="34" charset="-120"/>
                        </a:rPr>
                        <a:t>Legal</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Contract review</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Compliance automation</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Predictive risk</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r>
              <a:tr h="329184">
                <a:tc>
                  <a:txBody>
                    <a:bodyPr/>
                    <a:lstStyle/>
                    <a:p>
                      <a:pPr indent="0" marL="0">
                        <a:buNone/>
                      </a:pPr>
                      <a:r>
                        <a:rPr lang="en-US" sz="1000" b="1" dirty="0">
                          <a:solidFill>
                            <a:srgbClr val="06418C"/>
                          </a:solidFill>
                          <a:latin typeface="Arial" pitchFamily="34" charset="0"/>
                          <a:ea typeface="Arial" pitchFamily="34" charset="-122"/>
                          <a:cs typeface="Arial" pitchFamily="34" charset="-120"/>
                        </a:rPr>
                        <a:t>HR</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JD gen, AI training</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Skills mapping</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Workforce redesign</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06418C"/>
                          </a:solidFill>
                          <a:latin typeface="Arial" pitchFamily="34" charset="0"/>
                          <a:ea typeface="Arial" pitchFamily="34" charset="-122"/>
                          <a:cs typeface="Arial" pitchFamily="34" charset="-120"/>
                        </a:rPr>
                        <a:t>Sales</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CRM intelligence</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Design-in acceleration</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AI-native journey</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r>
              <a:tr h="329184">
                <a:tc>
                  <a:txBody>
                    <a:bodyPr/>
                    <a:lstStyle/>
                    <a:p>
                      <a:pPr indent="0" marL="0">
                        <a:buNone/>
                      </a:pPr>
                      <a:r>
                        <a:rPr lang="en-US" sz="1000" b="1" dirty="0">
                          <a:solidFill>
                            <a:srgbClr val="06418C"/>
                          </a:solidFill>
                          <a:latin typeface="Arial" pitchFamily="34" charset="0"/>
                          <a:ea typeface="Arial" pitchFamily="34" charset="-122"/>
                          <a:cs typeface="Arial" pitchFamily="34" charset="-120"/>
                        </a:rPr>
                        <a:t>Comms / Knowledge</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Knowledge retrieval</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Enterprise search</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A4A4A"/>
                          </a:solidFill>
                          <a:latin typeface="Arial" pitchFamily="34" charset="0"/>
                          <a:ea typeface="Arial" pitchFamily="34" charset="-122"/>
                          <a:cs typeface="Arial" pitchFamily="34" charset="-120"/>
                        </a:rPr>
                        <a:t>Living knowledge</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200" b="1" dirty="0">
                <a:solidFill>
                  <a:srgbClr val="06418C"/>
                </a:solidFill>
                <a:latin typeface="Arial" pitchFamily="34" charset="0"/>
                <a:ea typeface="Arial" pitchFamily="34" charset="-122"/>
                <a:cs typeface="Arial" pitchFamily="34" charset="-120"/>
              </a:rPr>
              <a:t>Leadership should never email for an answer the data already has.</a:t>
            </a:r>
            <a:endParaRPr lang="en-US" sz="22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28</a:t>
            </a:r>
            <a:endParaRPr lang="en-US" sz="700" dirty="0"/>
          </a:p>
        </p:txBody>
      </p:sp>
      <p:sp>
        <p:nvSpPr>
          <p:cNvPr id="8" name="Shape 6"/>
          <p:cNvSpPr/>
          <p:nvPr/>
        </p:nvSpPr>
        <p:spPr>
          <a:xfrm>
            <a:off x="640080" y="1097280"/>
            <a:ext cx="3657600" cy="365760"/>
          </a:xfrm>
          <a:prstGeom prst="rect">
            <a:avLst/>
          </a:prstGeom>
          <a:solidFill>
            <a:srgbClr val="D70000"/>
          </a:solidFill>
          <a:ln/>
        </p:spPr>
      </p:sp>
      <p:sp>
        <p:nvSpPr>
          <p:cNvPr id="9" name="Text 7"/>
          <p:cNvSpPr/>
          <p:nvPr/>
        </p:nvSpPr>
        <p:spPr>
          <a:xfrm>
            <a:off x="640080" y="1097280"/>
            <a:ext cx="365760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TODAY</a:t>
            </a:r>
            <a:endParaRPr lang="en-US" sz="1300" dirty="0"/>
          </a:p>
        </p:txBody>
      </p:sp>
      <p:sp>
        <p:nvSpPr>
          <p:cNvPr id="10" name="Text 8"/>
          <p:cNvSpPr/>
          <p:nvPr/>
        </p:nvSpPr>
        <p:spPr>
          <a:xfrm>
            <a:off x="640080" y="1600200"/>
            <a:ext cx="3657600" cy="548640"/>
          </a:xfrm>
          <a:prstGeom prst="rect">
            <a:avLst/>
          </a:prstGeom>
          <a:noFill/>
          <a:ln/>
        </p:spPr>
        <p:txBody>
          <a:bodyPr wrap="square" lIns="0" tIns="0" rIns="0" bIns="0" rtlCol="0" anchor="ctr"/>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CEO asks question → email → team pulls data → analysis prepared → answer delivered</a:t>
            </a:r>
            <a:endParaRPr lang="en-US" sz="1200" dirty="0"/>
          </a:p>
        </p:txBody>
      </p:sp>
      <p:sp>
        <p:nvSpPr>
          <p:cNvPr id="11" name="Text 9"/>
          <p:cNvSpPr/>
          <p:nvPr/>
        </p:nvSpPr>
        <p:spPr>
          <a:xfrm>
            <a:off x="640080" y="2194560"/>
            <a:ext cx="3657600" cy="274320"/>
          </a:xfrm>
          <a:prstGeom prst="rect">
            <a:avLst/>
          </a:prstGeom>
          <a:noFill/>
          <a:ln/>
        </p:spPr>
        <p:txBody>
          <a:bodyPr wrap="square" lIns="0" tIns="0" rIns="0" bIns="0" rtlCol="0" anchor="ctr"/>
          <a:lstStyle/>
          <a:p>
            <a:pPr indent="0" marL="0">
              <a:buNone/>
            </a:pPr>
            <a:r>
              <a:rPr lang="en-US" sz="1400" b="1" dirty="0">
                <a:solidFill>
                  <a:srgbClr val="D70000"/>
                </a:solidFill>
                <a:latin typeface="Arial" pitchFamily="34" charset="0"/>
                <a:ea typeface="Arial" pitchFamily="34" charset="-122"/>
                <a:cs typeface="Arial" pitchFamily="34" charset="-120"/>
              </a:rPr>
              <a:t>Days to weeks</a:t>
            </a:r>
            <a:endParaRPr lang="en-US" sz="1400" dirty="0"/>
          </a:p>
        </p:txBody>
      </p:sp>
      <p:sp>
        <p:nvSpPr>
          <p:cNvPr id="12" name="Shape 10"/>
          <p:cNvSpPr/>
          <p:nvPr/>
        </p:nvSpPr>
        <p:spPr>
          <a:xfrm>
            <a:off x="4846320" y="1097280"/>
            <a:ext cx="3657600" cy="365760"/>
          </a:xfrm>
          <a:prstGeom prst="rect">
            <a:avLst/>
          </a:prstGeom>
          <a:solidFill>
            <a:srgbClr val="669933"/>
          </a:solidFill>
          <a:ln/>
        </p:spPr>
      </p:sp>
      <p:sp>
        <p:nvSpPr>
          <p:cNvPr id="13" name="Text 11"/>
          <p:cNvSpPr/>
          <p:nvPr/>
        </p:nvSpPr>
        <p:spPr>
          <a:xfrm>
            <a:off x="4846320" y="1097280"/>
            <a:ext cx="365760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FUTURE</a:t>
            </a:r>
            <a:endParaRPr lang="en-US" sz="1300" dirty="0"/>
          </a:p>
        </p:txBody>
      </p:sp>
      <p:sp>
        <p:nvSpPr>
          <p:cNvPr id="14" name="Text 12"/>
          <p:cNvSpPr/>
          <p:nvPr/>
        </p:nvSpPr>
        <p:spPr>
          <a:xfrm>
            <a:off x="4846320" y="1600200"/>
            <a:ext cx="3657600" cy="548640"/>
          </a:xfrm>
          <a:prstGeom prst="rect">
            <a:avLst/>
          </a:prstGeom>
          <a:noFill/>
          <a:ln/>
        </p:spPr>
        <p:txBody>
          <a:bodyPr wrap="square" lIns="0" tIns="0" rIns="0" bIns="0" rtlCol="0" anchor="ctr"/>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CEO asks in natural language → AI queries unified data → structured answer with sources</a:t>
            </a:r>
            <a:endParaRPr lang="en-US" sz="1200" dirty="0"/>
          </a:p>
        </p:txBody>
      </p:sp>
      <p:sp>
        <p:nvSpPr>
          <p:cNvPr id="15" name="Text 13"/>
          <p:cNvSpPr/>
          <p:nvPr/>
        </p:nvSpPr>
        <p:spPr>
          <a:xfrm>
            <a:off x="4846320" y="2194560"/>
            <a:ext cx="3657600" cy="274320"/>
          </a:xfrm>
          <a:prstGeom prst="rect">
            <a:avLst/>
          </a:prstGeom>
          <a:noFill/>
          <a:ln/>
        </p:spPr>
        <p:txBody>
          <a:bodyPr wrap="square" lIns="0" tIns="0" rIns="0" bIns="0" rtlCol="0" anchor="ctr"/>
          <a:lstStyle/>
          <a:p>
            <a:pPr indent="0" marL="0">
              <a:buNone/>
            </a:pPr>
            <a:r>
              <a:rPr lang="en-US" sz="1400" b="1" dirty="0">
                <a:solidFill>
                  <a:srgbClr val="669933"/>
                </a:solidFill>
                <a:latin typeface="Arial" pitchFamily="34" charset="0"/>
                <a:ea typeface="Arial" pitchFamily="34" charset="-122"/>
                <a:cs typeface="Arial" pitchFamily="34" charset="-120"/>
              </a:rPr>
              <a:t>Seconds</a:t>
            </a:r>
            <a:endParaRPr lang="en-US" sz="1400" dirty="0"/>
          </a:p>
        </p:txBody>
      </p:sp>
      <p:sp>
        <p:nvSpPr>
          <p:cNvPr id="16" name="Text 14"/>
          <p:cNvSpPr/>
          <p:nvPr/>
        </p:nvSpPr>
        <p:spPr>
          <a:xfrm>
            <a:off x="640080" y="2743200"/>
            <a:ext cx="7863840" cy="274320"/>
          </a:xfrm>
          <a:prstGeom prst="rect">
            <a:avLst/>
          </a:prstGeom>
          <a:noFill/>
          <a:ln/>
        </p:spPr>
        <p:txBody>
          <a:bodyPr wrap="square" lIns="0" tIns="0" rIns="0" bIns="0" rtlCol="0" anchor="ctr"/>
          <a:lstStyle/>
          <a:p>
            <a:pPr indent="0" marL="0">
              <a:buNone/>
            </a:pPr>
            <a:r>
              <a:rPr lang="en-US" sz="1200" b="1" dirty="0">
                <a:solidFill>
                  <a:srgbClr val="06418C"/>
                </a:solidFill>
                <a:latin typeface="Arial" pitchFamily="34" charset="0"/>
                <a:ea typeface="Arial" pitchFamily="34" charset="-122"/>
                <a:cs typeface="Arial" pitchFamily="34" charset="-120"/>
              </a:rPr>
              <a:t>Example queries:</a:t>
            </a:r>
            <a:endParaRPr lang="en-US" sz="1200" dirty="0"/>
          </a:p>
        </p:txBody>
      </p:sp>
      <p:sp>
        <p:nvSpPr>
          <p:cNvPr id="17" name="Shape 15"/>
          <p:cNvSpPr/>
          <p:nvPr/>
        </p:nvSpPr>
        <p:spPr>
          <a:xfrm>
            <a:off x="640080" y="3063240"/>
            <a:ext cx="7863840" cy="292608"/>
          </a:xfrm>
          <a:prstGeom prst="rect">
            <a:avLst/>
          </a:prstGeom>
          <a:solidFill>
            <a:srgbClr val="E8EFF7"/>
          </a:solidFill>
          <a:ln/>
        </p:spPr>
      </p:sp>
      <p:sp>
        <p:nvSpPr>
          <p:cNvPr id="18" name="Text 16"/>
          <p:cNvSpPr/>
          <p:nvPr/>
        </p:nvSpPr>
        <p:spPr>
          <a:xfrm>
            <a:off x="822960" y="3063240"/>
            <a:ext cx="7498080" cy="292608"/>
          </a:xfrm>
          <a:prstGeom prst="rect">
            <a:avLst/>
          </a:prstGeom>
          <a:noFill/>
          <a:ln/>
        </p:spPr>
        <p:txBody>
          <a:bodyPr wrap="square" lIns="0" tIns="0" rIns="0" bIns="0" rtlCol="0" anchor="ctr"/>
          <a:lstStyle/>
          <a:p>
            <a:pPr indent="0" marL="0">
              <a:buNone/>
            </a:pPr>
            <a:r>
              <a:rPr lang="en-US" sz="1100" i="1" dirty="0">
                <a:solidFill>
                  <a:srgbClr val="06418C"/>
                </a:solidFill>
                <a:latin typeface="Arial" pitchFamily="34" charset="0"/>
                <a:ea typeface="Arial" pitchFamily="34" charset="-122"/>
                <a:cs typeface="Arial" pitchFamily="34" charset="-120"/>
              </a:rPr>
              <a:t>"What's our yield trend at the Naka fab this quarter?"</a:t>
            </a:r>
            <a:endParaRPr lang="en-US" sz="1100" dirty="0"/>
          </a:p>
        </p:txBody>
      </p:sp>
      <p:sp>
        <p:nvSpPr>
          <p:cNvPr id="19" name="Shape 17"/>
          <p:cNvSpPr/>
          <p:nvPr/>
        </p:nvSpPr>
        <p:spPr>
          <a:xfrm>
            <a:off x="640080" y="3410712"/>
            <a:ext cx="7863840" cy="292608"/>
          </a:xfrm>
          <a:prstGeom prst="rect">
            <a:avLst/>
          </a:prstGeom>
          <a:solidFill>
            <a:srgbClr val="F5F6FA"/>
          </a:solidFill>
          <a:ln/>
        </p:spPr>
      </p:sp>
      <p:sp>
        <p:nvSpPr>
          <p:cNvPr id="20" name="Text 18"/>
          <p:cNvSpPr/>
          <p:nvPr/>
        </p:nvSpPr>
        <p:spPr>
          <a:xfrm>
            <a:off x="822960" y="3410712"/>
            <a:ext cx="7498080" cy="292608"/>
          </a:xfrm>
          <a:prstGeom prst="rect">
            <a:avLst/>
          </a:prstGeom>
          <a:noFill/>
          <a:ln/>
        </p:spPr>
        <p:txBody>
          <a:bodyPr wrap="square" lIns="0" tIns="0" rIns="0" bIns="0" rtlCol="0" anchor="ctr"/>
          <a:lstStyle/>
          <a:p>
            <a:pPr indent="0" marL="0">
              <a:buNone/>
            </a:pPr>
            <a:r>
              <a:rPr lang="en-US" sz="1100" i="1" dirty="0">
                <a:solidFill>
                  <a:srgbClr val="06418C"/>
                </a:solidFill>
                <a:latin typeface="Arial" pitchFamily="34" charset="0"/>
                <a:ea typeface="Arial" pitchFamily="34" charset="-122"/>
                <a:cs typeface="Arial" pitchFamily="34" charset="-120"/>
              </a:rPr>
              <a:t>"How does our R-Car pipeline compare to last year?"</a:t>
            </a:r>
            <a:endParaRPr lang="en-US" sz="1100" dirty="0"/>
          </a:p>
        </p:txBody>
      </p:sp>
      <p:sp>
        <p:nvSpPr>
          <p:cNvPr id="21" name="Shape 19"/>
          <p:cNvSpPr/>
          <p:nvPr/>
        </p:nvSpPr>
        <p:spPr>
          <a:xfrm>
            <a:off x="640080" y="3758184"/>
            <a:ext cx="7863840" cy="292608"/>
          </a:xfrm>
          <a:prstGeom prst="rect">
            <a:avLst/>
          </a:prstGeom>
          <a:solidFill>
            <a:srgbClr val="E8EFF7"/>
          </a:solidFill>
          <a:ln/>
        </p:spPr>
      </p:sp>
      <p:sp>
        <p:nvSpPr>
          <p:cNvPr id="22" name="Text 20"/>
          <p:cNvSpPr/>
          <p:nvPr/>
        </p:nvSpPr>
        <p:spPr>
          <a:xfrm>
            <a:off x="822960" y="3758184"/>
            <a:ext cx="7498080" cy="292608"/>
          </a:xfrm>
          <a:prstGeom prst="rect">
            <a:avLst/>
          </a:prstGeom>
          <a:noFill/>
          <a:ln/>
        </p:spPr>
        <p:txBody>
          <a:bodyPr wrap="square" lIns="0" tIns="0" rIns="0" bIns="0" rtlCol="0" anchor="ctr"/>
          <a:lstStyle/>
          <a:p>
            <a:pPr indent="0" marL="0">
              <a:buNone/>
            </a:pPr>
            <a:r>
              <a:rPr lang="en-US" sz="1100" i="1" dirty="0">
                <a:solidFill>
                  <a:srgbClr val="06418C"/>
                </a:solidFill>
                <a:latin typeface="Arial" pitchFamily="34" charset="0"/>
                <a:ea typeface="Arial" pitchFamily="34" charset="-122"/>
                <a:cs typeface="Arial" pitchFamily="34" charset="-120"/>
              </a:rPr>
              <a:t>"Which product groups have the longest time-to-revenue?"</a:t>
            </a:r>
            <a:endParaRPr lang="en-US" sz="110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R&amp;D: where AI creates asymmetric value.</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29</a:t>
            </a:r>
            <a:endParaRPr lang="en-US" sz="700" dirty="0"/>
          </a:p>
        </p:txBody>
      </p:sp>
      <p:sp>
        <p:nvSpPr>
          <p:cNvPr id="8" name="Shape 6"/>
          <p:cNvSpPr/>
          <p:nvPr/>
        </p:nvSpPr>
        <p:spPr>
          <a:xfrm>
            <a:off x="640080" y="1143000"/>
            <a:ext cx="411480" cy="411480"/>
          </a:xfrm>
          <a:prstGeom prst="ellipse">
            <a:avLst/>
          </a:prstGeom>
          <a:solidFill>
            <a:srgbClr val="06418C"/>
          </a:solidFill>
          <a:ln/>
        </p:spPr>
      </p:sp>
      <p:sp>
        <p:nvSpPr>
          <p:cNvPr id="9" name="Text 7"/>
          <p:cNvSpPr/>
          <p:nvPr/>
        </p:nvSpPr>
        <p:spPr>
          <a:xfrm>
            <a:off x="640080" y="1143000"/>
            <a:ext cx="411480" cy="41148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0" name="Text 8"/>
          <p:cNvSpPr/>
          <p:nvPr/>
        </p:nvSpPr>
        <p:spPr>
          <a:xfrm>
            <a:off x="1188720" y="1051560"/>
            <a:ext cx="2286000" cy="320040"/>
          </a:xfrm>
          <a:prstGeom prst="rect">
            <a:avLst/>
          </a:prstGeom>
          <a:noFill/>
          <a:ln/>
        </p:spPr>
        <p:txBody>
          <a:bodyPr wrap="square" lIns="0" tIns="0" rIns="0" bIns="0" rtlCol="0" anchor="ctr"/>
          <a:lstStyle/>
          <a:p>
            <a:pPr indent="0" marL="0">
              <a:buNone/>
            </a:pPr>
            <a:r>
              <a:rPr lang="en-US" sz="1500" b="1" dirty="0">
                <a:solidFill>
                  <a:srgbClr val="06418C"/>
                </a:solidFill>
                <a:latin typeface="Arial" pitchFamily="34" charset="0"/>
                <a:ea typeface="Arial" pitchFamily="34" charset="-122"/>
                <a:cs typeface="Arial" pitchFamily="34" charset="-120"/>
              </a:rPr>
              <a:t>Intelligent IP Reuse</a:t>
            </a:r>
            <a:endParaRPr lang="en-US" sz="1500" dirty="0"/>
          </a:p>
        </p:txBody>
      </p:sp>
      <p:sp>
        <p:nvSpPr>
          <p:cNvPr id="11" name="Text 9"/>
          <p:cNvSpPr/>
          <p:nvPr/>
        </p:nvSpPr>
        <p:spPr>
          <a:xfrm>
            <a:off x="1188720" y="1371600"/>
            <a:ext cx="3657600" cy="274320"/>
          </a:xfrm>
          <a:prstGeom prst="rect">
            <a:avLst/>
          </a:prstGeom>
          <a:noFill/>
          <a:ln/>
        </p:spPr>
        <p:txBody>
          <a:bodyPr wrap="square" lIns="0" tIns="0" rIns="0" bIns="0" rtlCol="0" anchor="ctr"/>
          <a:lstStyle/>
          <a:p>
            <a:pPr indent="0" marL="0">
              <a:buNone/>
            </a:pPr>
            <a:r>
              <a:rPr lang="en-US" sz="1000" dirty="0">
                <a:solidFill>
                  <a:srgbClr val="9D9D9D"/>
                </a:solidFill>
                <a:latin typeface="Arial" pitchFamily="34" charset="0"/>
                <a:ea typeface="Arial" pitchFamily="34" charset="-122"/>
                <a:cs typeface="Arial" pitchFamily="34" charset="-120"/>
              </a:rPr>
              <a:t>Engineers reinvent what exists. IP libraries unmapped across acquisitions.</a:t>
            </a:r>
            <a:endParaRPr lang="en-US" sz="1000" dirty="0"/>
          </a:p>
        </p:txBody>
      </p:sp>
      <p:sp>
        <p:nvSpPr>
          <p:cNvPr id="12" name="Text 10"/>
          <p:cNvSpPr/>
          <p:nvPr/>
        </p:nvSpPr>
        <p:spPr>
          <a:xfrm>
            <a:off x="1188720" y="1600200"/>
            <a:ext cx="3657600" cy="274320"/>
          </a:xfrm>
          <a:prstGeom prst="rect">
            <a:avLst/>
          </a:prstGeom>
          <a:noFill/>
          <a:ln/>
        </p:spPr>
        <p:txBody>
          <a:bodyPr wrap="square" lIns="0" tIns="0" rIns="0" bIns="0" rtlCol="0" anchor="ctr"/>
          <a:lstStyle/>
          <a:p>
            <a:pPr indent="0" marL="0">
              <a:buNone/>
            </a:pPr>
            <a:r>
              <a:rPr lang="en-US" sz="1000" dirty="0">
                <a:solidFill>
                  <a:srgbClr val="4A4A4A"/>
                </a:solidFill>
                <a:latin typeface="Arial" pitchFamily="34" charset="0"/>
                <a:ea typeface="Arial" pitchFamily="34" charset="-122"/>
                <a:cs typeface="Arial" pitchFamily="34" charset="-120"/>
              </a:rPr>
              <a:t>Knowledge graph indexing all IP blocks, queryable in natural language.</a:t>
            </a:r>
            <a:endParaRPr lang="en-US" sz="1000" dirty="0"/>
          </a:p>
        </p:txBody>
      </p:sp>
      <p:sp>
        <p:nvSpPr>
          <p:cNvPr id="13" name="Shape 11"/>
          <p:cNvSpPr/>
          <p:nvPr/>
        </p:nvSpPr>
        <p:spPr>
          <a:xfrm>
            <a:off x="5760720" y="1188720"/>
            <a:ext cx="2743200" cy="457200"/>
          </a:xfrm>
          <a:prstGeom prst="rect">
            <a:avLst/>
          </a:prstGeom>
          <a:solidFill>
            <a:srgbClr val="06418C"/>
          </a:solidFill>
          <a:ln/>
        </p:spPr>
      </p:sp>
      <p:sp>
        <p:nvSpPr>
          <p:cNvPr id="14" name="Text 12"/>
          <p:cNvSpPr/>
          <p:nvPr/>
        </p:nvSpPr>
        <p:spPr>
          <a:xfrm>
            <a:off x="5760720" y="1188720"/>
            <a:ext cx="2743200" cy="45720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15-25% NPI cycle time reduction</a:t>
            </a:r>
            <a:endParaRPr lang="en-US" sz="1100" dirty="0"/>
          </a:p>
        </p:txBody>
      </p:sp>
      <p:sp>
        <p:nvSpPr>
          <p:cNvPr id="15" name="Shape 13"/>
          <p:cNvSpPr/>
          <p:nvPr/>
        </p:nvSpPr>
        <p:spPr>
          <a:xfrm>
            <a:off x="640080" y="2148840"/>
            <a:ext cx="411480" cy="411480"/>
          </a:xfrm>
          <a:prstGeom prst="ellipse">
            <a:avLst/>
          </a:prstGeom>
          <a:solidFill>
            <a:srgbClr val="4471A9"/>
          </a:solidFill>
          <a:ln/>
        </p:spPr>
      </p:sp>
      <p:sp>
        <p:nvSpPr>
          <p:cNvPr id="16" name="Text 14"/>
          <p:cNvSpPr/>
          <p:nvPr/>
        </p:nvSpPr>
        <p:spPr>
          <a:xfrm>
            <a:off x="640080" y="2148840"/>
            <a:ext cx="411480" cy="41148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7" name="Text 15"/>
          <p:cNvSpPr/>
          <p:nvPr/>
        </p:nvSpPr>
        <p:spPr>
          <a:xfrm>
            <a:off x="1188720" y="2057400"/>
            <a:ext cx="2286000" cy="320040"/>
          </a:xfrm>
          <a:prstGeom prst="rect">
            <a:avLst/>
          </a:prstGeom>
          <a:noFill/>
          <a:ln/>
        </p:spPr>
        <p:txBody>
          <a:bodyPr wrap="square" lIns="0" tIns="0" rIns="0" bIns="0" rtlCol="0" anchor="ctr"/>
          <a:lstStyle/>
          <a:p>
            <a:pPr indent="0" marL="0">
              <a:buNone/>
            </a:pPr>
            <a:r>
              <a:rPr lang="en-US" sz="1500" b="1" dirty="0">
                <a:solidFill>
                  <a:srgbClr val="06418C"/>
                </a:solidFill>
                <a:latin typeface="Arial" pitchFamily="34" charset="0"/>
                <a:ea typeface="Arial" pitchFamily="34" charset="-122"/>
                <a:cs typeface="Arial" pitchFamily="34" charset="-120"/>
              </a:rPr>
              <a:t>AI-Assisted Design Review</a:t>
            </a:r>
            <a:endParaRPr lang="en-US" sz="1500" dirty="0"/>
          </a:p>
        </p:txBody>
      </p:sp>
      <p:sp>
        <p:nvSpPr>
          <p:cNvPr id="18" name="Text 16"/>
          <p:cNvSpPr/>
          <p:nvPr/>
        </p:nvSpPr>
        <p:spPr>
          <a:xfrm>
            <a:off x="1188720" y="2377440"/>
            <a:ext cx="3657600" cy="274320"/>
          </a:xfrm>
          <a:prstGeom prst="rect">
            <a:avLst/>
          </a:prstGeom>
          <a:noFill/>
          <a:ln/>
        </p:spPr>
        <p:txBody>
          <a:bodyPr wrap="square" lIns="0" tIns="0" rIns="0" bIns="0" rtlCol="0" anchor="ctr"/>
          <a:lstStyle/>
          <a:p>
            <a:pPr indent="0" marL="0">
              <a:buNone/>
            </a:pPr>
            <a:r>
              <a:rPr lang="en-US" sz="1000" dirty="0">
                <a:solidFill>
                  <a:srgbClr val="9D9D9D"/>
                </a:solidFill>
                <a:latin typeface="Arial" pitchFamily="34" charset="0"/>
                <a:ea typeface="Arial" pitchFamily="34" charset="-122"/>
                <a:cs typeface="Arial" pitchFamily="34" charset="-120"/>
              </a:rPr>
              <a:t>Reviews are manual and miss patterns humans always miss.</a:t>
            </a:r>
            <a:endParaRPr lang="en-US" sz="1000" dirty="0"/>
          </a:p>
        </p:txBody>
      </p:sp>
      <p:sp>
        <p:nvSpPr>
          <p:cNvPr id="19" name="Text 17"/>
          <p:cNvSpPr/>
          <p:nvPr/>
        </p:nvSpPr>
        <p:spPr>
          <a:xfrm>
            <a:off x="1188720" y="2606040"/>
            <a:ext cx="3657600" cy="274320"/>
          </a:xfrm>
          <a:prstGeom prst="rect">
            <a:avLst/>
          </a:prstGeom>
          <a:noFill/>
          <a:ln/>
        </p:spPr>
        <p:txBody>
          <a:bodyPr wrap="square" lIns="0" tIns="0" rIns="0" bIns="0" rtlCol="0" anchor="ctr"/>
          <a:lstStyle/>
          <a:p>
            <a:pPr indent="0" marL="0">
              <a:buNone/>
            </a:pPr>
            <a:r>
              <a:rPr lang="en-US" sz="1000" dirty="0">
                <a:solidFill>
                  <a:srgbClr val="4A4A4A"/>
                </a:solidFill>
                <a:latin typeface="Arial" pitchFamily="34" charset="0"/>
                <a:ea typeface="Arial" pitchFamily="34" charset="-122"/>
                <a:cs typeface="Arial" pitchFamily="34" charset="-120"/>
              </a:rPr>
              <a:t>AI trained on historical data flags failure patterns before tape-out.</a:t>
            </a:r>
            <a:endParaRPr lang="en-US" sz="1000" dirty="0"/>
          </a:p>
        </p:txBody>
      </p:sp>
      <p:sp>
        <p:nvSpPr>
          <p:cNvPr id="20" name="Shape 18"/>
          <p:cNvSpPr/>
          <p:nvPr/>
        </p:nvSpPr>
        <p:spPr>
          <a:xfrm>
            <a:off x="5760720" y="2194560"/>
            <a:ext cx="2743200" cy="457200"/>
          </a:xfrm>
          <a:prstGeom prst="rect">
            <a:avLst/>
          </a:prstGeom>
          <a:solidFill>
            <a:srgbClr val="4471A9"/>
          </a:solidFill>
          <a:ln/>
        </p:spPr>
      </p:sp>
      <p:sp>
        <p:nvSpPr>
          <p:cNvPr id="21" name="Text 19"/>
          <p:cNvSpPr/>
          <p:nvPr/>
        </p:nvSpPr>
        <p:spPr>
          <a:xfrm>
            <a:off x="5760720" y="2194560"/>
            <a:ext cx="2743200" cy="45720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Each spin avoided = $10M+ and 3-6 months</a:t>
            </a:r>
            <a:endParaRPr lang="en-US" sz="1100" dirty="0"/>
          </a:p>
        </p:txBody>
      </p:sp>
      <p:sp>
        <p:nvSpPr>
          <p:cNvPr id="22" name="Shape 20"/>
          <p:cNvSpPr/>
          <p:nvPr/>
        </p:nvSpPr>
        <p:spPr>
          <a:xfrm>
            <a:off x="640080" y="3154680"/>
            <a:ext cx="411480" cy="411480"/>
          </a:xfrm>
          <a:prstGeom prst="ellipse">
            <a:avLst/>
          </a:prstGeom>
          <a:solidFill>
            <a:srgbClr val="0891B2"/>
          </a:solidFill>
          <a:ln/>
        </p:spPr>
      </p:sp>
      <p:sp>
        <p:nvSpPr>
          <p:cNvPr id="23" name="Text 21"/>
          <p:cNvSpPr/>
          <p:nvPr/>
        </p:nvSpPr>
        <p:spPr>
          <a:xfrm>
            <a:off x="640080" y="3154680"/>
            <a:ext cx="411480" cy="41148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4" name="Text 22"/>
          <p:cNvSpPr/>
          <p:nvPr/>
        </p:nvSpPr>
        <p:spPr>
          <a:xfrm>
            <a:off x="1188720" y="3063240"/>
            <a:ext cx="2286000" cy="320040"/>
          </a:xfrm>
          <a:prstGeom prst="rect">
            <a:avLst/>
          </a:prstGeom>
          <a:noFill/>
          <a:ln/>
        </p:spPr>
        <p:txBody>
          <a:bodyPr wrap="square" lIns="0" tIns="0" rIns="0" bIns="0" rtlCol="0" anchor="ctr"/>
          <a:lstStyle/>
          <a:p>
            <a:pPr indent="0" marL="0">
              <a:buNone/>
            </a:pPr>
            <a:r>
              <a:rPr lang="en-US" sz="1500" b="1" dirty="0">
                <a:solidFill>
                  <a:srgbClr val="06418C"/>
                </a:solidFill>
                <a:latin typeface="Arial" pitchFamily="34" charset="0"/>
                <a:ea typeface="Arial" pitchFamily="34" charset="-122"/>
                <a:cs typeface="Arial" pitchFamily="34" charset="-120"/>
              </a:rPr>
              <a:t>Spec-to-Architecture</a:t>
            </a:r>
            <a:endParaRPr lang="en-US" sz="1500" dirty="0"/>
          </a:p>
        </p:txBody>
      </p:sp>
      <p:sp>
        <p:nvSpPr>
          <p:cNvPr id="25" name="Text 23"/>
          <p:cNvSpPr/>
          <p:nvPr/>
        </p:nvSpPr>
        <p:spPr>
          <a:xfrm>
            <a:off x="1188720" y="3383280"/>
            <a:ext cx="3657600" cy="274320"/>
          </a:xfrm>
          <a:prstGeom prst="rect">
            <a:avLst/>
          </a:prstGeom>
          <a:noFill/>
          <a:ln/>
        </p:spPr>
        <p:txBody>
          <a:bodyPr wrap="square" lIns="0" tIns="0" rIns="0" bIns="0" rtlCol="0" anchor="ctr"/>
          <a:lstStyle/>
          <a:p>
            <a:pPr indent="0" marL="0">
              <a:buNone/>
            </a:pPr>
            <a:r>
              <a:rPr lang="en-US" sz="1000" dirty="0">
                <a:solidFill>
                  <a:srgbClr val="9D9D9D"/>
                </a:solidFill>
                <a:latin typeface="Arial" pitchFamily="34" charset="0"/>
                <a:ea typeface="Arial" pitchFamily="34" charset="-122"/>
                <a:cs typeface="Arial" pitchFamily="34" charset="-120"/>
              </a:rPr>
              <a:t>Getting from requirements to initial architecture is slow.</a:t>
            </a:r>
            <a:endParaRPr lang="en-US" sz="1000" dirty="0"/>
          </a:p>
        </p:txBody>
      </p:sp>
      <p:sp>
        <p:nvSpPr>
          <p:cNvPr id="26" name="Text 24"/>
          <p:cNvSpPr/>
          <p:nvPr/>
        </p:nvSpPr>
        <p:spPr>
          <a:xfrm>
            <a:off x="1188720" y="3611880"/>
            <a:ext cx="3657600" cy="274320"/>
          </a:xfrm>
          <a:prstGeom prst="rect">
            <a:avLst/>
          </a:prstGeom>
          <a:noFill/>
          <a:ln/>
        </p:spPr>
        <p:txBody>
          <a:bodyPr wrap="square" lIns="0" tIns="0" rIns="0" bIns="0" rtlCol="0" anchor="ctr"/>
          <a:lstStyle/>
          <a:p>
            <a:pPr indent="0" marL="0">
              <a:buNone/>
            </a:pPr>
            <a:r>
              <a:rPr lang="en-US" sz="1000" dirty="0">
                <a:solidFill>
                  <a:srgbClr val="4A4A4A"/>
                </a:solidFill>
                <a:latin typeface="Arial" pitchFamily="34" charset="0"/>
                <a:ea typeface="Arial" pitchFamily="34" charset="-122"/>
                <a:cs typeface="Arial" pitchFamily="34" charset="-120"/>
              </a:rPr>
              <a:t>LLM fine-tuned on Renesas design corpus assists exploration.</a:t>
            </a:r>
            <a:endParaRPr lang="en-US" sz="1000" dirty="0"/>
          </a:p>
        </p:txBody>
      </p:sp>
      <p:sp>
        <p:nvSpPr>
          <p:cNvPr id="27" name="Shape 25"/>
          <p:cNvSpPr/>
          <p:nvPr/>
        </p:nvSpPr>
        <p:spPr>
          <a:xfrm>
            <a:off x="5760720" y="3200400"/>
            <a:ext cx="2743200" cy="457200"/>
          </a:xfrm>
          <a:prstGeom prst="rect">
            <a:avLst/>
          </a:prstGeom>
          <a:solidFill>
            <a:srgbClr val="0891B2"/>
          </a:solidFill>
          <a:ln/>
        </p:spPr>
      </p:sp>
      <p:sp>
        <p:nvSpPr>
          <p:cNvPr id="28" name="Text 26"/>
          <p:cNvSpPr/>
          <p:nvPr/>
        </p:nvSpPr>
        <p:spPr>
          <a:xfrm>
            <a:off x="5760720" y="3200400"/>
            <a:ext cx="2743200" cy="45720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Engineers focus on novel problems, not boilerplate</a:t>
            </a:r>
            <a:endParaRPr lang="en-US" sz="1100" dirty="0"/>
          </a:p>
        </p:txBody>
      </p:sp>
      <p:sp>
        <p:nvSpPr>
          <p:cNvPr id="29" name="Shape 27"/>
          <p:cNvSpPr/>
          <p:nvPr/>
        </p:nvSpPr>
        <p:spPr>
          <a:xfrm>
            <a:off x="640080" y="4114800"/>
            <a:ext cx="7863840" cy="45720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30" name="Text 28"/>
          <p:cNvSpPr/>
          <p:nvPr/>
        </p:nvSpPr>
        <p:spPr>
          <a:xfrm>
            <a:off x="822960" y="4114800"/>
            <a:ext cx="7498080" cy="457200"/>
          </a:xfrm>
          <a:prstGeom prst="rect">
            <a:avLst/>
          </a:prstGeom>
          <a:noFill/>
          <a:ln/>
        </p:spPr>
        <p:txBody>
          <a:bodyPr wrap="square" lIns="0" tIns="0" rIns="0" bIns="0" rtlCol="0" anchor="ctr"/>
          <a:lstStyle/>
          <a:p>
            <a:pPr indent="0" marL="0">
              <a:buNone/>
            </a:pPr>
            <a:r>
              <a:rPr lang="en-US" sz="1300" b="1" i="1" dirty="0">
                <a:solidFill>
                  <a:srgbClr val="06418C"/>
                </a:solidFill>
                <a:latin typeface="Arial" pitchFamily="34" charset="0"/>
                <a:ea typeface="Arial" pitchFamily="34" charset="-122"/>
                <a:cs typeface="Arial" pitchFamily="34" charset="-120"/>
              </a:rPr>
              <a:t>Preventing 2-3 spins per year pays for the entire Phase 1 investment.</a:t>
            </a:r>
            <a:endParaRPr lang="en-US" sz="1300"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The factory floor is a data source we aren't fully using.</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30</a:t>
            </a:r>
            <a:endParaRPr lang="en-US" sz="700" dirty="0"/>
          </a:p>
        </p:txBody>
      </p:sp>
      <p:sp>
        <p:nvSpPr>
          <p:cNvPr id="8" name="Shape 6"/>
          <p:cNvSpPr/>
          <p:nvPr/>
        </p:nvSpPr>
        <p:spPr>
          <a:xfrm>
            <a:off x="640080" y="1188720"/>
            <a:ext cx="2468880" cy="24688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9" name="Shape 7"/>
          <p:cNvSpPr/>
          <p:nvPr/>
        </p:nvSpPr>
        <p:spPr>
          <a:xfrm>
            <a:off x="1417320" y="1325880"/>
            <a:ext cx="731520" cy="731520"/>
          </a:xfrm>
          <a:prstGeom prst="ellipse">
            <a:avLst/>
          </a:prstGeom>
          <a:solidFill>
            <a:srgbClr val="E8EFF7"/>
          </a:solidFill>
          <a:ln/>
        </p:spPr>
      </p:sp>
      <p:pic>
        <p:nvPicPr>
          <p:cNvPr id="10" name="Image 0" descr="preencoded.png"/>
          <p:cNvPicPr>
            <a:picLocks noChangeAspect="1"/>
          </p:cNvPicPr>
          <p:nvPr/>
        </p:nvPicPr>
        <p:blipFill>
          <a:blip r:embed="rId1"/>
          <a:stretch>
            <a:fillRect/>
          </a:stretch>
        </p:blipFill>
        <p:spPr>
          <a:xfrm>
            <a:off x="1554480" y="1463040"/>
            <a:ext cx="457200" cy="457200"/>
          </a:xfrm>
          <a:prstGeom prst="rect">
            <a:avLst/>
          </a:prstGeom>
        </p:spPr>
      </p:pic>
      <p:sp>
        <p:nvSpPr>
          <p:cNvPr id="11" name="Text 8"/>
          <p:cNvSpPr/>
          <p:nvPr/>
        </p:nvSpPr>
        <p:spPr>
          <a:xfrm>
            <a:off x="777240" y="2148840"/>
            <a:ext cx="2194560" cy="320040"/>
          </a:xfrm>
          <a:prstGeom prst="rect">
            <a:avLst/>
          </a:prstGeom>
          <a:noFill/>
          <a:ln/>
        </p:spPr>
        <p:txBody>
          <a:bodyPr wrap="square" lIns="0" tIns="0" rIns="0" bIns="0" rtlCol="0" anchor="ctr"/>
          <a:lstStyle/>
          <a:p>
            <a:pPr algn="ctr" indent="0" marL="0">
              <a:buNone/>
            </a:pPr>
            <a:r>
              <a:rPr lang="en-US" sz="1400" b="1" dirty="0">
                <a:solidFill>
                  <a:srgbClr val="06418C"/>
                </a:solidFill>
                <a:latin typeface="Arial" pitchFamily="34" charset="0"/>
                <a:ea typeface="Arial" pitchFamily="34" charset="-122"/>
                <a:cs typeface="Arial" pitchFamily="34" charset="-120"/>
              </a:rPr>
              <a:t>Predictive Maintenance</a:t>
            </a:r>
            <a:endParaRPr lang="en-US" sz="1400" dirty="0"/>
          </a:p>
        </p:txBody>
      </p:sp>
      <p:sp>
        <p:nvSpPr>
          <p:cNvPr id="12" name="Text 9"/>
          <p:cNvSpPr/>
          <p:nvPr/>
        </p:nvSpPr>
        <p:spPr>
          <a:xfrm>
            <a:off x="777240" y="2514600"/>
            <a:ext cx="2194560" cy="1005840"/>
          </a:xfrm>
          <a:prstGeom prst="rect">
            <a:avLst/>
          </a:prstGeom>
          <a:noFill/>
          <a:ln/>
        </p:spPr>
        <p:txBody>
          <a:bodyPr wrap="square" lIns="0" tIns="0" rIns="0" bIns="0" rtlCol="0" anchor="ctr"/>
          <a:lstStyle/>
          <a:p>
            <a:pPr algn="ctr" indent="0" marL="0">
              <a:lnSpc>
                <a:spcPct val="120000"/>
              </a:lnSpc>
              <a:buNone/>
            </a:pPr>
            <a:r>
              <a:rPr lang="en-US" sz="1100" dirty="0">
                <a:solidFill>
                  <a:srgbClr val="4A4A4A"/>
                </a:solidFill>
                <a:latin typeface="Arial" pitchFamily="34" charset="0"/>
                <a:ea typeface="Arial" pitchFamily="34" charset="-122"/>
                <a:cs typeface="Arial" pitchFamily="34" charset="-120"/>
              </a:rPr>
              <a:t>Sensor data + ML predict equipment failure before it happens. Intel achieved 20% reduction in unplanned downtime.</a:t>
            </a:r>
            <a:endParaRPr lang="en-US" sz="1100" dirty="0"/>
          </a:p>
        </p:txBody>
      </p:sp>
      <p:sp>
        <p:nvSpPr>
          <p:cNvPr id="13" name="Shape 10"/>
          <p:cNvSpPr/>
          <p:nvPr/>
        </p:nvSpPr>
        <p:spPr>
          <a:xfrm>
            <a:off x="3337560" y="1188720"/>
            <a:ext cx="2468880" cy="24688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4" name="Shape 11"/>
          <p:cNvSpPr/>
          <p:nvPr/>
        </p:nvSpPr>
        <p:spPr>
          <a:xfrm>
            <a:off x="4114800" y="1325880"/>
            <a:ext cx="731520" cy="731520"/>
          </a:xfrm>
          <a:prstGeom prst="ellipse">
            <a:avLst/>
          </a:prstGeom>
          <a:solidFill>
            <a:srgbClr val="E8EFF7"/>
          </a:solidFill>
          <a:ln/>
        </p:spPr>
      </p:sp>
      <p:pic>
        <p:nvPicPr>
          <p:cNvPr id="15" name="Image 1" descr="preencoded.png"/>
          <p:cNvPicPr>
            <a:picLocks noChangeAspect="1"/>
          </p:cNvPicPr>
          <p:nvPr/>
        </p:nvPicPr>
        <p:blipFill>
          <a:blip r:embed="rId2"/>
          <a:stretch>
            <a:fillRect/>
          </a:stretch>
        </p:blipFill>
        <p:spPr>
          <a:xfrm>
            <a:off x="4251960" y="1463040"/>
            <a:ext cx="457200" cy="457200"/>
          </a:xfrm>
          <a:prstGeom prst="rect">
            <a:avLst/>
          </a:prstGeom>
        </p:spPr>
      </p:pic>
      <p:sp>
        <p:nvSpPr>
          <p:cNvPr id="16" name="Text 12"/>
          <p:cNvSpPr/>
          <p:nvPr/>
        </p:nvSpPr>
        <p:spPr>
          <a:xfrm>
            <a:off x="3474720" y="2148840"/>
            <a:ext cx="2194560" cy="320040"/>
          </a:xfrm>
          <a:prstGeom prst="rect">
            <a:avLst/>
          </a:prstGeom>
          <a:noFill/>
          <a:ln/>
        </p:spPr>
        <p:txBody>
          <a:bodyPr wrap="square" lIns="0" tIns="0" rIns="0" bIns="0" rtlCol="0" anchor="ctr"/>
          <a:lstStyle/>
          <a:p>
            <a:pPr algn="ctr" indent="0" marL="0">
              <a:buNone/>
            </a:pPr>
            <a:r>
              <a:rPr lang="en-US" sz="1400" b="1" dirty="0">
                <a:solidFill>
                  <a:srgbClr val="06418C"/>
                </a:solidFill>
                <a:latin typeface="Arial" pitchFamily="34" charset="0"/>
                <a:ea typeface="Arial" pitchFamily="34" charset="-122"/>
                <a:cs typeface="Arial" pitchFamily="34" charset="-120"/>
              </a:rPr>
              <a:t>Yield Optimization</a:t>
            </a:r>
            <a:endParaRPr lang="en-US" sz="1400" dirty="0"/>
          </a:p>
        </p:txBody>
      </p:sp>
      <p:sp>
        <p:nvSpPr>
          <p:cNvPr id="17" name="Text 13"/>
          <p:cNvSpPr/>
          <p:nvPr/>
        </p:nvSpPr>
        <p:spPr>
          <a:xfrm>
            <a:off x="3474720" y="2514600"/>
            <a:ext cx="2194560" cy="1005840"/>
          </a:xfrm>
          <a:prstGeom prst="rect">
            <a:avLst/>
          </a:prstGeom>
          <a:noFill/>
          <a:ln/>
        </p:spPr>
        <p:txBody>
          <a:bodyPr wrap="square" lIns="0" tIns="0" rIns="0" bIns="0" rtlCol="0" anchor="ctr"/>
          <a:lstStyle/>
          <a:p>
            <a:pPr algn="ctr" indent="0" marL="0">
              <a:lnSpc>
                <a:spcPct val="120000"/>
              </a:lnSpc>
              <a:buNone/>
            </a:pPr>
            <a:r>
              <a:rPr lang="en-US" sz="1100" dirty="0">
                <a:solidFill>
                  <a:srgbClr val="4A4A4A"/>
                </a:solidFill>
                <a:latin typeface="Arial" pitchFamily="34" charset="0"/>
                <a:ea typeface="Arial" pitchFamily="34" charset="-122"/>
                <a:cs typeface="Arial" pitchFamily="34" charset="-120"/>
              </a:rPr>
              <a:t>ML identifies process variables correlated with yield loss. Even 0.5% improvement at Renesas volumes = significant cost recovery.</a:t>
            </a:r>
            <a:endParaRPr lang="en-US" sz="1100" dirty="0"/>
          </a:p>
        </p:txBody>
      </p:sp>
      <p:sp>
        <p:nvSpPr>
          <p:cNvPr id="18" name="Shape 14"/>
          <p:cNvSpPr/>
          <p:nvPr/>
        </p:nvSpPr>
        <p:spPr>
          <a:xfrm>
            <a:off x="6035040" y="1188720"/>
            <a:ext cx="2468880" cy="24688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9" name="Shape 15"/>
          <p:cNvSpPr/>
          <p:nvPr/>
        </p:nvSpPr>
        <p:spPr>
          <a:xfrm>
            <a:off x="6812280" y="1325880"/>
            <a:ext cx="731520" cy="731520"/>
          </a:xfrm>
          <a:prstGeom prst="ellipse">
            <a:avLst/>
          </a:prstGeom>
          <a:solidFill>
            <a:srgbClr val="E8EFF7"/>
          </a:solidFill>
          <a:ln/>
        </p:spPr>
      </p:sp>
      <p:pic>
        <p:nvPicPr>
          <p:cNvPr id="20" name="Image 2" descr="preencoded.png"/>
          <p:cNvPicPr>
            <a:picLocks noChangeAspect="1"/>
          </p:cNvPicPr>
          <p:nvPr/>
        </p:nvPicPr>
        <p:blipFill>
          <a:blip r:embed="rId3"/>
          <a:stretch>
            <a:fillRect/>
          </a:stretch>
        </p:blipFill>
        <p:spPr>
          <a:xfrm>
            <a:off x="6949440" y="1463040"/>
            <a:ext cx="457200" cy="457200"/>
          </a:xfrm>
          <a:prstGeom prst="rect">
            <a:avLst/>
          </a:prstGeom>
        </p:spPr>
      </p:pic>
      <p:sp>
        <p:nvSpPr>
          <p:cNvPr id="21" name="Text 16"/>
          <p:cNvSpPr/>
          <p:nvPr/>
        </p:nvSpPr>
        <p:spPr>
          <a:xfrm>
            <a:off x="6172200" y="2148840"/>
            <a:ext cx="2194560" cy="320040"/>
          </a:xfrm>
          <a:prstGeom prst="rect">
            <a:avLst/>
          </a:prstGeom>
          <a:noFill/>
          <a:ln/>
        </p:spPr>
        <p:txBody>
          <a:bodyPr wrap="square" lIns="0" tIns="0" rIns="0" bIns="0" rtlCol="0" anchor="ctr"/>
          <a:lstStyle/>
          <a:p>
            <a:pPr algn="ctr" indent="0" marL="0">
              <a:buNone/>
            </a:pPr>
            <a:r>
              <a:rPr lang="en-US" sz="1400" b="1" dirty="0">
                <a:solidFill>
                  <a:srgbClr val="06418C"/>
                </a:solidFill>
                <a:latin typeface="Arial" pitchFamily="34" charset="0"/>
                <a:ea typeface="Arial" pitchFamily="34" charset="-122"/>
                <a:cs typeface="Arial" pitchFamily="34" charset="-120"/>
              </a:rPr>
              <a:t>Defect Detection</a:t>
            </a:r>
            <a:endParaRPr lang="en-US" sz="1400" dirty="0"/>
          </a:p>
        </p:txBody>
      </p:sp>
      <p:sp>
        <p:nvSpPr>
          <p:cNvPr id="22" name="Text 17"/>
          <p:cNvSpPr/>
          <p:nvPr/>
        </p:nvSpPr>
        <p:spPr>
          <a:xfrm>
            <a:off x="6172200" y="2514600"/>
            <a:ext cx="2194560" cy="1005840"/>
          </a:xfrm>
          <a:prstGeom prst="rect">
            <a:avLst/>
          </a:prstGeom>
          <a:noFill/>
          <a:ln/>
        </p:spPr>
        <p:txBody>
          <a:bodyPr wrap="square" lIns="0" tIns="0" rIns="0" bIns="0" rtlCol="0" anchor="ctr"/>
          <a:lstStyle/>
          <a:p>
            <a:pPr algn="ctr" indent="0" marL="0">
              <a:lnSpc>
                <a:spcPct val="120000"/>
              </a:lnSpc>
              <a:buNone/>
            </a:pPr>
            <a:r>
              <a:rPr lang="en-US" sz="1100" dirty="0">
                <a:solidFill>
                  <a:srgbClr val="4A4A4A"/>
                </a:solidFill>
                <a:latin typeface="Arial" pitchFamily="34" charset="0"/>
                <a:ea typeface="Arial" pitchFamily="34" charset="-122"/>
                <a:cs typeface="Arial" pitchFamily="34" charset="-120"/>
              </a:rPr>
              <a:t>Computer vision on wafer inspection. Straightforward deployment, high ROI, low resistance — natural Phase 1 target.</a:t>
            </a:r>
            <a:endParaRPr lang="en-US" sz="1100"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400" b="1" dirty="0">
                <a:solidFill>
                  <a:srgbClr val="06418C"/>
                </a:solidFill>
                <a:latin typeface="Arial" pitchFamily="34" charset="0"/>
                <a:ea typeface="Arial" pitchFamily="34" charset="-122"/>
                <a:cs typeface="Arial" pitchFamily="34" charset="-120"/>
              </a:rPr>
              <a:t>Supply chain fragility is a strategic risk. AI makes it manageable.</a:t>
            </a:r>
            <a:endParaRPr lang="en-US" sz="24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31</a:t>
            </a:r>
            <a:endParaRPr lang="en-US" sz="700" dirty="0"/>
          </a:p>
        </p:txBody>
      </p:sp>
      <p:sp>
        <p:nvSpPr>
          <p:cNvPr id="8" name="Shape 6"/>
          <p:cNvSpPr/>
          <p:nvPr/>
        </p:nvSpPr>
        <p:spPr>
          <a:xfrm>
            <a:off x="640080" y="1097280"/>
            <a:ext cx="64008" cy="777240"/>
          </a:xfrm>
          <a:prstGeom prst="rect">
            <a:avLst/>
          </a:prstGeom>
          <a:solidFill>
            <a:srgbClr val="06418C"/>
          </a:solidFill>
          <a:ln/>
        </p:spPr>
      </p:sp>
      <p:sp>
        <p:nvSpPr>
          <p:cNvPr id="9" name="Text 7"/>
          <p:cNvSpPr/>
          <p:nvPr/>
        </p:nvSpPr>
        <p:spPr>
          <a:xfrm>
            <a:off x="914400" y="1115568"/>
            <a:ext cx="2743200" cy="320040"/>
          </a:xfrm>
          <a:prstGeom prst="rect">
            <a:avLst/>
          </a:prstGeom>
          <a:noFill/>
          <a:ln/>
        </p:spPr>
        <p:txBody>
          <a:bodyPr wrap="square" lIns="0" tIns="0" rIns="0" bIns="0" rtlCol="0" anchor="ctr"/>
          <a:lstStyle/>
          <a:p>
            <a:pPr indent="0" marL="0">
              <a:buNone/>
            </a:pPr>
            <a:r>
              <a:rPr lang="en-US" sz="1500" b="1" dirty="0">
                <a:solidFill>
                  <a:srgbClr val="06418C"/>
                </a:solidFill>
                <a:latin typeface="Arial" pitchFamily="34" charset="0"/>
                <a:ea typeface="Arial" pitchFamily="34" charset="-122"/>
                <a:cs typeface="Arial" pitchFamily="34" charset="-120"/>
              </a:rPr>
              <a:t>Demand Sensing</a:t>
            </a:r>
            <a:endParaRPr lang="en-US" sz="1500" dirty="0"/>
          </a:p>
        </p:txBody>
      </p:sp>
      <p:sp>
        <p:nvSpPr>
          <p:cNvPr id="10" name="Text 8"/>
          <p:cNvSpPr/>
          <p:nvPr/>
        </p:nvSpPr>
        <p:spPr>
          <a:xfrm>
            <a:off x="3657600" y="1115568"/>
            <a:ext cx="4846320" cy="731520"/>
          </a:xfrm>
          <a:prstGeom prst="rect">
            <a:avLst/>
          </a:prstGeom>
          <a:noFill/>
          <a:ln/>
        </p:spPr>
        <p:txBody>
          <a:bodyPr wrap="square" lIns="0" tIns="0" rIns="0" bIns="0" rtlCol="0" anchor="ctr"/>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Forward-looking signal detection replaces backward-looking forecasting. Customer order patterns + macro signals = reduced excess inventory.</a:t>
            </a:r>
            <a:endParaRPr lang="en-US" sz="1200" dirty="0"/>
          </a:p>
        </p:txBody>
      </p:sp>
      <p:sp>
        <p:nvSpPr>
          <p:cNvPr id="11" name="Shape 9"/>
          <p:cNvSpPr/>
          <p:nvPr/>
        </p:nvSpPr>
        <p:spPr>
          <a:xfrm>
            <a:off x="640080" y="2057400"/>
            <a:ext cx="64008" cy="777240"/>
          </a:xfrm>
          <a:prstGeom prst="rect">
            <a:avLst/>
          </a:prstGeom>
          <a:solidFill>
            <a:srgbClr val="4471A9"/>
          </a:solidFill>
          <a:ln/>
        </p:spPr>
      </p:sp>
      <p:sp>
        <p:nvSpPr>
          <p:cNvPr id="12" name="Text 10"/>
          <p:cNvSpPr/>
          <p:nvPr/>
        </p:nvSpPr>
        <p:spPr>
          <a:xfrm>
            <a:off x="914400" y="2075688"/>
            <a:ext cx="2743200" cy="320040"/>
          </a:xfrm>
          <a:prstGeom prst="rect">
            <a:avLst/>
          </a:prstGeom>
          <a:noFill/>
          <a:ln/>
        </p:spPr>
        <p:txBody>
          <a:bodyPr wrap="square" lIns="0" tIns="0" rIns="0" bIns="0" rtlCol="0" anchor="ctr"/>
          <a:lstStyle/>
          <a:p>
            <a:pPr indent="0" marL="0">
              <a:buNone/>
            </a:pPr>
            <a:r>
              <a:rPr lang="en-US" sz="1500" b="1" dirty="0">
                <a:solidFill>
                  <a:srgbClr val="06418C"/>
                </a:solidFill>
                <a:latin typeface="Arial" pitchFamily="34" charset="0"/>
                <a:ea typeface="Arial" pitchFamily="34" charset="-122"/>
                <a:cs typeface="Arial" pitchFamily="34" charset="-120"/>
              </a:rPr>
              <a:t>Disruption Intelligence</a:t>
            </a:r>
            <a:endParaRPr lang="en-US" sz="1500" dirty="0"/>
          </a:p>
        </p:txBody>
      </p:sp>
      <p:sp>
        <p:nvSpPr>
          <p:cNvPr id="13" name="Text 11"/>
          <p:cNvSpPr/>
          <p:nvPr/>
        </p:nvSpPr>
        <p:spPr>
          <a:xfrm>
            <a:off x="3657600" y="2075688"/>
            <a:ext cx="4846320" cy="731520"/>
          </a:xfrm>
          <a:prstGeom prst="rect">
            <a:avLst/>
          </a:prstGeom>
          <a:noFill/>
          <a:ln/>
        </p:spPr>
        <p:txBody>
          <a:bodyPr wrap="square" lIns="0" tIns="0" rIns="0" bIns="0" rtlCol="0" anchor="ctr"/>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Real-time monitoring: supplier geopolitical risk, TSMC concentration, Japan logistics, US-China dynamics. Early warning → faster response.</a:t>
            </a:r>
            <a:endParaRPr lang="en-US" sz="1200" dirty="0"/>
          </a:p>
        </p:txBody>
      </p:sp>
      <p:sp>
        <p:nvSpPr>
          <p:cNvPr id="14" name="Shape 12"/>
          <p:cNvSpPr/>
          <p:nvPr/>
        </p:nvSpPr>
        <p:spPr>
          <a:xfrm>
            <a:off x="640080" y="3017520"/>
            <a:ext cx="64008" cy="777240"/>
          </a:xfrm>
          <a:prstGeom prst="rect">
            <a:avLst/>
          </a:prstGeom>
          <a:solidFill>
            <a:srgbClr val="0891B2"/>
          </a:solidFill>
          <a:ln/>
        </p:spPr>
      </p:sp>
      <p:sp>
        <p:nvSpPr>
          <p:cNvPr id="15" name="Text 13"/>
          <p:cNvSpPr/>
          <p:nvPr/>
        </p:nvSpPr>
        <p:spPr>
          <a:xfrm>
            <a:off x="914400" y="3035808"/>
            <a:ext cx="2743200" cy="320040"/>
          </a:xfrm>
          <a:prstGeom prst="rect">
            <a:avLst/>
          </a:prstGeom>
          <a:noFill/>
          <a:ln/>
        </p:spPr>
        <p:txBody>
          <a:bodyPr wrap="square" lIns="0" tIns="0" rIns="0" bIns="0" rtlCol="0" anchor="ctr"/>
          <a:lstStyle/>
          <a:p>
            <a:pPr indent="0" marL="0">
              <a:buNone/>
            </a:pPr>
            <a:r>
              <a:rPr lang="en-US" sz="1500" b="1" dirty="0">
                <a:solidFill>
                  <a:srgbClr val="06418C"/>
                </a:solidFill>
                <a:latin typeface="Arial" pitchFamily="34" charset="0"/>
                <a:ea typeface="Arial" pitchFamily="34" charset="-122"/>
                <a:cs typeface="Arial" pitchFamily="34" charset="-120"/>
              </a:rPr>
              <a:t>Obsolescence Prediction</a:t>
            </a:r>
            <a:endParaRPr lang="en-US" sz="1500" dirty="0"/>
          </a:p>
        </p:txBody>
      </p:sp>
      <p:sp>
        <p:nvSpPr>
          <p:cNvPr id="16" name="Text 14"/>
          <p:cNvSpPr/>
          <p:nvPr/>
        </p:nvSpPr>
        <p:spPr>
          <a:xfrm>
            <a:off x="3657600" y="3035808"/>
            <a:ext cx="4846320" cy="731520"/>
          </a:xfrm>
          <a:prstGeom prst="rect">
            <a:avLst/>
          </a:prstGeom>
          <a:noFill/>
          <a:ln/>
        </p:spPr>
        <p:txBody>
          <a:bodyPr wrap="square" lIns="0" tIns="0" rIns="0" bIns="0" rtlCol="0" anchor="ctr"/>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AI predicts EOL 12-24 months before notification. Critical for automotive customers with 15+ year supply guarantees.</a:t>
            </a:r>
            <a:endParaRPr lang="en-US" sz="1200" dirty="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400" b="1" dirty="0">
                <a:solidFill>
                  <a:srgbClr val="06418C"/>
                </a:solidFill>
                <a:latin typeface="Arial" pitchFamily="34" charset="0"/>
                <a:ea typeface="Arial" pitchFamily="34" charset="-122"/>
                <a:cs typeface="Arial" pitchFamily="34" charset="-120"/>
              </a:rPr>
              <a:t>Finance: fastest and cheapest place to demonstrate AI value.</a:t>
            </a:r>
            <a:endParaRPr lang="en-US" sz="24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32</a:t>
            </a:r>
            <a:endParaRPr lang="en-US" sz="700" dirty="0"/>
          </a:p>
        </p:txBody>
      </p:sp>
      <p:sp>
        <p:nvSpPr>
          <p:cNvPr id="8" name="Shape 6"/>
          <p:cNvSpPr/>
          <p:nvPr/>
        </p:nvSpPr>
        <p:spPr>
          <a:xfrm>
            <a:off x="640080" y="1097280"/>
            <a:ext cx="2468880" cy="27432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9" name="Text 7"/>
          <p:cNvSpPr/>
          <p:nvPr/>
        </p:nvSpPr>
        <p:spPr>
          <a:xfrm>
            <a:off x="640080" y="1188720"/>
            <a:ext cx="2468880" cy="548640"/>
          </a:xfrm>
          <a:prstGeom prst="rect">
            <a:avLst/>
          </a:prstGeom>
          <a:noFill/>
          <a:ln/>
        </p:spPr>
        <p:txBody>
          <a:bodyPr wrap="square" lIns="0" tIns="0" rIns="0" bIns="0" rtlCol="0" anchor="ctr"/>
          <a:lstStyle/>
          <a:p>
            <a:pPr algn="ctr" indent="0" marL="0">
              <a:buNone/>
            </a:pPr>
            <a:r>
              <a:rPr lang="en-US" sz="2800" b="1" dirty="0">
                <a:solidFill>
                  <a:srgbClr val="06418C"/>
                </a:solidFill>
                <a:latin typeface="Arial" pitchFamily="34" charset="0"/>
                <a:ea typeface="Arial" pitchFamily="34" charset="-122"/>
                <a:cs typeface="Arial" pitchFamily="34" charset="-120"/>
              </a:rPr>
              <a:t>40-60%</a:t>
            </a:r>
            <a:endParaRPr lang="en-US" sz="2800" dirty="0"/>
          </a:p>
        </p:txBody>
      </p:sp>
      <p:sp>
        <p:nvSpPr>
          <p:cNvPr id="10" name="Text 8"/>
          <p:cNvSpPr/>
          <p:nvPr/>
        </p:nvSpPr>
        <p:spPr>
          <a:xfrm>
            <a:off x="731520" y="1691640"/>
            <a:ext cx="2286000" cy="274320"/>
          </a:xfrm>
          <a:prstGeom prst="rect">
            <a:avLst/>
          </a:prstGeom>
          <a:noFill/>
          <a:ln/>
        </p:spPr>
        <p:txBody>
          <a:bodyPr wrap="square" lIns="0" tIns="0" rIns="0" bIns="0" rtlCol="0" anchor="ctr"/>
          <a:lstStyle/>
          <a:p>
            <a:pPr algn="ctr" indent="0" marL="0">
              <a:buNone/>
            </a:pPr>
            <a:r>
              <a:rPr lang="en-US" sz="1000" dirty="0">
                <a:solidFill>
                  <a:srgbClr val="9D9D9D"/>
                </a:solidFill>
                <a:latin typeface="Arial" pitchFamily="34" charset="0"/>
                <a:ea typeface="Arial" pitchFamily="34" charset="-122"/>
                <a:cs typeface="Arial" pitchFamily="34" charset="-120"/>
              </a:rPr>
              <a:t>reduction in manual close prep</a:t>
            </a:r>
            <a:endParaRPr lang="en-US" sz="1000" dirty="0"/>
          </a:p>
        </p:txBody>
      </p:sp>
      <p:sp>
        <p:nvSpPr>
          <p:cNvPr id="11" name="Text 9"/>
          <p:cNvSpPr/>
          <p:nvPr/>
        </p:nvSpPr>
        <p:spPr>
          <a:xfrm>
            <a:off x="777240" y="2103120"/>
            <a:ext cx="2194560" cy="320040"/>
          </a:xfrm>
          <a:prstGeom prst="rect">
            <a:avLst/>
          </a:prstGeom>
          <a:noFill/>
          <a:ln/>
        </p:spPr>
        <p:txBody>
          <a:bodyPr wrap="square" lIns="0" tIns="0" rIns="0" bIns="0" rtlCol="0" anchor="ctr"/>
          <a:lstStyle/>
          <a:p>
            <a:pPr indent="0" marL="0">
              <a:buNone/>
            </a:pPr>
            <a:r>
              <a:rPr lang="en-US" sz="1400" b="1" dirty="0">
                <a:solidFill>
                  <a:srgbClr val="06418C"/>
                </a:solidFill>
                <a:latin typeface="Arial" pitchFamily="34" charset="0"/>
                <a:ea typeface="Arial" pitchFamily="34" charset="-122"/>
                <a:cs typeface="Arial" pitchFamily="34" charset="-120"/>
              </a:rPr>
              <a:t>Automated Reporting</a:t>
            </a:r>
            <a:endParaRPr lang="en-US" sz="1400" dirty="0"/>
          </a:p>
        </p:txBody>
      </p:sp>
      <p:sp>
        <p:nvSpPr>
          <p:cNvPr id="12" name="Text 10"/>
          <p:cNvSpPr/>
          <p:nvPr/>
        </p:nvSpPr>
        <p:spPr>
          <a:xfrm>
            <a:off x="777240" y="2468880"/>
            <a:ext cx="2194560" cy="1188720"/>
          </a:xfrm>
          <a:prstGeom prst="rect">
            <a:avLst/>
          </a:prstGeom>
          <a:noFill/>
          <a:ln/>
        </p:spPr>
        <p:txBody>
          <a:bodyPr wrap="square" lIns="0" tIns="0" rIns="0" bIns="0" rtlCol="0" anchor="ctr"/>
          <a:lstStyle/>
          <a:p>
            <a:pPr indent="0" marL="0">
              <a:lnSpc>
                <a:spcPct val="120000"/>
              </a:lnSpc>
              <a:buNone/>
            </a:pPr>
            <a:r>
              <a:rPr lang="en-US" sz="1100" dirty="0">
                <a:solidFill>
                  <a:srgbClr val="4A4A4A"/>
                </a:solidFill>
                <a:latin typeface="Arial" pitchFamily="34" charset="0"/>
                <a:ea typeface="Arial" pitchFamily="34" charset="-122"/>
                <a:cs typeface="Arial" pitchFamily="34" charset="-120"/>
              </a:rPr>
              <a:t>AI generates variance commentary, exception flags, board-ready summaries. 3-6 months to production.</a:t>
            </a:r>
            <a:endParaRPr lang="en-US" sz="1100" dirty="0"/>
          </a:p>
        </p:txBody>
      </p:sp>
      <p:sp>
        <p:nvSpPr>
          <p:cNvPr id="13" name="Shape 11"/>
          <p:cNvSpPr/>
          <p:nvPr/>
        </p:nvSpPr>
        <p:spPr>
          <a:xfrm>
            <a:off x="3337560" y="1097280"/>
            <a:ext cx="2468880" cy="27432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4" name="Text 12"/>
          <p:cNvSpPr/>
          <p:nvPr/>
        </p:nvSpPr>
        <p:spPr>
          <a:xfrm>
            <a:off x="3337560" y="1188720"/>
            <a:ext cx="2468880" cy="548640"/>
          </a:xfrm>
          <a:prstGeom prst="rect">
            <a:avLst/>
          </a:prstGeom>
          <a:noFill/>
          <a:ln/>
        </p:spPr>
        <p:txBody>
          <a:bodyPr wrap="square" lIns="0" tIns="0" rIns="0" bIns="0" rtlCol="0" anchor="ctr"/>
          <a:lstStyle/>
          <a:p>
            <a:pPr algn="ctr" indent="0" marL="0">
              <a:buNone/>
            </a:pPr>
            <a:r>
              <a:rPr lang="en-US" sz="2800" b="1" dirty="0">
                <a:solidFill>
                  <a:srgbClr val="06418C"/>
                </a:solidFill>
                <a:latin typeface="Arial" pitchFamily="34" charset="0"/>
                <a:ea typeface="Arial" pitchFamily="34" charset="-122"/>
                <a:cs typeface="Arial" pitchFamily="34" charset="-120"/>
              </a:rPr>
              <a:t>Real-time</a:t>
            </a:r>
            <a:endParaRPr lang="en-US" sz="2800" dirty="0"/>
          </a:p>
        </p:txBody>
      </p:sp>
      <p:sp>
        <p:nvSpPr>
          <p:cNvPr id="15" name="Text 13"/>
          <p:cNvSpPr/>
          <p:nvPr/>
        </p:nvSpPr>
        <p:spPr>
          <a:xfrm>
            <a:off x="3429000" y="1691640"/>
            <a:ext cx="2286000" cy="274320"/>
          </a:xfrm>
          <a:prstGeom prst="rect">
            <a:avLst/>
          </a:prstGeom>
          <a:noFill/>
          <a:ln/>
        </p:spPr>
        <p:txBody>
          <a:bodyPr wrap="square" lIns="0" tIns="0" rIns="0" bIns="0" rtlCol="0" anchor="ctr"/>
          <a:lstStyle/>
          <a:p>
            <a:pPr algn="ctr" indent="0" marL="0">
              <a:buNone/>
            </a:pPr>
            <a:r>
              <a:rPr lang="en-US" sz="1000" dirty="0">
                <a:solidFill>
                  <a:srgbClr val="9D9D9D"/>
                </a:solidFill>
                <a:latin typeface="Arial" pitchFamily="34" charset="0"/>
                <a:ea typeface="Arial" pitchFamily="34" charset="-122"/>
                <a:cs typeface="Arial" pitchFamily="34" charset="-120"/>
              </a:rPr>
              <a:t>what-if analysis</a:t>
            </a:r>
            <a:endParaRPr lang="en-US" sz="1000" dirty="0"/>
          </a:p>
        </p:txBody>
      </p:sp>
      <p:sp>
        <p:nvSpPr>
          <p:cNvPr id="16" name="Text 14"/>
          <p:cNvSpPr/>
          <p:nvPr/>
        </p:nvSpPr>
        <p:spPr>
          <a:xfrm>
            <a:off x="3474720" y="2103120"/>
            <a:ext cx="2194560" cy="320040"/>
          </a:xfrm>
          <a:prstGeom prst="rect">
            <a:avLst/>
          </a:prstGeom>
          <a:noFill/>
          <a:ln/>
        </p:spPr>
        <p:txBody>
          <a:bodyPr wrap="square" lIns="0" tIns="0" rIns="0" bIns="0" rtlCol="0" anchor="ctr"/>
          <a:lstStyle/>
          <a:p>
            <a:pPr indent="0" marL="0">
              <a:buNone/>
            </a:pPr>
            <a:r>
              <a:rPr lang="en-US" sz="1400" b="1" dirty="0">
                <a:solidFill>
                  <a:srgbClr val="06418C"/>
                </a:solidFill>
                <a:latin typeface="Arial" pitchFamily="34" charset="0"/>
                <a:ea typeface="Arial" pitchFamily="34" charset="-122"/>
                <a:cs typeface="Arial" pitchFamily="34" charset="-120"/>
              </a:rPr>
              <a:t>FP&amp;A Scenario Modeling</a:t>
            </a:r>
            <a:endParaRPr lang="en-US" sz="1400" dirty="0"/>
          </a:p>
        </p:txBody>
      </p:sp>
      <p:sp>
        <p:nvSpPr>
          <p:cNvPr id="17" name="Text 15"/>
          <p:cNvSpPr/>
          <p:nvPr/>
        </p:nvSpPr>
        <p:spPr>
          <a:xfrm>
            <a:off x="3474720" y="2468880"/>
            <a:ext cx="2194560" cy="1188720"/>
          </a:xfrm>
          <a:prstGeom prst="rect">
            <a:avLst/>
          </a:prstGeom>
          <a:noFill/>
          <a:ln/>
        </p:spPr>
        <p:txBody>
          <a:bodyPr wrap="square" lIns="0" tIns="0" rIns="0" bIns="0" rtlCol="0" anchor="ctr"/>
          <a:lstStyle/>
          <a:p>
            <a:pPr indent="0" marL="0">
              <a:lnSpc>
                <a:spcPct val="120000"/>
              </a:lnSpc>
              <a:buNone/>
            </a:pPr>
            <a:r>
              <a:rPr lang="en-US" sz="1100" dirty="0">
                <a:solidFill>
                  <a:srgbClr val="4A4A4A"/>
                </a:solidFill>
                <a:latin typeface="Arial" pitchFamily="34" charset="0"/>
                <a:ea typeface="Arial" pitchFamily="34" charset="-122"/>
                <a:cs typeface="Arial" pitchFamily="34" charset="-120"/>
              </a:rPr>
              <a:t>Exchange rate scenarios, tariff impacts, product mix shifts, pricing elasticity. Finance becomes faster and more strategic.</a:t>
            </a:r>
            <a:endParaRPr lang="en-US" sz="1100" dirty="0"/>
          </a:p>
        </p:txBody>
      </p:sp>
      <p:sp>
        <p:nvSpPr>
          <p:cNvPr id="18" name="Shape 16"/>
          <p:cNvSpPr/>
          <p:nvPr/>
        </p:nvSpPr>
        <p:spPr>
          <a:xfrm>
            <a:off x="6035040" y="1097280"/>
            <a:ext cx="2468880" cy="27432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9" name="Text 17"/>
          <p:cNvSpPr/>
          <p:nvPr/>
        </p:nvSpPr>
        <p:spPr>
          <a:xfrm>
            <a:off x="6035040" y="1188720"/>
            <a:ext cx="2468880" cy="548640"/>
          </a:xfrm>
          <a:prstGeom prst="rect">
            <a:avLst/>
          </a:prstGeom>
          <a:noFill/>
          <a:ln/>
        </p:spPr>
        <p:txBody>
          <a:bodyPr wrap="square" lIns="0" tIns="0" rIns="0" bIns="0" rtlCol="0" anchor="ctr"/>
          <a:lstStyle/>
          <a:p>
            <a:pPr algn="ctr" indent="0" marL="0">
              <a:buNone/>
            </a:pPr>
            <a:r>
              <a:rPr lang="en-US" sz="2800" b="1" dirty="0">
                <a:solidFill>
                  <a:srgbClr val="06418C"/>
                </a:solidFill>
                <a:latin typeface="Arial" pitchFamily="34" charset="0"/>
                <a:ea typeface="Arial" pitchFamily="34" charset="-122"/>
                <a:cs typeface="Arial" pitchFamily="34" charset="-120"/>
              </a:rPr>
              <a:t>Data-driven</a:t>
            </a:r>
            <a:endParaRPr lang="en-US" sz="2800" dirty="0"/>
          </a:p>
        </p:txBody>
      </p:sp>
      <p:sp>
        <p:nvSpPr>
          <p:cNvPr id="20" name="Text 18"/>
          <p:cNvSpPr/>
          <p:nvPr/>
        </p:nvSpPr>
        <p:spPr>
          <a:xfrm>
            <a:off x="6126480" y="1691640"/>
            <a:ext cx="2286000" cy="274320"/>
          </a:xfrm>
          <a:prstGeom prst="rect">
            <a:avLst/>
          </a:prstGeom>
          <a:noFill/>
          <a:ln/>
        </p:spPr>
        <p:txBody>
          <a:bodyPr wrap="square" lIns="0" tIns="0" rIns="0" bIns="0" rtlCol="0" anchor="ctr"/>
          <a:lstStyle/>
          <a:p>
            <a:pPr algn="ctr" indent="0" marL="0">
              <a:buNone/>
            </a:pPr>
            <a:r>
              <a:rPr lang="en-US" sz="1000" dirty="0">
                <a:solidFill>
                  <a:srgbClr val="9D9D9D"/>
                </a:solidFill>
                <a:latin typeface="Arial" pitchFamily="34" charset="0"/>
                <a:ea typeface="Arial" pitchFamily="34" charset="-122"/>
                <a:cs typeface="Arial" pitchFamily="34" charset="-120"/>
              </a:rPr>
              <a:t>competitive pricing</a:t>
            </a:r>
            <a:endParaRPr lang="en-US" sz="1000" dirty="0"/>
          </a:p>
        </p:txBody>
      </p:sp>
      <p:sp>
        <p:nvSpPr>
          <p:cNvPr id="21" name="Text 19"/>
          <p:cNvSpPr/>
          <p:nvPr/>
        </p:nvSpPr>
        <p:spPr>
          <a:xfrm>
            <a:off x="6172200" y="2103120"/>
            <a:ext cx="2194560" cy="320040"/>
          </a:xfrm>
          <a:prstGeom prst="rect">
            <a:avLst/>
          </a:prstGeom>
          <a:noFill/>
          <a:ln/>
        </p:spPr>
        <p:txBody>
          <a:bodyPr wrap="square" lIns="0" tIns="0" rIns="0" bIns="0" rtlCol="0" anchor="ctr"/>
          <a:lstStyle/>
          <a:p>
            <a:pPr indent="0" marL="0">
              <a:buNone/>
            </a:pPr>
            <a:r>
              <a:rPr lang="en-US" sz="1400" b="1" dirty="0">
                <a:solidFill>
                  <a:srgbClr val="06418C"/>
                </a:solidFill>
                <a:latin typeface="Arial" pitchFamily="34" charset="0"/>
                <a:ea typeface="Arial" pitchFamily="34" charset="-122"/>
                <a:cs typeface="Arial" pitchFamily="34" charset="-120"/>
              </a:rPr>
              <a:t>Pricing Intelligence</a:t>
            </a:r>
            <a:endParaRPr lang="en-US" sz="1400" dirty="0"/>
          </a:p>
        </p:txBody>
      </p:sp>
      <p:sp>
        <p:nvSpPr>
          <p:cNvPr id="22" name="Text 20"/>
          <p:cNvSpPr/>
          <p:nvPr/>
        </p:nvSpPr>
        <p:spPr>
          <a:xfrm>
            <a:off x="6172200" y="2468880"/>
            <a:ext cx="2194560" cy="1188720"/>
          </a:xfrm>
          <a:prstGeom prst="rect">
            <a:avLst/>
          </a:prstGeom>
          <a:noFill/>
          <a:ln/>
        </p:spPr>
        <p:txBody>
          <a:bodyPr wrap="square" lIns="0" tIns="0" rIns="0" bIns="0" rtlCol="0" anchor="ctr"/>
          <a:lstStyle/>
          <a:p>
            <a:pPr indent="0" marL="0">
              <a:lnSpc>
                <a:spcPct val="120000"/>
              </a:lnSpc>
              <a:buNone/>
            </a:pPr>
            <a:r>
              <a:rPr lang="en-US" sz="1100" dirty="0">
                <a:solidFill>
                  <a:srgbClr val="4A4A4A"/>
                </a:solidFill>
                <a:latin typeface="Arial" pitchFamily="34" charset="0"/>
                <a:ea typeface="Arial" pitchFamily="34" charset="-122"/>
                <a:cs typeface="Arial" pitchFamily="34" charset="-120"/>
              </a:rPr>
              <a:t>AI analyzes competitive pricing, customer elasticity, product mix. Direct vs. distribution economics.</a:t>
            </a:r>
            <a:endParaRPr lang="en-US" sz="110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AI reduces legal risk AND cost.</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33</a:t>
            </a:r>
            <a:endParaRPr lang="en-US" sz="700" dirty="0"/>
          </a:p>
        </p:txBody>
      </p:sp>
      <p:sp>
        <p:nvSpPr>
          <p:cNvPr id="8" name="Shape 6"/>
          <p:cNvSpPr/>
          <p:nvPr/>
        </p:nvSpPr>
        <p:spPr>
          <a:xfrm>
            <a:off x="640080" y="1051560"/>
            <a:ext cx="7863840" cy="8686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9" name="Shape 7"/>
          <p:cNvSpPr/>
          <p:nvPr/>
        </p:nvSpPr>
        <p:spPr>
          <a:xfrm>
            <a:off x="640080" y="1051560"/>
            <a:ext cx="64008" cy="868680"/>
          </a:xfrm>
          <a:prstGeom prst="rect">
            <a:avLst/>
          </a:prstGeom>
          <a:solidFill>
            <a:srgbClr val="4471A9"/>
          </a:solidFill>
          <a:ln/>
        </p:spPr>
      </p:sp>
      <p:sp>
        <p:nvSpPr>
          <p:cNvPr id="10" name="Text 8"/>
          <p:cNvSpPr/>
          <p:nvPr/>
        </p:nvSpPr>
        <p:spPr>
          <a:xfrm>
            <a:off x="868680" y="1097280"/>
            <a:ext cx="2286000" cy="320040"/>
          </a:xfrm>
          <a:prstGeom prst="rect">
            <a:avLst/>
          </a:prstGeom>
          <a:noFill/>
          <a:ln/>
        </p:spPr>
        <p:txBody>
          <a:bodyPr wrap="square" lIns="0" tIns="0" rIns="0" bIns="0" rtlCol="0" anchor="ctr"/>
          <a:lstStyle/>
          <a:p>
            <a:pPr indent="0" marL="0">
              <a:buNone/>
            </a:pPr>
            <a:r>
              <a:rPr lang="en-US" sz="1500" b="1" dirty="0">
                <a:solidFill>
                  <a:srgbClr val="06418C"/>
                </a:solidFill>
                <a:latin typeface="Arial" pitchFamily="34" charset="0"/>
                <a:ea typeface="Arial" pitchFamily="34" charset="-122"/>
                <a:cs typeface="Arial" pitchFamily="34" charset="-120"/>
              </a:rPr>
              <a:t>Contract Review</a:t>
            </a:r>
            <a:endParaRPr lang="en-US" sz="1500" dirty="0"/>
          </a:p>
        </p:txBody>
      </p:sp>
      <p:sp>
        <p:nvSpPr>
          <p:cNvPr id="11" name="Shape 9"/>
          <p:cNvSpPr/>
          <p:nvPr/>
        </p:nvSpPr>
        <p:spPr>
          <a:xfrm>
            <a:off x="3200400" y="1124712"/>
            <a:ext cx="2011680" cy="228600"/>
          </a:xfrm>
          <a:prstGeom prst="rect">
            <a:avLst/>
          </a:prstGeom>
          <a:solidFill>
            <a:srgbClr val="4471A9"/>
          </a:solidFill>
          <a:ln/>
        </p:spPr>
      </p:sp>
      <p:sp>
        <p:nvSpPr>
          <p:cNvPr id="12" name="Text 10"/>
          <p:cNvSpPr/>
          <p:nvPr/>
        </p:nvSpPr>
        <p:spPr>
          <a:xfrm>
            <a:off x="3200400" y="1124712"/>
            <a:ext cx="2011680" cy="2286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RAG-Based | Phase 1</a:t>
            </a:r>
            <a:endParaRPr lang="en-US" sz="900" dirty="0"/>
          </a:p>
        </p:txBody>
      </p:sp>
      <p:sp>
        <p:nvSpPr>
          <p:cNvPr id="13" name="Text 11"/>
          <p:cNvSpPr/>
          <p:nvPr/>
        </p:nvSpPr>
        <p:spPr>
          <a:xfrm>
            <a:off x="868680" y="1417320"/>
            <a:ext cx="7406640" cy="457200"/>
          </a:xfrm>
          <a:prstGeom prst="rect">
            <a:avLst/>
          </a:prstGeom>
          <a:noFill/>
          <a:ln/>
        </p:spPr>
        <p:txBody>
          <a:bodyPr wrap="square" lIns="0" tIns="0" rIns="0" bIns="0" rtlCol="0" anchor="ctr"/>
          <a:lstStyle/>
          <a:p>
            <a:pPr indent="0" marL="0">
              <a:lnSpc>
                <a:spcPct val="115000"/>
              </a:lnSpc>
              <a:buNone/>
            </a:pPr>
            <a:r>
              <a:rPr lang="en-US" sz="1200" dirty="0">
                <a:solidFill>
                  <a:srgbClr val="4A4A4A"/>
                </a:solidFill>
                <a:latin typeface="Arial" pitchFamily="34" charset="0"/>
                <a:ea typeface="Arial" pitchFamily="34" charset="-122"/>
                <a:cs typeface="Arial" pitchFamily="34" charset="-120"/>
              </a:rPr>
              <a:t>NDA, supplier, customer contracts — first-pass review in minutes. 70% faster. Legal focuses on exceptions.</a:t>
            </a:r>
            <a:endParaRPr lang="en-US" sz="1200" dirty="0"/>
          </a:p>
        </p:txBody>
      </p:sp>
      <p:sp>
        <p:nvSpPr>
          <p:cNvPr id="14" name="Shape 12"/>
          <p:cNvSpPr/>
          <p:nvPr/>
        </p:nvSpPr>
        <p:spPr>
          <a:xfrm>
            <a:off x="640080" y="2057400"/>
            <a:ext cx="7863840" cy="8686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5" name="Shape 13"/>
          <p:cNvSpPr/>
          <p:nvPr/>
        </p:nvSpPr>
        <p:spPr>
          <a:xfrm>
            <a:off x="640080" y="2057400"/>
            <a:ext cx="64008" cy="868680"/>
          </a:xfrm>
          <a:prstGeom prst="rect">
            <a:avLst/>
          </a:prstGeom>
          <a:solidFill>
            <a:srgbClr val="06418C"/>
          </a:solidFill>
          <a:ln/>
        </p:spPr>
      </p:sp>
      <p:sp>
        <p:nvSpPr>
          <p:cNvPr id="16" name="Text 14"/>
          <p:cNvSpPr/>
          <p:nvPr/>
        </p:nvSpPr>
        <p:spPr>
          <a:xfrm>
            <a:off x="868680" y="2103120"/>
            <a:ext cx="2286000" cy="320040"/>
          </a:xfrm>
          <a:prstGeom prst="rect">
            <a:avLst/>
          </a:prstGeom>
          <a:noFill/>
          <a:ln/>
        </p:spPr>
        <p:txBody>
          <a:bodyPr wrap="square" lIns="0" tIns="0" rIns="0" bIns="0" rtlCol="0" anchor="ctr"/>
          <a:lstStyle/>
          <a:p>
            <a:pPr indent="0" marL="0">
              <a:buNone/>
            </a:pPr>
            <a:r>
              <a:rPr lang="en-US" sz="1500" b="1" dirty="0">
                <a:solidFill>
                  <a:srgbClr val="06418C"/>
                </a:solidFill>
                <a:latin typeface="Arial" pitchFamily="34" charset="0"/>
                <a:ea typeface="Arial" pitchFamily="34" charset="-122"/>
                <a:cs typeface="Arial" pitchFamily="34" charset="-120"/>
              </a:rPr>
              <a:t>Export Control</a:t>
            </a:r>
            <a:endParaRPr lang="en-US" sz="1500" dirty="0"/>
          </a:p>
        </p:txBody>
      </p:sp>
      <p:sp>
        <p:nvSpPr>
          <p:cNvPr id="17" name="Shape 15"/>
          <p:cNvSpPr/>
          <p:nvPr/>
        </p:nvSpPr>
        <p:spPr>
          <a:xfrm>
            <a:off x="3200400" y="2130552"/>
            <a:ext cx="2011680" cy="228600"/>
          </a:xfrm>
          <a:prstGeom prst="rect">
            <a:avLst/>
          </a:prstGeom>
          <a:solidFill>
            <a:srgbClr val="06418C"/>
          </a:solidFill>
          <a:ln/>
        </p:spPr>
      </p:sp>
      <p:sp>
        <p:nvSpPr>
          <p:cNvPr id="18" name="Text 16"/>
          <p:cNvSpPr/>
          <p:nvPr/>
        </p:nvSpPr>
        <p:spPr>
          <a:xfrm>
            <a:off x="3200400" y="2130552"/>
            <a:ext cx="2011680" cy="2286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Ontology Required</a:t>
            </a:r>
            <a:endParaRPr lang="en-US" sz="900" dirty="0"/>
          </a:p>
        </p:txBody>
      </p:sp>
      <p:sp>
        <p:nvSpPr>
          <p:cNvPr id="19" name="Text 17"/>
          <p:cNvSpPr/>
          <p:nvPr/>
        </p:nvSpPr>
        <p:spPr>
          <a:xfrm>
            <a:off x="868680" y="2423160"/>
            <a:ext cx="7406640" cy="457200"/>
          </a:xfrm>
          <a:prstGeom prst="rect">
            <a:avLst/>
          </a:prstGeom>
          <a:noFill/>
          <a:ln/>
        </p:spPr>
        <p:txBody>
          <a:bodyPr wrap="square" lIns="0" tIns="0" rIns="0" bIns="0" rtlCol="0" anchor="ctr"/>
          <a:lstStyle/>
          <a:p>
            <a:pPr indent="0" marL="0">
              <a:lnSpc>
                <a:spcPct val="115000"/>
              </a:lnSpc>
              <a:buNone/>
            </a:pPr>
            <a:r>
              <a:rPr lang="en-US" sz="1200" dirty="0">
                <a:solidFill>
                  <a:srgbClr val="4A4A4A"/>
                </a:solidFill>
                <a:latin typeface="Arial" pitchFamily="34" charset="0"/>
                <a:ea typeface="Arial" pitchFamily="34" charset="-122"/>
                <a:cs typeface="Arial" pitchFamily="34" charset="-120"/>
              </a:rPr>
              <a:t>Renesas sells globally including restricted jurisdictions. AI monitors regulatory changes, flags violations, maintains audit trail.</a:t>
            </a:r>
            <a:endParaRPr lang="en-US" sz="1200" dirty="0"/>
          </a:p>
        </p:txBody>
      </p:sp>
      <p:sp>
        <p:nvSpPr>
          <p:cNvPr id="20" name="Shape 18"/>
          <p:cNvSpPr/>
          <p:nvPr/>
        </p:nvSpPr>
        <p:spPr>
          <a:xfrm>
            <a:off x="640080" y="3063240"/>
            <a:ext cx="7863840" cy="8686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1" name="Shape 19"/>
          <p:cNvSpPr/>
          <p:nvPr/>
        </p:nvSpPr>
        <p:spPr>
          <a:xfrm>
            <a:off x="640080" y="3063240"/>
            <a:ext cx="64008" cy="868680"/>
          </a:xfrm>
          <a:prstGeom prst="rect">
            <a:avLst/>
          </a:prstGeom>
          <a:solidFill>
            <a:srgbClr val="993399"/>
          </a:solidFill>
          <a:ln/>
        </p:spPr>
      </p:sp>
      <p:sp>
        <p:nvSpPr>
          <p:cNvPr id="22" name="Text 20"/>
          <p:cNvSpPr/>
          <p:nvPr/>
        </p:nvSpPr>
        <p:spPr>
          <a:xfrm>
            <a:off x="868680" y="3108960"/>
            <a:ext cx="2286000" cy="320040"/>
          </a:xfrm>
          <a:prstGeom prst="rect">
            <a:avLst/>
          </a:prstGeom>
          <a:noFill/>
          <a:ln/>
        </p:spPr>
        <p:txBody>
          <a:bodyPr wrap="square" lIns="0" tIns="0" rIns="0" bIns="0" rtlCol="0" anchor="ctr"/>
          <a:lstStyle/>
          <a:p>
            <a:pPr indent="0" marL="0">
              <a:buNone/>
            </a:pPr>
            <a:r>
              <a:rPr lang="en-US" sz="1500" b="1" dirty="0">
                <a:solidFill>
                  <a:srgbClr val="06418C"/>
                </a:solidFill>
                <a:latin typeface="Arial" pitchFamily="34" charset="0"/>
                <a:ea typeface="Arial" pitchFamily="34" charset="-122"/>
                <a:cs typeface="Arial" pitchFamily="34" charset="-120"/>
              </a:rPr>
              <a:t>Contract Risk Review</a:t>
            </a:r>
            <a:endParaRPr lang="en-US" sz="1500" dirty="0"/>
          </a:p>
        </p:txBody>
      </p:sp>
      <p:sp>
        <p:nvSpPr>
          <p:cNvPr id="23" name="Shape 21"/>
          <p:cNvSpPr/>
          <p:nvPr/>
        </p:nvSpPr>
        <p:spPr>
          <a:xfrm>
            <a:off x="3200400" y="3136392"/>
            <a:ext cx="2011680" cy="228600"/>
          </a:xfrm>
          <a:prstGeom prst="rect">
            <a:avLst/>
          </a:prstGeom>
          <a:solidFill>
            <a:srgbClr val="993399"/>
          </a:solidFill>
          <a:ln/>
        </p:spPr>
      </p:sp>
      <p:sp>
        <p:nvSpPr>
          <p:cNvPr id="24" name="Text 22"/>
          <p:cNvSpPr/>
          <p:nvPr/>
        </p:nvSpPr>
        <p:spPr>
          <a:xfrm>
            <a:off x="3200400" y="3136392"/>
            <a:ext cx="2011680" cy="2286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RAG + Ontology | Phase 1-2</a:t>
            </a:r>
            <a:endParaRPr lang="en-US" sz="900" dirty="0"/>
          </a:p>
        </p:txBody>
      </p:sp>
      <p:sp>
        <p:nvSpPr>
          <p:cNvPr id="25" name="Text 23"/>
          <p:cNvSpPr/>
          <p:nvPr/>
        </p:nvSpPr>
        <p:spPr>
          <a:xfrm>
            <a:off x="868680" y="3429000"/>
            <a:ext cx="7406640" cy="457200"/>
          </a:xfrm>
          <a:prstGeom prst="rect">
            <a:avLst/>
          </a:prstGeom>
          <a:noFill/>
          <a:ln/>
        </p:spPr>
        <p:txBody>
          <a:bodyPr wrap="square" lIns="0" tIns="0" rIns="0" bIns="0" rtlCol="0" anchor="ctr"/>
          <a:lstStyle/>
          <a:p>
            <a:pPr indent="0" marL="0">
              <a:lnSpc>
                <a:spcPct val="115000"/>
              </a:lnSpc>
              <a:buNone/>
            </a:pPr>
            <a:r>
              <a:rPr lang="en-US" sz="1200" dirty="0">
                <a:solidFill>
                  <a:srgbClr val="4A4A4A"/>
                </a:solidFill>
                <a:latin typeface="Arial" pitchFamily="34" charset="0"/>
                <a:ea typeface="Arial" pitchFamily="34" charset="-122"/>
                <a:cs typeface="Arial" pitchFamily="34" charset="-120"/>
              </a:rPr>
              <a:t>AI reviews terms against risk frameworks. The Wolfspeed lesson: contract exposure wasn't flagged early. AI catches patterns before they become problems.</a:t>
            </a:r>
            <a:endParaRPr lang="en-US" sz="1200"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400" b="1" dirty="0">
                <a:solidFill>
                  <a:srgbClr val="06418C"/>
                </a:solidFill>
                <a:latin typeface="Arial" pitchFamily="34" charset="0"/>
                <a:ea typeface="Arial" pitchFamily="34" charset="-122"/>
                <a:cs typeface="Arial" pitchFamily="34" charset="-120"/>
              </a:rPr>
              <a:t>The workforce transformation starts in Phase 1. Not Phase 3.</a:t>
            </a:r>
            <a:endParaRPr lang="en-US" sz="24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34</a:t>
            </a:r>
            <a:endParaRPr lang="en-US" sz="700" dirty="0"/>
          </a:p>
        </p:txBody>
      </p:sp>
      <p:sp>
        <p:nvSpPr>
          <p:cNvPr id="8" name="Shape 6"/>
          <p:cNvSpPr/>
          <p:nvPr/>
        </p:nvSpPr>
        <p:spPr>
          <a:xfrm>
            <a:off x="640080" y="1097280"/>
            <a:ext cx="2468880" cy="22860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9" name="Shape 7"/>
          <p:cNvSpPr/>
          <p:nvPr/>
        </p:nvSpPr>
        <p:spPr>
          <a:xfrm>
            <a:off x="640080" y="1097280"/>
            <a:ext cx="2468880" cy="365760"/>
          </a:xfrm>
          <a:prstGeom prst="rect">
            <a:avLst/>
          </a:prstGeom>
          <a:solidFill>
            <a:srgbClr val="4471A9"/>
          </a:solidFill>
          <a:ln/>
        </p:spPr>
      </p:sp>
      <p:sp>
        <p:nvSpPr>
          <p:cNvPr id="10" name="Text 8"/>
          <p:cNvSpPr/>
          <p:nvPr/>
        </p:nvSpPr>
        <p:spPr>
          <a:xfrm>
            <a:off x="640080" y="1097280"/>
            <a:ext cx="246888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PHASE 1</a:t>
            </a:r>
            <a:endParaRPr lang="en-US" sz="1200" dirty="0"/>
          </a:p>
        </p:txBody>
      </p:sp>
      <p:sp>
        <p:nvSpPr>
          <p:cNvPr id="11" name="Text 9"/>
          <p:cNvSpPr/>
          <p:nvPr/>
        </p:nvSpPr>
        <p:spPr>
          <a:xfrm>
            <a:off x="777240" y="1554480"/>
            <a:ext cx="2194560" cy="365760"/>
          </a:xfrm>
          <a:prstGeom prst="rect">
            <a:avLst/>
          </a:prstGeom>
          <a:noFill/>
          <a:ln/>
        </p:spPr>
        <p:txBody>
          <a:bodyPr wrap="square" lIns="0" tIns="0" rIns="0" bIns="0" rtlCol="0" anchor="ctr"/>
          <a:lstStyle/>
          <a:p>
            <a:pPr indent="0" marL="0">
              <a:buNone/>
            </a:pPr>
            <a:r>
              <a:rPr lang="en-US" sz="1300" b="1" dirty="0">
                <a:solidFill>
                  <a:srgbClr val="06418C"/>
                </a:solidFill>
                <a:latin typeface="Arial" pitchFamily="34" charset="0"/>
                <a:ea typeface="Arial" pitchFamily="34" charset="-122"/>
                <a:cs typeface="Arial" pitchFamily="34" charset="-120"/>
              </a:rPr>
              <a:t>Operational AI + Foundation</a:t>
            </a:r>
            <a:endParaRPr lang="en-US" sz="1300" dirty="0"/>
          </a:p>
        </p:txBody>
      </p:sp>
      <p:sp>
        <p:nvSpPr>
          <p:cNvPr id="12" name="Text 10"/>
          <p:cNvSpPr/>
          <p:nvPr/>
        </p:nvSpPr>
        <p:spPr>
          <a:xfrm>
            <a:off x="777240" y="1965960"/>
            <a:ext cx="2194560" cy="1234440"/>
          </a:xfrm>
          <a:prstGeom prst="rect">
            <a:avLst/>
          </a:prstGeom>
          <a:noFill/>
          <a:ln/>
        </p:spPr>
        <p:txBody>
          <a:bodyPr wrap="square" lIns="0" tIns="0" rIns="0" bIns="0" rtlCol="0" anchor="ctr"/>
          <a:lstStyle/>
          <a:p>
            <a:pPr indent="0" marL="0">
              <a:lnSpc>
                <a:spcPct val="130000"/>
              </a:lnSpc>
              <a:buNone/>
            </a:pPr>
            <a:r>
              <a:rPr lang="en-US" sz="1100" dirty="0">
                <a:solidFill>
                  <a:srgbClr val="4A4A4A"/>
                </a:solidFill>
                <a:latin typeface="Arial" pitchFamily="34" charset="0"/>
                <a:ea typeface="Arial" pitchFamily="34" charset="-122"/>
                <a:cs typeface="Arial" pitchFamily="34" charset="-120"/>
              </a:rPr>
              <a:t>JD generation • Candidate screening • AI literacy certification • Skills baseline</a:t>
            </a:r>
            <a:endParaRPr lang="en-US" sz="1100" dirty="0"/>
          </a:p>
        </p:txBody>
      </p:sp>
      <p:sp>
        <p:nvSpPr>
          <p:cNvPr id="13" name="Shape 11"/>
          <p:cNvSpPr/>
          <p:nvPr/>
        </p:nvSpPr>
        <p:spPr>
          <a:xfrm>
            <a:off x="3337560" y="1097280"/>
            <a:ext cx="2468880" cy="22860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4" name="Shape 12"/>
          <p:cNvSpPr/>
          <p:nvPr/>
        </p:nvSpPr>
        <p:spPr>
          <a:xfrm>
            <a:off x="3337560" y="1097280"/>
            <a:ext cx="2468880" cy="365760"/>
          </a:xfrm>
          <a:prstGeom prst="rect">
            <a:avLst/>
          </a:prstGeom>
          <a:solidFill>
            <a:srgbClr val="06418C"/>
          </a:solidFill>
          <a:ln/>
        </p:spPr>
      </p:sp>
      <p:sp>
        <p:nvSpPr>
          <p:cNvPr id="15" name="Text 13"/>
          <p:cNvSpPr/>
          <p:nvPr/>
        </p:nvSpPr>
        <p:spPr>
          <a:xfrm>
            <a:off x="3337560" y="1097280"/>
            <a:ext cx="246888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PHASE 2</a:t>
            </a:r>
            <a:endParaRPr lang="en-US" sz="1200" dirty="0"/>
          </a:p>
        </p:txBody>
      </p:sp>
      <p:sp>
        <p:nvSpPr>
          <p:cNvPr id="16" name="Text 14"/>
          <p:cNvSpPr/>
          <p:nvPr/>
        </p:nvSpPr>
        <p:spPr>
          <a:xfrm>
            <a:off x="3474720" y="1554480"/>
            <a:ext cx="2194560" cy="365760"/>
          </a:xfrm>
          <a:prstGeom prst="rect">
            <a:avLst/>
          </a:prstGeom>
          <a:noFill/>
          <a:ln/>
        </p:spPr>
        <p:txBody>
          <a:bodyPr wrap="square" lIns="0" tIns="0" rIns="0" bIns="0" rtlCol="0" anchor="ctr"/>
          <a:lstStyle/>
          <a:p>
            <a:pPr indent="0" marL="0">
              <a:buNone/>
            </a:pPr>
            <a:r>
              <a:rPr lang="en-US" sz="1300" b="1" dirty="0">
                <a:solidFill>
                  <a:srgbClr val="06418C"/>
                </a:solidFill>
                <a:latin typeface="Arial" pitchFamily="34" charset="0"/>
                <a:ea typeface="Arial" pitchFamily="34" charset="-122"/>
                <a:cs typeface="Arial" pitchFamily="34" charset="-120"/>
              </a:rPr>
              <a:t>Workforce Intelligence</a:t>
            </a:r>
            <a:endParaRPr lang="en-US" sz="1300" dirty="0"/>
          </a:p>
        </p:txBody>
      </p:sp>
      <p:sp>
        <p:nvSpPr>
          <p:cNvPr id="17" name="Text 15"/>
          <p:cNvSpPr/>
          <p:nvPr/>
        </p:nvSpPr>
        <p:spPr>
          <a:xfrm>
            <a:off x="3474720" y="1965960"/>
            <a:ext cx="2194560" cy="1234440"/>
          </a:xfrm>
          <a:prstGeom prst="rect">
            <a:avLst/>
          </a:prstGeom>
          <a:noFill/>
          <a:ln/>
        </p:spPr>
        <p:txBody>
          <a:bodyPr wrap="square" lIns="0" tIns="0" rIns="0" bIns="0" rtlCol="0" anchor="ctr"/>
          <a:lstStyle/>
          <a:p>
            <a:pPr indent="0" marL="0">
              <a:lnSpc>
                <a:spcPct val="130000"/>
              </a:lnSpc>
              <a:buNone/>
            </a:pPr>
            <a:r>
              <a:rPr lang="en-US" sz="1100" dirty="0">
                <a:solidFill>
                  <a:srgbClr val="4A4A4A"/>
                </a:solidFill>
                <a:latin typeface="Arial" pitchFamily="34" charset="0"/>
                <a:ea typeface="Arial" pitchFamily="34" charset="-122"/>
                <a:cs typeface="Arial" pitchFamily="34" charset="-120"/>
              </a:rPr>
              <a:t>Skills gap analysis • Reskilling pathways • New AI-native job families • Build vs. hire framework</a:t>
            </a:r>
            <a:endParaRPr lang="en-US" sz="1100" dirty="0"/>
          </a:p>
        </p:txBody>
      </p:sp>
      <p:sp>
        <p:nvSpPr>
          <p:cNvPr id="18" name="Shape 16"/>
          <p:cNvSpPr/>
          <p:nvPr/>
        </p:nvSpPr>
        <p:spPr>
          <a:xfrm>
            <a:off x="6035040" y="1097280"/>
            <a:ext cx="2468880" cy="22860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9" name="Shape 17"/>
          <p:cNvSpPr/>
          <p:nvPr/>
        </p:nvSpPr>
        <p:spPr>
          <a:xfrm>
            <a:off x="6035040" y="1097280"/>
            <a:ext cx="2468880" cy="365760"/>
          </a:xfrm>
          <a:prstGeom prst="rect">
            <a:avLst/>
          </a:prstGeom>
          <a:solidFill>
            <a:srgbClr val="993399"/>
          </a:solidFill>
          <a:ln/>
        </p:spPr>
      </p:sp>
      <p:sp>
        <p:nvSpPr>
          <p:cNvPr id="20" name="Text 18"/>
          <p:cNvSpPr/>
          <p:nvPr/>
        </p:nvSpPr>
        <p:spPr>
          <a:xfrm>
            <a:off x="6035040" y="1097280"/>
            <a:ext cx="246888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PHASE 3</a:t>
            </a:r>
            <a:endParaRPr lang="en-US" sz="1200" dirty="0"/>
          </a:p>
        </p:txBody>
      </p:sp>
      <p:sp>
        <p:nvSpPr>
          <p:cNvPr id="21" name="Text 19"/>
          <p:cNvSpPr/>
          <p:nvPr/>
        </p:nvSpPr>
        <p:spPr>
          <a:xfrm>
            <a:off x="6172200" y="1554480"/>
            <a:ext cx="2194560" cy="365760"/>
          </a:xfrm>
          <a:prstGeom prst="rect">
            <a:avLst/>
          </a:prstGeom>
          <a:noFill/>
          <a:ln/>
        </p:spPr>
        <p:txBody>
          <a:bodyPr wrap="square" lIns="0" tIns="0" rIns="0" bIns="0" rtlCol="0" anchor="ctr"/>
          <a:lstStyle/>
          <a:p>
            <a:pPr indent="0" marL="0">
              <a:buNone/>
            </a:pPr>
            <a:r>
              <a:rPr lang="en-US" sz="1300" b="1" dirty="0">
                <a:solidFill>
                  <a:srgbClr val="06418C"/>
                </a:solidFill>
                <a:latin typeface="Arial" pitchFamily="34" charset="0"/>
                <a:ea typeface="Arial" pitchFamily="34" charset="-122"/>
                <a:cs typeface="Arial" pitchFamily="34" charset="-120"/>
              </a:rPr>
              <a:t>Workforce Architecture</a:t>
            </a:r>
            <a:endParaRPr lang="en-US" sz="1300" dirty="0"/>
          </a:p>
        </p:txBody>
      </p:sp>
      <p:sp>
        <p:nvSpPr>
          <p:cNvPr id="22" name="Text 20"/>
          <p:cNvSpPr/>
          <p:nvPr/>
        </p:nvSpPr>
        <p:spPr>
          <a:xfrm>
            <a:off x="6172200" y="1965960"/>
            <a:ext cx="2194560" cy="1234440"/>
          </a:xfrm>
          <a:prstGeom prst="rect">
            <a:avLst/>
          </a:prstGeom>
          <a:noFill/>
          <a:ln/>
        </p:spPr>
        <p:txBody>
          <a:bodyPr wrap="square" lIns="0" tIns="0" rIns="0" bIns="0" rtlCol="0" anchor="ctr"/>
          <a:lstStyle/>
          <a:p>
            <a:pPr indent="0" marL="0">
              <a:lnSpc>
                <a:spcPct val="130000"/>
              </a:lnSpc>
              <a:buNone/>
            </a:pPr>
            <a:r>
              <a:rPr lang="en-US" sz="1100" dirty="0">
                <a:solidFill>
                  <a:srgbClr val="4A4A4A"/>
                </a:solidFill>
                <a:latin typeface="Arial" pitchFamily="34" charset="0"/>
                <a:ea typeface="Arial" pitchFamily="34" charset="-122"/>
                <a:cs typeface="Arial" pitchFamily="34" charset="-120"/>
              </a:rPr>
              <a:t>R&amp;D org redesign if AI handles 30% of repetitive tasks • Workforce planning as strategic function</a:t>
            </a:r>
            <a:endParaRPr lang="en-US" sz="1100" dirty="0"/>
          </a:p>
        </p:txBody>
      </p:sp>
      <p:sp>
        <p:nvSpPr>
          <p:cNvPr id="23" name="Shape 21"/>
          <p:cNvSpPr/>
          <p:nvPr/>
        </p:nvSpPr>
        <p:spPr>
          <a:xfrm>
            <a:off x="640080" y="3840480"/>
            <a:ext cx="7863840" cy="45720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24" name="Text 22"/>
          <p:cNvSpPr/>
          <p:nvPr/>
        </p:nvSpPr>
        <p:spPr>
          <a:xfrm>
            <a:off x="822960" y="3840480"/>
            <a:ext cx="7498080" cy="457200"/>
          </a:xfrm>
          <a:prstGeom prst="rect">
            <a:avLst/>
          </a:prstGeom>
          <a:noFill/>
          <a:ln/>
        </p:spPr>
        <p:txBody>
          <a:bodyPr wrap="square" lIns="0" tIns="0" rIns="0" bIns="0" rtlCol="0" anchor="ctr"/>
          <a:lstStyle/>
          <a:p>
            <a:pPr indent="0" marL="0">
              <a:buNone/>
            </a:pPr>
            <a:r>
              <a:rPr lang="en-US" sz="1300" b="1" i="1" dirty="0">
                <a:solidFill>
                  <a:srgbClr val="06418C"/>
                </a:solidFill>
                <a:latin typeface="Arial" pitchFamily="34" charset="0"/>
                <a:ea typeface="Arial" pitchFamily="34" charset="-122"/>
                <a:cs typeface="Arial" pitchFamily="34" charset="-120"/>
              </a:rPr>
              <a:t>Companies that succeeded — Deere, NVIDIA, Siemens — treated talent transformation as parallel, not sequential.</a:t>
            </a:r>
            <a:endParaRPr lang="en-US" sz="130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AI makes sales more targeted, customers more successful.</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35</a:t>
            </a:r>
            <a:endParaRPr lang="en-US" sz="700" dirty="0"/>
          </a:p>
        </p:txBody>
      </p:sp>
      <p:sp>
        <p:nvSpPr>
          <p:cNvPr id="8" name="Shape 6"/>
          <p:cNvSpPr/>
          <p:nvPr/>
        </p:nvSpPr>
        <p:spPr>
          <a:xfrm>
            <a:off x="640080" y="1097280"/>
            <a:ext cx="3749040" cy="365760"/>
          </a:xfrm>
          <a:prstGeom prst="rect">
            <a:avLst/>
          </a:prstGeom>
          <a:solidFill>
            <a:srgbClr val="06418C"/>
          </a:solidFill>
          <a:ln/>
        </p:spPr>
      </p:sp>
      <p:sp>
        <p:nvSpPr>
          <p:cNvPr id="9" name="Text 7"/>
          <p:cNvSpPr/>
          <p:nvPr/>
        </p:nvSpPr>
        <p:spPr>
          <a:xfrm>
            <a:off x="640080" y="1097280"/>
            <a:ext cx="374904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INTERNAL SALES INTELLIGENCE</a:t>
            </a:r>
            <a:endParaRPr lang="en-US" sz="1200" dirty="0"/>
          </a:p>
        </p:txBody>
      </p:sp>
      <p:sp>
        <p:nvSpPr>
          <p:cNvPr id="10" name="Text 8"/>
          <p:cNvSpPr/>
          <p:nvPr/>
        </p:nvSpPr>
        <p:spPr>
          <a:xfrm>
            <a:off x="777240" y="1600200"/>
            <a:ext cx="3474720" cy="347472"/>
          </a:xfrm>
          <a:prstGeom prst="rect">
            <a:avLst/>
          </a:prstGeom>
          <a:noFill/>
          <a:ln/>
        </p:spPr>
        <p:txBody>
          <a:bodyPr wrap="square" lIns="0" tIns="0" rIns="0" bIns="0" rtlCol="0" anchor="ctr"/>
          <a:lstStyle/>
          <a:p>
            <a:pPr indent="0" marL="0">
              <a:buNone/>
            </a:pPr>
            <a:r>
              <a:rPr lang="en-US" sz="1200" b="1" dirty="0">
                <a:solidFill>
                  <a:srgbClr val="4471A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Lead scoring based on design activity patterns</a:t>
            </a:r>
            <a:endParaRPr lang="en-US" sz="1200" dirty="0"/>
          </a:p>
        </p:txBody>
      </p:sp>
      <p:sp>
        <p:nvSpPr>
          <p:cNvPr id="11" name="Text 9"/>
          <p:cNvSpPr/>
          <p:nvPr/>
        </p:nvSpPr>
        <p:spPr>
          <a:xfrm>
            <a:off x="777240" y="1965960"/>
            <a:ext cx="3474720" cy="347472"/>
          </a:xfrm>
          <a:prstGeom prst="rect">
            <a:avLst/>
          </a:prstGeom>
          <a:noFill/>
          <a:ln/>
        </p:spPr>
        <p:txBody>
          <a:bodyPr wrap="square" lIns="0" tIns="0" rIns="0" bIns="0" rtlCol="0" anchor="ctr"/>
          <a:lstStyle/>
          <a:p>
            <a:pPr indent="0" marL="0">
              <a:buNone/>
            </a:pPr>
            <a:r>
              <a:rPr lang="en-US" sz="1200" b="1" dirty="0">
                <a:solidFill>
                  <a:srgbClr val="4471A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Design-in opportunity detection</a:t>
            </a:r>
            <a:endParaRPr lang="en-US" sz="1200" dirty="0"/>
          </a:p>
        </p:txBody>
      </p:sp>
      <p:sp>
        <p:nvSpPr>
          <p:cNvPr id="12" name="Text 10"/>
          <p:cNvSpPr/>
          <p:nvPr/>
        </p:nvSpPr>
        <p:spPr>
          <a:xfrm>
            <a:off x="777240" y="2331720"/>
            <a:ext cx="3474720" cy="347472"/>
          </a:xfrm>
          <a:prstGeom prst="rect">
            <a:avLst/>
          </a:prstGeom>
          <a:noFill/>
          <a:ln/>
        </p:spPr>
        <p:txBody>
          <a:bodyPr wrap="square" lIns="0" tIns="0" rIns="0" bIns="0" rtlCol="0" anchor="ctr"/>
          <a:lstStyle/>
          <a:p>
            <a:pPr indent="0" marL="0">
              <a:buNone/>
            </a:pPr>
            <a:r>
              <a:rPr lang="en-US" sz="1200" b="1" dirty="0">
                <a:solidFill>
                  <a:srgbClr val="4471A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CRM enrichment: auto-log, update pipeline, flag churn</a:t>
            </a:r>
            <a:endParaRPr lang="en-US" sz="1200" dirty="0"/>
          </a:p>
        </p:txBody>
      </p:sp>
      <p:sp>
        <p:nvSpPr>
          <p:cNvPr id="13" name="Text 11"/>
          <p:cNvSpPr/>
          <p:nvPr/>
        </p:nvSpPr>
        <p:spPr>
          <a:xfrm>
            <a:off x="777240" y="2697480"/>
            <a:ext cx="3474720" cy="347472"/>
          </a:xfrm>
          <a:prstGeom prst="rect">
            <a:avLst/>
          </a:prstGeom>
          <a:noFill/>
          <a:ln/>
        </p:spPr>
        <p:txBody>
          <a:bodyPr wrap="square" lIns="0" tIns="0" rIns="0" bIns="0" rtlCol="0" anchor="ctr"/>
          <a:lstStyle/>
          <a:p>
            <a:pPr indent="0" marL="0">
              <a:buNone/>
            </a:pPr>
            <a:r>
              <a:rPr lang="en-US" sz="1200" b="1" dirty="0">
                <a:solidFill>
                  <a:srgbClr val="4471A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Competitive positioning intelligence</a:t>
            </a:r>
            <a:endParaRPr lang="en-US" sz="1200" dirty="0"/>
          </a:p>
        </p:txBody>
      </p:sp>
      <p:sp>
        <p:nvSpPr>
          <p:cNvPr id="14" name="Shape 12"/>
          <p:cNvSpPr/>
          <p:nvPr/>
        </p:nvSpPr>
        <p:spPr>
          <a:xfrm>
            <a:off x="4754880" y="1097280"/>
            <a:ext cx="3749040" cy="365760"/>
          </a:xfrm>
          <a:prstGeom prst="rect">
            <a:avLst/>
          </a:prstGeom>
          <a:solidFill>
            <a:srgbClr val="4471A9"/>
          </a:solidFill>
          <a:ln/>
        </p:spPr>
      </p:sp>
      <p:sp>
        <p:nvSpPr>
          <p:cNvPr id="15" name="Text 13"/>
          <p:cNvSpPr/>
          <p:nvPr/>
        </p:nvSpPr>
        <p:spPr>
          <a:xfrm>
            <a:off x="4754880" y="1097280"/>
            <a:ext cx="374904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CUSTOMER-FACING ENABLEMENT</a:t>
            </a:r>
            <a:endParaRPr lang="en-US" sz="1200" dirty="0"/>
          </a:p>
        </p:txBody>
      </p:sp>
      <p:sp>
        <p:nvSpPr>
          <p:cNvPr id="16" name="Text 14"/>
          <p:cNvSpPr/>
          <p:nvPr/>
        </p:nvSpPr>
        <p:spPr>
          <a:xfrm>
            <a:off x="4892040" y="1600200"/>
            <a:ext cx="3474720" cy="347472"/>
          </a:xfrm>
          <a:prstGeom prst="rect">
            <a:avLst/>
          </a:prstGeom>
          <a:noFill/>
          <a:ln/>
        </p:spPr>
        <p:txBody>
          <a:bodyPr wrap="square" lIns="0" tIns="0" rIns="0" bIns="0" rtlCol="0" anchor="ctr"/>
          <a:lstStyle/>
          <a:p>
            <a:pPr indent="0" marL="0">
              <a:buNone/>
            </a:pPr>
            <a:r>
              <a:rPr lang="en-US" sz="1200" b="1" dirty="0">
                <a:solidFill>
                  <a:srgbClr val="99339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AI-assisted product selection</a:t>
            </a:r>
            <a:endParaRPr lang="en-US" sz="1200" dirty="0"/>
          </a:p>
        </p:txBody>
      </p:sp>
      <p:sp>
        <p:nvSpPr>
          <p:cNvPr id="17" name="Text 15"/>
          <p:cNvSpPr/>
          <p:nvPr/>
        </p:nvSpPr>
        <p:spPr>
          <a:xfrm>
            <a:off x="4892040" y="1965960"/>
            <a:ext cx="3474720" cy="347472"/>
          </a:xfrm>
          <a:prstGeom prst="rect">
            <a:avLst/>
          </a:prstGeom>
          <a:noFill/>
          <a:ln/>
        </p:spPr>
        <p:txBody>
          <a:bodyPr wrap="square" lIns="0" tIns="0" rIns="0" bIns="0" rtlCol="0" anchor="ctr"/>
          <a:lstStyle/>
          <a:p>
            <a:pPr indent="0" marL="0">
              <a:buNone/>
            </a:pPr>
            <a:r>
              <a:rPr lang="en-US" sz="1200" b="1" dirty="0">
                <a:solidFill>
                  <a:srgbClr val="99339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Application note generation (tailored)</a:t>
            </a:r>
            <a:endParaRPr lang="en-US" sz="1200" dirty="0"/>
          </a:p>
        </p:txBody>
      </p:sp>
      <p:sp>
        <p:nvSpPr>
          <p:cNvPr id="18" name="Text 16"/>
          <p:cNvSpPr/>
          <p:nvPr/>
        </p:nvSpPr>
        <p:spPr>
          <a:xfrm>
            <a:off x="4892040" y="2331720"/>
            <a:ext cx="3474720" cy="347472"/>
          </a:xfrm>
          <a:prstGeom prst="rect">
            <a:avLst/>
          </a:prstGeom>
          <a:noFill/>
          <a:ln/>
        </p:spPr>
        <p:txBody>
          <a:bodyPr wrap="square" lIns="0" tIns="0" rIns="0" bIns="0" rtlCol="0" anchor="ctr"/>
          <a:lstStyle/>
          <a:p>
            <a:pPr indent="0" marL="0">
              <a:buNone/>
            </a:pPr>
            <a:r>
              <a:rPr lang="en-US" sz="1200" b="1" dirty="0">
                <a:solidFill>
                  <a:srgbClr val="993399"/>
                </a:solidFill>
                <a:latin typeface="Arial" pitchFamily="34" charset="0"/>
                <a:ea typeface="Arial" pitchFamily="34" charset="-122"/>
                <a:cs typeface="Arial" pitchFamily="34" charset="-120"/>
              </a:rPr>
              <a:t xml:space="preserve">→  </a:t>
            </a:r>
            <a:pPr indent="0" marL="0">
              <a:buNone/>
            </a:pPr>
            <a:r>
              <a:rPr lang="en-US" sz="1200" dirty="0">
                <a:solidFill>
                  <a:srgbClr val="4A4A4A"/>
                </a:solidFill>
                <a:latin typeface="Arial" pitchFamily="34" charset="0"/>
                <a:ea typeface="Arial" pitchFamily="34" charset="-122"/>
                <a:cs typeface="Arial" pitchFamily="34" charset="-120"/>
              </a:rPr>
              <a:t>Reference design recommendation engine</a:t>
            </a:r>
            <a:endParaRPr lang="en-US" sz="1200" dirty="0"/>
          </a:p>
        </p:txBody>
      </p:sp>
      <p:sp>
        <p:nvSpPr>
          <p:cNvPr id="19" name="Text 17"/>
          <p:cNvSpPr/>
          <p:nvPr/>
        </p:nvSpPr>
        <p:spPr>
          <a:xfrm>
            <a:off x="640080" y="3383280"/>
            <a:ext cx="7863840" cy="365760"/>
          </a:xfrm>
          <a:prstGeom prst="rect">
            <a:avLst/>
          </a:prstGeom>
          <a:noFill/>
          <a:ln/>
        </p:spPr>
        <p:txBody>
          <a:bodyPr wrap="square" lIns="0" tIns="0" rIns="0" bIns="0" rtlCol="0" anchor="ctr"/>
          <a:lstStyle/>
          <a:p>
            <a:pPr indent="0" marL="0">
              <a:buNone/>
            </a:pPr>
            <a:r>
              <a:rPr lang="en-US" sz="1100" i="1" dirty="0">
                <a:solidFill>
                  <a:srgbClr val="9D9D9D"/>
                </a:solidFill>
                <a:latin typeface="Arial" pitchFamily="34" charset="0"/>
                <a:ea typeface="Arial" pitchFamily="34" charset="-122"/>
                <a:cs typeface="Arial" pitchFamily="34" charset="-120"/>
              </a:rPr>
              <a:t>As R365 and Altium evolve, the design intelligence potential grows. The data infrastructure we build now is the foundation.</a:t>
            </a:r>
            <a:endParaRPr lang="en-US" sz="110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Three functions often overlooked. Immediately improvable.</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36</a:t>
            </a:r>
            <a:endParaRPr lang="en-US" sz="700" dirty="0"/>
          </a:p>
        </p:txBody>
      </p:sp>
      <p:sp>
        <p:nvSpPr>
          <p:cNvPr id="8" name="Shape 6"/>
          <p:cNvSpPr/>
          <p:nvPr/>
        </p:nvSpPr>
        <p:spPr>
          <a:xfrm>
            <a:off x="640080" y="1097280"/>
            <a:ext cx="7863840" cy="12344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9" name="Shape 7"/>
          <p:cNvSpPr/>
          <p:nvPr/>
        </p:nvSpPr>
        <p:spPr>
          <a:xfrm>
            <a:off x="640080" y="1097280"/>
            <a:ext cx="7863840" cy="365760"/>
          </a:xfrm>
          <a:prstGeom prst="rect">
            <a:avLst/>
          </a:prstGeom>
          <a:solidFill>
            <a:srgbClr val="06418C"/>
          </a:solidFill>
          <a:ln/>
        </p:spPr>
      </p:sp>
      <p:sp>
        <p:nvSpPr>
          <p:cNvPr id="10" name="Text 8"/>
          <p:cNvSpPr/>
          <p:nvPr/>
        </p:nvSpPr>
        <p:spPr>
          <a:xfrm>
            <a:off x="777240" y="1097280"/>
            <a:ext cx="758952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Communications &amp; Institutional Knowledge</a:t>
            </a:r>
            <a:endParaRPr lang="en-US" sz="1400" dirty="0"/>
          </a:p>
        </p:txBody>
      </p:sp>
      <p:sp>
        <p:nvSpPr>
          <p:cNvPr id="11" name="Text 9"/>
          <p:cNvSpPr/>
          <p:nvPr/>
        </p:nvSpPr>
        <p:spPr>
          <a:xfrm>
            <a:off x="777240" y="1554480"/>
            <a:ext cx="7589520" cy="685800"/>
          </a:xfrm>
          <a:prstGeom prst="rect">
            <a:avLst/>
          </a:prstGeom>
          <a:noFill/>
          <a:ln/>
        </p:spPr>
        <p:txBody>
          <a:bodyPr wrap="square" lIns="0" tIns="0" rIns="0" bIns="0" rtlCol="0" anchor="ctr"/>
          <a:lstStyle/>
          <a:p>
            <a:pPr indent="0" marL="0">
              <a:lnSpc>
                <a:spcPct val="130000"/>
              </a:lnSpc>
              <a:buNone/>
            </a:pPr>
            <a:r>
              <a:rPr lang="en-US" sz="1200" dirty="0">
                <a:solidFill>
                  <a:srgbClr val="4A4A4A"/>
                </a:solidFill>
                <a:latin typeface="Arial" pitchFamily="34" charset="0"/>
                <a:ea typeface="Arial" pitchFamily="34" charset="-122"/>
                <a:cs typeface="Arial" pitchFamily="34" charset="-120"/>
              </a:rPr>
              <a:t>RAG-based knowledge retrieval • Meeting notes + action items • Translation (Japan ↔ US) • "The expert who retires takes everything" — not anymore</a:t>
            </a:r>
            <a:endParaRPr lang="en-US" sz="1200" dirty="0"/>
          </a:p>
        </p:txBody>
      </p:sp>
      <p:sp>
        <p:nvSpPr>
          <p:cNvPr id="12" name="Shape 10"/>
          <p:cNvSpPr/>
          <p:nvPr/>
        </p:nvSpPr>
        <p:spPr>
          <a:xfrm>
            <a:off x="640080" y="2560320"/>
            <a:ext cx="7863840" cy="12344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3" name="Shape 11"/>
          <p:cNvSpPr/>
          <p:nvPr/>
        </p:nvSpPr>
        <p:spPr>
          <a:xfrm>
            <a:off x="640080" y="2560320"/>
            <a:ext cx="7863840" cy="365760"/>
          </a:xfrm>
          <a:prstGeom prst="rect">
            <a:avLst/>
          </a:prstGeom>
          <a:solidFill>
            <a:srgbClr val="4471A9"/>
          </a:solidFill>
          <a:ln/>
        </p:spPr>
      </p:sp>
      <p:sp>
        <p:nvSpPr>
          <p:cNvPr id="14" name="Text 12"/>
          <p:cNvSpPr/>
          <p:nvPr/>
        </p:nvSpPr>
        <p:spPr>
          <a:xfrm>
            <a:off x="777240" y="2560320"/>
            <a:ext cx="758952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Audit &amp; Compliance</a:t>
            </a:r>
            <a:endParaRPr lang="en-US" sz="1400" dirty="0"/>
          </a:p>
        </p:txBody>
      </p:sp>
      <p:sp>
        <p:nvSpPr>
          <p:cNvPr id="15" name="Text 13"/>
          <p:cNvSpPr/>
          <p:nvPr/>
        </p:nvSpPr>
        <p:spPr>
          <a:xfrm>
            <a:off x="777240" y="3017520"/>
            <a:ext cx="7589520" cy="685800"/>
          </a:xfrm>
          <a:prstGeom prst="rect">
            <a:avLst/>
          </a:prstGeom>
          <a:noFill/>
          <a:ln/>
        </p:spPr>
        <p:txBody>
          <a:bodyPr wrap="square" lIns="0" tIns="0" rIns="0" bIns="0" rtlCol="0" anchor="ctr"/>
          <a:lstStyle/>
          <a:p>
            <a:pPr indent="0" marL="0">
              <a:lnSpc>
                <a:spcPct val="130000"/>
              </a:lnSpc>
              <a:buNone/>
            </a:pPr>
            <a:r>
              <a:rPr lang="en-US" sz="1200" dirty="0">
                <a:solidFill>
                  <a:srgbClr val="4A4A4A"/>
                </a:solidFill>
                <a:latin typeface="Arial" pitchFamily="34" charset="0"/>
                <a:ea typeface="Arial" pitchFamily="34" charset="-122"/>
                <a:cs typeface="Arial" pitchFamily="34" charset="-120"/>
              </a:rPr>
              <a:t>Continuous monitoring replaces point-in-time auditing • AI samples transactions, flags anomalies • NIST AI RMF as governance framework</a:t>
            </a:r>
            <a:endParaRPr lang="en-US" sz="1200" dirty="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42D5E"/>
        </a:solidFill>
        <a:effectLst/>
      </p:bgPr>
    </p:bg>
    <p:spTree>
      <p:nvGrpSpPr>
        <p:cNvPr id="1" name=""/>
        <p:cNvGrpSpPr/>
        <p:nvPr/>
      </p:nvGrpSpPr>
      <p:grpSpPr/>
      <p:sp>
        <p:nvSpPr>
          <p:cNvPr id="2" name="Shape 0"/>
          <p:cNvSpPr/>
          <p:nvPr/>
        </p:nvSpPr>
        <p:spPr>
          <a:xfrm>
            <a:off x="0" y="0"/>
            <a:ext cx="9144000" cy="36576"/>
          </a:xfrm>
          <a:prstGeom prst="rect">
            <a:avLst/>
          </a:prstGeom>
          <a:solidFill>
            <a:srgbClr val="4471A9"/>
          </a:solidFill>
          <a:ln/>
        </p:spPr>
      </p:sp>
      <p:sp>
        <p:nvSpPr>
          <p:cNvPr id="3" name="Text 1"/>
          <p:cNvSpPr/>
          <p:nvPr/>
        </p:nvSpPr>
        <p:spPr>
          <a:xfrm>
            <a:off x="640080" y="1371600"/>
            <a:ext cx="1097280" cy="731520"/>
          </a:xfrm>
          <a:prstGeom prst="rect">
            <a:avLst/>
          </a:prstGeom>
          <a:noFill/>
          <a:ln/>
        </p:spPr>
        <p:txBody>
          <a:bodyPr wrap="square" lIns="0" tIns="0" rIns="0" bIns="0" rtlCol="0" anchor="ctr"/>
          <a:lstStyle/>
          <a:p>
            <a:pPr indent="0" marL="0">
              <a:buNone/>
            </a:pPr>
            <a:r>
              <a:rPr lang="en-US" sz="4800" b="1" dirty="0">
                <a:solidFill>
                  <a:srgbClr val="4471A9"/>
                </a:solidFill>
                <a:latin typeface="Arial" pitchFamily="34" charset="0"/>
                <a:ea typeface="Arial" pitchFamily="34" charset="-122"/>
                <a:cs typeface="Arial" pitchFamily="34" charset="-120"/>
              </a:rPr>
              <a:t>06</a:t>
            </a:r>
            <a:endParaRPr lang="en-US" sz="4800" dirty="0"/>
          </a:p>
        </p:txBody>
      </p:sp>
      <p:sp>
        <p:nvSpPr>
          <p:cNvPr id="4" name="Text 2"/>
          <p:cNvSpPr/>
          <p:nvPr/>
        </p:nvSpPr>
        <p:spPr>
          <a:xfrm>
            <a:off x="640080" y="2103120"/>
            <a:ext cx="7315200" cy="914400"/>
          </a:xfrm>
          <a:prstGeom prst="rect">
            <a:avLst/>
          </a:prstGeom>
          <a:noFill/>
          <a:ln/>
        </p:spPr>
        <p:txBody>
          <a:bodyPr wrap="square" lIns="0" tIns="0" rIns="0" bIns="0" rtlCol="0" anchor="ctr"/>
          <a:lstStyle/>
          <a:p>
            <a:pPr indent="0" marL="0">
              <a:buNone/>
            </a:pPr>
            <a:r>
              <a:rPr lang="en-US" sz="3600" b="1" spc="300" kern="0" dirty="0">
                <a:solidFill>
                  <a:srgbClr val="FFFFFF"/>
                </a:solidFill>
                <a:latin typeface="Arial" pitchFamily="34" charset="0"/>
                <a:ea typeface="Arial" pitchFamily="34" charset="-122"/>
                <a:cs typeface="Arial" pitchFamily="34" charset="-120"/>
              </a:rPr>
              <a:t>PLM — THE BACKBONE</a:t>
            </a:r>
            <a:endParaRPr lang="en-US" sz="3600" dirty="0"/>
          </a:p>
        </p:txBody>
      </p:sp>
      <p:sp>
        <p:nvSpPr>
          <p:cNvPr id="5" name="Text 3"/>
          <p:cNvSpPr/>
          <p:nvPr/>
        </p:nvSpPr>
        <p:spPr>
          <a:xfrm>
            <a:off x="640080" y="3017520"/>
            <a:ext cx="6400800" cy="548640"/>
          </a:xfrm>
          <a:prstGeom prst="rect">
            <a:avLst/>
          </a:prstGeom>
          <a:noFill/>
          <a:ln/>
        </p:spPr>
        <p:txBody>
          <a:bodyPr wrap="square" rtlCol="0" anchor="ctr"/>
          <a:lstStyle/>
          <a:p>
            <a:pPr indent="0" marL="0">
              <a:buNone/>
            </a:pPr>
            <a:r>
              <a:rPr lang="en-US" sz="1600" dirty="0">
                <a:solidFill>
                  <a:srgbClr val="4471A9"/>
                </a:solidFill>
                <a:latin typeface="Arial" pitchFamily="34" charset="0"/>
                <a:ea typeface="Arial" pitchFamily="34" charset="-122"/>
                <a:cs typeface="Arial" pitchFamily="34" charset="-120"/>
              </a:rPr>
              <a:t>The system of record for how Renesas creates products</a:t>
            </a:r>
            <a:endParaRPr lang="en-US" sz="1600" dirty="0"/>
          </a:p>
        </p:txBody>
      </p:sp>
      <p:sp>
        <p:nvSpPr>
          <p:cNvPr id="6" name="Shape 4"/>
          <p:cNvSpPr/>
          <p:nvPr/>
        </p:nvSpPr>
        <p:spPr>
          <a:xfrm>
            <a:off x="0" y="5106924"/>
            <a:ext cx="9144000" cy="36576"/>
          </a:xfrm>
          <a:prstGeom prst="rect">
            <a:avLst/>
          </a:prstGeom>
          <a:solidFill>
            <a:srgbClr val="993399"/>
          </a:solidFill>
          <a:ln/>
        </p:spPr>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PLM is the spine. Not a software tool.</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37</a:t>
            </a:r>
            <a:endParaRPr lang="en-US" sz="700" dirty="0"/>
          </a:p>
        </p:txBody>
      </p:sp>
      <p:sp>
        <p:nvSpPr>
          <p:cNvPr id="8" name="Shape 6"/>
          <p:cNvSpPr/>
          <p:nvPr/>
        </p:nvSpPr>
        <p:spPr>
          <a:xfrm>
            <a:off x="640080" y="1097280"/>
            <a:ext cx="3749040" cy="365760"/>
          </a:xfrm>
          <a:prstGeom prst="rect">
            <a:avLst/>
          </a:prstGeom>
          <a:solidFill>
            <a:srgbClr val="9D9D9D"/>
          </a:solidFill>
          <a:ln/>
        </p:spPr>
      </p:sp>
      <p:sp>
        <p:nvSpPr>
          <p:cNvPr id="9" name="Text 7"/>
          <p:cNvSpPr/>
          <p:nvPr/>
        </p:nvSpPr>
        <p:spPr>
          <a:xfrm>
            <a:off x="640080" y="1097280"/>
            <a:ext cx="374904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TRADITIONAL PLM</a:t>
            </a:r>
            <a:endParaRPr lang="en-US" sz="1300" dirty="0"/>
          </a:p>
        </p:txBody>
      </p:sp>
      <p:sp>
        <p:nvSpPr>
          <p:cNvPr id="10" name="Text 8"/>
          <p:cNvSpPr/>
          <p:nvPr/>
        </p:nvSpPr>
        <p:spPr>
          <a:xfrm>
            <a:off x="777240" y="1600200"/>
            <a:ext cx="3474720" cy="822960"/>
          </a:xfrm>
          <a:prstGeom prst="rect">
            <a:avLst/>
          </a:prstGeom>
          <a:noFill/>
          <a:ln/>
        </p:spPr>
        <p:txBody>
          <a:bodyPr wrap="square" lIns="0" tIns="0" rIns="0" bIns="0" rtlCol="0" anchor="ctr"/>
          <a:lstStyle/>
          <a:p>
            <a:pPr indent="0" marL="0">
              <a:lnSpc>
                <a:spcPct val="135000"/>
              </a:lnSpc>
              <a:buNone/>
            </a:pPr>
            <a:r>
              <a:rPr lang="en-US" sz="1200" dirty="0">
                <a:solidFill>
                  <a:srgbClr val="4A4A4A"/>
                </a:solidFill>
                <a:latin typeface="Arial" pitchFamily="34" charset="0"/>
                <a:ea typeface="Arial" pitchFamily="34" charset="-122"/>
                <a:cs typeface="Arial" pitchFamily="34" charset="-120"/>
              </a:rPr>
              <a:t>Part numbers, BOMs, ECOs</a:t>
            </a:r>
            <a:endParaRPr lang="en-US" sz="1200" dirty="0"/>
          </a:p>
          <a:p>
            <a:pPr indent="0" marL="0">
              <a:lnSpc>
                <a:spcPct val="135000"/>
              </a:lnSpc>
              <a:buNone/>
            </a:pPr>
            <a:r>
              <a:rPr lang="en-US" sz="1200" dirty="0">
                <a:solidFill>
                  <a:srgbClr val="4A4A4A"/>
                </a:solidFill>
                <a:latin typeface="Arial" pitchFamily="34" charset="0"/>
                <a:ea typeface="Arial" pitchFamily="34" charset="-122"/>
                <a:cs typeface="Arial" pitchFamily="34" charset="-120"/>
              </a:rPr>
              <a:t>Lifecycle state management</a:t>
            </a:r>
            <a:endParaRPr lang="en-US" sz="1200" dirty="0"/>
          </a:p>
          <a:p>
            <a:pPr indent="0" marL="0">
              <a:lnSpc>
                <a:spcPct val="135000"/>
              </a:lnSpc>
              <a:buNone/>
            </a:pPr>
            <a:r>
              <a:rPr lang="en-US" sz="1200" dirty="0">
                <a:solidFill>
                  <a:srgbClr val="4A4A4A"/>
                </a:solidFill>
                <a:latin typeface="Arial" pitchFamily="34" charset="0"/>
                <a:ea typeface="Arial" pitchFamily="34" charset="-122"/>
                <a:cs typeface="Arial" pitchFamily="34" charset="-120"/>
              </a:rPr>
              <a:t>Operational backbone of product data</a:t>
            </a:r>
            <a:endParaRPr lang="en-US" sz="1200" dirty="0"/>
          </a:p>
        </p:txBody>
      </p:sp>
      <p:sp>
        <p:nvSpPr>
          <p:cNvPr id="11" name="Shape 9"/>
          <p:cNvSpPr/>
          <p:nvPr/>
        </p:nvSpPr>
        <p:spPr>
          <a:xfrm>
            <a:off x="4754880" y="1097280"/>
            <a:ext cx="3749040" cy="365760"/>
          </a:xfrm>
          <a:prstGeom prst="rect">
            <a:avLst/>
          </a:prstGeom>
          <a:solidFill>
            <a:srgbClr val="06418C"/>
          </a:solidFill>
          <a:ln/>
        </p:spPr>
      </p:sp>
      <p:sp>
        <p:nvSpPr>
          <p:cNvPr id="12" name="Text 10"/>
          <p:cNvSpPr/>
          <p:nvPr/>
        </p:nvSpPr>
        <p:spPr>
          <a:xfrm>
            <a:off x="4754880" y="1097280"/>
            <a:ext cx="374904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DIGITAL PLM</a:t>
            </a:r>
            <a:endParaRPr lang="en-US" sz="1300" dirty="0"/>
          </a:p>
        </p:txBody>
      </p:sp>
      <p:sp>
        <p:nvSpPr>
          <p:cNvPr id="13" name="Text 11"/>
          <p:cNvSpPr/>
          <p:nvPr/>
        </p:nvSpPr>
        <p:spPr>
          <a:xfrm>
            <a:off x="4892040" y="1600200"/>
            <a:ext cx="3474720" cy="822960"/>
          </a:xfrm>
          <a:prstGeom prst="rect">
            <a:avLst/>
          </a:prstGeom>
          <a:noFill/>
          <a:ln/>
        </p:spPr>
        <p:txBody>
          <a:bodyPr wrap="square" lIns="0" tIns="0" rIns="0" bIns="0" rtlCol="0" anchor="ctr"/>
          <a:lstStyle/>
          <a:p>
            <a:pPr indent="0" marL="0">
              <a:lnSpc>
                <a:spcPct val="135000"/>
              </a:lnSpc>
              <a:buNone/>
            </a:pPr>
            <a:r>
              <a:rPr lang="en-US" sz="1200" dirty="0">
                <a:solidFill>
                  <a:srgbClr val="4A4A4A"/>
                </a:solidFill>
                <a:latin typeface="Arial" pitchFamily="34" charset="0"/>
                <a:ea typeface="Arial" pitchFamily="34" charset="-122"/>
                <a:cs typeface="Arial" pitchFamily="34" charset="-120"/>
              </a:rPr>
              <a:t>Requirements → design → manufacturing → field</a:t>
            </a:r>
            <a:endParaRPr lang="en-US" sz="1200" dirty="0"/>
          </a:p>
          <a:p>
            <a:pPr indent="0" marL="0">
              <a:lnSpc>
                <a:spcPct val="135000"/>
              </a:lnSpc>
              <a:buNone/>
            </a:pPr>
            <a:r>
              <a:rPr lang="en-US" sz="1200" dirty="0">
                <a:solidFill>
                  <a:srgbClr val="4A4A4A"/>
                </a:solidFill>
                <a:latin typeface="Arial" pitchFamily="34" charset="0"/>
                <a:ea typeface="Arial" pitchFamily="34" charset="-122"/>
                <a:cs typeface="Arial" pitchFamily="34" charset="-120"/>
              </a:rPr>
              <a:t>Digital thread connecting needs to silicon</a:t>
            </a:r>
            <a:endParaRPr lang="en-US" sz="1200" dirty="0"/>
          </a:p>
          <a:p>
            <a:pPr indent="0" marL="0">
              <a:lnSpc>
                <a:spcPct val="135000"/>
              </a:lnSpc>
              <a:buNone/>
            </a:pPr>
            <a:r>
              <a:rPr lang="en-US" sz="1200" dirty="0">
                <a:solidFill>
                  <a:srgbClr val="4A4A4A"/>
                </a:solidFill>
                <a:latin typeface="Arial" pitchFamily="34" charset="0"/>
                <a:ea typeface="Arial" pitchFamily="34" charset="-122"/>
                <a:cs typeface="Arial" pitchFamily="34" charset="-120"/>
              </a:rPr>
              <a:t>Where ontology and knowledge graphs live</a:t>
            </a:r>
            <a:endParaRPr lang="en-US" sz="1200" dirty="0"/>
          </a:p>
        </p:txBody>
      </p:sp>
      <p:sp>
        <p:nvSpPr>
          <p:cNvPr id="14" name="Shape 12"/>
          <p:cNvSpPr/>
          <p:nvPr/>
        </p:nvSpPr>
        <p:spPr>
          <a:xfrm>
            <a:off x="640080" y="2743200"/>
            <a:ext cx="7863840" cy="914400"/>
          </a:xfrm>
          <a:prstGeom prst="rect">
            <a:avLst/>
          </a:prstGeom>
          <a:solidFill>
            <a:srgbClr val="F5F6FA"/>
          </a:solidFill>
          <a:ln/>
          <a:effectLst>
            <a:outerShdw sx="100000" sy="100000" kx="0" ky="0" algn="bl" rotWithShape="0" blurRad="50800" dist="12700" dir="8100000">
              <a:srgbClr val="000000">
                <a:alpha val="8000"/>
              </a:srgbClr>
            </a:outerShdw>
          </a:effectLst>
        </p:spPr>
      </p:sp>
      <p:sp>
        <p:nvSpPr>
          <p:cNvPr id="15" name="Text 13"/>
          <p:cNvSpPr/>
          <p:nvPr/>
        </p:nvSpPr>
        <p:spPr>
          <a:xfrm>
            <a:off x="777240" y="2788920"/>
            <a:ext cx="7589520" cy="274320"/>
          </a:xfrm>
          <a:prstGeom prst="rect">
            <a:avLst/>
          </a:prstGeom>
          <a:noFill/>
          <a:ln/>
        </p:spPr>
        <p:txBody>
          <a:bodyPr wrap="square" lIns="0" tIns="0" rIns="0" bIns="0" rtlCol="0" anchor="ctr"/>
          <a:lstStyle/>
          <a:p>
            <a:pPr indent="0" marL="0">
              <a:buNone/>
            </a:pPr>
            <a:r>
              <a:rPr lang="en-US" sz="1300" b="1" dirty="0">
                <a:solidFill>
                  <a:srgbClr val="06418C"/>
                </a:solidFill>
                <a:latin typeface="Arial" pitchFamily="34" charset="0"/>
                <a:ea typeface="Arial" pitchFamily="34" charset="-122"/>
                <a:cs typeface="Arial" pitchFamily="34" charset="-120"/>
              </a:rPr>
              <a:t>THE RENESAS REALITY</a:t>
            </a:r>
            <a:endParaRPr lang="en-US" sz="1300" dirty="0"/>
          </a:p>
        </p:txBody>
      </p:sp>
      <p:sp>
        <p:nvSpPr>
          <p:cNvPr id="16" name="Text 14"/>
          <p:cNvSpPr/>
          <p:nvPr/>
        </p:nvSpPr>
        <p:spPr>
          <a:xfrm>
            <a:off x="777240" y="3063240"/>
            <a:ext cx="7589520" cy="502920"/>
          </a:xfrm>
          <a:prstGeom prst="rect">
            <a:avLst/>
          </a:prstGeom>
          <a:noFill/>
          <a:ln/>
        </p:spPr>
        <p:txBody>
          <a:bodyPr wrap="square" lIns="0" tIns="0" rIns="0" bIns="0" rtlCol="0" anchor="ctr"/>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Multiple acquisitions = multiple legacy PLM systems (Teamcenter, Windchill, Agile, homegrown). Incompatible part numbering, BOM structures, design databases. AI transformation cannot scale on fragmented product data.</a:t>
            </a:r>
            <a:endParaRPr lang="en-US" sz="1200" dirty="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AI transforms PLM in both directions.</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38</a:t>
            </a:r>
            <a:endParaRPr lang="en-US" sz="700" dirty="0"/>
          </a:p>
        </p:txBody>
      </p:sp>
      <p:sp>
        <p:nvSpPr>
          <p:cNvPr id="8" name="Shape 6"/>
          <p:cNvSpPr/>
          <p:nvPr/>
        </p:nvSpPr>
        <p:spPr>
          <a:xfrm>
            <a:off x="640080" y="1097280"/>
            <a:ext cx="3749040" cy="25603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9" name="Shape 7"/>
          <p:cNvSpPr/>
          <p:nvPr/>
        </p:nvSpPr>
        <p:spPr>
          <a:xfrm>
            <a:off x="640080" y="1097280"/>
            <a:ext cx="3749040" cy="411480"/>
          </a:xfrm>
          <a:prstGeom prst="rect">
            <a:avLst/>
          </a:prstGeom>
          <a:solidFill>
            <a:srgbClr val="06418C"/>
          </a:solidFill>
          <a:ln/>
        </p:spPr>
      </p:sp>
      <p:sp>
        <p:nvSpPr>
          <p:cNvPr id="10" name="Text 8"/>
          <p:cNvSpPr/>
          <p:nvPr/>
        </p:nvSpPr>
        <p:spPr>
          <a:xfrm>
            <a:off x="640080" y="1097280"/>
            <a:ext cx="3749040" cy="4114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UPSTREAM (Requirements → Design)</a:t>
            </a:r>
            <a:endParaRPr lang="en-US" sz="1300" dirty="0"/>
          </a:p>
        </p:txBody>
      </p:sp>
      <p:sp>
        <p:nvSpPr>
          <p:cNvPr id="11" name="Text 9"/>
          <p:cNvSpPr/>
          <p:nvPr/>
        </p:nvSpPr>
        <p:spPr>
          <a:xfrm>
            <a:off x="777240" y="1645920"/>
            <a:ext cx="3474720" cy="365760"/>
          </a:xfrm>
          <a:prstGeom prst="rect">
            <a:avLst/>
          </a:prstGeom>
          <a:noFill/>
          <a:ln/>
        </p:spPr>
        <p:txBody>
          <a:bodyPr wrap="square" lIns="0" tIns="0" rIns="0" bIns="0" rtlCol="0" anchor="ctr"/>
          <a:lstStyle/>
          <a:p>
            <a:pPr indent="0" marL="0">
              <a:buNone/>
            </a:pPr>
            <a:r>
              <a:rPr lang="en-US" sz="1100" b="1" dirty="0">
                <a:solidFill>
                  <a:srgbClr val="4471A9"/>
                </a:solidFill>
                <a:latin typeface="Arial" pitchFamily="34" charset="0"/>
                <a:ea typeface="Arial" pitchFamily="34" charset="-122"/>
                <a:cs typeface="Arial" pitchFamily="34" charset="-120"/>
              </a:rPr>
              <a:t xml:space="preserve">→  </a:t>
            </a:r>
            <a:pPr indent="0" marL="0">
              <a:buNone/>
            </a:pPr>
            <a:r>
              <a:rPr lang="en-US" sz="1100" dirty="0">
                <a:solidFill>
                  <a:srgbClr val="4A4A4A"/>
                </a:solidFill>
                <a:latin typeface="Arial" pitchFamily="34" charset="0"/>
                <a:ea typeface="Arial" pitchFamily="34" charset="-122"/>
                <a:cs typeface="Arial" pitchFamily="34" charset="-120"/>
              </a:rPr>
              <a:t>LLMs extract requirements from specs automatically</a:t>
            </a:r>
            <a:endParaRPr lang="en-US" sz="1100" dirty="0"/>
          </a:p>
        </p:txBody>
      </p:sp>
      <p:sp>
        <p:nvSpPr>
          <p:cNvPr id="12" name="Text 10"/>
          <p:cNvSpPr/>
          <p:nvPr/>
        </p:nvSpPr>
        <p:spPr>
          <a:xfrm>
            <a:off x="777240" y="2029968"/>
            <a:ext cx="3474720" cy="365760"/>
          </a:xfrm>
          <a:prstGeom prst="rect">
            <a:avLst/>
          </a:prstGeom>
          <a:noFill/>
          <a:ln/>
        </p:spPr>
        <p:txBody>
          <a:bodyPr wrap="square" lIns="0" tIns="0" rIns="0" bIns="0" rtlCol="0" anchor="ctr"/>
          <a:lstStyle/>
          <a:p>
            <a:pPr indent="0" marL="0">
              <a:buNone/>
            </a:pPr>
            <a:r>
              <a:rPr lang="en-US" sz="1100" b="1" dirty="0">
                <a:solidFill>
                  <a:srgbClr val="4471A9"/>
                </a:solidFill>
                <a:latin typeface="Arial" pitchFamily="34" charset="0"/>
                <a:ea typeface="Arial" pitchFamily="34" charset="-122"/>
                <a:cs typeface="Arial" pitchFamily="34" charset="-120"/>
              </a:rPr>
              <a:t xml:space="preserve">→  </a:t>
            </a:r>
            <a:pPr indent="0" marL="0">
              <a:buNone/>
            </a:pPr>
            <a:r>
              <a:rPr lang="en-US" sz="1100" dirty="0">
                <a:solidFill>
                  <a:srgbClr val="4A4A4A"/>
                </a:solidFill>
                <a:latin typeface="Arial" pitchFamily="34" charset="0"/>
                <a:ea typeface="Arial" pitchFamily="34" charset="-122"/>
                <a:cs typeface="Arial" pitchFamily="34" charset="-120"/>
              </a:rPr>
              <a:t>Conflict detection before engineering time wasted</a:t>
            </a:r>
            <a:endParaRPr lang="en-US" sz="1100" dirty="0"/>
          </a:p>
        </p:txBody>
      </p:sp>
      <p:sp>
        <p:nvSpPr>
          <p:cNvPr id="13" name="Text 11"/>
          <p:cNvSpPr/>
          <p:nvPr/>
        </p:nvSpPr>
        <p:spPr>
          <a:xfrm>
            <a:off x="777240" y="2414016"/>
            <a:ext cx="3474720" cy="365760"/>
          </a:xfrm>
          <a:prstGeom prst="rect">
            <a:avLst/>
          </a:prstGeom>
          <a:noFill/>
          <a:ln/>
        </p:spPr>
        <p:txBody>
          <a:bodyPr wrap="square" lIns="0" tIns="0" rIns="0" bIns="0" rtlCol="0" anchor="ctr"/>
          <a:lstStyle/>
          <a:p>
            <a:pPr indent="0" marL="0">
              <a:buNone/>
            </a:pPr>
            <a:r>
              <a:rPr lang="en-US" sz="1100" b="1" dirty="0">
                <a:solidFill>
                  <a:srgbClr val="4471A9"/>
                </a:solidFill>
                <a:latin typeface="Arial" pitchFamily="34" charset="0"/>
                <a:ea typeface="Arial" pitchFamily="34" charset="-122"/>
                <a:cs typeface="Arial" pitchFamily="34" charset="-120"/>
              </a:rPr>
              <a:t xml:space="preserve">→  </a:t>
            </a:r>
            <a:pPr indent="0" marL="0">
              <a:buNone/>
            </a:pPr>
            <a:r>
              <a:rPr lang="en-US" sz="1100" dirty="0">
                <a:solidFill>
                  <a:srgbClr val="4A4A4A"/>
                </a:solidFill>
                <a:latin typeface="Arial" pitchFamily="34" charset="0"/>
                <a:ea typeface="Arial" pitchFamily="34" charset="-122"/>
                <a:cs typeface="Arial" pitchFamily="34" charset="-120"/>
              </a:rPr>
              <a:t>Requirements-to-design traceability auto-linked</a:t>
            </a:r>
            <a:endParaRPr lang="en-US" sz="1100" dirty="0"/>
          </a:p>
        </p:txBody>
      </p:sp>
      <p:sp>
        <p:nvSpPr>
          <p:cNvPr id="14" name="Text 12"/>
          <p:cNvSpPr/>
          <p:nvPr/>
        </p:nvSpPr>
        <p:spPr>
          <a:xfrm>
            <a:off x="777240" y="2798064"/>
            <a:ext cx="3474720" cy="365760"/>
          </a:xfrm>
          <a:prstGeom prst="rect">
            <a:avLst/>
          </a:prstGeom>
          <a:noFill/>
          <a:ln/>
        </p:spPr>
        <p:txBody>
          <a:bodyPr wrap="square" lIns="0" tIns="0" rIns="0" bIns="0" rtlCol="0" anchor="ctr"/>
          <a:lstStyle/>
          <a:p>
            <a:pPr indent="0" marL="0">
              <a:buNone/>
            </a:pPr>
            <a:r>
              <a:rPr lang="en-US" sz="1100" b="1" dirty="0">
                <a:solidFill>
                  <a:srgbClr val="4471A9"/>
                </a:solidFill>
                <a:latin typeface="Arial" pitchFamily="34" charset="0"/>
                <a:ea typeface="Arial" pitchFamily="34" charset="-122"/>
                <a:cs typeface="Arial" pitchFamily="34" charset="-120"/>
              </a:rPr>
              <a:t xml:space="preserve">→  </a:t>
            </a:r>
            <a:pPr indent="0" marL="0">
              <a:buNone/>
            </a:pPr>
            <a:r>
              <a:rPr lang="en-US" sz="1100" dirty="0">
                <a:solidFill>
                  <a:srgbClr val="4A4A4A"/>
                </a:solidFill>
                <a:latin typeface="Arial" pitchFamily="34" charset="0"/>
                <a:ea typeface="Arial" pitchFamily="34" charset="-122"/>
                <a:cs typeface="Arial" pitchFamily="34" charset="-120"/>
              </a:rPr>
              <a:t>Change impact propagation: see everything affected</a:t>
            </a:r>
            <a:endParaRPr lang="en-US" sz="1100" dirty="0"/>
          </a:p>
        </p:txBody>
      </p:sp>
      <p:sp>
        <p:nvSpPr>
          <p:cNvPr id="15" name="Shape 13"/>
          <p:cNvSpPr/>
          <p:nvPr/>
        </p:nvSpPr>
        <p:spPr>
          <a:xfrm>
            <a:off x="4754880" y="1097280"/>
            <a:ext cx="3749040" cy="25603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6" name="Shape 14"/>
          <p:cNvSpPr/>
          <p:nvPr/>
        </p:nvSpPr>
        <p:spPr>
          <a:xfrm>
            <a:off x="4754880" y="1097280"/>
            <a:ext cx="3749040" cy="411480"/>
          </a:xfrm>
          <a:prstGeom prst="rect">
            <a:avLst/>
          </a:prstGeom>
          <a:solidFill>
            <a:srgbClr val="4471A9"/>
          </a:solidFill>
          <a:ln/>
        </p:spPr>
      </p:sp>
      <p:sp>
        <p:nvSpPr>
          <p:cNvPr id="17" name="Text 15"/>
          <p:cNvSpPr/>
          <p:nvPr/>
        </p:nvSpPr>
        <p:spPr>
          <a:xfrm>
            <a:off x="4754880" y="1097280"/>
            <a:ext cx="3749040" cy="41148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DOWNSTREAM (Design → Field)</a:t>
            </a:r>
            <a:endParaRPr lang="en-US" sz="1300" dirty="0"/>
          </a:p>
        </p:txBody>
      </p:sp>
      <p:sp>
        <p:nvSpPr>
          <p:cNvPr id="18" name="Text 16"/>
          <p:cNvSpPr/>
          <p:nvPr/>
        </p:nvSpPr>
        <p:spPr>
          <a:xfrm>
            <a:off x="4892040" y="1645920"/>
            <a:ext cx="3474720" cy="365760"/>
          </a:xfrm>
          <a:prstGeom prst="rect">
            <a:avLst/>
          </a:prstGeom>
          <a:noFill/>
          <a:ln/>
        </p:spPr>
        <p:txBody>
          <a:bodyPr wrap="square" lIns="0" tIns="0" rIns="0" bIns="0" rtlCol="0" anchor="ctr"/>
          <a:lstStyle/>
          <a:p>
            <a:pPr indent="0" marL="0">
              <a:buNone/>
            </a:pPr>
            <a:r>
              <a:rPr lang="en-US" sz="1100" b="1" dirty="0">
                <a:solidFill>
                  <a:srgbClr val="993399"/>
                </a:solidFill>
                <a:latin typeface="Arial" pitchFamily="34" charset="0"/>
                <a:ea typeface="Arial" pitchFamily="34" charset="-122"/>
                <a:cs typeface="Arial" pitchFamily="34" charset="-120"/>
              </a:rPr>
              <a:t xml:space="preserve">→  </a:t>
            </a:r>
            <a:pPr indent="0" marL="0">
              <a:buNone/>
            </a:pPr>
            <a:r>
              <a:rPr lang="en-US" sz="1100" dirty="0">
                <a:solidFill>
                  <a:srgbClr val="4A4A4A"/>
                </a:solidFill>
                <a:latin typeface="Arial" pitchFamily="34" charset="0"/>
                <a:ea typeface="Arial" pitchFamily="34" charset="-122"/>
                <a:cs typeface="Arial" pitchFamily="34" charset="-120"/>
              </a:rPr>
              <a:t>BOM reconciliation across acquired systems</a:t>
            </a:r>
            <a:endParaRPr lang="en-US" sz="1100" dirty="0"/>
          </a:p>
        </p:txBody>
      </p:sp>
      <p:sp>
        <p:nvSpPr>
          <p:cNvPr id="19" name="Text 17"/>
          <p:cNvSpPr/>
          <p:nvPr/>
        </p:nvSpPr>
        <p:spPr>
          <a:xfrm>
            <a:off x="4892040" y="2029968"/>
            <a:ext cx="3474720" cy="365760"/>
          </a:xfrm>
          <a:prstGeom prst="rect">
            <a:avLst/>
          </a:prstGeom>
          <a:noFill/>
          <a:ln/>
        </p:spPr>
        <p:txBody>
          <a:bodyPr wrap="square" lIns="0" tIns="0" rIns="0" bIns="0" rtlCol="0" anchor="ctr"/>
          <a:lstStyle/>
          <a:p>
            <a:pPr indent="0" marL="0">
              <a:buNone/>
            </a:pPr>
            <a:r>
              <a:rPr lang="en-US" sz="1100" b="1" dirty="0">
                <a:solidFill>
                  <a:srgbClr val="993399"/>
                </a:solidFill>
                <a:latin typeface="Arial" pitchFamily="34" charset="0"/>
                <a:ea typeface="Arial" pitchFamily="34" charset="-122"/>
                <a:cs typeface="Arial" pitchFamily="34" charset="-120"/>
              </a:rPr>
              <a:t xml:space="preserve">→  </a:t>
            </a:r>
            <a:pPr indent="0" marL="0">
              <a:buNone/>
            </a:pPr>
            <a:r>
              <a:rPr lang="en-US" sz="1100" dirty="0">
                <a:solidFill>
                  <a:srgbClr val="4A4A4A"/>
                </a:solidFill>
                <a:latin typeface="Arial" pitchFamily="34" charset="0"/>
                <a:ea typeface="Arial" pitchFamily="34" charset="-122"/>
                <a:cs typeface="Arial" pitchFamily="34" charset="-120"/>
              </a:rPr>
              <a:t>Part deduplication across the portfolio</a:t>
            </a:r>
            <a:endParaRPr lang="en-US" sz="1100" dirty="0"/>
          </a:p>
        </p:txBody>
      </p:sp>
      <p:sp>
        <p:nvSpPr>
          <p:cNvPr id="20" name="Text 18"/>
          <p:cNvSpPr/>
          <p:nvPr/>
        </p:nvSpPr>
        <p:spPr>
          <a:xfrm>
            <a:off x="4892040" y="2414016"/>
            <a:ext cx="3474720" cy="365760"/>
          </a:xfrm>
          <a:prstGeom prst="rect">
            <a:avLst/>
          </a:prstGeom>
          <a:noFill/>
          <a:ln/>
        </p:spPr>
        <p:txBody>
          <a:bodyPr wrap="square" lIns="0" tIns="0" rIns="0" bIns="0" rtlCol="0" anchor="ctr"/>
          <a:lstStyle/>
          <a:p>
            <a:pPr indent="0" marL="0">
              <a:buNone/>
            </a:pPr>
            <a:r>
              <a:rPr lang="en-US" sz="1100" b="1" dirty="0">
                <a:solidFill>
                  <a:srgbClr val="993399"/>
                </a:solidFill>
                <a:latin typeface="Arial" pitchFamily="34" charset="0"/>
                <a:ea typeface="Arial" pitchFamily="34" charset="-122"/>
                <a:cs typeface="Arial" pitchFamily="34" charset="-120"/>
              </a:rPr>
              <a:t xml:space="preserve">→  </a:t>
            </a:r>
            <a:pPr indent="0" marL="0">
              <a:buNone/>
            </a:pPr>
            <a:r>
              <a:rPr lang="en-US" sz="1100" dirty="0">
                <a:solidFill>
                  <a:srgbClr val="4A4A4A"/>
                </a:solidFill>
                <a:latin typeface="Arial" pitchFamily="34" charset="0"/>
                <a:ea typeface="Arial" pitchFamily="34" charset="-122"/>
                <a:cs typeface="Arial" pitchFamily="34" charset="-120"/>
              </a:rPr>
              <a:t>Obsolescence prediction: 12-24mo early warning</a:t>
            </a:r>
            <a:endParaRPr lang="en-US" sz="1100" dirty="0"/>
          </a:p>
        </p:txBody>
      </p:sp>
      <p:sp>
        <p:nvSpPr>
          <p:cNvPr id="21" name="Text 19"/>
          <p:cNvSpPr/>
          <p:nvPr/>
        </p:nvSpPr>
        <p:spPr>
          <a:xfrm>
            <a:off x="4892040" y="2798064"/>
            <a:ext cx="3474720" cy="365760"/>
          </a:xfrm>
          <a:prstGeom prst="rect">
            <a:avLst/>
          </a:prstGeom>
          <a:noFill/>
          <a:ln/>
        </p:spPr>
        <p:txBody>
          <a:bodyPr wrap="square" lIns="0" tIns="0" rIns="0" bIns="0" rtlCol="0" anchor="ctr"/>
          <a:lstStyle/>
          <a:p>
            <a:pPr indent="0" marL="0">
              <a:buNone/>
            </a:pPr>
            <a:r>
              <a:rPr lang="en-US" sz="1100" b="1" dirty="0">
                <a:solidFill>
                  <a:srgbClr val="993399"/>
                </a:solidFill>
                <a:latin typeface="Arial" pitchFamily="34" charset="0"/>
                <a:ea typeface="Arial" pitchFamily="34" charset="-122"/>
                <a:cs typeface="Arial" pitchFamily="34" charset="-120"/>
              </a:rPr>
              <a:t xml:space="preserve">→  </a:t>
            </a:r>
            <a:pPr indent="0" marL="0">
              <a:buNone/>
            </a:pPr>
            <a:r>
              <a:rPr lang="en-US" sz="1100" dirty="0">
                <a:solidFill>
                  <a:srgbClr val="4A4A4A"/>
                </a:solidFill>
                <a:latin typeface="Arial" pitchFamily="34" charset="0"/>
                <a:ea typeface="Arial" pitchFamily="34" charset="-122"/>
                <a:cs typeface="Arial" pitchFamily="34" charset="-120"/>
              </a:rPr>
              <a:t>Quality pattern detection across product history</a:t>
            </a:r>
            <a:endParaRPr lang="en-US" sz="1100" dirty="0"/>
          </a:p>
        </p:txBody>
      </p:sp>
      <p:sp>
        <p:nvSpPr>
          <p:cNvPr id="22" name="Shape 20"/>
          <p:cNvSpPr/>
          <p:nvPr/>
        </p:nvSpPr>
        <p:spPr>
          <a:xfrm>
            <a:off x="640080" y="3931920"/>
            <a:ext cx="7863840" cy="45720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23" name="Text 21"/>
          <p:cNvSpPr/>
          <p:nvPr/>
        </p:nvSpPr>
        <p:spPr>
          <a:xfrm>
            <a:off x="822960" y="3931920"/>
            <a:ext cx="7498080" cy="457200"/>
          </a:xfrm>
          <a:prstGeom prst="rect">
            <a:avLst/>
          </a:prstGeom>
          <a:noFill/>
          <a:ln/>
        </p:spPr>
        <p:txBody>
          <a:bodyPr wrap="square" lIns="0" tIns="0" rIns="0" bIns="0" rtlCol="0" anchor="ctr"/>
          <a:lstStyle/>
          <a:p>
            <a:pPr indent="0" marL="0">
              <a:buNone/>
            </a:pPr>
            <a:r>
              <a:rPr lang="en-US" sz="1300" b="1" i="1" dirty="0">
                <a:solidFill>
                  <a:srgbClr val="06418C"/>
                </a:solidFill>
                <a:latin typeface="Arial" pitchFamily="34" charset="0"/>
                <a:ea typeface="Arial" pitchFamily="34" charset="-122"/>
                <a:cs typeface="Arial" pitchFamily="34" charset="-120"/>
              </a:rPr>
              <a:t>Clean, AI-enriched PLM data feeds Phase 2 R&amp;D models. Phase 1 PLM work enables Phase 2 acceleration.</a:t>
            </a:r>
            <a:endParaRPr lang="en-US" sz="1300" dirty="0"/>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PLM data in the unified layer makes engineering AI possible.</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39</a:t>
            </a:r>
            <a:endParaRPr lang="en-US" sz="700" dirty="0"/>
          </a:p>
        </p:txBody>
      </p:sp>
      <p:sp>
        <p:nvSpPr>
          <p:cNvPr id="8" name="Shape 6"/>
          <p:cNvSpPr/>
          <p:nvPr/>
        </p:nvSpPr>
        <p:spPr>
          <a:xfrm>
            <a:off x="457200" y="1280160"/>
            <a:ext cx="1371600" cy="822960"/>
          </a:xfrm>
          <a:prstGeom prst="rect">
            <a:avLst/>
          </a:prstGeom>
          <a:solidFill>
            <a:srgbClr val="9D9D9D"/>
          </a:solidFill>
          <a:ln/>
          <a:effectLst>
            <a:outerShdw sx="100000" sy="100000" kx="0" ky="0" algn="bl" rotWithShape="0" blurRad="50800" dist="12700" dir="8100000">
              <a:srgbClr val="000000">
                <a:alpha val="8000"/>
              </a:srgbClr>
            </a:outerShdw>
          </a:effectLst>
        </p:spPr>
      </p:sp>
      <p:sp>
        <p:nvSpPr>
          <p:cNvPr id="9" name="Text 7"/>
          <p:cNvSpPr/>
          <p:nvPr/>
        </p:nvSpPr>
        <p:spPr>
          <a:xfrm>
            <a:off x="457200" y="1280160"/>
            <a:ext cx="1371600" cy="8229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PLM</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Systems</a:t>
            </a:r>
            <a:endParaRPr lang="en-US" sz="1400" dirty="0"/>
          </a:p>
        </p:txBody>
      </p:sp>
      <p:sp>
        <p:nvSpPr>
          <p:cNvPr id="10" name="Text 8"/>
          <p:cNvSpPr/>
          <p:nvPr/>
        </p:nvSpPr>
        <p:spPr>
          <a:xfrm>
            <a:off x="1783080" y="1463040"/>
            <a:ext cx="457200" cy="457200"/>
          </a:xfrm>
          <a:prstGeom prst="rect">
            <a:avLst/>
          </a:prstGeom>
          <a:noFill/>
          <a:ln/>
        </p:spPr>
        <p:txBody>
          <a:bodyPr wrap="square" rtlCol="0" anchor="ctr"/>
          <a:lstStyle/>
          <a:p>
            <a:pPr algn="ctr" indent="0" marL="0">
              <a:buNone/>
            </a:pPr>
            <a:r>
              <a:rPr lang="en-US" sz="2400" dirty="0">
                <a:solidFill>
                  <a:srgbClr val="06418C"/>
                </a:solidFill>
                <a:latin typeface="Arial" pitchFamily="34" charset="0"/>
                <a:ea typeface="Arial" pitchFamily="34" charset="-122"/>
                <a:cs typeface="Arial" pitchFamily="34" charset="-120"/>
              </a:rPr>
              <a:t>→</a:t>
            </a:r>
            <a:endParaRPr lang="en-US" sz="2400" dirty="0"/>
          </a:p>
        </p:txBody>
      </p:sp>
      <p:sp>
        <p:nvSpPr>
          <p:cNvPr id="11" name="Shape 9"/>
          <p:cNvSpPr/>
          <p:nvPr/>
        </p:nvSpPr>
        <p:spPr>
          <a:xfrm>
            <a:off x="2606040" y="1280160"/>
            <a:ext cx="1645920" cy="822960"/>
          </a:xfrm>
          <a:prstGeom prst="rect">
            <a:avLst/>
          </a:prstGeom>
          <a:solidFill>
            <a:srgbClr val="4471A9"/>
          </a:solidFill>
          <a:ln/>
          <a:effectLst>
            <a:outerShdw sx="100000" sy="100000" kx="0" ky="0" algn="bl" rotWithShape="0" blurRad="50800" dist="12700" dir="8100000">
              <a:srgbClr val="000000">
                <a:alpha val="8000"/>
              </a:srgbClr>
            </a:outerShdw>
          </a:effectLst>
        </p:spPr>
      </p:sp>
      <p:sp>
        <p:nvSpPr>
          <p:cNvPr id="12" name="Text 10"/>
          <p:cNvSpPr/>
          <p:nvPr/>
        </p:nvSpPr>
        <p:spPr>
          <a:xfrm>
            <a:off x="2606040" y="1280160"/>
            <a:ext cx="1645920" cy="8229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BRONZE</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(Raw)</a:t>
            </a:r>
            <a:endParaRPr lang="en-US" sz="1400" dirty="0"/>
          </a:p>
        </p:txBody>
      </p:sp>
      <p:sp>
        <p:nvSpPr>
          <p:cNvPr id="13" name="Text 11"/>
          <p:cNvSpPr/>
          <p:nvPr/>
        </p:nvSpPr>
        <p:spPr>
          <a:xfrm>
            <a:off x="4206240" y="1463040"/>
            <a:ext cx="457200" cy="457200"/>
          </a:xfrm>
          <a:prstGeom prst="rect">
            <a:avLst/>
          </a:prstGeom>
          <a:noFill/>
          <a:ln/>
        </p:spPr>
        <p:txBody>
          <a:bodyPr wrap="square" rtlCol="0" anchor="ctr"/>
          <a:lstStyle/>
          <a:p>
            <a:pPr algn="ctr" indent="0" marL="0">
              <a:buNone/>
            </a:pPr>
            <a:r>
              <a:rPr lang="en-US" sz="2400" dirty="0">
                <a:solidFill>
                  <a:srgbClr val="06418C"/>
                </a:solidFill>
                <a:latin typeface="Arial" pitchFamily="34" charset="0"/>
                <a:ea typeface="Arial" pitchFamily="34" charset="-122"/>
                <a:cs typeface="Arial" pitchFamily="34" charset="-120"/>
              </a:rPr>
              <a:t>→</a:t>
            </a:r>
            <a:endParaRPr lang="en-US" sz="2400" dirty="0"/>
          </a:p>
        </p:txBody>
      </p:sp>
      <p:sp>
        <p:nvSpPr>
          <p:cNvPr id="14" name="Shape 12"/>
          <p:cNvSpPr/>
          <p:nvPr/>
        </p:nvSpPr>
        <p:spPr>
          <a:xfrm>
            <a:off x="4754880" y="1280160"/>
            <a:ext cx="1645920" cy="822960"/>
          </a:xfrm>
          <a:prstGeom prst="rect">
            <a:avLst/>
          </a:prstGeom>
          <a:solidFill>
            <a:srgbClr val="06418C"/>
          </a:solidFill>
          <a:ln/>
          <a:effectLst>
            <a:outerShdw sx="100000" sy="100000" kx="0" ky="0" algn="bl" rotWithShape="0" blurRad="50800" dist="12700" dir="8100000">
              <a:srgbClr val="000000">
                <a:alpha val="8000"/>
              </a:srgbClr>
            </a:outerShdw>
          </a:effectLst>
        </p:spPr>
      </p:sp>
      <p:sp>
        <p:nvSpPr>
          <p:cNvPr id="15" name="Text 13"/>
          <p:cNvSpPr/>
          <p:nvPr/>
        </p:nvSpPr>
        <p:spPr>
          <a:xfrm>
            <a:off x="4754880" y="1280160"/>
            <a:ext cx="1645920" cy="8229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SILVER</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(Normalized)</a:t>
            </a:r>
            <a:endParaRPr lang="en-US" sz="1400" dirty="0"/>
          </a:p>
        </p:txBody>
      </p:sp>
      <p:sp>
        <p:nvSpPr>
          <p:cNvPr id="16" name="Text 14"/>
          <p:cNvSpPr/>
          <p:nvPr/>
        </p:nvSpPr>
        <p:spPr>
          <a:xfrm>
            <a:off x="6355080" y="1463040"/>
            <a:ext cx="457200" cy="457200"/>
          </a:xfrm>
          <a:prstGeom prst="rect">
            <a:avLst/>
          </a:prstGeom>
          <a:noFill/>
          <a:ln/>
        </p:spPr>
        <p:txBody>
          <a:bodyPr wrap="square" rtlCol="0" anchor="ctr"/>
          <a:lstStyle/>
          <a:p>
            <a:pPr algn="ctr" indent="0" marL="0">
              <a:buNone/>
            </a:pPr>
            <a:r>
              <a:rPr lang="en-US" sz="2400" dirty="0">
                <a:solidFill>
                  <a:srgbClr val="06418C"/>
                </a:solidFill>
                <a:latin typeface="Arial" pitchFamily="34" charset="0"/>
                <a:ea typeface="Arial" pitchFamily="34" charset="-122"/>
                <a:cs typeface="Arial" pitchFamily="34" charset="-120"/>
              </a:rPr>
              <a:t>→</a:t>
            </a:r>
            <a:endParaRPr lang="en-US" sz="2400" dirty="0"/>
          </a:p>
        </p:txBody>
      </p:sp>
      <p:sp>
        <p:nvSpPr>
          <p:cNvPr id="17" name="Shape 15"/>
          <p:cNvSpPr/>
          <p:nvPr/>
        </p:nvSpPr>
        <p:spPr>
          <a:xfrm>
            <a:off x="6903720" y="1280160"/>
            <a:ext cx="1645920" cy="822960"/>
          </a:xfrm>
          <a:prstGeom prst="rect">
            <a:avLst/>
          </a:prstGeom>
          <a:solidFill>
            <a:srgbClr val="042D5E"/>
          </a:solidFill>
          <a:ln/>
          <a:effectLst>
            <a:outerShdw sx="100000" sy="100000" kx="0" ky="0" algn="bl" rotWithShape="0" blurRad="50800" dist="12700" dir="8100000">
              <a:srgbClr val="000000">
                <a:alpha val="8000"/>
              </a:srgbClr>
            </a:outerShdw>
          </a:effectLst>
        </p:spPr>
      </p:sp>
      <p:sp>
        <p:nvSpPr>
          <p:cNvPr id="18" name="Text 16"/>
          <p:cNvSpPr/>
          <p:nvPr/>
        </p:nvSpPr>
        <p:spPr>
          <a:xfrm>
            <a:off x="6903720" y="1280160"/>
            <a:ext cx="1645920" cy="8229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GOLD</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(AI-Ready)</a:t>
            </a:r>
            <a:endParaRPr lang="en-US" sz="1400" dirty="0"/>
          </a:p>
        </p:txBody>
      </p:sp>
      <p:sp>
        <p:nvSpPr>
          <p:cNvPr id="19" name="Text 17"/>
          <p:cNvSpPr/>
          <p:nvPr/>
        </p:nvSpPr>
        <p:spPr>
          <a:xfrm>
            <a:off x="640080" y="2468880"/>
            <a:ext cx="7863840" cy="329184"/>
          </a:xfrm>
          <a:prstGeom prst="rect">
            <a:avLst/>
          </a:prstGeom>
          <a:noFill/>
          <a:ln/>
        </p:spPr>
        <p:txBody>
          <a:bodyPr wrap="square" lIns="0" tIns="0" rIns="0" bIns="0" rtlCol="0" anchor="ctr"/>
          <a:lstStyle/>
          <a:p>
            <a:pPr indent="0" marL="0">
              <a:buNone/>
            </a:pPr>
            <a:r>
              <a:rPr lang="en-US" sz="1200" b="1" dirty="0">
                <a:solidFill>
                  <a:srgbClr val="06418C"/>
                </a:solidFill>
                <a:latin typeface="Arial" pitchFamily="34" charset="0"/>
                <a:ea typeface="Arial" pitchFamily="34" charset="-122"/>
                <a:cs typeface="Arial" pitchFamily="34" charset="-120"/>
              </a:rPr>
              <a:t xml:space="preserve">1.  </a:t>
            </a:r>
            <a:pPr indent="0" marL="0">
              <a:buNone/>
            </a:pPr>
            <a:r>
              <a:rPr lang="en-US" sz="1200" dirty="0">
                <a:solidFill>
                  <a:srgbClr val="4A4A4A"/>
                </a:solidFill>
                <a:latin typeface="Arial" pitchFamily="34" charset="0"/>
                <a:ea typeface="Arial" pitchFamily="34" charset="-122"/>
                <a:cs typeface="Arial" pitchFamily="34" charset="-120"/>
              </a:rPr>
              <a:t>NPI risk prediction (which programs will slip?)</a:t>
            </a:r>
            <a:endParaRPr lang="en-US" sz="1200" dirty="0"/>
          </a:p>
        </p:txBody>
      </p:sp>
      <p:sp>
        <p:nvSpPr>
          <p:cNvPr id="20" name="Text 18"/>
          <p:cNvSpPr/>
          <p:nvPr/>
        </p:nvSpPr>
        <p:spPr>
          <a:xfrm>
            <a:off x="640080" y="2816352"/>
            <a:ext cx="7863840" cy="329184"/>
          </a:xfrm>
          <a:prstGeom prst="rect">
            <a:avLst/>
          </a:prstGeom>
          <a:noFill/>
          <a:ln/>
        </p:spPr>
        <p:txBody>
          <a:bodyPr wrap="square" lIns="0" tIns="0" rIns="0" bIns="0" rtlCol="0" anchor="ctr"/>
          <a:lstStyle/>
          <a:p>
            <a:pPr indent="0" marL="0">
              <a:buNone/>
            </a:pPr>
            <a:r>
              <a:rPr lang="en-US" sz="1200" b="1" dirty="0">
                <a:solidFill>
                  <a:srgbClr val="06418C"/>
                </a:solidFill>
                <a:latin typeface="Arial" pitchFamily="34" charset="0"/>
                <a:ea typeface="Arial" pitchFamily="34" charset="-122"/>
                <a:cs typeface="Arial" pitchFamily="34" charset="-120"/>
              </a:rPr>
              <a:t xml:space="preserve">2.  </a:t>
            </a:r>
            <a:pPr indent="0" marL="0">
              <a:buNone/>
            </a:pPr>
            <a:r>
              <a:rPr lang="en-US" sz="1200" dirty="0">
                <a:solidFill>
                  <a:srgbClr val="4A4A4A"/>
                </a:solidFill>
                <a:latin typeface="Arial" pitchFamily="34" charset="0"/>
                <a:ea typeface="Arial" pitchFamily="34" charset="-122"/>
                <a:cs typeface="Arial" pitchFamily="34" charset="-120"/>
              </a:rPr>
              <a:t>IP reuse recommendation (what verified blocks exist?)</a:t>
            </a:r>
            <a:endParaRPr lang="en-US" sz="1200" dirty="0"/>
          </a:p>
        </p:txBody>
      </p:sp>
      <p:sp>
        <p:nvSpPr>
          <p:cNvPr id="21" name="Text 19"/>
          <p:cNvSpPr/>
          <p:nvPr/>
        </p:nvSpPr>
        <p:spPr>
          <a:xfrm>
            <a:off x="640080" y="3163824"/>
            <a:ext cx="7863840" cy="329184"/>
          </a:xfrm>
          <a:prstGeom prst="rect">
            <a:avLst/>
          </a:prstGeom>
          <a:noFill/>
          <a:ln/>
        </p:spPr>
        <p:txBody>
          <a:bodyPr wrap="square" lIns="0" tIns="0" rIns="0" bIns="0" rtlCol="0" anchor="ctr"/>
          <a:lstStyle/>
          <a:p>
            <a:pPr indent="0" marL="0">
              <a:buNone/>
            </a:pPr>
            <a:r>
              <a:rPr lang="en-US" sz="1200" b="1" dirty="0">
                <a:solidFill>
                  <a:srgbClr val="06418C"/>
                </a:solidFill>
                <a:latin typeface="Arial" pitchFamily="34" charset="0"/>
                <a:ea typeface="Arial" pitchFamily="34" charset="-122"/>
                <a:cs typeface="Arial" pitchFamily="34" charset="-120"/>
              </a:rPr>
              <a:t xml:space="preserve">3.  </a:t>
            </a:r>
            <a:pPr indent="0" marL="0">
              <a:buNone/>
            </a:pPr>
            <a:r>
              <a:rPr lang="en-US" sz="1200" dirty="0">
                <a:solidFill>
                  <a:srgbClr val="4A4A4A"/>
                </a:solidFill>
                <a:latin typeface="Arial" pitchFamily="34" charset="0"/>
                <a:ea typeface="Arial" pitchFamily="34" charset="-122"/>
                <a:cs typeface="Arial" pitchFamily="34" charset="-120"/>
              </a:rPr>
              <a:t>Design quality prediction (high revision probability?)</a:t>
            </a:r>
            <a:endParaRPr lang="en-US" sz="1200" dirty="0"/>
          </a:p>
        </p:txBody>
      </p:sp>
      <p:sp>
        <p:nvSpPr>
          <p:cNvPr id="22" name="Text 20"/>
          <p:cNvSpPr/>
          <p:nvPr/>
        </p:nvSpPr>
        <p:spPr>
          <a:xfrm>
            <a:off x="640080" y="3511296"/>
            <a:ext cx="7863840" cy="329184"/>
          </a:xfrm>
          <a:prstGeom prst="rect">
            <a:avLst/>
          </a:prstGeom>
          <a:noFill/>
          <a:ln/>
        </p:spPr>
        <p:txBody>
          <a:bodyPr wrap="square" lIns="0" tIns="0" rIns="0" bIns="0" rtlCol="0" anchor="ctr"/>
          <a:lstStyle/>
          <a:p>
            <a:pPr indent="0" marL="0">
              <a:buNone/>
            </a:pPr>
            <a:r>
              <a:rPr lang="en-US" sz="1200" b="1" dirty="0">
                <a:solidFill>
                  <a:srgbClr val="06418C"/>
                </a:solidFill>
                <a:latin typeface="Arial" pitchFamily="34" charset="0"/>
                <a:ea typeface="Arial" pitchFamily="34" charset="-122"/>
                <a:cs typeface="Arial" pitchFamily="34" charset="-120"/>
              </a:rPr>
              <a:t xml:space="preserve">4.  </a:t>
            </a:r>
            <a:pPr indent="0" marL="0">
              <a:buNone/>
            </a:pPr>
            <a:r>
              <a:rPr lang="en-US" sz="1200" dirty="0">
                <a:solidFill>
                  <a:srgbClr val="4A4A4A"/>
                </a:solidFill>
                <a:latin typeface="Arial" pitchFamily="34" charset="0"/>
                <a:ea typeface="Arial" pitchFamily="34" charset="-122"/>
                <a:cs typeface="Arial" pitchFamily="34" charset="-120"/>
              </a:rPr>
              <a:t>Quality pattern detection across full product history</a:t>
            </a:r>
            <a:endParaRPr lang="en-US" sz="1200" dirty="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42D5E"/>
        </a:solidFill>
        <a:effectLst/>
      </p:bgPr>
    </p:bg>
    <p:spTree>
      <p:nvGrpSpPr>
        <p:cNvPr id="1" name=""/>
        <p:cNvGrpSpPr/>
        <p:nvPr/>
      </p:nvGrpSpPr>
      <p:grpSpPr/>
      <p:sp>
        <p:nvSpPr>
          <p:cNvPr id="2" name="Shape 0"/>
          <p:cNvSpPr/>
          <p:nvPr/>
        </p:nvSpPr>
        <p:spPr>
          <a:xfrm>
            <a:off x="0" y="0"/>
            <a:ext cx="9144000" cy="36576"/>
          </a:xfrm>
          <a:prstGeom prst="rect">
            <a:avLst/>
          </a:prstGeom>
          <a:solidFill>
            <a:srgbClr val="4471A9"/>
          </a:solidFill>
          <a:ln/>
        </p:spPr>
      </p:sp>
      <p:sp>
        <p:nvSpPr>
          <p:cNvPr id="3" name="Text 1"/>
          <p:cNvSpPr/>
          <p:nvPr/>
        </p:nvSpPr>
        <p:spPr>
          <a:xfrm>
            <a:off x="640080" y="1371600"/>
            <a:ext cx="1097280" cy="731520"/>
          </a:xfrm>
          <a:prstGeom prst="rect">
            <a:avLst/>
          </a:prstGeom>
          <a:noFill/>
          <a:ln/>
        </p:spPr>
        <p:txBody>
          <a:bodyPr wrap="square" lIns="0" tIns="0" rIns="0" bIns="0" rtlCol="0" anchor="ctr"/>
          <a:lstStyle/>
          <a:p>
            <a:pPr indent="0" marL="0">
              <a:buNone/>
            </a:pPr>
            <a:r>
              <a:rPr lang="en-US" sz="4800" b="1" dirty="0">
                <a:solidFill>
                  <a:srgbClr val="4471A9"/>
                </a:solidFill>
                <a:latin typeface="Arial" pitchFamily="34" charset="0"/>
                <a:ea typeface="Arial" pitchFamily="34" charset="-122"/>
                <a:cs typeface="Arial" pitchFamily="34" charset="-120"/>
              </a:rPr>
              <a:t>07</a:t>
            </a:r>
            <a:endParaRPr lang="en-US" sz="4800" dirty="0"/>
          </a:p>
        </p:txBody>
      </p:sp>
      <p:sp>
        <p:nvSpPr>
          <p:cNvPr id="4" name="Text 2"/>
          <p:cNvSpPr/>
          <p:nvPr/>
        </p:nvSpPr>
        <p:spPr>
          <a:xfrm>
            <a:off x="640080" y="2103120"/>
            <a:ext cx="7315200" cy="914400"/>
          </a:xfrm>
          <a:prstGeom prst="rect">
            <a:avLst/>
          </a:prstGeom>
          <a:noFill/>
          <a:ln/>
        </p:spPr>
        <p:txBody>
          <a:bodyPr wrap="square" lIns="0" tIns="0" rIns="0" bIns="0" rtlCol="0" anchor="ctr"/>
          <a:lstStyle/>
          <a:p>
            <a:pPr indent="0" marL="0">
              <a:buNone/>
            </a:pPr>
            <a:r>
              <a:rPr lang="en-US" sz="3600" b="1" spc="300" kern="0" dirty="0">
                <a:solidFill>
                  <a:srgbClr val="FFFFFF"/>
                </a:solidFill>
                <a:latin typeface="Arial" pitchFamily="34" charset="0"/>
                <a:ea typeface="Arial" pitchFamily="34" charset="-122"/>
                <a:cs typeface="Arial" pitchFamily="34" charset="-120"/>
              </a:rPr>
              <a:t>PARTNER ECOSYSTEM</a:t>
            </a:r>
            <a:endParaRPr lang="en-US" sz="3600" dirty="0"/>
          </a:p>
        </p:txBody>
      </p:sp>
      <p:sp>
        <p:nvSpPr>
          <p:cNvPr id="5" name="Text 3"/>
          <p:cNvSpPr/>
          <p:nvPr/>
        </p:nvSpPr>
        <p:spPr>
          <a:xfrm>
            <a:off x="640080" y="3017520"/>
            <a:ext cx="6400800" cy="548640"/>
          </a:xfrm>
          <a:prstGeom prst="rect">
            <a:avLst/>
          </a:prstGeom>
          <a:noFill/>
          <a:ln/>
        </p:spPr>
        <p:txBody>
          <a:bodyPr wrap="square" rtlCol="0" anchor="ctr"/>
          <a:lstStyle/>
          <a:p>
            <a:pPr indent="0" marL="0">
              <a:buNone/>
            </a:pPr>
            <a:r>
              <a:rPr lang="en-US" sz="1600" dirty="0">
                <a:solidFill>
                  <a:srgbClr val="4471A9"/>
                </a:solidFill>
                <a:latin typeface="Arial" pitchFamily="34" charset="0"/>
                <a:ea typeface="Arial" pitchFamily="34" charset="-122"/>
                <a:cs typeface="Arial" pitchFamily="34" charset="-120"/>
              </a:rPr>
              <a:t>Build where our IP lives. Buy where the market solved it.</a:t>
            </a:r>
            <a:endParaRPr lang="en-US" sz="1600" dirty="0"/>
          </a:p>
        </p:txBody>
      </p:sp>
      <p:sp>
        <p:nvSpPr>
          <p:cNvPr id="6" name="Shape 4"/>
          <p:cNvSpPr/>
          <p:nvPr/>
        </p:nvSpPr>
        <p:spPr>
          <a:xfrm>
            <a:off x="0" y="5106924"/>
            <a:ext cx="9144000" cy="36576"/>
          </a:xfrm>
          <a:prstGeom prst="rect">
            <a:avLst/>
          </a:prstGeom>
          <a:solidFill>
            <a:srgbClr val="993399"/>
          </a:solidFill>
          <a:ln/>
        </p:spPr>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Build. Buy. Partner. A principled approach.</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40</a:t>
            </a:r>
            <a:endParaRPr lang="en-US" sz="700" dirty="0"/>
          </a:p>
        </p:txBody>
      </p:sp>
      <p:sp>
        <p:nvSpPr>
          <p:cNvPr id="8" name="Shape 6"/>
          <p:cNvSpPr/>
          <p:nvPr/>
        </p:nvSpPr>
        <p:spPr>
          <a:xfrm>
            <a:off x="640080" y="1097280"/>
            <a:ext cx="2468880" cy="27432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9" name="Shape 7"/>
          <p:cNvSpPr/>
          <p:nvPr/>
        </p:nvSpPr>
        <p:spPr>
          <a:xfrm>
            <a:off x="640080" y="1097280"/>
            <a:ext cx="2468880" cy="594360"/>
          </a:xfrm>
          <a:prstGeom prst="rect">
            <a:avLst/>
          </a:prstGeom>
          <a:solidFill>
            <a:srgbClr val="06418C"/>
          </a:solidFill>
          <a:ln/>
        </p:spPr>
      </p:sp>
      <p:sp>
        <p:nvSpPr>
          <p:cNvPr id="10" name="Text 8"/>
          <p:cNvSpPr/>
          <p:nvPr/>
        </p:nvSpPr>
        <p:spPr>
          <a:xfrm>
            <a:off x="640080" y="1097280"/>
            <a:ext cx="246888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BUILD</a:t>
            </a:r>
            <a:endParaRPr lang="en-US" sz="1600" dirty="0"/>
          </a:p>
        </p:txBody>
      </p:sp>
      <p:sp>
        <p:nvSpPr>
          <p:cNvPr id="11" name="Text 9"/>
          <p:cNvSpPr/>
          <p:nvPr/>
        </p:nvSpPr>
        <p:spPr>
          <a:xfrm>
            <a:off x="640080" y="1389888"/>
            <a:ext cx="2468880" cy="274320"/>
          </a:xfrm>
          <a:prstGeom prst="rect">
            <a:avLst/>
          </a:prstGeom>
          <a:noFill/>
          <a:ln/>
        </p:spPr>
        <p:txBody>
          <a:bodyPr wrap="square" lIns="0" tIns="0" rIns="0" bIns="0" rtlCol="0" anchor="ctr"/>
          <a:lstStyle/>
          <a:p>
            <a:pPr algn="ctr" indent="0" marL="0">
              <a:buNone/>
            </a:pPr>
            <a:r>
              <a:rPr lang="en-US" sz="1000" dirty="0">
                <a:solidFill>
                  <a:srgbClr val="D0D8E8"/>
                </a:solidFill>
                <a:latin typeface="Arial" pitchFamily="34" charset="0"/>
                <a:ea typeface="Arial" pitchFamily="34" charset="-122"/>
                <a:cs typeface="Arial" pitchFamily="34" charset="-120"/>
              </a:rPr>
              <a:t>Protect competitive advantage</a:t>
            </a:r>
            <a:endParaRPr lang="en-US" sz="1000" dirty="0"/>
          </a:p>
        </p:txBody>
      </p:sp>
      <p:sp>
        <p:nvSpPr>
          <p:cNvPr id="12" name="Text 10"/>
          <p:cNvSpPr/>
          <p:nvPr/>
        </p:nvSpPr>
        <p:spPr>
          <a:xfrm>
            <a:off x="777240" y="1828800"/>
            <a:ext cx="2194560" cy="914400"/>
          </a:xfrm>
          <a:prstGeom prst="rect">
            <a:avLst/>
          </a:prstGeom>
          <a:noFill/>
          <a:ln/>
        </p:spPr>
        <p:txBody>
          <a:bodyPr wrap="square" lIns="0" tIns="0" rIns="0" bIns="0" rtlCol="0" anchor="ctr"/>
          <a:lstStyle/>
          <a:p>
            <a:pPr indent="0" marL="0">
              <a:lnSpc>
                <a:spcPct val="135000"/>
              </a:lnSpc>
              <a:buNone/>
            </a:pPr>
            <a:r>
              <a:rPr lang="en-US" sz="1100" dirty="0">
                <a:solidFill>
                  <a:srgbClr val="4A4A4A"/>
                </a:solidFill>
                <a:latin typeface="Arial" pitchFamily="34" charset="0"/>
                <a:ea typeface="Arial" pitchFamily="34" charset="-122"/>
                <a:cs typeface="Arial" pitchFamily="34" charset="-120"/>
              </a:rPr>
              <a:t>Domain knowledge graphs</a:t>
            </a:r>
            <a:endParaRPr lang="en-US" sz="1100" dirty="0"/>
          </a:p>
          <a:p>
            <a:pPr indent="0" marL="0">
              <a:lnSpc>
                <a:spcPct val="135000"/>
              </a:lnSpc>
              <a:buNone/>
            </a:pPr>
            <a:r>
              <a:rPr lang="en-US" sz="1100" dirty="0">
                <a:solidFill>
                  <a:srgbClr val="4A4A4A"/>
                </a:solidFill>
                <a:latin typeface="Arial" pitchFamily="34" charset="0"/>
                <a:ea typeface="Arial" pitchFamily="34" charset="-122"/>
                <a:cs typeface="Arial" pitchFamily="34" charset="-120"/>
              </a:rPr>
              <a:t>Fine-tuned models on proprietary data</a:t>
            </a:r>
            <a:endParaRPr lang="en-US" sz="1100" dirty="0"/>
          </a:p>
          <a:p>
            <a:pPr indent="0" marL="0">
              <a:lnSpc>
                <a:spcPct val="135000"/>
              </a:lnSpc>
              <a:buNone/>
            </a:pPr>
            <a:r>
              <a:rPr lang="en-US" sz="1100" dirty="0">
                <a:solidFill>
                  <a:srgbClr val="4A4A4A"/>
                </a:solidFill>
                <a:latin typeface="Arial" pitchFamily="34" charset="0"/>
                <a:ea typeface="Arial" pitchFamily="34" charset="-122"/>
                <a:cs typeface="Arial" pitchFamily="34" charset="-120"/>
              </a:rPr>
              <a:t>Internal data pipelines + governance</a:t>
            </a:r>
            <a:endParaRPr lang="en-US" sz="1100" dirty="0"/>
          </a:p>
        </p:txBody>
      </p:sp>
      <p:sp>
        <p:nvSpPr>
          <p:cNvPr id="13" name="Text 11"/>
          <p:cNvSpPr/>
          <p:nvPr/>
        </p:nvSpPr>
        <p:spPr>
          <a:xfrm>
            <a:off x="777240" y="2834640"/>
            <a:ext cx="2194560" cy="457200"/>
          </a:xfrm>
          <a:prstGeom prst="rect">
            <a:avLst/>
          </a:prstGeom>
          <a:noFill/>
          <a:ln/>
        </p:spPr>
        <p:txBody>
          <a:bodyPr wrap="square" lIns="0" tIns="0" rIns="0" bIns="0" rtlCol="0" anchor="ctr"/>
          <a:lstStyle/>
          <a:p>
            <a:pPr indent="0" marL="0">
              <a:buNone/>
            </a:pPr>
            <a:r>
              <a:rPr lang="en-US" sz="1000" i="1" dirty="0">
                <a:solidFill>
                  <a:srgbClr val="9D9D9D"/>
                </a:solidFill>
                <a:latin typeface="Arial" pitchFamily="34" charset="0"/>
                <a:ea typeface="Arial" pitchFamily="34" charset="-122"/>
                <a:cs typeface="Arial" pitchFamily="34" charset="-120"/>
              </a:rPr>
              <a:t>Touches our IP, creates moat, must be owned</a:t>
            </a:r>
            <a:endParaRPr lang="en-US" sz="1000" dirty="0"/>
          </a:p>
        </p:txBody>
      </p:sp>
      <p:sp>
        <p:nvSpPr>
          <p:cNvPr id="14" name="Shape 12"/>
          <p:cNvSpPr/>
          <p:nvPr/>
        </p:nvSpPr>
        <p:spPr>
          <a:xfrm>
            <a:off x="3337560" y="1097280"/>
            <a:ext cx="2468880" cy="27432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5" name="Shape 13"/>
          <p:cNvSpPr/>
          <p:nvPr/>
        </p:nvSpPr>
        <p:spPr>
          <a:xfrm>
            <a:off x="3337560" y="1097280"/>
            <a:ext cx="2468880" cy="594360"/>
          </a:xfrm>
          <a:prstGeom prst="rect">
            <a:avLst/>
          </a:prstGeom>
          <a:solidFill>
            <a:srgbClr val="4471A9"/>
          </a:solidFill>
          <a:ln/>
        </p:spPr>
      </p:sp>
      <p:sp>
        <p:nvSpPr>
          <p:cNvPr id="16" name="Text 14"/>
          <p:cNvSpPr/>
          <p:nvPr/>
        </p:nvSpPr>
        <p:spPr>
          <a:xfrm>
            <a:off x="3337560" y="1097280"/>
            <a:ext cx="246888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BUY / LICENSE</a:t>
            </a:r>
            <a:endParaRPr lang="en-US" sz="1600" dirty="0"/>
          </a:p>
        </p:txBody>
      </p:sp>
      <p:sp>
        <p:nvSpPr>
          <p:cNvPr id="17" name="Text 15"/>
          <p:cNvSpPr/>
          <p:nvPr/>
        </p:nvSpPr>
        <p:spPr>
          <a:xfrm>
            <a:off x="3337560" y="1389888"/>
            <a:ext cx="2468880" cy="274320"/>
          </a:xfrm>
          <a:prstGeom prst="rect">
            <a:avLst/>
          </a:prstGeom>
          <a:noFill/>
          <a:ln/>
        </p:spPr>
        <p:txBody>
          <a:bodyPr wrap="square" lIns="0" tIns="0" rIns="0" bIns="0" rtlCol="0" anchor="ctr"/>
          <a:lstStyle/>
          <a:p>
            <a:pPr algn="ctr" indent="0" marL="0">
              <a:buNone/>
            </a:pPr>
            <a:r>
              <a:rPr lang="en-US" sz="1000" dirty="0">
                <a:solidFill>
                  <a:srgbClr val="D0D8E8"/>
                </a:solidFill>
                <a:latin typeface="Arial" pitchFamily="34" charset="0"/>
                <a:ea typeface="Arial" pitchFamily="34" charset="-122"/>
                <a:cs typeface="Arial" pitchFamily="34" charset="-120"/>
              </a:rPr>
              <a:t>Market-solved, proven at scale</a:t>
            </a:r>
            <a:endParaRPr lang="en-US" sz="1000" dirty="0"/>
          </a:p>
        </p:txBody>
      </p:sp>
      <p:sp>
        <p:nvSpPr>
          <p:cNvPr id="18" name="Text 16"/>
          <p:cNvSpPr/>
          <p:nvPr/>
        </p:nvSpPr>
        <p:spPr>
          <a:xfrm>
            <a:off x="3474720" y="1828800"/>
            <a:ext cx="2194560" cy="914400"/>
          </a:xfrm>
          <a:prstGeom prst="rect">
            <a:avLst/>
          </a:prstGeom>
          <a:noFill/>
          <a:ln/>
        </p:spPr>
        <p:txBody>
          <a:bodyPr wrap="square" lIns="0" tIns="0" rIns="0" bIns="0" rtlCol="0" anchor="ctr"/>
          <a:lstStyle/>
          <a:p>
            <a:pPr indent="0" marL="0">
              <a:lnSpc>
                <a:spcPct val="135000"/>
              </a:lnSpc>
              <a:buNone/>
            </a:pPr>
            <a:r>
              <a:rPr lang="en-US" sz="1100" dirty="0">
                <a:solidFill>
                  <a:srgbClr val="4A4A4A"/>
                </a:solidFill>
                <a:latin typeface="Arial" pitchFamily="34" charset="0"/>
                <a:ea typeface="Arial" pitchFamily="34" charset="-122"/>
                <a:cs typeface="Arial" pitchFamily="34" charset="-120"/>
              </a:rPr>
              <a:t>Foundation AI models</a:t>
            </a:r>
            <a:endParaRPr lang="en-US" sz="1100" dirty="0"/>
          </a:p>
          <a:p>
            <a:pPr indent="0" marL="0">
              <a:lnSpc>
                <a:spcPct val="135000"/>
              </a:lnSpc>
              <a:buNone/>
            </a:pPr>
            <a:r>
              <a:rPr lang="en-US" sz="1100" dirty="0">
                <a:solidFill>
                  <a:srgbClr val="4A4A4A"/>
                </a:solidFill>
                <a:latin typeface="Arial" pitchFamily="34" charset="0"/>
                <a:ea typeface="Arial" pitchFamily="34" charset="-122"/>
                <a:cs typeface="Arial" pitchFamily="34" charset="-120"/>
              </a:rPr>
              <a:t>Data platform</a:t>
            </a:r>
            <a:endParaRPr lang="en-US" sz="1100" dirty="0"/>
          </a:p>
          <a:p>
            <a:pPr indent="0" marL="0">
              <a:lnSpc>
                <a:spcPct val="135000"/>
              </a:lnSpc>
              <a:buNone/>
            </a:pPr>
            <a:r>
              <a:rPr lang="en-US" sz="1100" dirty="0">
                <a:solidFill>
                  <a:srgbClr val="4A4A4A"/>
                </a:solidFill>
                <a:latin typeface="Arial" pitchFamily="34" charset="0"/>
                <a:ea typeface="Arial" pitchFamily="34" charset="-122"/>
                <a:cs typeface="Arial" pitchFamily="34" charset="-120"/>
              </a:rPr>
              <a:t>EDA AI tools (production-proven)</a:t>
            </a:r>
            <a:endParaRPr lang="en-US" sz="1100" dirty="0"/>
          </a:p>
        </p:txBody>
      </p:sp>
      <p:sp>
        <p:nvSpPr>
          <p:cNvPr id="19" name="Text 17"/>
          <p:cNvSpPr/>
          <p:nvPr/>
        </p:nvSpPr>
        <p:spPr>
          <a:xfrm>
            <a:off x="3474720" y="2834640"/>
            <a:ext cx="2194560" cy="457200"/>
          </a:xfrm>
          <a:prstGeom prst="rect">
            <a:avLst/>
          </a:prstGeom>
          <a:noFill/>
          <a:ln/>
        </p:spPr>
        <p:txBody>
          <a:bodyPr wrap="square" lIns="0" tIns="0" rIns="0" bIns="0" rtlCol="0" anchor="ctr"/>
          <a:lstStyle/>
          <a:p>
            <a:pPr indent="0" marL="0">
              <a:buNone/>
            </a:pPr>
            <a:r>
              <a:rPr lang="en-US" sz="1000" i="1" dirty="0">
                <a:solidFill>
                  <a:srgbClr val="9D9D9D"/>
                </a:solidFill>
                <a:latin typeface="Arial" pitchFamily="34" charset="0"/>
                <a:ea typeface="Arial" pitchFamily="34" charset="-122"/>
                <a:cs typeface="Arial" pitchFamily="34" charset="-120"/>
              </a:rPr>
              <a:t>Build-vs-buy math is clear, speed matters</a:t>
            </a:r>
            <a:endParaRPr lang="en-US" sz="1000" dirty="0"/>
          </a:p>
        </p:txBody>
      </p:sp>
      <p:sp>
        <p:nvSpPr>
          <p:cNvPr id="20" name="Shape 18"/>
          <p:cNvSpPr/>
          <p:nvPr/>
        </p:nvSpPr>
        <p:spPr>
          <a:xfrm>
            <a:off x="6035040" y="1097280"/>
            <a:ext cx="2468880" cy="27432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1" name="Shape 19"/>
          <p:cNvSpPr/>
          <p:nvPr/>
        </p:nvSpPr>
        <p:spPr>
          <a:xfrm>
            <a:off x="6035040" y="1097280"/>
            <a:ext cx="2468880" cy="594360"/>
          </a:xfrm>
          <a:prstGeom prst="rect">
            <a:avLst/>
          </a:prstGeom>
          <a:solidFill>
            <a:srgbClr val="0891B2"/>
          </a:solidFill>
          <a:ln/>
        </p:spPr>
      </p:sp>
      <p:sp>
        <p:nvSpPr>
          <p:cNvPr id="22" name="Text 20"/>
          <p:cNvSpPr/>
          <p:nvPr/>
        </p:nvSpPr>
        <p:spPr>
          <a:xfrm>
            <a:off x="6035040" y="1097280"/>
            <a:ext cx="2468880" cy="32004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PARTNER</a:t>
            </a:r>
            <a:endParaRPr lang="en-US" sz="1600" dirty="0"/>
          </a:p>
        </p:txBody>
      </p:sp>
      <p:sp>
        <p:nvSpPr>
          <p:cNvPr id="23" name="Text 21"/>
          <p:cNvSpPr/>
          <p:nvPr/>
        </p:nvSpPr>
        <p:spPr>
          <a:xfrm>
            <a:off x="6035040" y="1389888"/>
            <a:ext cx="2468880" cy="274320"/>
          </a:xfrm>
          <a:prstGeom prst="rect">
            <a:avLst/>
          </a:prstGeom>
          <a:noFill/>
          <a:ln/>
        </p:spPr>
        <p:txBody>
          <a:bodyPr wrap="square" lIns="0" tIns="0" rIns="0" bIns="0" rtlCol="0" anchor="ctr"/>
          <a:lstStyle/>
          <a:p>
            <a:pPr algn="ctr" indent="0" marL="0">
              <a:buNone/>
            </a:pPr>
            <a:r>
              <a:rPr lang="en-US" sz="1000" dirty="0">
                <a:solidFill>
                  <a:srgbClr val="D0D8E8"/>
                </a:solidFill>
                <a:latin typeface="Arial" pitchFamily="34" charset="0"/>
                <a:ea typeface="Arial" pitchFamily="34" charset="-122"/>
                <a:cs typeface="Arial" pitchFamily="34" charset="-120"/>
              </a:rPr>
              <a:t>Specialization + speed</a:t>
            </a:r>
            <a:endParaRPr lang="en-US" sz="1000" dirty="0"/>
          </a:p>
        </p:txBody>
      </p:sp>
      <p:sp>
        <p:nvSpPr>
          <p:cNvPr id="24" name="Text 22"/>
          <p:cNvSpPr/>
          <p:nvPr/>
        </p:nvSpPr>
        <p:spPr>
          <a:xfrm>
            <a:off x="6172200" y="1828800"/>
            <a:ext cx="2194560" cy="914400"/>
          </a:xfrm>
          <a:prstGeom prst="rect">
            <a:avLst/>
          </a:prstGeom>
          <a:noFill/>
          <a:ln/>
        </p:spPr>
        <p:txBody>
          <a:bodyPr wrap="square" lIns="0" tIns="0" rIns="0" bIns="0" rtlCol="0" anchor="ctr"/>
          <a:lstStyle/>
          <a:p>
            <a:pPr indent="0" marL="0">
              <a:lnSpc>
                <a:spcPct val="135000"/>
              </a:lnSpc>
              <a:buNone/>
            </a:pPr>
            <a:r>
              <a:rPr lang="en-US" sz="1100" dirty="0">
                <a:solidFill>
                  <a:srgbClr val="4A4A4A"/>
                </a:solidFill>
                <a:latin typeface="Arial" pitchFamily="34" charset="0"/>
                <a:ea typeface="Arial" pitchFamily="34" charset="-122"/>
                <a:cs typeface="Arial" pitchFamily="34" charset="-120"/>
              </a:rPr>
              <a:t>Semiconductor AI specialists</a:t>
            </a:r>
            <a:endParaRPr lang="en-US" sz="1100" dirty="0"/>
          </a:p>
          <a:p>
            <a:pPr indent="0" marL="0">
              <a:lnSpc>
                <a:spcPct val="135000"/>
              </a:lnSpc>
              <a:buNone/>
            </a:pPr>
            <a:r>
              <a:rPr lang="en-US" sz="1100" dirty="0">
                <a:solidFill>
                  <a:srgbClr val="4A4A4A"/>
                </a:solidFill>
                <a:latin typeface="Arial" pitchFamily="34" charset="0"/>
                <a:ea typeface="Arial" pitchFamily="34" charset="-122"/>
                <a:cs typeface="Arial" pitchFamily="34" charset="-120"/>
              </a:rPr>
              <a:t>System integrators</a:t>
            </a:r>
            <a:endParaRPr lang="en-US" sz="1100" dirty="0"/>
          </a:p>
          <a:p>
            <a:pPr indent="0" marL="0">
              <a:lnSpc>
                <a:spcPct val="135000"/>
              </a:lnSpc>
              <a:buNone/>
            </a:pPr>
            <a:r>
              <a:rPr lang="en-US" sz="1100" dirty="0">
                <a:solidFill>
                  <a:srgbClr val="4A4A4A"/>
                </a:solidFill>
                <a:latin typeface="Arial" pitchFamily="34" charset="0"/>
                <a:ea typeface="Arial" pitchFamily="34" charset="-122"/>
                <a:cs typeface="Arial" pitchFamily="34" charset="-120"/>
              </a:rPr>
              <a:t>Academic research partnerships</a:t>
            </a:r>
            <a:endParaRPr lang="en-US" sz="1100" dirty="0"/>
          </a:p>
        </p:txBody>
      </p:sp>
      <p:sp>
        <p:nvSpPr>
          <p:cNvPr id="25" name="Text 23"/>
          <p:cNvSpPr/>
          <p:nvPr/>
        </p:nvSpPr>
        <p:spPr>
          <a:xfrm>
            <a:off x="6172200" y="2834640"/>
            <a:ext cx="2194560" cy="457200"/>
          </a:xfrm>
          <a:prstGeom prst="rect">
            <a:avLst/>
          </a:prstGeom>
          <a:noFill/>
          <a:ln/>
        </p:spPr>
        <p:txBody>
          <a:bodyPr wrap="square" lIns="0" tIns="0" rIns="0" bIns="0" rtlCol="0" anchor="ctr"/>
          <a:lstStyle/>
          <a:p>
            <a:pPr indent="0" marL="0">
              <a:buNone/>
            </a:pPr>
            <a:r>
              <a:rPr lang="en-US" sz="1000" i="1" dirty="0">
                <a:solidFill>
                  <a:srgbClr val="9D9D9D"/>
                </a:solidFill>
                <a:latin typeface="Arial" pitchFamily="34" charset="0"/>
                <a:ea typeface="Arial" pitchFamily="34" charset="-122"/>
                <a:cs typeface="Arial" pitchFamily="34" charset="-120"/>
              </a:rPr>
              <a:t>Capability at startup scale, faster than acq</a:t>
            </a:r>
            <a:endParaRPr lang="en-US" sz="1000" dirty="0"/>
          </a:p>
        </p:txBody>
      </p:sp>
      <p:sp>
        <p:nvSpPr>
          <p:cNvPr id="26" name="Text 24"/>
          <p:cNvSpPr/>
          <p:nvPr/>
        </p:nvSpPr>
        <p:spPr>
          <a:xfrm>
            <a:off x="640080" y="4114800"/>
            <a:ext cx="7863840" cy="228600"/>
          </a:xfrm>
          <a:prstGeom prst="rect">
            <a:avLst/>
          </a:prstGeom>
          <a:noFill/>
          <a:ln/>
        </p:spPr>
        <p:txBody>
          <a:bodyPr wrap="square" lIns="0" tIns="0" rIns="0" bIns="0" rtlCol="0" anchor="ctr"/>
          <a:lstStyle/>
          <a:p>
            <a:pPr indent="0" marL="0">
              <a:buNone/>
            </a:pPr>
            <a:r>
              <a:rPr lang="en-US" sz="800" dirty="0">
                <a:solidFill>
                  <a:srgbClr val="9D9D9D"/>
                </a:solidFill>
                <a:latin typeface="Arial" pitchFamily="34" charset="0"/>
                <a:ea typeface="Arial" pitchFamily="34" charset="-122"/>
                <a:cs typeface="Arial" pitchFamily="34" charset="-120"/>
              </a:rPr>
              <a:t>¹ Specific vendor evaluations available on request. Named vendors are illustrative, not pre-commitments.</a:t>
            </a:r>
            <a:endParaRPr lang="en-US" sz="80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400" b="1" dirty="0">
                <a:solidFill>
                  <a:srgbClr val="06418C"/>
                </a:solidFill>
                <a:latin typeface="Arial" pitchFamily="34" charset="0"/>
                <a:ea typeface="Arial" pitchFamily="34" charset="-122"/>
                <a:cs typeface="Arial" pitchFamily="34" charset="-120"/>
              </a:rPr>
              <a:t>The ecosystem of capabilities we need.</a:t>
            </a:r>
            <a:endParaRPr lang="en-US" sz="24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41</a:t>
            </a:r>
            <a:endParaRPr lang="en-US" sz="700" dirty="0"/>
          </a:p>
        </p:txBody>
      </p:sp>
      <p:sp>
        <p:nvSpPr>
          <p:cNvPr id="8" name="Shape 6"/>
          <p:cNvSpPr/>
          <p:nvPr/>
        </p:nvSpPr>
        <p:spPr>
          <a:xfrm>
            <a:off x="640080" y="1005840"/>
            <a:ext cx="2468880" cy="13258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9" name="Shape 7"/>
          <p:cNvSpPr/>
          <p:nvPr/>
        </p:nvSpPr>
        <p:spPr>
          <a:xfrm>
            <a:off x="640080" y="1005840"/>
            <a:ext cx="2468880" cy="347472"/>
          </a:xfrm>
          <a:prstGeom prst="rect">
            <a:avLst/>
          </a:prstGeom>
          <a:solidFill>
            <a:srgbClr val="06418C"/>
          </a:solidFill>
          <a:ln/>
        </p:spPr>
      </p:sp>
      <p:sp>
        <p:nvSpPr>
          <p:cNvPr id="10" name="Text 8"/>
          <p:cNvSpPr/>
          <p:nvPr/>
        </p:nvSpPr>
        <p:spPr>
          <a:xfrm>
            <a:off x="640080" y="1005840"/>
            <a:ext cx="2468880" cy="347472"/>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AI Foundation</a:t>
            </a:r>
            <a:endParaRPr lang="en-US" sz="1200" dirty="0"/>
          </a:p>
        </p:txBody>
      </p:sp>
      <p:sp>
        <p:nvSpPr>
          <p:cNvPr id="11" name="Text 9"/>
          <p:cNvSpPr/>
          <p:nvPr/>
        </p:nvSpPr>
        <p:spPr>
          <a:xfrm>
            <a:off x="749808" y="1463040"/>
            <a:ext cx="2249424" cy="731520"/>
          </a:xfrm>
          <a:prstGeom prst="rect">
            <a:avLst/>
          </a:prstGeom>
          <a:noFill/>
          <a:ln/>
        </p:spPr>
        <p:txBody>
          <a:bodyPr wrap="square" lIns="0" tIns="0" rIns="0" bIns="0" rtlCol="0" anchor="ctr"/>
          <a:lstStyle/>
          <a:p>
            <a:pPr indent="0" marL="0">
              <a:lnSpc>
                <a:spcPct val="120000"/>
              </a:lnSpc>
              <a:buNone/>
            </a:pPr>
            <a:r>
              <a:rPr lang="en-US" sz="1100" dirty="0">
                <a:solidFill>
                  <a:srgbClr val="4A4A4A"/>
                </a:solidFill>
                <a:latin typeface="Arial" pitchFamily="34" charset="0"/>
                <a:ea typeface="Arial" pitchFamily="34" charset="-122"/>
                <a:cs typeface="Arial" pitchFamily="34" charset="-120"/>
              </a:rPr>
              <a:t>Top-tier reasoning + cost-effective models + unified data platform</a:t>
            </a:r>
            <a:endParaRPr lang="en-US" sz="1100" dirty="0"/>
          </a:p>
        </p:txBody>
      </p:sp>
      <p:sp>
        <p:nvSpPr>
          <p:cNvPr id="12" name="Shape 10"/>
          <p:cNvSpPr/>
          <p:nvPr/>
        </p:nvSpPr>
        <p:spPr>
          <a:xfrm>
            <a:off x="3337560" y="1005840"/>
            <a:ext cx="2468880" cy="13258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3" name="Shape 11"/>
          <p:cNvSpPr/>
          <p:nvPr/>
        </p:nvSpPr>
        <p:spPr>
          <a:xfrm>
            <a:off x="3337560" y="1005840"/>
            <a:ext cx="2468880" cy="347472"/>
          </a:xfrm>
          <a:prstGeom prst="rect">
            <a:avLst/>
          </a:prstGeom>
          <a:solidFill>
            <a:srgbClr val="4471A9"/>
          </a:solidFill>
          <a:ln/>
        </p:spPr>
      </p:sp>
      <p:sp>
        <p:nvSpPr>
          <p:cNvPr id="14" name="Text 12"/>
          <p:cNvSpPr/>
          <p:nvPr/>
        </p:nvSpPr>
        <p:spPr>
          <a:xfrm>
            <a:off x="3337560" y="1005840"/>
            <a:ext cx="2468880" cy="347472"/>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EDA &amp; Design AI</a:t>
            </a:r>
            <a:endParaRPr lang="en-US" sz="1200" dirty="0"/>
          </a:p>
        </p:txBody>
      </p:sp>
      <p:sp>
        <p:nvSpPr>
          <p:cNvPr id="15" name="Text 13"/>
          <p:cNvSpPr/>
          <p:nvPr/>
        </p:nvSpPr>
        <p:spPr>
          <a:xfrm>
            <a:off x="3447288" y="1463040"/>
            <a:ext cx="2249424" cy="731520"/>
          </a:xfrm>
          <a:prstGeom prst="rect">
            <a:avLst/>
          </a:prstGeom>
          <a:noFill/>
          <a:ln/>
        </p:spPr>
        <p:txBody>
          <a:bodyPr wrap="square" lIns="0" tIns="0" rIns="0" bIns="0" rtlCol="0" anchor="ctr"/>
          <a:lstStyle/>
          <a:p>
            <a:pPr indent="0" marL="0">
              <a:lnSpc>
                <a:spcPct val="120000"/>
              </a:lnSpc>
              <a:buNone/>
            </a:pPr>
            <a:r>
              <a:rPr lang="en-US" sz="1100" dirty="0">
                <a:solidFill>
                  <a:srgbClr val="4A4A4A"/>
                </a:solidFill>
                <a:latin typeface="Arial" pitchFamily="34" charset="0"/>
                <a:ea typeface="Arial" pitchFamily="34" charset="-122"/>
                <a:cs typeface="Arial" pitchFamily="34" charset="-120"/>
              </a:rPr>
              <a:t>Production-proven RTL optimization, PLM-EDA integration</a:t>
            </a:r>
            <a:endParaRPr lang="en-US" sz="1100" dirty="0"/>
          </a:p>
        </p:txBody>
      </p:sp>
      <p:sp>
        <p:nvSpPr>
          <p:cNvPr id="16" name="Shape 14"/>
          <p:cNvSpPr/>
          <p:nvPr/>
        </p:nvSpPr>
        <p:spPr>
          <a:xfrm>
            <a:off x="6035040" y="1005840"/>
            <a:ext cx="2468880" cy="13258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7" name="Shape 15"/>
          <p:cNvSpPr/>
          <p:nvPr/>
        </p:nvSpPr>
        <p:spPr>
          <a:xfrm>
            <a:off x="6035040" y="1005840"/>
            <a:ext cx="2468880" cy="347472"/>
          </a:xfrm>
          <a:prstGeom prst="rect">
            <a:avLst/>
          </a:prstGeom>
          <a:solidFill>
            <a:srgbClr val="0891B2"/>
          </a:solidFill>
          <a:ln/>
        </p:spPr>
      </p:sp>
      <p:sp>
        <p:nvSpPr>
          <p:cNvPr id="18" name="Text 16"/>
          <p:cNvSpPr/>
          <p:nvPr/>
        </p:nvSpPr>
        <p:spPr>
          <a:xfrm>
            <a:off x="6035040" y="1005840"/>
            <a:ext cx="2468880" cy="347472"/>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Semiconductor AI</a:t>
            </a:r>
            <a:endParaRPr lang="en-US" sz="1200" dirty="0"/>
          </a:p>
        </p:txBody>
      </p:sp>
      <p:sp>
        <p:nvSpPr>
          <p:cNvPr id="19" name="Text 17"/>
          <p:cNvSpPr/>
          <p:nvPr/>
        </p:nvSpPr>
        <p:spPr>
          <a:xfrm>
            <a:off x="6144768" y="1463040"/>
            <a:ext cx="2249424" cy="731520"/>
          </a:xfrm>
          <a:prstGeom prst="rect">
            <a:avLst/>
          </a:prstGeom>
          <a:noFill/>
          <a:ln/>
        </p:spPr>
        <p:txBody>
          <a:bodyPr wrap="square" lIns="0" tIns="0" rIns="0" bIns="0" rtlCol="0" anchor="ctr"/>
          <a:lstStyle/>
          <a:p>
            <a:pPr indent="0" marL="0">
              <a:lnSpc>
                <a:spcPct val="120000"/>
              </a:lnSpc>
              <a:buNone/>
            </a:pPr>
            <a:r>
              <a:rPr lang="en-US" sz="1100" dirty="0">
                <a:solidFill>
                  <a:srgbClr val="4A4A4A"/>
                </a:solidFill>
                <a:latin typeface="Arial" pitchFamily="34" charset="0"/>
                <a:ea typeface="Arial" pitchFamily="34" charset="-122"/>
                <a:cs typeface="Arial" pitchFamily="34" charset="-120"/>
              </a:rPr>
              <a:t>Formal verification + AI, chip architecture optimization</a:t>
            </a:r>
            <a:endParaRPr lang="en-US" sz="1100" dirty="0"/>
          </a:p>
        </p:txBody>
      </p:sp>
      <p:sp>
        <p:nvSpPr>
          <p:cNvPr id="20" name="Shape 18"/>
          <p:cNvSpPr/>
          <p:nvPr/>
        </p:nvSpPr>
        <p:spPr>
          <a:xfrm>
            <a:off x="640080" y="2514600"/>
            <a:ext cx="2468880" cy="13258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1" name="Shape 19"/>
          <p:cNvSpPr/>
          <p:nvPr/>
        </p:nvSpPr>
        <p:spPr>
          <a:xfrm>
            <a:off x="640080" y="2514600"/>
            <a:ext cx="2468880" cy="347472"/>
          </a:xfrm>
          <a:prstGeom prst="rect">
            <a:avLst/>
          </a:prstGeom>
          <a:solidFill>
            <a:srgbClr val="669933"/>
          </a:solidFill>
          <a:ln/>
        </p:spPr>
      </p:sp>
      <p:sp>
        <p:nvSpPr>
          <p:cNvPr id="22" name="Text 20"/>
          <p:cNvSpPr/>
          <p:nvPr/>
        </p:nvSpPr>
        <p:spPr>
          <a:xfrm>
            <a:off x="640080" y="2514600"/>
            <a:ext cx="2468880" cy="347472"/>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Data &amp; Analytics</a:t>
            </a:r>
            <a:endParaRPr lang="en-US" sz="1200" dirty="0"/>
          </a:p>
        </p:txBody>
      </p:sp>
      <p:sp>
        <p:nvSpPr>
          <p:cNvPr id="23" name="Text 21"/>
          <p:cNvSpPr/>
          <p:nvPr/>
        </p:nvSpPr>
        <p:spPr>
          <a:xfrm>
            <a:off x="749808" y="2971800"/>
            <a:ext cx="2249424" cy="731520"/>
          </a:xfrm>
          <a:prstGeom prst="rect">
            <a:avLst/>
          </a:prstGeom>
          <a:noFill/>
          <a:ln/>
        </p:spPr>
        <p:txBody>
          <a:bodyPr wrap="square" lIns="0" tIns="0" rIns="0" bIns="0" rtlCol="0" anchor="ctr"/>
          <a:lstStyle/>
          <a:p>
            <a:pPr indent="0" marL="0">
              <a:lnSpc>
                <a:spcPct val="120000"/>
              </a:lnSpc>
              <a:buNone/>
            </a:pPr>
            <a:r>
              <a:rPr lang="en-US" sz="1100" dirty="0">
                <a:solidFill>
                  <a:srgbClr val="4A4A4A"/>
                </a:solidFill>
                <a:latin typeface="Arial" pitchFamily="34" charset="0"/>
                <a:ea typeface="Arial" pitchFamily="34" charset="-122"/>
                <a:cs typeface="Arial" pitchFamily="34" charset="-120"/>
              </a:rPr>
              <a:t>BI layer, operational AI for industrial companies</a:t>
            </a:r>
            <a:endParaRPr lang="en-US" sz="1100" dirty="0"/>
          </a:p>
        </p:txBody>
      </p:sp>
      <p:sp>
        <p:nvSpPr>
          <p:cNvPr id="24" name="Shape 22"/>
          <p:cNvSpPr/>
          <p:nvPr/>
        </p:nvSpPr>
        <p:spPr>
          <a:xfrm>
            <a:off x="3337560" y="2514600"/>
            <a:ext cx="2468880" cy="13258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5" name="Shape 23"/>
          <p:cNvSpPr/>
          <p:nvPr/>
        </p:nvSpPr>
        <p:spPr>
          <a:xfrm>
            <a:off x="3337560" y="2514600"/>
            <a:ext cx="2468880" cy="347472"/>
          </a:xfrm>
          <a:prstGeom prst="rect">
            <a:avLst/>
          </a:prstGeom>
          <a:solidFill>
            <a:srgbClr val="993399"/>
          </a:solidFill>
          <a:ln/>
        </p:spPr>
      </p:sp>
      <p:sp>
        <p:nvSpPr>
          <p:cNvPr id="26" name="Text 24"/>
          <p:cNvSpPr/>
          <p:nvPr/>
        </p:nvSpPr>
        <p:spPr>
          <a:xfrm>
            <a:off x="3337560" y="2514600"/>
            <a:ext cx="2468880" cy="347472"/>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PLM</a:t>
            </a:r>
            <a:endParaRPr lang="en-US" sz="1200" dirty="0"/>
          </a:p>
        </p:txBody>
      </p:sp>
      <p:sp>
        <p:nvSpPr>
          <p:cNvPr id="27" name="Text 25"/>
          <p:cNvSpPr/>
          <p:nvPr/>
        </p:nvSpPr>
        <p:spPr>
          <a:xfrm>
            <a:off x="3447288" y="2971800"/>
            <a:ext cx="2249424" cy="731520"/>
          </a:xfrm>
          <a:prstGeom prst="rect">
            <a:avLst/>
          </a:prstGeom>
          <a:noFill/>
          <a:ln/>
        </p:spPr>
        <p:txBody>
          <a:bodyPr wrap="square" lIns="0" tIns="0" rIns="0" bIns="0" rtlCol="0" anchor="ctr"/>
          <a:lstStyle/>
          <a:p>
            <a:pPr indent="0" marL="0">
              <a:lnSpc>
                <a:spcPct val="120000"/>
              </a:lnSpc>
              <a:buNone/>
            </a:pPr>
            <a:r>
              <a:rPr lang="en-US" sz="1100" dirty="0">
                <a:solidFill>
                  <a:srgbClr val="4A4A4A"/>
                </a:solidFill>
                <a:latin typeface="Arial" pitchFamily="34" charset="0"/>
                <a:ea typeface="Arial" pitchFamily="34" charset="-122"/>
                <a:cs typeface="Arial" pitchFamily="34" charset="-120"/>
              </a:rPr>
              <a:t>AI-embedded lifecycle management, parts rationalization</a:t>
            </a:r>
            <a:endParaRPr lang="en-US" sz="1100" dirty="0"/>
          </a:p>
        </p:txBody>
      </p:sp>
      <p:sp>
        <p:nvSpPr>
          <p:cNvPr id="28" name="Shape 26"/>
          <p:cNvSpPr/>
          <p:nvPr/>
        </p:nvSpPr>
        <p:spPr>
          <a:xfrm>
            <a:off x="6035040" y="2514600"/>
            <a:ext cx="2468880" cy="13258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9" name="Shape 27"/>
          <p:cNvSpPr/>
          <p:nvPr/>
        </p:nvSpPr>
        <p:spPr>
          <a:xfrm>
            <a:off x="6035040" y="2514600"/>
            <a:ext cx="2468880" cy="347472"/>
          </a:xfrm>
          <a:prstGeom prst="rect">
            <a:avLst/>
          </a:prstGeom>
          <a:solidFill>
            <a:srgbClr val="3C3C3B"/>
          </a:solidFill>
          <a:ln/>
        </p:spPr>
      </p:sp>
      <p:sp>
        <p:nvSpPr>
          <p:cNvPr id="30" name="Text 28"/>
          <p:cNvSpPr/>
          <p:nvPr/>
        </p:nvSpPr>
        <p:spPr>
          <a:xfrm>
            <a:off x="6035040" y="2514600"/>
            <a:ext cx="2468880" cy="347472"/>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Cloud &amp; Infra</a:t>
            </a:r>
            <a:endParaRPr lang="en-US" sz="1200" dirty="0"/>
          </a:p>
        </p:txBody>
      </p:sp>
      <p:sp>
        <p:nvSpPr>
          <p:cNvPr id="31" name="Text 29"/>
          <p:cNvSpPr/>
          <p:nvPr/>
        </p:nvSpPr>
        <p:spPr>
          <a:xfrm>
            <a:off x="6144768" y="2971800"/>
            <a:ext cx="2249424" cy="731520"/>
          </a:xfrm>
          <a:prstGeom prst="rect">
            <a:avLst/>
          </a:prstGeom>
          <a:noFill/>
          <a:ln/>
        </p:spPr>
        <p:txBody>
          <a:bodyPr wrap="square" lIns="0" tIns="0" rIns="0" bIns="0" rtlCol="0" anchor="ctr"/>
          <a:lstStyle/>
          <a:p>
            <a:pPr indent="0" marL="0">
              <a:lnSpc>
                <a:spcPct val="120000"/>
              </a:lnSpc>
              <a:buNone/>
            </a:pPr>
            <a:r>
              <a:rPr lang="en-US" sz="1100" dirty="0">
                <a:solidFill>
                  <a:srgbClr val="4A4A4A"/>
                </a:solidFill>
                <a:latin typeface="Arial" pitchFamily="34" charset="0"/>
                <a:ea typeface="Arial" pitchFamily="34" charset="-122"/>
                <a:cs typeface="Arial" pitchFamily="34" charset="-120"/>
              </a:rPr>
              <a:t>Data residency (Japan), AI services, cost optimization</a:t>
            </a:r>
            <a:endParaRPr lang="en-US" sz="1100" dirty="0"/>
          </a:p>
        </p:txBody>
      </p:sp>
      <p:sp>
        <p:nvSpPr>
          <p:cNvPr id="32" name="Text 30"/>
          <p:cNvSpPr/>
          <p:nvPr/>
        </p:nvSpPr>
        <p:spPr>
          <a:xfrm>
            <a:off x="640080" y="4114800"/>
            <a:ext cx="7863840" cy="228600"/>
          </a:xfrm>
          <a:prstGeom prst="rect">
            <a:avLst/>
          </a:prstGeom>
          <a:noFill/>
          <a:ln/>
        </p:spPr>
        <p:txBody>
          <a:bodyPr wrap="square" lIns="0" tIns="0" rIns="0" bIns="0" rtlCol="0" anchor="ctr"/>
          <a:lstStyle/>
          <a:p>
            <a:pPr indent="0" marL="0">
              <a:buNone/>
            </a:pPr>
            <a:r>
              <a:rPr lang="en-US" sz="800" dirty="0">
                <a:solidFill>
                  <a:srgbClr val="9D9D9D"/>
                </a:solidFill>
                <a:latin typeface="Arial" pitchFamily="34" charset="0"/>
                <a:ea typeface="Arial" pitchFamily="34" charset="-122"/>
                <a:cs typeface="Arial" pitchFamily="34" charset="-120"/>
              </a:rPr>
              <a:t>¹ Detailed vendor assessments available. Framework shows strategic thinking, not vendor lock-in.</a:t>
            </a:r>
            <a:endParaRPr lang="en-US" sz="800" dirty="0"/>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200" b="1" dirty="0">
                <a:solidFill>
                  <a:srgbClr val="06418C"/>
                </a:solidFill>
                <a:latin typeface="Arial" pitchFamily="34" charset="0"/>
                <a:ea typeface="Arial" pitchFamily="34" charset="-122"/>
                <a:cs typeface="Arial" pitchFamily="34" charset="-120"/>
              </a:rPr>
              <a:t>Some of what we need doesn't exist at scale. That's an opportunity.</a:t>
            </a:r>
            <a:endParaRPr lang="en-US" sz="22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42</a:t>
            </a:r>
            <a:endParaRPr lang="en-US" sz="700" dirty="0"/>
          </a:p>
        </p:txBody>
      </p:sp>
      <p:sp>
        <p:nvSpPr>
          <p:cNvPr id="8" name="Text 6"/>
          <p:cNvSpPr/>
          <p:nvPr/>
        </p:nvSpPr>
        <p:spPr>
          <a:xfrm>
            <a:off x="1371600" y="822960"/>
            <a:ext cx="6400800" cy="228600"/>
          </a:xfrm>
          <a:prstGeom prst="rect">
            <a:avLst/>
          </a:prstGeom>
          <a:noFill/>
          <a:ln/>
        </p:spPr>
        <p:txBody>
          <a:bodyPr wrap="square" lIns="0" tIns="0" rIns="0" bIns="0" rtlCol="0" anchor="ctr"/>
          <a:lstStyle/>
          <a:p>
            <a:pPr indent="0" marL="0">
              <a:buNone/>
            </a:pPr>
            <a:r>
              <a:rPr lang="en-US" sz="1000" dirty="0">
                <a:solidFill>
                  <a:srgbClr val="9D9D9D"/>
                </a:solidFill>
                <a:latin typeface="Arial" pitchFamily="34" charset="0"/>
                <a:ea typeface="Arial" pitchFamily="34" charset="-122"/>
                <a:cs typeface="Arial" pitchFamily="34" charset="-120"/>
              </a:rPr>
              <a:t>CAPABILITY UNIQUENESS →</a:t>
            </a:r>
            <a:endParaRPr lang="en-US" sz="1000" dirty="0"/>
          </a:p>
        </p:txBody>
      </p:sp>
      <p:sp>
        <p:nvSpPr>
          <p:cNvPr id="9" name="Text 7"/>
          <p:cNvSpPr/>
          <p:nvPr/>
        </p:nvSpPr>
        <p:spPr>
          <a:xfrm rot="16200000">
            <a:off x="274320" y="1554480"/>
            <a:ext cx="914400" cy="2286000"/>
          </a:xfrm>
          <a:prstGeom prst="rect">
            <a:avLst/>
          </a:prstGeom>
          <a:noFill/>
          <a:ln/>
        </p:spPr>
        <p:txBody>
          <a:bodyPr wrap="square" lIns="0" tIns="0" rIns="0" bIns="0" rtlCol="0" anchor="ctr"/>
          <a:lstStyle/>
          <a:p>
            <a:pPr indent="0" marL="0">
              <a:buNone/>
            </a:pPr>
            <a:r>
              <a:rPr lang="en-US" sz="1000" dirty="0">
                <a:solidFill>
                  <a:srgbClr val="9D9D9D"/>
                </a:solidFill>
                <a:latin typeface="Arial" pitchFamily="34" charset="0"/>
                <a:ea typeface="Arial" pitchFamily="34" charset="-122"/>
                <a:cs typeface="Arial" pitchFamily="34" charset="-120"/>
              </a:rPr>
              <a:t>TIME TO BUILD →</a:t>
            </a:r>
            <a:endParaRPr lang="en-US" sz="1000" dirty="0"/>
          </a:p>
        </p:txBody>
      </p:sp>
      <p:sp>
        <p:nvSpPr>
          <p:cNvPr id="10" name="Shape 8"/>
          <p:cNvSpPr/>
          <p:nvPr/>
        </p:nvSpPr>
        <p:spPr>
          <a:xfrm>
            <a:off x="1371600" y="1097280"/>
            <a:ext cx="3200400" cy="1371600"/>
          </a:xfrm>
          <a:prstGeom prst="rect">
            <a:avLst/>
          </a:prstGeom>
          <a:solidFill>
            <a:srgbClr val="4471A9"/>
          </a:solidFill>
          <a:ln/>
          <a:effectLst>
            <a:outerShdw sx="100000" sy="100000" kx="0" ky="0" algn="bl" rotWithShape="0" blurRad="50800" dist="12700" dir="8100000">
              <a:srgbClr val="000000">
                <a:alpha val="8000"/>
              </a:srgbClr>
            </a:outerShdw>
          </a:effectLst>
        </p:spPr>
      </p:sp>
      <p:sp>
        <p:nvSpPr>
          <p:cNvPr id="11" name="Text 9"/>
          <p:cNvSpPr/>
          <p:nvPr/>
        </p:nvSpPr>
        <p:spPr>
          <a:xfrm>
            <a:off x="1508760" y="1188720"/>
            <a:ext cx="2926080" cy="3200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BUILD INTERNALLY</a:t>
            </a:r>
            <a:endParaRPr lang="en-US" sz="1200" dirty="0"/>
          </a:p>
        </p:txBody>
      </p:sp>
      <p:sp>
        <p:nvSpPr>
          <p:cNvPr id="12" name="Text 10"/>
          <p:cNvSpPr/>
          <p:nvPr/>
        </p:nvSpPr>
        <p:spPr>
          <a:xfrm>
            <a:off x="1508760" y="1554480"/>
            <a:ext cx="2926080" cy="777240"/>
          </a:xfrm>
          <a:prstGeom prst="rect">
            <a:avLst/>
          </a:prstGeom>
          <a:noFill/>
          <a:ln/>
        </p:spPr>
        <p:txBody>
          <a:bodyPr wrap="square" lIns="0" tIns="0" rIns="0" bIns="0" rtlCol="0" anchor="ctr"/>
          <a:lstStyle/>
          <a:p>
            <a:pPr indent="0" marL="0">
              <a:lnSpc>
                <a:spcPct val="120000"/>
              </a:lnSpc>
              <a:buNone/>
            </a:pPr>
            <a:r>
              <a:rPr lang="en-US" sz="1100" dirty="0">
                <a:solidFill>
                  <a:srgbClr val="D0D8E8"/>
                </a:solidFill>
                <a:latin typeface="Arial" pitchFamily="34" charset="0"/>
                <a:ea typeface="Arial" pitchFamily="34" charset="-122"/>
                <a:cs typeface="Arial" pitchFamily="34" charset="-120"/>
              </a:rPr>
              <a:t>Renesas-specific fine-tuned models</a:t>
            </a:r>
            <a:endParaRPr lang="en-US" sz="1100" dirty="0"/>
          </a:p>
          <a:p>
            <a:pPr indent="0" marL="0">
              <a:lnSpc>
                <a:spcPct val="120000"/>
              </a:lnSpc>
              <a:buNone/>
            </a:pPr>
            <a:r>
              <a:rPr lang="en-US" sz="1100" dirty="0">
                <a:solidFill>
                  <a:srgbClr val="D0D8E8"/>
                </a:solidFill>
                <a:latin typeface="Arial" pitchFamily="34" charset="0"/>
                <a:ea typeface="Arial" pitchFamily="34" charset="-122"/>
                <a:cs typeface="Arial" pitchFamily="34" charset="-120"/>
              </a:rPr>
              <a:t>Internal ontology on proprietary data</a:t>
            </a:r>
            <a:endParaRPr lang="en-US" sz="1100" dirty="0"/>
          </a:p>
        </p:txBody>
      </p:sp>
      <p:sp>
        <p:nvSpPr>
          <p:cNvPr id="13" name="Shape 11"/>
          <p:cNvSpPr/>
          <p:nvPr/>
        </p:nvSpPr>
        <p:spPr>
          <a:xfrm>
            <a:off x="4663440" y="1097280"/>
            <a:ext cx="3200400" cy="1371600"/>
          </a:xfrm>
          <a:prstGeom prst="rect">
            <a:avLst/>
          </a:prstGeom>
          <a:solidFill>
            <a:srgbClr val="06418C"/>
          </a:solidFill>
          <a:ln/>
          <a:effectLst>
            <a:outerShdw sx="100000" sy="100000" kx="0" ky="0" algn="bl" rotWithShape="0" blurRad="50800" dist="12700" dir="8100000">
              <a:srgbClr val="000000">
                <a:alpha val="8000"/>
              </a:srgbClr>
            </a:outerShdw>
          </a:effectLst>
        </p:spPr>
      </p:sp>
      <p:sp>
        <p:nvSpPr>
          <p:cNvPr id="14" name="Text 12"/>
          <p:cNvSpPr/>
          <p:nvPr/>
        </p:nvSpPr>
        <p:spPr>
          <a:xfrm>
            <a:off x="4800600" y="1188720"/>
            <a:ext cx="2926080" cy="3200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ACQUIRE / DEEP PARTNER</a:t>
            </a:r>
            <a:endParaRPr lang="en-US" sz="1200" dirty="0"/>
          </a:p>
        </p:txBody>
      </p:sp>
      <p:sp>
        <p:nvSpPr>
          <p:cNvPr id="15" name="Text 13"/>
          <p:cNvSpPr/>
          <p:nvPr/>
        </p:nvSpPr>
        <p:spPr>
          <a:xfrm>
            <a:off x="4800600" y="1554480"/>
            <a:ext cx="2926080" cy="777240"/>
          </a:xfrm>
          <a:prstGeom prst="rect">
            <a:avLst/>
          </a:prstGeom>
          <a:noFill/>
          <a:ln/>
        </p:spPr>
        <p:txBody>
          <a:bodyPr wrap="square" lIns="0" tIns="0" rIns="0" bIns="0" rtlCol="0" anchor="ctr"/>
          <a:lstStyle/>
          <a:p>
            <a:pPr indent="0" marL="0">
              <a:lnSpc>
                <a:spcPct val="120000"/>
              </a:lnSpc>
              <a:buNone/>
            </a:pPr>
            <a:r>
              <a:rPr lang="en-US" sz="1100" dirty="0">
                <a:solidFill>
                  <a:srgbClr val="D0D8E8"/>
                </a:solidFill>
                <a:latin typeface="Arial" pitchFamily="34" charset="0"/>
                <a:ea typeface="Arial" pitchFamily="34" charset="-122"/>
                <a:cs typeface="Arial" pitchFamily="34" charset="-120"/>
              </a:rPr>
              <a:t>Formal verification + AI (strategic)</a:t>
            </a:r>
            <a:endParaRPr lang="en-US" sz="1100" dirty="0"/>
          </a:p>
          <a:p>
            <a:pPr indent="0" marL="0">
              <a:lnSpc>
                <a:spcPct val="120000"/>
              </a:lnSpc>
              <a:buNone/>
            </a:pPr>
            <a:r>
              <a:rPr lang="en-US" sz="1100" dirty="0">
                <a:solidFill>
                  <a:srgbClr val="D0D8E8"/>
                </a:solidFill>
                <a:latin typeface="Arial" pitchFamily="34" charset="0"/>
                <a:ea typeface="Arial" pitchFamily="34" charset="-122"/>
                <a:cs typeface="Arial" pitchFamily="34" charset="-120"/>
              </a:rPr>
              <a:t>Semiconductor knowledge graph infra</a:t>
            </a:r>
            <a:endParaRPr lang="en-US" sz="1100" dirty="0"/>
          </a:p>
        </p:txBody>
      </p:sp>
      <p:sp>
        <p:nvSpPr>
          <p:cNvPr id="16" name="Shape 14"/>
          <p:cNvSpPr/>
          <p:nvPr/>
        </p:nvSpPr>
        <p:spPr>
          <a:xfrm>
            <a:off x="1371600" y="2560320"/>
            <a:ext cx="3200400" cy="1371600"/>
          </a:xfrm>
          <a:prstGeom prst="rect">
            <a:avLst/>
          </a:prstGeom>
          <a:solidFill>
            <a:srgbClr val="F0F2F5"/>
          </a:solidFill>
          <a:ln/>
          <a:effectLst>
            <a:outerShdw sx="100000" sy="100000" kx="0" ky="0" algn="bl" rotWithShape="0" blurRad="50800" dist="12700" dir="8100000">
              <a:srgbClr val="000000">
                <a:alpha val="8000"/>
              </a:srgbClr>
            </a:outerShdw>
          </a:effectLst>
        </p:spPr>
      </p:sp>
      <p:sp>
        <p:nvSpPr>
          <p:cNvPr id="17" name="Text 15"/>
          <p:cNvSpPr/>
          <p:nvPr/>
        </p:nvSpPr>
        <p:spPr>
          <a:xfrm>
            <a:off x="1508760" y="2651760"/>
            <a:ext cx="2926080" cy="320040"/>
          </a:xfrm>
          <a:prstGeom prst="rect">
            <a:avLst/>
          </a:prstGeom>
          <a:noFill/>
          <a:ln/>
        </p:spPr>
        <p:txBody>
          <a:bodyPr wrap="square" lIns="0" tIns="0" rIns="0" bIns="0" rtlCol="0" anchor="ctr"/>
          <a:lstStyle/>
          <a:p>
            <a:pPr indent="0" marL="0">
              <a:buNone/>
            </a:pPr>
            <a:r>
              <a:rPr lang="en-US" sz="1200" b="1" dirty="0">
                <a:solidFill>
                  <a:srgbClr val="06418C"/>
                </a:solidFill>
                <a:latin typeface="Arial" pitchFamily="34" charset="0"/>
                <a:ea typeface="Arial" pitchFamily="34" charset="-122"/>
                <a:cs typeface="Arial" pitchFamily="34" charset="-120"/>
              </a:rPr>
              <a:t>STANDARD PARTNERSHIP</a:t>
            </a:r>
            <a:endParaRPr lang="en-US" sz="1200" dirty="0"/>
          </a:p>
        </p:txBody>
      </p:sp>
      <p:sp>
        <p:nvSpPr>
          <p:cNvPr id="18" name="Text 16"/>
          <p:cNvSpPr/>
          <p:nvPr/>
        </p:nvSpPr>
        <p:spPr>
          <a:xfrm>
            <a:off x="1508760" y="3017520"/>
            <a:ext cx="2926080" cy="777240"/>
          </a:xfrm>
          <a:prstGeom prst="rect">
            <a:avLst/>
          </a:prstGeom>
          <a:noFill/>
          <a:ln/>
        </p:spPr>
        <p:txBody>
          <a:bodyPr wrap="square" lIns="0" tIns="0" rIns="0" bIns="0" rtlCol="0" anchor="ctr"/>
          <a:lstStyle/>
          <a:p>
            <a:pPr indent="0" marL="0">
              <a:lnSpc>
                <a:spcPct val="120000"/>
              </a:lnSpc>
              <a:buNone/>
            </a:pPr>
            <a:r>
              <a:rPr lang="en-US" sz="1100" dirty="0">
                <a:solidFill>
                  <a:srgbClr val="4A4A4A"/>
                </a:solidFill>
                <a:latin typeface="Arial" pitchFamily="34" charset="0"/>
                <a:ea typeface="Arial" pitchFamily="34" charset="-122"/>
                <a:cs typeface="Arial" pitchFamily="34" charset="-120"/>
              </a:rPr>
              <a:t>System integration, deployment, training</a:t>
            </a:r>
            <a:endParaRPr lang="en-US" sz="1100" dirty="0"/>
          </a:p>
        </p:txBody>
      </p:sp>
      <p:sp>
        <p:nvSpPr>
          <p:cNvPr id="19" name="Shape 17"/>
          <p:cNvSpPr/>
          <p:nvPr/>
        </p:nvSpPr>
        <p:spPr>
          <a:xfrm>
            <a:off x="4663440" y="2560320"/>
            <a:ext cx="3200400" cy="1371600"/>
          </a:xfrm>
          <a:prstGeom prst="rect">
            <a:avLst/>
          </a:prstGeom>
          <a:solidFill>
            <a:srgbClr val="0891B2"/>
          </a:solidFill>
          <a:ln/>
          <a:effectLst>
            <a:outerShdw sx="100000" sy="100000" kx="0" ky="0" algn="bl" rotWithShape="0" blurRad="50800" dist="12700" dir="8100000">
              <a:srgbClr val="000000">
                <a:alpha val="8000"/>
              </a:srgbClr>
            </a:outerShdw>
          </a:effectLst>
        </p:spPr>
      </p:sp>
      <p:sp>
        <p:nvSpPr>
          <p:cNvPr id="20" name="Text 18"/>
          <p:cNvSpPr/>
          <p:nvPr/>
        </p:nvSpPr>
        <p:spPr>
          <a:xfrm>
            <a:off x="4800600" y="2651760"/>
            <a:ext cx="2926080" cy="3200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LICENSE / BUY</a:t>
            </a:r>
            <a:endParaRPr lang="en-US" sz="1200" dirty="0"/>
          </a:p>
        </p:txBody>
      </p:sp>
      <p:sp>
        <p:nvSpPr>
          <p:cNvPr id="21" name="Text 19"/>
          <p:cNvSpPr/>
          <p:nvPr/>
        </p:nvSpPr>
        <p:spPr>
          <a:xfrm>
            <a:off x="4800600" y="3017520"/>
            <a:ext cx="2926080" cy="777240"/>
          </a:xfrm>
          <a:prstGeom prst="rect">
            <a:avLst/>
          </a:prstGeom>
          <a:noFill/>
          <a:ln/>
        </p:spPr>
        <p:txBody>
          <a:bodyPr wrap="square" lIns="0" tIns="0" rIns="0" bIns="0" rtlCol="0" anchor="ctr"/>
          <a:lstStyle/>
          <a:p>
            <a:pPr indent="0" marL="0">
              <a:lnSpc>
                <a:spcPct val="120000"/>
              </a:lnSpc>
              <a:buNone/>
            </a:pPr>
            <a:r>
              <a:rPr lang="en-US" sz="1100" dirty="0">
                <a:solidFill>
                  <a:srgbClr val="D0D8E8"/>
                </a:solidFill>
                <a:latin typeface="Arial" pitchFamily="34" charset="0"/>
                <a:ea typeface="Arial" pitchFamily="34" charset="-122"/>
                <a:cs typeface="Arial" pitchFamily="34" charset="-120"/>
              </a:rPr>
              <a:t>Foundation models, data platform,</a:t>
            </a:r>
            <a:endParaRPr lang="en-US" sz="1100" dirty="0"/>
          </a:p>
          <a:p>
            <a:pPr indent="0" marL="0">
              <a:lnSpc>
                <a:spcPct val="120000"/>
              </a:lnSpc>
              <a:buNone/>
            </a:pPr>
            <a:r>
              <a:rPr lang="en-US" sz="1100" dirty="0">
                <a:solidFill>
                  <a:srgbClr val="D0D8E8"/>
                </a:solidFill>
                <a:latin typeface="Arial" pitchFamily="34" charset="0"/>
                <a:ea typeface="Arial" pitchFamily="34" charset="-122"/>
                <a:cs typeface="Arial" pitchFamily="34" charset="-120"/>
              </a:rPr>
              <a:t>EDA tools, productivity suite</a:t>
            </a:r>
            <a:endParaRPr lang="en-US" sz="1100" dirty="0"/>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Vendor sprawl is a transformation killer.</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43</a:t>
            </a:r>
            <a:endParaRPr lang="en-US" sz="700" dirty="0"/>
          </a:p>
        </p:txBody>
      </p:sp>
      <p:sp>
        <p:nvSpPr>
          <p:cNvPr id="8" name="Shape 6"/>
          <p:cNvSpPr/>
          <p:nvPr/>
        </p:nvSpPr>
        <p:spPr>
          <a:xfrm>
            <a:off x="640080" y="1188720"/>
            <a:ext cx="457200" cy="457200"/>
          </a:xfrm>
          <a:prstGeom prst="ellipse">
            <a:avLst/>
          </a:prstGeom>
          <a:solidFill>
            <a:srgbClr val="06418C"/>
          </a:solidFill>
          <a:ln/>
        </p:spPr>
      </p:sp>
      <p:sp>
        <p:nvSpPr>
          <p:cNvPr id="9" name="Text 7"/>
          <p:cNvSpPr/>
          <p:nvPr/>
        </p:nvSpPr>
        <p:spPr>
          <a:xfrm>
            <a:off x="640080" y="118872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01</a:t>
            </a:r>
            <a:endParaRPr lang="en-US" sz="1600" dirty="0"/>
          </a:p>
        </p:txBody>
      </p:sp>
      <p:sp>
        <p:nvSpPr>
          <p:cNvPr id="10" name="Text 8"/>
          <p:cNvSpPr/>
          <p:nvPr/>
        </p:nvSpPr>
        <p:spPr>
          <a:xfrm>
            <a:off x="1280160" y="1097280"/>
            <a:ext cx="2286000" cy="365760"/>
          </a:xfrm>
          <a:prstGeom prst="rect">
            <a:avLst/>
          </a:prstGeom>
          <a:noFill/>
          <a:ln/>
        </p:spPr>
        <p:txBody>
          <a:bodyPr wrap="square" lIns="0" tIns="0" rIns="0" bIns="0" rtlCol="0" anchor="ctr"/>
          <a:lstStyle/>
          <a:p>
            <a:pPr indent="0" marL="0">
              <a:buNone/>
            </a:pPr>
            <a:r>
              <a:rPr lang="en-US" sz="1500" b="1" dirty="0">
                <a:solidFill>
                  <a:srgbClr val="06418C"/>
                </a:solidFill>
                <a:latin typeface="Arial" pitchFamily="34" charset="0"/>
                <a:ea typeface="Arial" pitchFamily="34" charset="-122"/>
                <a:cs typeface="Arial" pitchFamily="34" charset="-120"/>
              </a:rPr>
              <a:t>Platform Discipline</a:t>
            </a:r>
            <a:endParaRPr lang="en-US" sz="1500" dirty="0"/>
          </a:p>
        </p:txBody>
      </p:sp>
      <p:sp>
        <p:nvSpPr>
          <p:cNvPr id="11" name="Text 9"/>
          <p:cNvSpPr/>
          <p:nvPr/>
        </p:nvSpPr>
        <p:spPr>
          <a:xfrm>
            <a:off x="3657600" y="1097280"/>
            <a:ext cx="4846320" cy="731520"/>
          </a:xfrm>
          <a:prstGeom prst="rect">
            <a:avLst/>
          </a:prstGeom>
          <a:noFill/>
          <a:ln/>
        </p:spPr>
        <p:txBody>
          <a:bodyPr wrap="square" lIns="0" tIns="0" rIns="0" bIns="0" rtlCol="0" anchor="ctr"/>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One data platform. One AI governance layer. Integration standards all tools must meet. No shadow AI.</a:t>
            </a:r>
            <a:endParaRPr lang="en-US" sz="1200" dirty="0"/>
          </a:p>
        </p:txBody>
      </p:sp>
      <p:sp>
        <p:nvSpPr>
          <p:cNvPr id="12" name="Shape 10"/>
          <p:cNvSpPr/>
          <p:nvPr/>
        </p:nvSpPr>
        <p:spPr>
          <a:xfrm>
            <a:off x="640080" y="2148840"/>
            <a:ext cx="457200" cy="457200"/>
          </a:xfrm>
          <a:prstGeom prst="ellipse">
            <a:avLst/>
          </a:prstGeom>
          <a:solidFill>
            <a:srgbClr val="06418C"/>
          </a:solidFill>
          <a:ln/>
        </p:spPr>
      </p:sp>
      <p:sp>
        <p:nvSpPr>
          <p:cNvPr id="13" name="Text 11"/>
          <p:cNvSpPr/>
          <p:nvPr/>
        </p:nvSpPr>
        <p:spPr>
          <a:xfrm>
            <a:off x="640080" y="214884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02</a:t>
            </a:r>
            <a:endParaRPr lang="en-US" sz="1600" dirty="0"/>
          </a:p>
        </p:txBody>
      </p:sp>
      <p:sp>
        <p:nvSpPr>
          <p:cNvPr id="14" name="Text 12"/>
          <p:cNvSpPr/>
          <p:nvPr/>
        </p:nvSpPr>
        <p:spPr>
          <a:xfrm>
            <a:off x="1280160" y="2057400"/>
            <a:ext cx="2286000" cy="365760"/>
          </a:xfrm>
          <a:prstGeom prst="rect">
            <a:avLst/>
          </a:prstGeom>
          <a:noFill/>
          <a:ln/>
        </p:spPr>
        <p:txBody>
          <a:bodyPr wrap="square" lIns="0" tIns="0" rIns="0" bIns="0" rtlCol="0" anchor="ctr"/>
          <a:lstStyle/>
          <a:p>
            <a:pPr indent="0" marL="0">
              <a:buNone/>
            </a:pPr>
            <a:r>
              <a:rPr lang="en-US" sz="1500" b="1" dirty="0">
                <a:solidFill>
                  <a:srgbClr val="06418C"/>
                </a:solidFill>
                <a:latin typeface="Arial" pitchFamily="34" charset="0"/>
                <a:ea typeface="Arial" pitchFamily="34" charset="-122"/>
                <a:cs typeface="Arial" pitchFamily="34" charset="-120"/>
              </a:rPr>
              <a:t>IP Protection</a:t>
            </a:r>
            <a:endParaRPr lang="en-US" sz="1500" dirty="0"/>
          </a:p>
        </p:txBody>
      </p:sp>
      <p:sp>
        <p:nvSpPr>
          <p:cNvPr id="15" name="Text 13"/>
          <p:cNvSpPr/>
          <p:nvPr/>
        </p:nvSpPr>
        <p:spPr>
          <a:xfrm>
            <a:off x="3657600" y="2057400"/>
            <a:ext cx="4846320" cy="731520"/>
          </a:xfrm>
          <a:prstGeom prst="rect">
            <a:avLst/>
          </a:prstGeom>
          <a:noFill/>
          <a:ln/>
        </p:spPr>
        <p:txBody>
          <a:bodyPr wrap="square" lIns="0" tIns="0" rIns="0" bIns="0" rtlCol="0" anchor="ctr"/>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Anything built on proprietary data stays proprietary. Contractual protections on training, handling, and output ownership. Non-negotiable.</a:t>
            </a:r>
            <a:endParaRPr lang="en-US" sz="1200" dirty="0"/>
          </a:p>
        </p:txBody>
      </p:sp>
      <p:sp>
        <p:nvSpPr>
          <p:cNvPr id="16" name="Shape 14"/>
          <p:cNvSpPr/>
          <p:nvPr/>
        </p:nvSpPr>
        <p:spPr>
          <a:xfrm>
            <a:off x="640080" y="3108960"/>
            <a:ext cx="457200" cy="457200"/>
          </a:xfrm>
          <a:prstGeom prst="ellipse">
            <a:avLst/>
          </a:prstGeom>
          <a:solidFill>
            <a:srgbClr val="06418C"/>
          </a:solidFill>
          <a:ln/>
        </p:spPr>
      </p:sp>
      <p:sp>
        <p:nvSpPr>
          <p:cNvPr id="17" name="Text 15"/>
          <p:cNvSpPr/>
          <p:nvPr/>
        </p:nvSpPr>
        <p:spPr>
          <a:xfrm>
            <a:off x="64008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03</a:t>
            </a:r>
            <a:endParaRPr lang="en-US" sz="1600" dirty="0"/>
          </a:p>
        </p:txBody>
      </p:sp>
      <p:sp>
        <p:nvSpPr>
          <p:cNvPr id="18" name="Text 16"/>
          <p:cNvSpPr/>
          <p:nvPr/>
        </p:nvSpPr>
        <p:spPr>
          <a:xfrm>
            <a:off x="1280160" y="3017520"/>
            <a:ext cx="2286000" cy="365760"/>
          </a:xfrm>
          <a:prstGeom prst="rect">
            <a:avLst/>
          </a:prstGeom>
          <a:noFill/>
          <a:ln/>
        </p:spPr>
        <p:txBody>
          <a:bodyPr wrap="square" lIns="0" tIns="0" rIns="0" bIns="0" rtlCol="0" anchor="ctr"/>
          <a:lstStyle/>
          <a:p>
            <a:pPr indent="0" marL="0">
              <a:buNone/>
            </a:pPr>
            <a:r>
              <a:rPr lang="en-US" sz="1500" b="1" dirty="0">
                <a:solidFill>
                  <a:srgbClr val="06418C"/>
                </a:solidFill>
                <a:latin typeface="Arial" pitchFamily="34" charset="0"/>
                <a:ea typeface="Arial" pitchFamily="34" charset="-122"/>
                <a:cs typeface="Arial" pitchFamily="34" charset="-120"/>
              </a:rPr>
              <a:t>No Single-Vendor Lock-in</a:t>
            </a:r>
            <a:endParaRPr lang="en-US" sz="1500" dirty="0"/>
          </a:p>
        </p:txBody>
      </p:sp>
      <p:sp>
        <p:nvSpPr>
          <p:cNvPr id="19" name="Text 17"/>
          <p:cNvSpPr/>
          <p:nvPr/>
        </p:nvSpPr>
        <p:spPr>
          <a:xfrm>
            <a:off x="3657600" y="3017520"/>
            <a:ext cx="4846320" cy="731520"/>
          </a:xfrm>
          <a:prstGeom prst="rect">
            <a:avLst/>
          </a:prstGeom>
          <a:noFill/>
          <a:ln/>
        </p:spPr>
        <p:txBody>
          <a:bodyPr wrap="square" lIns="0" tIns="0" rIns="0" bIns="0" rtlCol="0" anchor="ctr"/>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Multi-vendor optionality for AI models, cloud, and key tools. Evaluate continuously on results, not relationships.</a:t>
            </a:r>
            <a:endParaRPr lang="en-US" sz="1200" dirty="0"/>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42D5E"/>
        </a:solidFill>
        <a:effectLst/>
      </p:bgPr>
    </p:bg>
    <p:spTree>
      <p:nvGrpSpPr>
        <p:cNvPr id="1" name=""/>
        <p:cNvGrpSpPr/>
        <p:nvPr/>
      </p:nvGrpSpPr>
      <p:grpSpPr/>
      <p:sp>
        <p:nvSpPr>
          <p:cNvPr id="2" name="Shape 0"/>
          <p:cNvSpPr/>
          <p:nvPr/>
        </p:nvSpPr>
        <p:spPr>
          <a:xfrm>
            <a:off x="0" y="0"/>
            <a:ext cx="9144000" cy="36576"/>
          </a:xfrm>
          <a:prstGeom prst="rect">
            <a:avLst/>
          </a:prstGeom>
          <a:solidFill>
            <a:srgbClr val="4471A9"/>
          </a:solidFill>
          <a:ln/>
        </p:spPr>
      </p:sp>
      <p:sp>
        <p:nvSpPr>
          <p:cNvPr id="3" name="Text 1"/>
          <p:cNvSpPr/>
          <p:nvPr/>
        </p:nvSpPr>
        <p:spPr>
          <a:xfrm>
            <a:off x="640080" y="1371600"/>
            <a:ext cx="1097280" cy="731520"/>
          </a:xfrm>
          <a:prstGeom prst="rect">
            <a:avLst/>
          </a:prstGeom>
          <a:noFill/>
          <a:ln/>
        </p:spPr>
        <p:txBody>
          <a:bodyPr wrap="square" lIns="0" tIns="0" rIns="0" bIns="0" rtlCol="0" anchor="ctr"/>
          <a:lstStyle/>
          <a:p>
            <a:pPr indent="0" marL="0">
              <a:buNone/>
            </a:pPr>
            <a:r>
              <a:rPr lang="en-US" sz="4800" b="1" dirty="0">
                <a:solidFill>
                  <a:srgbClr val="4471A9"/>
                </a:solidFill>
                <a:latin typeface="Arial" pitchFamily="34" charset="0"/>
                <a:ea typeface="Arial" pitchFamily="34" charset="-122"/>
                <a:cs typeface="Arial" pitchFamily="34" charset="-120"/>
              </a:rPr>
              <a:t>08</a:t>
            </a:r>
            <a:endParaRPr lang="en-US" sz="4800" dirty="0"/>
          </a:p>
        </p:txBody>
      </p:sp>
      <p:sp>
        <p:nvSpPr>
          <p:cNvPr id="4" name="Text 2"/>
          <p:cNvSpPr/>
          <p:nvPr/>
        </p:nvSpPr>
        <p:spPr>
          <a:xfrm>
            <a:off x="640080" y="2103120"/>
            <a:ext cx="7315200" cy="914400"/>
          </a:xfrm>
          <a:prstGeom prst="rect">
            <a:avLst/>
          </a:prstGeom>
          <a:noFill/>
          <a:ln/>
        </p:spPr>
        <p:txBody>
          <a:bodyPr wrap="square" lIns="0" tIns="0" rIns="0" bIns="0" rtlCol="0" anchor="ctr"/>
          <a:lstStyle/>
          <a:p>
            <a:pPr indent="0" marL="0">
              <a:buNone/>
            </a:pPr>
            <a:r>
              <a:rPr lang="en-US" sz="3600" b="1" spc="300" kern="0" dirty="0">
                <a:solidFill>
                  <a:srgbClr val="FFFFFF"/>
                </a:solidFill>
                <a:latin typeface="Arial" pitchFamily="34" charset="0"/>
                <a:ea typeface="Arial" pitchFamily="34" charset="-122"/>
                <a:cs typeface="Arial" pitchFamily="34" charset="-120"/>
              </a:rPr>
              <a:t>COMPETITIVE LANDSCAPE</a:t>
            </a:r>
            <a:endParaRPr lang="en-US" sz="3600" dirty="0"/>
          </a:p>
        </p:txBody>
      </p:sp>
      <p:sp>
        <p:nvSpPr>
          <p:cNvPr id="5" name="Text 3"/>
          <p:cNvSpPr/>
          <p:nvPr/>
        </p:nvSpPr>
        <p:spPr>
          <a:xfrm>
            <a:off x="640080" y="3017520"/>
            <a:ext cx="6400800" cy="548640"/>
          </a:xfrm>
          <a:prstGeom prst="rect">
            <a:avLst/>
          </a:prstGeom>
          <a:noFill/>
          <a:ln/>
        </p:spPr>
        <p:txBody>
          <a:bodyPr wrap="square" rtlCol="0" anchor="ctr"/>
          <a:lstStyle/>
          <a:p>
            <a:pPr indent="0" marL="0">
              <a:buNone/>
            </a:pPr>
            <a:r>
              <a:rPr lang="en-US" sz="1600" dirty="0">
                <a:solidFill>
                  <a:srgbClr val="4471A9"/>
                </a:solidFill>
                <a:latin typeface="Arial" pitchFamily="34" charset="0"/>
                <a:ea typeface="Arial" pitchFamily="34" charset="-122"/>
                <a:cs typeface="Arial" pitchFamily="34" charset="-120"/>
              </a:rPr>
              <a:t>Who is ahead, who is behind, and where the opportunity is</a:t>
            </a:r>
            <a:endParaRPr lang="en-US" sz="1600" dirty="0"/>
          </a:p>
        </p:txBody>
      </p:sp>
      <p:sp>
        <p:nvSpPr>
          <p:cNvPr id="6" name="Shape 4"/>
          <p:cNvSpPr/>
          <p:nvPr/>
        </p:nvSpPr>
        <p:spPr>
          <a:xfrm>
            <a:off x="0" y="5106924"/>
            <a:ext cx="9144000" cy="36576"/>
          </a:xfrm>
          <a:prstGeom prst="rect">
            <a:avLst/>
          </a:prstGeom>
          <a:solidFill>
            <a:srgbClr val="993399"/>
          </a:solidFill>
          <a:ln/>
        </p:spPr>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Competitive context: verified and sourced.</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44</a:t>
            </a:r>
            <a:endParaRPr lang="en-US" sz="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188720"/>
                <a:gridCol w="1188720"/>
                <a:gridCol w="1188720"/>
                <a:gridCol w="4846320"/>
              </a:tblGrid>
              <a:tr h="329184">
                <a:tc>
                  <a:txBody>
                    <a:bodyPr/>
                    <a:lstStyle/>
                    <a:p>
                      <a:pPr indent="0" marL="0">
                        <a:buNone/>
                      </a:pPr>
                      <a:r>
                        <a:rPr lang="en-US" sz="1000" b="1" dirty="0">
                          <a:solidFill>
                            <a:srgbClr val="FFFFFF"/>
                          </a:solidFill>
                          <a:latin typeface="Arial" pitchFamily="34" charset="0"/>
                          <a:ea typeface="Arial" pitchFamily="34" charset="-122"/>
                          <a:cs typeface="Arial" pitchFamily="34" charset="-120"/>
                        </a:rPr>
                        <a:t>Company</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42D5E"/>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AI in Products</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42D5E"/>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Internal AI</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42D5E"/>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Evidence</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042D5E"/>
                    </a:solidFill>
                  </a:tcPr>
                </a:tc>
              </a:tr>
              <a:tr h="329184">
                <a:tc>
                  <a:txBody>
                    <a:bodyPr/>
                    <a:lstStyle/>
                    <a:p>
                      <a:pPr indent="0" marL="0">
                        <a:buNone/>
                      </a:pPr>
                      <a:r>
                        <a:rPr lang="en-US" sz="1000" b="1" dirty="0">
                          <a:solidFill>
                            <a:srgbClr val="000000"/>
                          </a:solidFill>
                          <a:latin typeface="Arial" pitchFamily="34" charset="0"/>
                          <a:ea typeface="Arial" pitchFamily="34" charset="-122"/>
                          <a:cs typeface="Arial" pitchFamily="34" charset="-120"/>
                        </a:rPr>
                        <a:t>NVIDIA</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ChipNeMo, internal AI infra. Public.</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000000"/>
                          </a:solidFill>
                          <a:latin typeface="Arial" pitchFamily="34" charset="0"/>
                          <a:ea typeface="Arial" pitchFamily="34" charset="-122"/>
                          <a:cs typeface="Arial" pitchFamily="34" charset="-120"/>
                        </a:rPr>
                        <a:t>Siemens EDA</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9 copilots, Teamcenter AI. Announced.</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r>
              <a:tr h="329184">
                <a:tc>
                  <a:txBody>
                    <a:bodyPr/>
                    <a:lstStyle/>
                    <a:p>
                      <a:pPr indent="0" marL="0">
                        <a:buNone/>
                      </a:pPr>
                      <a:r>
                        <a:rPr lang="en-US" sz="1000" b="1" dirty="0">
                          <a:solidFill>
                            <a:srgbClr val="000000"/>
                          </a:solidFill>
                          <a:latin typeface="Arial" pitchFamily="34" charset="0"/>
                          <a:ea typeface="Arial" pitchFamily="34" charset="-122"/>
                          <a:cs typeface="Arial" pitchFamily="34" charset="-120"/>
                        </a:rPr>
                        <a:t>NXP</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$307M Kinara acq. SEC filing.</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000000"/>
                          </a:solidFill>
                          <a:latin typeface="Arial" pitchFamily="34" charset="0"/>
                          <a:ea typeface="Arial" pitchFamily="34" charset="-122"/>
                          <a:cs typeface="Arial" pitchFamily="34" charset="-120"/>
                        </a:rPr>
                        <a:t>Infineon</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●●●½</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GenAI chatbot, 100+ apps. Verified.</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r>
              <a:tr h="329184">
                <a:tc>
                  <a:txBody>
                    <a:bodyPr/>
                    <a:lstStyle/>
                    <a:p>
                      <a:pPr indent="0" marL="0">
                        <a:buNone/>
                      </a:pPr>
                      <a:r>
                        <a:rPr lang="en-US" sz="1000" b="1" dirty="0">
                          <a:solidFill>
                            <a:srgbClr val="000000"/>
                          </a:solidFill>
                          <a:latin typeface="Arial" pitchFamily="34" charset="0"/>
                          <a:ea typeface="Arial" pitchFamily="34" charset="-122"/>
                          <a:cs typeface="Arial" pitchFamily="34" charset="-120"/>
                        </a:rPr>
                        <a:t>TI</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 (opaque)</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Strong product AI. Internal DX not visible.</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000000"/>
                          </a:solidFill>
                          <a:latin typeface="Arial" pitchFamily="34" charset="0"/>
                          <a:ea typeface="Arial" pitchFamily="34" charset="-122"/>
                          <a:cs typeface="Arial" pitchFamily="34" charset="-120"/>
                        </a:rPr>
                        <a:t>STMicro</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●●½</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NPU MCU, manufacturing robotics.</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0F2F5"/>
                    </a:solidFill>
                  </a:tcPr>
                </a:tc>
              </a:tr>
              <a:tr h="329184">
                <a:tc>
                  <a:txBody>
                    <a:bodyPr/>
                    <a:lstStyle/>
                    <a:p>
                      <a:pPr indent="0" marL="0">
                        <a:buNone/>
                      </a:pPr>
                      <a:r>
                        <a:rPr lang="en-US" sz="1000" b="1" dirty="0">
                          <a:solidFill>
                            <a:srgbClr val="06418C"/>
                          </a:solidFill>
                          <a:latin typeface="Arial" pitchFamily="34" charset="0"/>
                          <a:ea typeface="Arial" pitchFamily="34" charset="-122"/>
                          <a:cs typeface="Arial" pitchFamily="34" charset="-120"/>
                        </a:rPr>
                        <a:t>Renesas</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6418C"/>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6418C"/>
                          </a:solidFill>
                          <a:latin typeface="Arial" pitchFamily="34" charset="0"/>
                          <a:ea typeface="Arial" pitchFamily="34" charset="-122"/>
                          <a:cs typeface="Arial" pitchFamily="34" charset="-120"/>
                        </a:rPr>
                        <a:t>●● → ●●●●</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000" b="1" dirty="0">
                          <a:solidFill>
                            <a:srgbClr val="06418C"/>
                          </a:solidFill>
                          <a:latin typeface="Arial" pitchFamily="34" charset="0"/>
                          <a:ea typeface="Arial" pitchFamily="34" charset="-122"/>
                          <a:cs typeface="Arial" pitchFamily="34" charset="-120"/>
                        </a:rPr>
                        <a:t>Platform pivot underway. This deck.</a:t>
                      </a:r>
                      <a:endParaRPr lang="en-US" sz="1000" dirty="0">
                        <a:latin typeface="Arial" charset="0"/>
                        <a:ea typeface="Arial" charset="0"/>
                        <a:cs typeface="Arial"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bl>
          </a:graphicData>
        </a:graphic>
      </p:graphicFrame>
      <p:sp>
        <p:nvSpPr>
          <p:cNvPr id="9" name="Text 6"/>
          <p:cNvSpPr/>
          <p:nvPr/>
        </p:nvSpPr>
        <p:spPr>
          <a:xfrm>
            <a:off x="640080" y="3840480"/>
            <a:ext cx="7863840" cy="228600"/>
          </a:xfrm>
          <a:prstGeom prst="rect">
            <a:avLst/>
          </a:prstGeom>
          <a:noFill/>
          <a:ln/>
        </p:spPr>
        <p:txBody>
          <a:bodyPr wrap="square" lIns="0" tIns="0" rIns="0" bIns="0" rtlCol="0" anchor="ctr"/>
          <a:lstStyle/>
          <a:p>
            <a:pPr indent="0" marL="0">
              <a:buNone/>
            </a:pPr>
            <a:r>
              <a:rPr lang="en-US" sz="900" dirty="0">
                <a:solidFill>
                  <a:srgbClr val="9D9D9D"/>
                </a:solidFill>
                <a:latin typeface="Arial" pitchFamily="34" charset="0"/>
                <a:ea typeface="Arial" pitchFamily="34" charset="-122"/>
                <a:cs typeface="Arial" pitchFamily="34" charset="-120"/>
              </a:rPr>
              <a:t>⚠ Ratings based on public evidence. Where evidence unavailable, rated conservatively.</a:t>
            </a:r>
            <a:endParaRPr lang="en-US" sz="900" dirty="0"/>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600" b="1" dirty="0">
                <a:solidFill>
                  <a:srgbClr val="06418C"/>
                </a:solidFill>
                <a:latin typeface="Arial" pitchFamily="34" charset="0"/>
                <a:ea typeface="Arial" pitchFamily="34" charset="-122"/>
                <a:cs typeface="Arial" pitchFamily="34" charset="-120"/>
              </a:rPr>
              <a:t>John Deere: the playbook.</a:t>
            </a:r>
            <a:endParaRPr lang="en-US" sz="26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45</a:t>
            </a:r>
            <a:endParaRPr lang="en-US" sz="700" dirty="0"/>
          </a:p>
        </p:txBody>
      </p:sp>
      <p:sp>
        <p:nvSpPr>
          <p:cNvPr id="8" name="Text 6"/>
          <p:cNvSpPr/>
          <p:nvPr/>
        </p:nvSpPr>
        <p:spPr>
          <a:xfrm>
            <a:off x="640080" y="822960"/>
            <a:ext cx="7863840" cy="320040"/>
          </a:xfrm>
          <a:prstGeom prst="rect">
            <a:avLst/>
          </a:prstGeom>
          <a:noFill/>
          <a:ln/>
        </p:spPr>
        <p:txBody>
          <a:bodyPr wrap="square" lIns="0" tIns="0" rIns="0" bIns="0" rtlCol="0" anchor="ctr"/>
          <a:lstStyle/>
          <a:p>
            <a:pPr indent="0" marL="0">
              <a:buNone/>
            </a:pPr>
            <a:r>
              <a:rPr lang="en-US" sz="1300" i="1" dirty="0">
                <a:solidFill>
                  <a:srgbClr val="4471A9"/>
                </a:solidFill>
                <a:latin typeface="Arial" pitchFamily="34" charset="0"/>
                <a:ea typeface="Arial" pitchFamily="34" charset="-122"/>
                <a:cs typeface="Arial" pitchFamily="34" charset="-120"/>
              </a:rPr>
              <a:t>A 188-year-old equipment company that became an AI-native technology platform.</a:t>
            </a:r>
            <a:endParaRPr lang="en-US" sz="1300" dirty="0"/>
          </a:p>
        </p:txBody>
      </p:sp>
      <p:sp>
        <p:nvSpPr>
          <p:cNvPr id="9" name="Shape 7"/>
          <p:cNvSpPr/>
          <p:nvPr/>
        </p:nvSpPr>
        <p:spPr>
          <a:xfrm>
            <a:off x="457200" y="1234440"/>
            <a:ext cx="1508760" cy="868680"/>
          </a:xfrm>
          <a:prstGeom prst="rect">
            <a:avLst/>
          </a:prstGeom>
          <a:solidFill>
            <a:srgbClr val="06418C"/>
          </a:solidFill>
          <a:ln/>
          <a:effectLst>
            <a:outerShdw sx="100000" sy="100000" kx="0" ky="0" algn="bl" rotWithShape="0" blurRad="50800" dist="12700" dir="8100000">
              <a:srgbClr val="000000">
                <a:alpha val="8000"/>
              </a:srgbClr>
            </a:outerShdw>
          </a:effectLst>
        </p:spPr>
      </p:sp>
      <p:sp>
        <p:nvSpPr>
          <p:cNvPr id="10" name="Text 8"/>
          <p:cNvSpPr/>
          <p:nvPr/>
        </p:nvSpPr>
        <p:spPr>
          <a:xfrm>
            <a:off x="457200" y="1280160"/>
            <a:ext cx="150876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1M+</a:t>
            </a:r>
            <a:endParaRPr lang="en-US" sz="2200" dirty="0"/>
          </a:p>
        </p:txBody>
      </p:sp>
      <p:sp>
        <p:nvSpPr>
          <p:cNvPr id="11" name="Text 9"/>
          <p:cNvSpPr/>
          <p:nvPr/>
        </p:nvSpPr>
        <p:spPr>
          <a:xfrm>
            <a:off x="457200" y="1691640"/>
            <a:ext cx="1508760" cy="365760"/>
          </a:xfrm>
          <a:prstGeom prst="rect">
            <a:avLst/>
          </a:prstGeom>
          <a:noFill/>
          <a:ln/>
        </p:spPr>
        <p:txBody>
          <a:bodyPr wrap="square" lIns="0" tIns="0" rIns="0" bIns="0" rtlCol="0" anchor="ctr"/>
          <a:lstStyle/>
          <a:p>
            <a:pPr algn="ctr" indent="0" marL="0">
              <a:buNone/>
            </a:pPr>
            <a:r>
              <a:rPr lang="en-US" sz="900" dirty="0">
                <a:solidFill>
                  <a:srgbClr val="B0C4DE"/>
                </a:solidFill>
                <a:latin typeface="Arial" pitchFamily="34" charset="0"/>
                <a:ea typeface="Arial" pitchFamily="34" charset="-122"/>
                <a:cs typeface="Arial" pitchFamily="34" charset="-120"/>
              </a:rPr>
              <a:t>Connected</a:t>
            </a:r>
            <a:endParaRPr lang="en-US" sz="900" dirty="0"/>
          </a:p>
          <a:p>
            <a:pPr algn="ctr" indent="0" marL="0">
              <a:buNone/>
            </a:pPr>
            <a:r>
              <a:rPr lang="en-US" sz="900" dirty="0">
                <a:solidFill>
                  <a:srgbClr val="B0C4DE"/>
                </a:solidFill>
                <a:latin typeface="Arial" pitchFamily="34" charset="0"/>
                <a:ea typeface="Arial" pitchFamily="34" charset="-122"/>
                <a:cs typeface="Arial" pitchFamily="34" charset="-120"/>
              </a:rPr>
              <a:t>machines</a:t>
            </a:r>
            <a:endParaRPr lang="en-US" sz="900" dirty="0"/>
          </a:p>
        </p:txBody>
      </p:sp>
      <p:sp>
        <p:nvSpPr>
          <p:cNvPr id="12" name="Shape 10"/>
          <p:cNvSpPr/>
          <p:nvPr/>
        </p:nvSpPr>
        <p:spPr>
          <a:xfrm>
            <a:off x="2148840" y="1234440"/>
            <a:ext cx="1508760" cy="868680"/>
          </a:xfrm>
          <a:prstGeom prst="rect">
            <a:avLst/>
          </a:prstGeom>
          <a:solidFill>
            <a:srgbClr val="06418C"/>
          </a:solidFill>
          <a:ln/>
          <a:effectLst>
            <a:outerShdw sx="100000" sy="100000" kx="0" ky="0" algn="bl" rotWithShape="0" blurRad="50800" dist="12700" dir="8100000">
              <a:srgbClr val="000000">
                <a:alpha val="8000"/>
              </a:srgbClr>
            </a:outerShdw>
          </a:effectLst>
        </p:spPr>
      </p:sp>
      <p:sp>
        <p:nvSpPr>
          <p:cNvPr id="13" name="Text 11"/>
          <p:cNvSpPr/>
          <p:nvPr/>
        </p:nvSpPr>
        <p:spPr>
          <a:xfrm>
            <a:off x="2148840" y="1280160"/>
            <a:ext cx="150876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85%</a:t>
            </a:r>
            <a:endParaRPr lang="en-US" sz="2200" dirty="0"/>
          </a:p>
        </p:txBody>
      </p:sp>
      <p:sp>
        <p:nvSpPr>
          <p:cNvPr id="14" name="Text 12"/>
          <p:cNvSpPr/>
          <p:nvPr/>
        </p:nvSpPr>
        <p:spPr>
          <a:xfrm>
            <a:off x="2148840" y="1691640"/>
            <a:ext cx="1508760" cy="365760"/>
          </a:xfrm>
          <a:prstGeom prst="rect">
            <a:avLst/>
          </a:prstGeom>
          <a:noFill/>
          <a:ln/>
        </p:spPr>
        <p:txBody>
          <a:bodyPr wrap="square" lIns="0" tIns="0" rIns="0" bIns="0" rtlCol="0" anchor="ctr"/>
          <a:lstStyle/>
          <a:p>
            <a:pPr algn="ctr" indent="0" marL="0">
              <a:buNone/>
            </a:pPr>
            <a:r>
              <a:rPr lang="en-US" sz="900" dirty="0">
                <a:solidFill>
                  <a:srgbClr val="B0C4DE"/>
                </a:solidFill>
                <a:latin typeface="Arial" pitchFamily="34" charset="0"/>
                <a:ea typeface="Arial" pitchFamily="34" charset="-122"/>
                <a:cs typeface="Arial" pitchFamily="34" charset="-120"/>
              </a:rPr>
              <a:t>Software</a:t>
            </a:r>
            <a:endParaRPr lang="en-US" sz="900" dirty="0"/>
          </a:p>
          <a:p>
            <a:pPr algn="ctr" indent="0" marL="0">
              <a:buNone/>
            </a:pPr>
            <a:r>
              <a:rPr lang="en-US" sz="900" dirty="0">
                <a:solidFill>
                  <a:srgbClr val="B0C4DE"/>
                </a:solidFill>
                <a:latin typeface="Arial" pitchFamily="34" charset="0"/>
                <a:ea typeface="Arial" pitchFamily="34" charset="-122"/>
                <a:cs typeface="Arial" pitchFamily="34" charset="-120"/>
              </a:rPr>
              <a:t>margins</a:t>
            </a:r>
            <a:endParaRPr lang="en-US" sz="900" dirty="0"/>
          </a:p>
        </p:txBody>
      </p:sp>
      <p:sp>
        <p:nvSpPr>
          <p:cNvPr id="15" name="Shape 13"/>
          <p:cNvSpPr/>
          <p:nvPr/>
        </p:nvSpPr>
        <p:spPr>
          <a:xfrm>
            <a:off x="3840480" y="1234440"/>
            <a:ext cx="1508760" cy="868680"/>
          </a:xfrm>
          <a:prstGeom prst="rect">
            <a:avLst/>
          </a:prstGeom>
          <a:solidFill>
            <a:srgbClr val="06418C"/>
          </a:solidFill>
          <a:ln/>
          <a:effectLst>
            <a:outerShdw sx="100000" sy="100000" kx="0" ky="0" algn="bl" rotWithShape="0" blurRad="50800" dist="12700" dir="8100000">
              <a:srgbClr val="000000">
                <a:alpha val="8000"/>
              </a:srgbClr>
            </a:outerShdw>
          </a:effectLst>
        </p:spPr>
      </p:sp>
      <p:sp>
        <p:nvSpPr>
          <p:cNvPr id="16" name="Text 14"/>
          <p:cNvSpPr/>
          <p:nvPr/>
        </p:nvSpPr>
        <p:spPr>
          <a:xfrm>
            <a:off x="3840480" y="1280160"/>
            <a:ext cx="150876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$670M+</a:t>
            </a:r>
            <a:endParaRPr lang="en-US" sz="2200" dirty="0"/>
          </a:p>
        </p:txBody>
      </p:sp>
      <p:sp>
        <p:nvSpPr>
          <p:cNvPr id="17" name="Text 15"/>
          <p:cNvSpPr/>
          <p:nvPr/>
        </p:nvSpPr>
        <p:spPr>
          <a:xfrm>
            <a:off x="3840480" y="1691640"/>
            <a:ext cx="1508760" cy="365760"/>
          </a:xfrm>
          <a:prstGeom prst="rect">
            <a:avLst/>
          </a:prstGeom>
          <a:noFill/>
          <a:ln/>
        </p:spPr>
        <p:txBody>
          <a:bodyPr wrap="square" lIns="0" tIns="0" rIns="0" bIns="0" rtlCol="0" anchor="ctr"/>
          <a:lstStyle/>
          <a:p>
            <a:pPr algn="ctr" indent="0" marL="0">
              <a:buNone/>
            </a:pPr>
            <a:r>
              <a:rPr lang="en-US" sz="900" dirty="0">
                <a:solidFill>
                  <a:srgbClr val="B0C4DE"/>
                </a:solidFill>
                <a:latin typeface="Arial" pitchFamily="34" charset="0"/>
                <a:ea typeface="Arial" pitchFamily="34" charset="-122"/>
                <a:cs typeface="Arial" pitchFamily="34" charset="-120"/>
              </a:rPr>
              <a:t>AI/autonomy</a:t>
            </a:r>
            <a:endParaRPr lang="en-US" sz="900" dirty="0"/>
          </a:p>
          <a:p>
            <a:pPr algn="ctr" indent="0" marL="0">
              <a:buNone/>
            </a:pPr>
            <a:r>
              <a:rPr lang="en-US" sz="900" dirty="0">
                <a:solidFill>
                  <a:srgbClr val="B0C4DE"/>
                </a:solidFill>
                <a:latin typeface="Arial" pitchFamily="34" charset="0"/>
                <a:ea typeface="Arial" pitchFamily="34" charset="-122"/>
                <a:cs typeface="Arial" pitchFamily="34" charset="-120"/>
              </a:rPr>
              <a:t>acquisitions</a:t>
            </a:r>
            <a:endParaRPr lang="en-US" sz="900" dirty="0"/>
          </a:p>
        </p:txBody>
      </p:sp>
      <p:sp>
        <p:nvSpPr>
          <p:cNvPr id="18" name="Shape 16"/>
          <p:cNvSpPr/>
          <p:nvPr/>
        </p:nvSpPr>
        <p:spPr>
          <a:xfrm>
            <a:off x="5532120" y="1234440"/>
            <a:ext cx="1508760" cy="868680"/>
          </a:xfrm>
          <a:prstGeom prst="rect">
            <a:avLst/>
          </a:prstGeom>
          <a:solidFill>
            <a:srgbClr val="06418C"/>
          </a:solidFill>
          <a:ln/>
          <a:effectLst>
            <a:outerShdw sx="100000" sy="100000" kx="0" ky="0" algn="bl" rotWithShape="0" blurRad="50800" dist="12700" dir="8100000">
              <a:srgbClr val="000000">
                <a:alpha val="8000"/>
              </a:srgbClr>
            </a:outerShdw>
          </a:effectLst>
        </p:spPr>
      </p:sp>
      <p:sp>
        <p:nvSpPr>
          <p:cNvPr id="19" name="Text 17"/>
          <p:cNvSpPr/>
          <p:nvPr/>
        </p:nvSpPr>
        <p:spPr>
          <a:xfrm>
            <a:off x="5532120" y="1280160"/>
            <a:ext cx="150876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165%</a:t>
            </a:r>
            <a:endParaRPr lang="en-US" sz="2200" dirty="0"/>
          </a:p>
        </p:txBody>
      </p:sp>
      <p:sp>
        <p:nvSpPr>
          <p:cNvPr id="20" name="Text 18"/>
          <p:cNvSpPr/>
          <p:nvPr/>
        </p:nvSpPr>
        <p:spPr>
          <a:xfrm>
            <a:off x="5532120" y="1691640"/>
            <a:ext cx="1508760" cy="365760"/>
          </a:xfrm>
          <a:prstGeom prst="rect">
            <a:avLst/>
          </a:prstGeom>
          <a:noFill/>
          <a:ln/>
        </p:spPr>
        <p:txBody>
          <a:bodyPr wrap="square" lIns="0" tIns="0" rIns="0" bIns="0" rtlCol="0" anchor="ctr"/>
          <a:lstStyle/>
          <a:p>
            <a:pPr algn="ctr" indent="0" marL="0">
              <a:buNone/>
            </a:pPr>
            <a:r>
              <a:rPr lang="en-US" sz="900" dirty="0">
                <a:solidFill>
                  <a:srgbClr val="B0C4DE"/>
                </a:solidFill>
                <a:latin typeface="Arial" pitchFamily="34" charset="0"/>
                <a:ea typeface="Arial" pitchFamily="34" charset="-122"/>
                <a:cs typeface="Arial" pitchFamily="34" charset="-120"/>
              </a:rPr>
              <a:t>More output</a:t>
            </a:r>
            <a:endParaRPr lang="en-US" sz="900" dirty="0"/>
          </a:p>
          <a:p>
            <a:pPr algn="ctr" indent="0" marL="0">
              <a:buNone/>
            </a:pPr>
            <a:r>
              <a:rPr lang="en-US" sz="900" dirty="0">
                <a:solidFill>
                  <a:srgbClr val="B0C4DE"/>
                </a:solidFill>
                <a:latin typeface="Arial" pitchFamily="34" charset="0"/>
                <a:ea typeface="Arial" pitchFamily="34" charset="-122"/>
                <a:cs typeface="Arial" pitchFamily="34" charset="-120"/>
              </a:rPr>
              <a:t>(Agile)</a:t>
            </a:r>
            <a:endParaRPr lang="en-US" sz="900" dirty="0"/>
          </a:p>
        </p:txBody>
      </p:sp>
      <p:sp>
        <p:nvSpPr>
          <p:cNvPr id="21" name="Shape 19"/>
          <p:cNvSpPr/>
          <p:nvPr/>
        </p:nvSpPr>
        <p:spPr>
          <a:xfrm>
            <a:off x="7223760" y="1234440"/>
            <a:ext cx="1508760" cy="868680"/>
          </a:xfrm>
          <a:prstGeom prst="rect">
            <a:avLst/>
          </a:prstGeom>
          <a:solidFill>
            <a:srgbClr val="06418C"/>
          </a:solidFill>
          <a:ln/>
          <a:effectLst>
            <a:outerShdw sx="100000" sy="100000" kx="0" ky="0" algn="bl" rotWithShape="0" blurRad="50800" dist="12700" dir="8100000">
              <a:srgbClr val="000000">
                <a:alpha val="8000"/>
              </a:srgbClr>
            </a:outerShdw>
          </a:effectLst>
        </p:spPr>
      </p:sp>
      <p:sp>
        <p:nvSpPr>
          <p:cNvPr id="22" name="Text 20"/>
          <p:cNvSpPr/>
          <p:nvPr/>
        </p:nvSpPr>
        <p:spPr>
          <a:xfrm>
            <a:off x="7223760" y="1280160"/>
            <a:ext cx="150876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63%</a:t>
            </a:r>
            <a:endParaRPr lang="en-US" sz="2200" dirty="0"/>
          </a:p>
        </p:txBody>
      </p:sp>
      <p:sp>
        <p:nvSpPr>
          <p:cNvPr id="23" name="Text 21"/>
          <p:cNvSpPr/>
          <p:nvPr/>
        </p:nvSpPr>
        <p:spPr>
          <a:xfrm>
            <a:off x="7223760" y="1691640"/>
            <a:ext cx="1508760" cy="365760"/>
          </a:xfrm>
          <a:prstGeom prst="rect">
            <a:avLst/>
          </a:prstGeom>
          <a:noFill/>
          <a:ln/>
        </p:spPr>
        <p:txBody>
          <a:bodyPr wrap="square" lIns="0" tIns="0" rIns="0" bIns="0" rtlCol="0" anchor="ctr"/>
          <a:lstStyle/>
          <a:p>
            <a:pPr algn="ctr" indent="0" marL="0">
              <a:buNone/>
            </a:pPr>
            <a:r>
              <a:rPr lang="en-US" sz="900" dirty="0">
                <a:solidFill>
                  <a:srgbClr val="B0C4DE"/>
                </a:solidFill>
                <a:latin typeface="Arial" pitchFamily="34" charset="0"/>
                <a:ea typeface="Arial" pitchFamily="34" charset="-122"/>
                <a:cs typeface="Arial" pitchFamily="34" charset="-120"/>
              </a:rPr>
              <a:t>Faster time-</a:t>
            </a:r>
            <a:endParaRPr lang="en-US" sz="900" dirty="0"/>
          </a:p>
          <a:p>
            <a:pPr algn="ctr" indent="0" marL="0">
              <a:buNone/>
            </a:pPr>
            <a:r>
              <a:rPr lang="en-US" sz="900" dirty="0">
                <a:solidFill>
                  <a:srgbClr val="B0C4DE"/>
                </a:solidFill>
                <a:latin typeface="Arial" pitchFamily="34" charset="0"/>
                <a:ea typeface="Arial" pitchFamily="34" charset="-122"/>
                <a:cs typeface="Arial" pitchFamily="34" charset="-120"/>
              </a:rPr>
              <a:t>to-market</a:t>
            </a:r>
            <a:endParaRPr lang="en-US" sz="900" dirty="0"/>
          </a:p>
        </p:txBody>
      </p:sp>
      <p:sp>
        <p:nvSpPr>
          <p:cNvPr id="24" name="Text 22"/>
          <p:cNvSpPr/>
          <p:nvPr/>
        </p:nvSpPr>
        <p:spPr>
          <a:xfrm>
            <a:off x="640080" y="2286000"/>
            <a:ext cx="3931920" cy="274320"/>
          </a:xfrm>
          <a:prstGeom prst="rect">
            <a:avLst/>
          </a:prstGeom>
          <a:noFill/>
          <a:ln/>
        </p:spPr>
        <p:txBody>
          <a:bodyPr wrap="square" lIns="0" tIns="0" rIns="0" bIns="0" rtlCol="0" anchor="ctr"/>
          <a:lstStyle/>
          <a:p>
            <a:pPr indent="0" marL="0">
              <a:buNone/>
            </a:pPr>
            <a:r>
              <a:rPr lang="en-US" sz="1300" b="1" dirty="0">
                <a:solidFill>
                  <a:srgbClr val="06418C"/>
                </a:solidFill>
                <a:latin typeface="Arial" pitchFamily="34" charset="0"/>
                <a:ea typeface="Arial" pitchFamily="34" charset="-122"/>
                <a:cs typeface="Arial" pitchFamily="34" charset="-120"/>
              </a:rPr>
              <a:t>HOW THEY DID IT</a:t>
            </a:r>
            <a:endParaRPr lang="en-US" sz="1300" dirty="0"/>
          </a:p>
        </p:txBody>
      </p:sp>
      <p:sp>
        <p:nvSpPr>
          <p:cNvPr id="25" name="Text 23"/>
          <p:cNvSpPr/>
          <p:nvPr/>
        </p:nvSpPr>
        <p:spPr>
          <a:xfrm>
            <a:off x="640080" y="2606040"/>
            <a:ext cx="3931920" cy="1371600"/>
          </a:xfrm>
          <a:prstGeom prst="rect">
            <a:avLst/>
          </a:prstGeom>
          <a:noFill/>
          <a:ln/>
        </p:spPr>
        <p:txBody>
          <a:bodyPr wrap="square" lIns="0" tIns="0" rIns="0" bIns="0" rtlCol="0" anchor="ctr"/>
          <a:lstStyle/>
          <a:p>
            <a:pPr indent="0" marL="0">
              <a:lnSpc>
                <a:spcPct val="140000"/>
              </a:lnSpc>
              <a:buNone/>
            </a:pPr>
            <a:r>
              <a:rPr lang="en-US" sz="1000" dirty="0">
                <a:solidFill>
                  <a:srgbClr val="4A4A4A"/>
                </a:solidFill>
                <a:latin typeface="Arial" pitchFamily="34" charset="0"/>
                <a:ea typeface="Arial" pitchFamily="34" charset="-122"/>
                <a:cs typeface="Arial" pitchFamily="34" charset="-120"/>
              </a:rPr>
              <a:t>Targeted M&amp;A: Blue River ($305M), Bear Flag ($250M), ANELLO</a:t>
            </a:r>
            <a:endParaRPr lang="en-US" sz="1000" dirty="0"/>
          </a:p>
          <a:p>
            <a:pPr indent="0" marL="0">
              <a:lnSpc>
                <a:spcPct val="140000"/>
              </a:lnSpc>
              <a:buNone/>
            </a:pPr>
            <a:r>
              <a:rPr lang="en-US" sz="1000" dirty="0">
                <a:solidFill>
                  <a:srgbClr val="4A4A4A"/>
                </a:solidFill>
                <a:latin typeface="Arial" pitchFamily="34" charset="0"/>
                <a:ea typeface="Arial" pitchFamily="34" charset="-122"/>
                <a:cs typeface="Arial" pitchFamily="34" charset="-120"/>
              </a:rPr>
              <a:t>Dedicated ISG: 134K sq ft AI facility</a:t>
            </a:r>
            <a:endParaRPr lang="en-US" sz="1000" dirty="0"/>
          </a:p>
          <a:p>
            <a:pPr indent="0" marL="0">
              <a:lnSpc>
                <a:spcPct val="140000"/>
              </a:lnSpc>
              <a:buNone/>
            </a:pPr>
            <a:r>
              <a:rPr lang="en-US" sz="1000" dirty="0">
                <a:solidFill>
                  <a:srgbClr val="4A4A4A"/>
                </a:solidFill>
                <a:latin typeface="Arial" pitchFamily="34" charset="0"/>
                <a:ea typeface="Arial" pitchFamily="34" charset="-122"/>
                <a:cs typeface="Arial" pitchFamily="34" charset="-120"/>
              </a:rPr>
              <a:t>Workforce shift: more software than mechanical engineers</a:t>
            </a:r>
            <a:endParaRPr lang="en-US" sz="1000" dirty="0"/>
          </a:p>
          <a:p>
            <a:pPr indent="0" marL="0">
              <a:lnSpc>
                <a:spcPct val="140000"/>
              </a:lnSpc>
              <a:buNone/>
            </a:pPr>
            <a:r>
              <a:rPr lang="en-US" sz="1000" dirty="0">
                <a:solidFill>
                  <a:srgbClr val="4A4A4A"/>
                </a:solidFill>
                <a:latin typeface="Arial" pitchFamily="34" charset="0"/>
                <a:ea typeface="Arial" pitchFamily="34" charset="-122"/>
                <a:cs typeface="Arial" pitchFamily="34" charset="-120"/>
              </a:rPr>
              <a:t>Data as moat: does NOT sell farm data</a:t>
            </a:r>
            <a:endParaRPr lang="en-US" sz="1000" dirty="0"/>
          </a:p>
          <a:p>
            <a:pPr indent="0" marL="0">
              <a:lnSpc>
                <a:spcPct val="140000"/>
              </a:lnSpc>
              <a:buNone/>
            </a:pPr>
            <a:r>
              <a:rPr lang="en-US" sz="1000" dirty="0">
                <a:solidFill>
                  <a:srgbClr val="4A4A4A"/>
                </a:solidFill>
                <a:latin typeface="Arial" pitchFamily="34" charset="0"/>
                <a:ea typeface="Arial" pitchFamily="34" charset="-122"/>
                <a:cs typeface="Arial" pitchFamily="34" charset="-120"/>
              </a:rPr>
              <a:t>Subscription: per-acre pricing tied to ROI</a:t>
            </a:r>
            <a:endParaRPr lang="en-US" sz="1000" dirty="0"/>
          </a:p>
        </p:txBody>
      </p:sp>
      <p:sp>
        <p:nvSpPr>
          <p:cNvPr id="26" name="Text 24"/>
          <p:cNvSpPr/>
          <p:nvPr/>
        </p:nvSpPr>
        <p:spPr>
          <a:xfrm>
            <a:off x="4846320" y="2286000"/>
            <a:ext cx="3657600" cy="274320"/>
          </a:xfrm>
          <a:prstGeom prst="rect">
            <a:avLst/>
          </a:prstGeom>
          <a:noFill/>
          <a:ln/>
        </p:spPr>
        <p:txBody>
          <a:bodyPr wrap="square" lIns="0" tIns="0" rIns="0" bIns="0" rtlCol="0" anchor="ctr"/>
          <a:lstStyle/>
          <a:p>
            <a:pPr indent="0" marL="0">
              <a:buNone/>
            </a:pPr>
            <a:r>
              <a:rPr lang="en-US" sz="1300" b="1" dirty="0">
                <a:solidFill>
                  <a:srgbClr val="06418C"/>
                </a:solidFill>
                <a:latin typeface="Arial" pitchFamily="34" charset="0"/>
                <a:ea typeface="Arial" pitchFamily="34" charset="-122"/>
                <a:cs typeface="Arial" pitchFamily="34" charset="-120"/>
              </a:rPr>
              <a:t>WHY IT MATTERS FOR RENESAS</a:t>
            </a:r>
            <a:endParaRPr lang="en-US" sz="1300" dirty="0"/>
          </a:p>
        </p:txBody>
      </p:sp>
      <p:sp>
        <p:nvSpPr>
          <p:cNvPr id="27" name="Text 25"/>
          <p:cNvSpPr/>
          <p:nvPr/>
        </p:nvSpPr>
        <p:spPr>
          <a:xfrm>
            <a:off x="4846320" y="2606040"/>
            <a:ext cx="3657600" cy="1371600"/>
          </a:xfrm>
          <a:prstGeom prst="rect">
            <a:avLst/>
          </a:prstGeom>
          <a:noFill/>
          <a:ln/>
        </p:spPr>
        <p:txBody>
          <a:bodyPr wrap="square" lIns="0" tIns="0" rIns="0" bIns="0" rtlCol="0" anchor="ctr"/>
          <a:lstStyle/>
          <a:p>
            <a:pPr indent="0" marL="0">
              <a:lnSpc>
                <a:spcPct val="140000"/>
              </a:lnSpc>
              <a:buNone/>
            </a:pPr>
            <a:r>
              <a:rPr lang="en-US" sz="1000" dirty="0">
                <a:solidFill>
                  <a:srgbClr val="4A4A4A"/>
                </a:solidFill>
                <a:latin typeface="Arial" pitchFamily="34" charset="0"/>
                <a:ea typeface="Arial" pitchFamily="34" charset="-122"/>
                <a:cs typeface="Arial" pitchFamily="34" charset="-120"/>
              </a:rPr>
              <a:t>Hardware → platform pivot is exactly the trajectory</a:t>
            </a:r>
            <a:endParaRPr lang="en-US" sz="1000" dirty="0"/>
          </a:p>
          <a:p>
            <a:pPr indent="0" marL="0">
              <a:lnSpc>
                <a:spcPct val="140000"/>
              </a:lnSpc>
              <a:buNone/>
            </a:pPr>
            <a:r>
              <a:rPr lang="en-US" sz="1000" dirty="0">
                <a:solidFill>
                  <a:srgbClr val="4A4A4A"/>
                </a:solidFill>
                <a:latin typeface="Arial" pitchFamily="34" charset="0"/>
                <a:ea typeface="Arial" pitchFamily="34" charset="-122"/>
                <a:cs typeface="Arial" pitchFamily="34" charset="-120"/>
              </a:rPr>
              <a:t>Subscription + ecosystem = recurring revenue at 85% margins</a:t>
            </a:r>
            <a:endParaRPr lang="en-US" sz="1000" dirty="0"/>
          </a:p>
          <a:p>
            <a:pPr indent="0" marL="0">
              <a:lnSpc>
                <a:spcPct val="140000"/>
              </a:lnSpc>
              <a:buNone/>
            </a:pPr>
            <a:r>
              <a:rPr lang="en-US" sz="1000" dirty="0">
                <a:solidFill>
                  <a:srgbClr val="4A4A4A"/>
                </a:solidFill>
                <a:latin typeface="Arial" pitchFamily="34" charset="0"/>
                <a:ea typeface="Arial" pitchFamily="34" charset="-122"/>
                <a:cs typeface="Arial" pitchFamily="34" charset="-120"/>
              </a:rPr>
              <a:t>Talent transformation was parallel, not sequential</a:t>
            </a:r>
            <a:endParaRPr lang="en-US" sz="1000" dirty="0"/>
          </a:p>
          <a:p>
            <a:pPr indent="0" marL="0">
              <a:lnSpc>
                <a:spcPct val="140000"/>
              </a:lnSpc>
              <a:buNone/>
            </a:pPr>
            <a:r>
              <a:rPr lang="en-US" sz="1000" dirty="0">
                <a:solidFill>
                  <a:srgbClr val="4A4A4A"/>
                </a:solidFill>
                <a:latin typeface="Arial" pitchFamily="34" charset="0"/>
                <a:ea typeface="Arial" pitchFamily="34" charset="-122"/>
                <a:cs typeface="Arial" pitchFamily="34" charset="-120"/>
              </a:rPr>
              <a:t>Acquisitions kept separate initially, then integrated</a:t>
            </a:r>
            <a:endParaRPr lang="en-US" sz="1000" dirty="0"/>
          </a:p>
          <a:p>
            <a:pPr indent="0" marL="0">
              <a:lnSpc>
                <a:spcPct val="140000"/>
              </a:lnSpc>
              <a:buNone/>
            </a:pPr>
            <a:r>
              <a:rPr lang="en-US" sz="1000" dirty="0">
                <a:solidFill>
                  <a:srgbClr val="4A4A4A"/>
                </a:solidFill>
                <a:latin typeface="Arial" pitchFamily="34" charset="0"/>
                <a:ea typeface="Arial" pitchFamily="34" charset="-122"/>
                <a:cs typeface="Arial" pitchFamily="34" charset="-120"/>
              </a:rPr>
              <a:t>Total timeline: ~10 years from first moves to current scale</a:t>
            </a:r>
            <a:endParaRPr lang="en-US" sz="1000" dirty="0"/>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600" b="1" dirty="0">
                <a:solidFill>
                  <a:srgbClr val="06418C"/>
                </a:solidFill>
                <a:latin typeface="Arial" pitchFamily="34" charset="0"/>
                <a:ea typeface="Arial" pitchFamily="34" charset="-122"/>
                <a:cs typeface="Arial" pitchFamily="34" charset="-120"/>
              </a:rPr>
              <a:t>NVIDIA: the gold standard.</a:t>
            </a:r>
            <a:endParaRPr lang="en-US" sz="26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46</a:t>
            </a:r>
            <a:endParaRPr lang="en-US" sz="700" dirty="0"/>
          </a:p>
        </p:txBody>
      </p:sp>
      <p:sp>
        <p:nvSpPr>
          <p:cNvPr id="8" name="Text 6"/>
          <p:cNvSpPr/>
          <p:nvPr/>
        </p:nvSpPr>
        <p:spPr>
          <a:xfrm>
            <a:off x="640080" y="822960"/>
            <a:ext cx="7863840" cy="320040"/>
          </a:xfrm>
          <a:prstGeom prst="rect">
            <a:avLst/>
          </a:prstGeom>
          <a:noFill/>
          <a:ln/>
        </p:spPr>
        <p:txBody>
          <a:bodyPr wrap="square" lIns="0" tIns="0" rIns="0" bIns="0" rtlCol="0" anchor="ctr"/>
          <a:lstStyle/>
          <a:p>
            <a:pPr indent="0" marL="0">
              <a:buNone/>
            </a:pPr>
            <a:r>
              <a:rPr lang="en-US" sz="1300" i="1" dirty="0">
                <a:solidFill>
                  <a:srgbClr val="4471A9"/>
                </a:solidFill>
                <a:latin typeface="Arial" pitchFamily="34" charset="0"/>
                <a:ea typeface="Arial" pitchFamily="34" charset="-122"/>
                <a:cs typeface="Arial" pitchFamily="34" charset="-120"/>
              </a:rPr>
              <a:t>100% of engineers use AI tools daily. This is the operating model.</a:t>
            </a:r>
            <a:endParaRPr lang="en-US" sz="1300" dirty="0"/>
          </a:p>
        </p:txBody>
      </p:sp>
      <p:sp>
        <p:nvSpPr>
          <p:cNvPr id="9" name="Shape 7"/>
          <p:cNvSpPr/>
          <p:nvPr/>
        </p:nvSpPr>
        <p:spPr>
          <a:xfrm>
            <a:off x="457200" y="1234440"/>
            <a:ext cx="1508760" cy="868680"/>
          </a:xfrm>
          <a:prstGeom prst="rect">
            <a:avLst/>
          </a:prstGeom>
          <a:solidFill>
            <a:srgbClr val="042D5E"/>
          </a:solidFill>
          <a:ln/>
          <a:effectLst>
            <a:outerShdw sx="100000" sy="100000" kx="0" ky="0" algn="bl" rotWithShape="0" blurRad="50800" dist="12700" dir="8100000">
              <a:srgbClr val="000000">
                <a:alpha val="8000"/>
              </a:srgbClr>
            </a:outerShdw>
          </a:effectLst>
        </p:spPr>
      </p:sp>
      <p:sp>
        <p:nvSpPr>
          <p:cNvPr id="10" name="Text 8"/>
          <p:cNvSpPr/>
          <p:nvPr/>
        </p:nvSpPr>
        <p:spPr>
          <a:xfrm>
            <a:off x="457200" y="1280160"/>
            <a:ext cx="150876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3x</a:t>
            </a:r>
            <a:endParaRPr lang="en-US" sz="2200" dirty="0"/>
          </a:p>
        </p:txBody>
      </p:sp>
      <p:sp>
        <p:nvSpPr>
          <p:cNvPr id="11" name="Text 9"/>
          <p:cNvSpPr/>
          <p:nvPr/>
        </p:nvSpPr>
        <p:spPr>
          <a:xfrm>
            <a:off x="457200" y="1691640"/>
            <a:ext cx="1508760" cy="365760"/>
          </a:xfrm>
          <a:prstGeom prst="rect">
            <a:avLst/>
          </a:prstGeom>
          <a:noFill/>
          <a:ln/>
        </p:spPr>
        <p:txBody>
          <a:bodyPr wrap="square" lIns="0" tIns="0" rIns="0" bIns="0" rtlCol="0" anchor="ctr"/>
          <a:lstStyle/>
          <a:p>
            <a:pPr algn="ctr" indent="0" marL="0">
              <a:buNone/>
            </a:pPr>
            <a:r>
              <a:rPr lang="en-US" sz="900" dirty="0">
                <a:solidFill>
                  <a:srgbClr val="B0C4DE"/>
                </a:solidFill>
                <a:latin typeface="Arial" pitchFamily="34" charset="0"/>
                <a:ea typeface="Arial" pitchFamily="34" charset="-122"/>
                <a:cs typeface="Arial" pitchFamily="34" charset="-120"/>
              </a:rPr>
              <a:t>Code output</a:t>
            </a:r>
            <a:endParaRPr lang="en-US" sz="900" dirty="0"/>
          </a:p>
          <a:p>
            <a:pPr algn="ctr" indent="0" marL="0">
              <a:buNone/>
            </a:pPr>
            <a:r>
              <a:rPr lang="en-US" sz="900" dirty="0">
                <a:solidFill>
                  <a:srgbClr val="B0C4DE"/>
                </a:solidFill>
                <a:latin typeface="Arial" pitchFamily="34" charset="0"/>
                <a:ea typeface="Arial" pitchFamily="34" charset="-122"/>
                <a:cs typeface="Arial" pitchFamily="34" charset="-120"/>
              </a:rPr>
              <a:t>(flat bugs)</a:t>
            </a:r>
            <a:endParaRPr lang="en-US" sz="900" dirty="0"/>
          </a:p>
        </p:txBody>
      </p:sp>
      <p:sp>
        <p:nvSpPr>
          <p:cNvPr id="12" name="Shape 10"/>
          <p:cNvSpPr/>
          <p:nvPr/>
        </p:nvSpPr>
        <p:spPr>
          <a:xfrm>
            <a:off x="2148840" y="1234440"/>
            <a:ext cx="1508760" cy="868680"/>
          </a:xfrm>
          <a:prstGeom prst="rect">
            <a:avLst/>
          </a:prstGeom>
          <a:solidFill>
            <a:srgbClr val="042D5E"/>
          </a:solidFill>
          <a:ln/>
          <a:effectLst>
            <a:outerShdw sx="100000" sy="100000" kx="0" ky="0" algn="bl" rotWithShape="0" blurRad="50800" dist="12700" dir="8100000">
              <a:srgbClr val="000000">
                <a:alpha val="8000"/>
              </a:srgbClr>
            </a:outerShdw>
          </a:effectLst>
        </p:spPr>
      </p:sp>
      <p:sp>
        <p:nvSpPr>
          <p:cNvPr id="13" name="Text 11"/>
          <p:cNvSpPr/>
          <p:nvPr/>
        </p:nvSpPr>
        <p:spPr>
          <a:xfrm>
            <a:off x="2148840" y="1280160"/>
            <a:ext cx="150876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33%</a:t>
            </a:r>
            <a:endParaRPr lang="en-US" sz="2200" dirty="0"/>
          </a:p>
        </p:txBody>
      </p:sp>
      <p:sp>
        <p:nvSpPr>
          <p:cNvPr id="14" name="Text 12"/>
          <p:cNvSpPr/>
          <p:nvPr/>
        </p:nvSpPr>
        <p:spPr>
          <a:xfrm>
            <a:off x="2148840" y="1691640"/>
            <a:ext cx="1508760" cy="365760"/>
          </a:xfrm>
          <a:prstGeom prst="rect">
            <a:avLst/>
          </a:prstGeom>
          <a:noFill/>
          <a:ln/>
        </p:spPr>
        <p:txBody>
          <a:bodyPr wrap="square" lIns="0" tIns="0" rIns="0" bIns="0" rtlCol="0" anchor="ctr"/>
          <a:lstStyle/>
          <a:p>
            <a:pPr algn="ctr" indent="0" marL="0">
              <a:buNone/>
            </a:pPr>
            <a:r>
              <a:rPr lang="en-US" sz="900" dirty="0">
                <a:solidFill>
                  <a:srgbClr val="B0C4DE"/>
                </a:solidFill>
                <a:latin typeface="Arial" pitchFamily="34" charset="0"/>
                <a:ea typeface="Arial" pitchFamily="34" charset="-122"/>
                <a:cs typeface="Arial" pitchFamily="34" charset="-120"/>
              </a:rPr>
              <a:t>Better verification</a:t>
            </a:r>
            <a:endParaRPr lang="en-US" sz="900" dirty="0"/>
          </a:p>
          <a:p>
            <a:pPr algn="ctr" indent="0" marL="0">
              <a:buNone/>
            </a:pPr>
            <a:r>
              <a:rPr lang="en-US" sz="900" dirty="0">
                <a:solidFill>
                  <a:srgbClr val="B0C4DE"/>
                </a:solidFill>
                <a:latin typeface="Arial" pitchFamily="34" charset="0"/>
                <a:ea typeface="Arial" pitchFamily="34" charset="-122"/>
                <a:cs typeface="Arial" pitchFamily="34" charset="-120"/>
              </a:rPr>
              <a:t>coverage</a:t>
            </a:r>
            <a:endParaRPr lang="en-US" sz="900" dirty="0"/>
          </a:p>
        </p:txBody>
      </p:sp>
      <p:sp>
        <p:nvSpPr>
          <p:cNvPr id="15" name="Shape 13"/>
          <p:cNvSpPr/>
          <p:nvPr/>
        </p:nvSpPr>
        <p:spPr>
          <a:xfrm>
            <a:off x="3840480" y="1234440"/>
            <a:ext cx="1508760" cy="868680"/>
          </a:xfrm>
          <a:prstGeom prst="rect">
            <a:avLst/>
          </a:prstGeom>
          <a:solidFill>
            <a:srgbClr val="042D5E"/>
          </a:solidFill>
          <a:ln/>
          <a:effectLst>
            <a:outerShdw sx="100000" sy="100000" kx="0" ky="0" algn="bl" rotWithShape="0" blurRad="50800" dist="12700" dir="8100000">
              <a:srgbClr val="000000">
                <a:alpha val="8000"/>
              </a:srgbClr>
            </a:outerShdw>
          </a:effectLst>
        </p:spPr>
      </p:sp>
      <p:sp>
        <p:nvSpPr>
          <p:cNvPr id="16" name="Text 14"/>
          <p:cNvSpPr/>
          <p:nvPr/>
        </p:nvSpPr>
        <p:spPr>
          <a:xfrm>
            <a:off x="3840480" y="1280160"/>
            <a:ext cx="150876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10wks</a:t>
            </a:r>
            <a:endParaRPr lang="en-US" sz="2200" dirty="0"/>
          </a:p>
        </p:txBody>
      </p:sp>
      <p:sp>
        <p:nvSpPr>
          <p:cNvPr id="17" name="Text 15"/>
          <p:cNvSpPr/>
          <p:nvPr/>
        </p:nvSpPr>
        <p:spPr>
          <a:xfrm>
            <a:off x="3840480" y="1691640"/>
            <a:ext cx="1508760" cy="365760"/>
          </a:xfrm>
          <a:prstGeom prst="rect">
            <a:avLst/>
          </a:prstGeom>
          <a:noFill/>
          <a:ln/>
        </p:spPr>
        <p:txBody>
          <a:bodyPr wrap="square" lIns="0" tIns="0" rIns="0" bIns="0" rtlCol="0" anchor="ctr"/>
          <a:lstStyle/>
          <a:p>
            <a:pPr algn="ctr" indent="0" marL="0">
              <a:buNone/>
            </a:pPr>
            <a:r>
              <a:rPr lang="en-US" sz="900" dirty="0">
                <a:solidFill>
                  <a:srgbClr val="B0C4DE"/>
                </a:solidFill>
                <a:latin typeface="Arial" pitchFamily="34" charset="0"/>
                <a:ea typeface="Arial" pitchFamily="34" charset="-122"/>
                <a:cs typeface="Arial" pitchFamily="34" charset="-120"/>
              </a:rPr>
              <a:t>Saved per project</a:t>
            </a:r>
            <a:endParaRPr lang="en-US" sz="900" dirty="0"/>
          </a:p>
          <a:p>
            <a:pPr algn="ctr" indent="0" marL="0">
              <a:buNone/>
            </a:pPr>
            <a:r>
              <a:rPr lang="en-US" sz="900" dirty="0">
                <a:solidFill>
                  <a:srgbClr val="B0C4DE"/>
                </a:solidFill>
                <a:latin typeface="Arial" pitchFamily="34" charset="0"/>
                <a:ea typeface="Arial" pitchFamily="34" charset="-122"/>
                <a:cs typeface="Arial" pitchFamily="34" charset="-120"/>
              </a:rPr>
              <a:t>(HEPH)</a:t>
            </a:r>
            <a:endParaRPr lang="en-US" sz="900" dirty="0"/>
          </a:p>
        </p:txBody>
      </p:sp>
      <p:sp>
        <p:nvSpPr>
          <p:cNvPr id="18" name="Shape 16"/>
          <p:cNvSpPr/>
          <p:nvPr/>
        </p:nvSpPr>
        <p:spPr>
          <a:xfrm>
            <a:off x="5532120" y="1234440"/>
            <a:ext cx="1508760" cy="868680"/>
          </a:xfrm>
          <a:prstGeom prst="rect">
            <a:avLst/>
          </a:prstGeom>
          <a:solidFill>
            <a:srgbClr val="042D5E"/>
          </a:solidFill>
          <a:ln/>
          <a:effectLst>
            <a:outerShdw sx="100000" sy="100000" kx="0" ky="0" algn="bl" rotWithShape="0" blurRad="50800" dist="12700" dir="8100000">
              <a:srgbClr val="000000">
                <a:alpha val="8000"/>
              </a:srgbClr>
            </a:outerShdw>
          </a:effectLst>
        </p:spPr>
      </p:sp>
      <p:sp>
        <p:nvSpPr>
          <p:cNvPr id="19" name="Text 17"/>
          <p:cNvSpPr/>
          <p:nvPr/>
        </p:nvSpPr>
        <p:spPr>
          <a:xfrm>
            <a:off x="5532120" y="1280160"/>
            <a:ext cx="150876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$3.6M</a:t>
            </a:r>
            <a:endParaRPr lang="en-US" sz="2200" dirty="0"/>
          </a:p>
        </p:txBody>
      </p:sp>
      <p:sp>
        <p:nvSpPr>
          <p:cNvPr id="20" name="Text 18"/>
          <p:cNvSpPr/>
          <p:nvPr/>
        </p:nvSpPr>
        <p:spPr>
          <a:xfrm>
            <a:off x="5532120" y="1691640"/>
            <a:ext cx="1508760" cy="365760"/>
          </a:xfrm>
          <a:prstGeom prst="rect">
            <a:avLst/>
          </a:prstGeom>
          <a:noFill/>
          <a:ln/>
        </p:spPr>
        <p:txBody>
          <a:bodyPr wrap="square" lIns="0" tIns="0" rIns="0" bIns="0" rtlCol="0" anchor="ctr"/>
          <a:lstStyle/>
          <a:p>
            <a:pPr algn="ctr" indent="0" marL="0">
              <a:buNone/>
            </a:pPr>
            <a:r>
              <a:rPr lang="en-US" sz="900" dirty="0">
                <a:solidFill>
                  <a:srgbClr val="B0C4DE"/>
                </a:solidFill>
                <a:latin typeface="Arial" pitchFamily="34" charset="0"/>
                <a:ea typeface="Arial" pitchFamily="34" charset="-122"/>
                <a:cs typeface="Arial" pitchFamily="34" charset="-120"/>
              </a:rPr>
              <a:t>Revenue per</a:t>
            </a:r>
            <a:endParaRPr lang="en-US" sz="900" dirty="0"/>
          </a:p>
          <a:p>
            <a:pPr algn="ctr" indent="0" marL="0">
              <a:buNone/>
            </a:pPr>
            <a:r>
              <a:rPr lang="en-US" sz="900" dirty="0">
                <a:solidFill>
                  <a:srgbClr val="B0C4DE"/>
                </a:solidFill>
                <a:latin typeface="Arial" pitchFamily="34" charset="0"/>
                <a:ea typeface="Arial" pitchFamily="34" charset="-122"/>
                <a:cs typeface="Arial" pitchFamily="34" charset="-120"/>
              </a:rPr>
              <a:t>employee</a:t>
            </a:r>
            <a:endParaRPr lang="en-US" sz="900" dirty="0"/>
          </a:p>
        </p:txBody>
      </p:sp>
      <p:sp>
        <p:nvSpPr>
          <p:cNvPr id="21" name="Shape 19"/>
          <p:cNvSpPr/>
          <p:nvPr/>
        </p:nvSpPr>
        <p:spPr>
          <a:xfrm>
            <a:off x="7223760" y="1234440"/>
            <a:ext cx="1508760" cy="868680"/>
          </a:xfrm>
          <a:prstGeom prst="rect">
            <a:avLst/>
          </a:prstGeom>
          <a:solidFill>
            <a:srgbClr val="042D5E"/>
          </a:solidFill>
          <a:ln/>
          <a:effectLst>
            <a:outerShdw sx="100000" sy="100000" kx="0" ky="0" algn="bl" rotWithShape="0" blurRad="50800" dist="12700" dir="8100000">
              <a:srgbClr val="000000">
                <a:alpha val="8000"/>
              </a:srgbClr>
            </a:outerShdw>
          </a:effectLst>
        </p:spPr>
      </p:sp>
      <p:sp>
        <p:nvSpPr>
          <p:cNvPr id="22" name="Text 20"/>
          <p:cNvSpPr/>
          <p:nvPr/>
        </p:nvSpPr>
        <p:spPr>
          <a:xfrm>
            <a:off x="7223760" y="1280160"/>
            <a:ext cx="150876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100%</a:t>
            </a:r>
            <a:endParaRPr lang="en-US" sz="2200" dirty="0"/>
          </a:p>
        </p:txBody>
      </p:sp>
      <p:sp>
        <p:nvSpPr>
          <p:cNvPr id="23" name="Text 21"/>
          <p:cNvSpPr/>
          <p:nvPr/>
        </p:nvSpPr>
        <p:spPr>
          <a:xfrm>
            <a:off x="7223760" y="1691640"/>
            <a:ext cx="1508760" cy="365760"/>
          </a:xfrm>
          <a:prstGeom prst="rect">
            <a:avLst/>
          </a:prstGeom>
          <a:noFill/>
          <a:ln/>
        </p:spPr>
        <p:txBody>
          <a:bodyPr wrap="square" lIns="0" tIns="0" rIns="0" bIns="0" rtlCol="0" anchor="ctr"/>
          <a:lstStyle/>
          <a:p>
            <a:pPr algn="ctr" indent="0" marL="0">
              <a:buNone/>
            </a:pPr>
            <a:r>
              <a:rPr lang="en-US" sz="900" dirty="0">
                <a:solidFill>
                  <a:srgbClr val="B0C4DE"/>
                </a:solidFill>
                <a:latin typeface="Arial" pitchFamily="34" charset="0"/>
                <a:ea typeface="Arial" pitchFamily="34" charset="-122"/>
                <a:cs typeface="Arial" pitchFamily="34" charset="-120"/>
              </a:rPr>
              <a:t>AI tool</a:t>
            </a:r>
            <a:endParaRPr lang="en-US" sz="900" dirty="0"/>
          </a:p>
          <a:p>
            <a:pPr algn="ctr" indent="0" marL="0">
              <a:buNone/>
            </a:pPr>
            <a:r>
              <a:rPr lang="en-US" sz="900" dirty="0">
                <a:solidFill>
                  <a:srgbClr val="B0C4DE"/>
                </a:solidFill>
                <a:latin typeface="Arial" pitchFamily="34" charset="0"/>
                <a:ea typeface="Arial" pitchFamily="34" charset="-122"/>
                <a:cs typeface="Arial" pitchFamily="34" charset="-120"/>
              </a:rPr>
              <a:t>adoption</a:t>
            </a:r>
            <a:endParaRPr lang="en-US" sz="900" dirty="0"/>
          </a:p>
        </p:txBody>
      </p:sp>
      <p:sp>
        <p:nvSpPr>
          <p:cNvPr id="24" name="Text 22"/>
          <p:cNvSpPr/>
          <p:nvPr/>
        </p:nvSpPr>
        <p:spPr>
          <a:xfrm>
            <a:off x="640080" y="2286000"/>
            <a:ext cx="3931920" cy="274320"/>
          </a:xfrm>
          <a:prstGeom prst="rect">
            <a:avLst/>
          </a:prstGeom>
          <a:noFill/>
          <a:ln/>
        </p:spPr>
        <p:txBody>
          <a:bodyPr wrap="square" lIns="0" tIns="0" rIns="0" bIns="0" rtlCol="0" anchor="ctr"/>
          <a:lstStyle/>
          <a:p>
            <a:pPr indent="0" marL="0">
              <a:buNone/>
            </a:pPr>
            <a:r>
              <a:rPr lang="en-US" sz="1300" b="1" dirty="0">
                <a:solidFill>
                  <a:srgbClr val="06418C"/>
                </a:solidFill>
                <a:latin typeface="Arial" pitchFamily="34" charset="0"/>
                <a:ea typeface="Arial" pitchFamily="34" charset="-122"/>
                <a:cs typeface="Arial" pitchFamily="34" charset="-120"/>
              </a:rPr>
              <a:t>KEY CAPABILITIES</a:t>
            </a:r>
            <a:endParaRPr lang="en-US" sz="1300" dirty="0"/>
          </a:p>
        </p:txBody>
      </p:sp>
      <p:sp>
        <p:nvSpPr>
          <p:cNvPr id="25" name="Text 23"/>
          <p:cNvSpPr/>
          <p:nvPr/>
        </p:nvSpPr>
        <p:spPr>
          <a:xfrm>
            <a:off x="640080" y="2606040"/>
            <a:ext cx="3931920" cy="1371600"/>
          </a:xfrm>
          <a:prstGeom prst="rect">
            <a:avLst/>
          </a:prstGeom>
          <a:noFill/>
          <a:ln/>
        </p:spPr>
        <p:txBody>
          <a:bodyPr wrap="square" lIns="0" tIns="0" rIns="0" bIns="0" rtlCol="0" anchor="ctr"/>
          <a:lstStyle/>
          <a:p>
            <a:pPr indent="0" marL="0">
              <a:lnSpc>
                <a:spcPct val="140000"/>
              </a:lnSpc>
              <a:buNone/>
            </a:pPr>
            <a:r>
              <a:rPr lang="en-US" sz="1000" dirty="0">
                <a:solidFill>
                  <a:srgbClr val="4A4A4A"/>
                </a:solidFill>
                <a:latin typeface="Arial" pitchFamily="34" charset="0"/>
                <a:ea typeface="Arial" pitchFamily="34" charset="-122"/>
                <a:cs typeface="Arial" pitchFamily="34" charset="-120"/>
              </a:rPr>
              <a:t>ChipNeMo: 43B-param model on 30yr design data</a:t>
            </a:r>
            <a:endParaRPr lang="en-US" sz="1000" dirty="0"/>
          </a:p>
          <a:p>
            <a:pPr indent="0" marL="0">
              <a:lnSpc>
                <a:spcPct val="140000"/>
              </a:lnSpc>
              <a:buNone/>
            </a:pPr>
            <a:r>
              <a:rPr lang="en-US" sz="1000" dirty="0">
                <a:solidFill>
                  <a:srgbClr val="4A4A4A"/>
                </a:solidFill>
                <a:latin typeface="Arial" pitchFamily="34" charset="0"/>
                <a:ea typeface="Arial" pitchFamily="34" charset="-122"/>
                <a:cs typeface="Arial" pitchFamily="34" charset="-120"/>
              </a:rPr>
              <a:t>13B custom beats 70B general on chip tasks</a:t>
            </a:r>
            <a:endParaRPr lang="en-US" sz="1000" dirty="0"/>
          </a:p>
          <a:p>
            <a:pPr indent="0" marL="0">
              <a:lnSpc>
                <a:spcPct val="140000"/>
              </a:lnSpc>
              <a:buNone/>
            </a:pPr>
            <a:r>
              <a:rPr lang="en-US" sz="1000" dirty="0">
                <a:solidFill>
                  <a:srgbClr val="4A4A4A"/>
                </a:solidFill>
                <a:latin typeface="Arial" pitchFamily="34" charset="0"/>
                <a:ea typeface="Arial" pitchFamily="34" charset="-122"/>
                <a:cs typeface="Arial" pitchFamily="34" charset="-120"/>
              </a:rPr>
              <a:t>30K engineers using customized Cursor IDE</a:t>
            </a:r>
            <a:endParaRPr lang="en-US" sz="1000" dirty="0"/>
          </a:p>
          <a:p>
            <a:pPr indent="0" marL="0">
              <a:lnSpc>
                <a:spcPct val="140000"/>
              </a:lnSpc>
              <a:buNone/>
            </a:pPr>
            <a:r>
              <a:rPr lang="en-US" sz="1000" dirty="0">
                <a:solidFill>
                  <a:srgbClr val="4A4A4A"/>
                </a:solidFill>
                <a:latin typeface="Arial" pitchFamily="34" charset="0"/>
                <a:ea typeface="Arial" pitchFamily="34" charset="-122"/>
                <a:cs typeface="Arial" pitchFamily="34" charset="-120"/>
              </a:rPr>
              <a:t>Synopsys VSO.ai: 5x regression compression</a:t>
            </a:r>
            <a:endParaRPr lang="en-US" sz="1000" dirty="0"/>
          </a:p>
          <a:p>
            <a:pPr indent="0" marL="0">
              <a:lnSpc>
                <a:spcPct val="140000"/>
              </a:lnSpc>
              <a:buNone/>
            </a:pPr>
            <a:r>
              <a:rPr lang="en-US" sz="1000" dirty="0">
                <a:solidFill>
                  <a:srgbClr val="4A4A4A"/>
                </a:solidFill>
                <a:latin typeface="Arial" pitchFamily="34" charset="0"/>
                <a:ea typeface="Arial" pitchFamily="34" charset="-122"/>
                <a:cs typeface="Arial" pitchFamily="34" charset="-120"/>
              </a:rPr>
              <a:t>DeepSeek-R1: 96-100% correct kernel generation</a:t>
            </a:r>
            <a:endParaRPr lang="en-US" sz="1000" dirty="0"/>
          </a:p>
        </p:txBody>
      </p:sp>
      <p:sp>
        <p:nvSpPr>
          <p:cNvPr id="26" name="Text 24"/>
          <p:cNvSpPr/>
          <p:nvPr/>
        </p:nvSpPr>
        <p:spPr>
          <a:xfrm>
            <a:off x="4846320" y="2286000"/>
            <a:ext cx="3657600" cy="274320"/>
          </a:xfrm>
          <a:prstGeom prst="rect">
            <a:avLst/>
          </a:prstGeom>
          <a:noFill/>
          <a:ln/>
        </p:spPr>
        <p:txBody>
          <a:bodyPr wrap="square" lIns="0" tIns="0" rIns="0" bIns="0" rtlCol="0" anchor="ctr"/>
          <a:lstStyle/>
          <a:p>
            <a:pPr indent="0" marL="0">
              <a:buNone/>
            </a:pPr>
            <a:r>
              <a:rPr lang="en-US" sz="1300" b="1" dirty="0">
                <a:solidFill>
                  <a:srgbClr val="06418C"/>
                </a:solidFill>
                <a:latin typeface="Arial" pitchFamily="34" charset="0"/>
                <a:ea typeface="Arial" pitchFamily="34" charset="-122"/>
                <a:cs typeface="Arial" pitchFamily="34" charset="-120"/>
              </a:rPr>
              <a:t>RENESAS IMPLICATIONS</a:t>
            </a:r>
            <a:endParaRPr lang="en-US" sz="1300" dirty="0"/>
          </a:p>
        </p:txBody>
      </p:sp>
      <p:sp>
        <p:nvSpPr>
          <p:cNvPr id="27" name="Text 25"/>
          <p:cNvSpPr/>
          <p:nvPr/>
        </p:nvSpPr>
        <p:spPr>
          <a:xfrm>
            <a:off x="4846320" y="2606040"/>
            <a:ext cx="3657600" cy="1371600"/>
          </a:xfrm>
          <a:prstGeom prst="rect">
            <a:avLst/>
          </a:prstGeom>
          <a:noFill/>
          <a:ln/>
        </p:spPr>
        <p:txBody>
          <a:bodyPr wrap="square" lIns="0" tIns="0" rIns="0" bIns="0" rtlCol="0" anchor="ctr"/>
          <a:lstStyle/>
          <a:p>
            <a:pPr indent="0" marL="0">
              <a:lnSpc>
                <a:spcPct val="140000"/>
              </a:lnSpc>
              <a:buNone/>
            </a:pPr>
            <a:r>
              <a:rPr lang="en-US" sz="1000" dirty="0">
                <a:solidFill>
                  <a:srgbClr val="4A4A4A"/>
                </a:solidFill>
                <a:latin typeface="Arial" pitchFamily="34" charset="0"/>
                <a:ea typeface="Arial" pitchFamily="34" charset="-122"/>
                <a:cs typeface="Arial" pitchFamily="34" charset="-120"/>
              </a:rPr>
              <a:t>Domain-specific models beat general ones — our data is the asset</a:t>
            </a:r>
            <a:endParaRPr lang="en-US" sz="1000" dirty="0"/>
          </a:p>
          <a:p>
            <a:pPr indent="0" marL="0">
              <a:lnSpc>
                <a:spcPct val="140000"/>
              </a:lnSpc>
              <a:buNone/>
            </a:pPr>
            <a:r>
              <a:rPr lang="en-US" sz="1000" dirty="0">
                <a:solidFill>
                  <a:srgbClr val="4A4A4A"/>
                </a:solidFill>
                <a:latin typeface="Arial" pitchFamily="34" charset="0"/>
                <a:ea typeface="Arial" pitchFamily="34" charset="-122"/>
                <a:cs typeface="Arial" pitchFamily="34" charset="-120"/>
              </a:rPr>
              <a:t>Same productivity playbook applies to Renesas engineering</a:t>
            </a:r>
            <a:endParaRPr lang="en-US" sz="1000" dirty="0"/>
          </a:p>
          <a:p>
            <a:pPr indent="0" marL="0">
              <a:lnSpc>
                <a:spcPct val="140000"/>
              </a:lnSpc>
              <a:buNone/>
            </a:pPr>
            <a:r>
              <a:rPr lang="en-US" sz="1000" dirty="0">
                <a:solidFill>
                  <a:srgbClr val="4A4A4A"/>
                </a:solidFill>
                <a:latin typeface="Arial" pitchFamily="34" charset="0"/>
                <a:ea typeface="Arial" pitchFamily="34" charset="-122"/>
                <a:cs typeface="Arial" pitchFamily="34" charset="-120"/>
              </a:rPr>
              <a:t>Verification acceleration → fewer spins, faster tape-out</a:t>
            </a:r>
            <a:endParaRPr lang="en-US" sz="1000" dirty="0"/>
          </a:p>
          <a:p>
            <a:pPr indent="0" marL="0">
              <a:lnSpc>
                <a:spcPct val="140000"/>
              </a:lnSpc>
              <a:buNone/>
            </a:pPr>
            <a:r>
              <a:rPr lang="en-US" sz="1000" dirty="0">
                <a:solidFill>
                  <a:srgbClr val="4A4A4A"/>
                </a:solidFill>
                <a:latin typeface="Arial" pitchFamily="34" charset="0"/>
                <a:ea typeface="Arial" pitchFamily="34" charset="-122"/>
                <a:cs typeface="Arial" pitchFamily="34" charset="-120"/>
              </a:rPr>
              <a:t>Cultural commitment from CEO is the differentiator</a:t>
            </a:r>
            <a:endParaRPr lang="en-US" sz="1000" dirty="0"/>
          </a:p>
          <a:p>
            <a:pPr indent="0" marL="0">
              <a:lnSpc>
                <a:spcPct val="140000"/>
              </a:lnSpc>
              <a:buNone/>
            </a:pPr>
            <a:r>
              <a:rPr lang="en-US" sz="1000" dirty="0">
                <a:solidFill>
                  <a:srgbClr val="4A4A4A"/>
                </a:solidFill>
                <a:latin typeface="Arial" pitchFamily="34" charset="0"/>
                <a:ea typeface="Arial" pitchFamily="34" charset="-122"/>
                <a:cs typeface="Arial" pitchFamily="34" charset="-120"/>
              </a:rPr>
              <a:t>Technology alone doesn't create transformation</a:t>
            </a:r>
            <a:endParaRPr lang="en-US" sz="1000" dirty="0"/>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The pattern repeats. The playbook is proven.</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47</a:t>
            </a:r>
            <a:endParaRPr lang="en-US" sz="700" dirty="0"/>
          </a:p>
        </p:txBody>
      </p:sp>
      <p:sp>
        <p:nvSpPr>
          <p:cNvPr id="8" name="Shape 6"/>
          <p:cNvSpPr/>
          <p:nvPr/>
        </p:nvSpPr>
        <p:spPr>
          <a:xfrm>
            <a:off x="640080" y="1051560"/>
            <a:ext cx="3931920" cy="18288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9" name="Shape 7"/>
          <p:cNvSpPr/>
          <p:nvPr/>
        </p:nvSpPr>
        <p:spPr>
          <a:xfrm>
            <a:off x="640080" y="1051560"/>
            <a:ext cx="64008" cy="1828800"/>
          </a:xfrm>
          <a:prstGeom prst="rect">
            <a:avLst/>
          </a:prstGeom>
          <a:solidFill>
            <a:srgbClr val="06418C"/>
          </a:solidFill>
          <a:ln/>
        </p:spPr>
      </p:sp>
      <p:sp>
        <p:nvSpPr>
          <p:cNvPr id="10" name="Text 8"/>
          <p:cNvSpPr/>
          <p:nvPr/>
        </p:nvSpPr>
        <p:spPr>
          <a:xfrm>
            <a:off x="822960" y="1161288"/>
            <a:ext cx="3611880" cy="320040"/>
          </a:xfrm>
          <a:prstGeom prst="rect">
            <a:avLst/>
          </a:prstGeom>
          <a:noFill/>
          <a:ln/>
        </p:spPr>
        <p:txBody>
          <a:bodyPr wrap="square" lIns="0" tIns="0" rIns="0" bIns="0" rtlCol="0" anchor="t"/>
          <a:lstStyle/>
          <a:p>
            <a:pPr indent="0" marL="0">
              <a:buNone/>
            </a:pPr>
            <a:r>
              <a:rPr lang="en-US" sz="1400" b="1" dirty="0">
                <a:solidFill>
                  <a:srgbClr val="06418C"/>
                </a:solidFill>
                <a:latin typeface="Arial" pitchFamily="34" charset="0"/>
                <a:ea typeface="Arial" pitchFamily="34" charset="-122"/>
                <a:cs typeface="Arial" pitchFamily="34" charset="-120"/>
              </a:rPr>
              <a:t>Siemens: Industrial → Digital Platform</a:t>
            </a:r>
            <a:endParaRPr lang="en-US" sz="1400" dirty="0"/>
          </a:p>
        </p:txBody>
      </p:sp>
      <p:sp>
        <p:nvSpPr>
          <p:cNvPr id="11" name="Text 9"/>
          <p:cNvSpPr/>
          <p:nvPr/>
        </p:nvSpPr>
        <p:spPr>
          <a:xfrm>
            <a:off x="822960" y="1490472"/>
            <a:ext cx="3611880" cy="1298448"/>
          </a:xfrm>
          <a:prstGeom prst="rect">
            <a:avLst/>
          </a:prstGeom>
          <a:noFill/>
          <a:ln/>
        </p:spPr>
        <p:txBody>
          <a:bodyPr wrap="square" lIns="0" tIns="0" rIns="0" bIns="0" rtlCol="0" anchor="t"/>
          <a:lstStyle/>
          <a:p>
            <a:pPr indent="0" marL="0">
              <a:lnSpc>
                <a:spcPct val="120000"/>
              </a:lnSpc>
              <a:buNone/>
            </a:pPr>
            <a:r>
              <a:rPr lang="en-US" sz="1100" dirty="0">
                <a:solidFill>
                  <a:srgbClr val="4A4A4A"/>
                </a:solidFill>
                <a:latin typeface="Arial" pitchFamily="34" charset="0"/>
                <a:ea typeface="Arial" pitchFamily="34" charset="-122"/>
                <a:cs typeface="Arial" pitchFamily="34" charset="-120"/>
              </a:rPr>
              <a:t>Transformed over ~10 years to digital industry platform.</a:t>
            </a:r>
            <a:endParaRPr lang="en-US" sz="1100" dirty="0"/>
          </a:p>
          <a:p>
            <a:pPr indent="0" marL="0">
              <a:lnSpc>
                <a:spcPct val="120000"/>
              </a:lnSpc>
              <a:buNone/>
            </a:pPr>
            <a:r>
              <a:rPr lang="en-US" sz="1100" dirty="0">
                <a:solidFill>
                  <a:srgbClr val="4A4A4A"/>
                </a:solidFill>
                <a:latin typeface="Arial" pitchFamily="34" charset="0"/>
                <a:ea typeface="Arial" pitchFamily="34" charset="-122"/>
                <a:cs typeface="Arial" pitchFamily="34" charset="-120"/>
              </a:rPr>
              <a:t>Xcelerator: open platform connecting hardware, software, IoT.</a:t>
            </a:r>
            <a:endParaRPr lang="en-US" sz="1100" dirty="0"/>
          </a:p>
          <a:p>
            <a:pPr indent="0" marL="0">
              <a:lnSpc>
                <a:spcPct val="120000"/>
              </a:lnSpc>
              <a:buNone/>
            </a:pPr>
            <a:r>
              <a:rPr lang="en-US" sz="1100" dirty="0">
                <a:solidFill>
                  <a:srgbClr val="4A4A4A"/>
                </a:solidFill>
                <a:latin typeface="Arial" pitchFamily="34" charset="0"/>
                <a:ea typeface="Arial" pitchFamily="34" charset="-122"/>
                <a:cs typeface="Arial" pitchFamily="34" charset="-120"/>
              </a:rPr>
              <a:t>9 AI copilots across EDA (2026). First industrial foundation model.</a:t>
            </a:r>
            <a:endParaRPr lang="en-US" sz="1100" dirty="0"/>
          </a:p>
          <a:p>
            <a:pPr indent="0" marL="0">
              <a:lnSpc>
                <a:spcPct val="120000"/>
              </a:lnSpc>
              <a:buNone/>
            </a:pPr>
            <a:r>
              <a:rPr lang="en-US" sz="1100" dirty="0">
                <a:solidFill>
                  <a:srgbClr val="4A4A4A"/>
                </a:solidFill>
                <a:latin typeface="Arial" pitchFamily="34" charset="0"/>
                <a:ea typeface="Arial" pitchFamily="34" charset="-122"/>
                <a:cs typeface="Arial" pitchFamily="34" charset="-120"/>
              </a:rPr>
              <a:t>Acquired Mentor Graphics (EDA), Brightly, multiple digital tuck-ins.</a:t>
            </a:r>
            <a:endParaRPr lang="en-US" sz="1100" dirty="0"/>
          </a:p>
          <a:p>
            <a:pPr indent="0" marL="0">
              <a:lnSpc>
                <a:spcPct val="120000"/>
              </a:lnSpc>
              <a:buNone/>
            </a:pPr>
            <a:r>
              <a:rPr lang="en-US" sz="1100" dirty="0">
                <a:solidFill>
                  <a:srgbClr val="4A4A4A"/>
                </a:solidFill>
                <a:latin typeface="Arial" pitchFamily="34" charset="0"/>
                <a:ea typeface="Arial" pitchFamily="34" charset="-122"/>
                <a:cs typeface="Arial" pitchFamily="34" charset="-120"/>
              </a:rPr>
              <a:t>Lesson: industrial company + software platform = ecosystem lock-in.</a:t>
            </a:r>
            <a:endParaRPr lang="en-US" sz="1100" dirty="0"/>
          </a:p>
        </p:txBody>
      </p:sp>
      <p:sp>
        <p:nvSpPr>
          <p:cNvPr id="12" name="Shape 10"/>
          <p:cNvSpPr/>
          <p:nvPr/>
        </p:nvSpPr>
        <p:spPr>
          <a:xfrm>
            <a:off x="4754880" y="1051560"/>
            <a:ext cx="3749040" cy="18288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3" name="Shape 11"/>
          <p:cNvSpPr/>
          <p:nvPr/>
        </p:nvSpPr>
        <p:spPr>
          <a:xfrm>
            <a:off x="4754880" y="1051560"/>
            <a:ext cx="64008" cy="1828800"/>
          </a:xfrm>
          <a:prstGeom prst="rect">
            <a:avLst/>
          </a:prstGeom>
          <a:solidFill>
            <a:srgbClr val="042D5E"/>
          </a:solidFill>
          <a:ln/>
        </p:spPr>
      </p:sp>
      <p:sp>
        <p:nvSpPr>
          <p:cNvPr id="14" name="Text 12"/>
          <p:cNvSpPr/>
          <p:nvPr/>
        </p:nvSpPr>
        <p:spPr>
          <a:xfrm>
            <a:off x="4937760" y="1161288"/>
            <a:ext cx="3429000" cy="320040"/>
          </a:xfrm>
          <a:prstGeom prst="rect">
            <a:avLst/>
          </a:prstGeom>
          <a:noFill/>
          <a:ln/>
        </p:spPr>
        <p:txBody>
          <a:bodyPr wrap="square" lIns="0" tIns="0" rIns="0" bIns="0" rtlCol="0" anchor="t"/>
          <a:lstStyle/>
          <a:p>
            <a:pPr indent="0" marL="0">
              <a:buNone/>
            </a:pPr>
            <a:r>
              <a:rPr lang="en-US" sz="1400" b="1" dirty="0">
                <a:solidFill>
                  <a:srgbClr val="06418C"/>
                </a:solidFill>
                <a:latin typeface="Arial" pitchFamily="34" charset="0"/>
                <a:ea typeface="Arial" pitchFamily="34" charset="-122"/>
                <a:cs typeface="Arial" pitchFamily="34" charset="-120"/>
              </a:rPr>
              <a:t>NVIDIA Revenue Per Employee</a:t>
            </a:r>
            <a:endParaRPr lang="en-US" sz="1400" dirty="0"/>
          </a:p>
        </p:txBody>
      </p:sp>
      <p:sp>
        <p:nvSpPr>
          <p:cNvPr id="15" name="Text 13"/>
          <p:cNvSpPr/>
          <p:nvPr/>
        </p:nvSpPr>
        <p:spPr>
          <a:xfrm>
            <a:off x="4937760" y="1490472"/>
            <a:ext cx="3429000" cy="1298448"/>
          </a:xfrm>
          <a:prstGeom prst="rect">
            <a:avLst/>
          </a:prstGeom>
          <a:noFill/>
          <a:ln/>
        </p:spPr>
        <p:txBody>
          <a:bodyPr wrap="square" lIns="0" tIns="0" rIns="0" bIns="0" rtlCol="0" anchor="t"/>
          <a:lstStyle/>
          <a:p>
            <a:pPr indent="0" marL="0">
              <a:lnSpc>
                <a:spcPct val="120000"/>
              </a:lnSpc>
              <a:buNone/>
            </a:pPr>
            <a:r>
              <a:rPr lang="en-US" sz="1100" dirty="0">
                <a:solidFill>
                  <a:srgbClr val="4A4A4A"/>
                </a:solidFill>
                <a:latin typeface="Arial" pitchFamily="34" charset="0"/>
                <a:ea typeface="Arial" pitchFamily="34" charset="-122"/>
                <a:cs typeface="Arial" pitchFamily="34" charset="-120"/>
              </a:rPr>
              <a:t>2019: $882K → 2022: $1.2M → 2024: $2.06M → 2025: $3.62M</a:t>
            </a:r>
            <a:endParaRPr lang="en-US" sz="1100" dirty="0"/>
          </a:p>
          <a:p>
            <a:pPr indent="0" marL="0">
              <a:lnSpc>
                <a:spcPct val="120000"/>
              </a:lnSpc>
              <a:buNone/>
            </a:pPr>
            <a:endParaRPr lang="en-US" sz="1100" dirty="0"/>
          </a:p>
          <a:p>
            <a:pPr indent="0" marL="0">
              <a:lnSpc>
                <a:spcPct val="120000"/>
              </a:lnSpc>
              <a:buNone/>
            </a:pPr>
            <a:r>
              <a:rPr lang="en-US" sz="1100" dirty="0">
                <a:solidFill>
                  <a:srgbClr val="4A4A4A"/>
                </a:solidFill>
                <a:latin typeface="Arial" pitchFamily="34" charset="0"/>
                <a:ea typeface="Arial" pitchFamily="34" charset="-122"/>
                <a:cs typeface="Arial" pitchFamily="34" charset="-120"/>
              </a:rPr>
              <a:t>4x in 3 years. Same company, dramatically more output per person.</a:t>
            </a:r>
            <a:endParaRPr lang="en-US" sz="1100" dirty="0"/>
          </a:p>
          <a:p>
            <a:pPr indent="0" marL="0">
              <a:lnSpc>
                <a:spcPct val="120000"/>
              </a:lnSpc>
              <a:buNone/>
            </a:pPr>
            <a:r>
              <a:rPr lang="en-US" sz="1100" dirty="0">
                <a:solidFill>
                  <a:srgbClr val="4A4A4A"/>
                </a:solidFill>
                <a:latin typeface="Arial" pitchFamily="34" charset="0"/>
                <a:ea typeface="Arial" pitchFamily="34" charset="-122"/>
                <a:cs typeface="Arial" pitchFamily="34" charset="-120"/>
              </a:rPr>
              <a:t>This is what an AI-native operating model looks like financially:</a:t>
            </a:r>
            <a:endParaRPr lang="en-US" sz="1100" dirty="0"/>
          </a:p>
          <a:p>
            <a:pPr indent="0" marL="0">
              <a:lnSpc>
                <a:spcPct val="120000"/>
              </a:lnSpc>
              <a:buNone/>
            </a:pPr>
            <a:r>
              <a:rPr lang="en-US" sz="1100" dirty="0">
                <a:solidFill>
                  <a:srgbClr val="4A4A4A"/>
                </a:solidFill>
                <a:latin typeface="Arial" pitchFamily="34" charset="0"/>
                <a:ea typeface="Arial" pitchFamily="34" charset="-122"/>
                <a:cs typeface="Arial" pitchFamily="34" charset="-120"/>
              </a:rPr>
              <a:t>not more headcount — more leverage.</a:t>
            </a:r>
            <a:endParaRPr lang="en-US" sz="1100" dirty="0"/>
          </a:p>
        </p:txBody>
      </p:sp>
      <p:sp>
        <p:nvSpPr>
          <p:cNvPr id="16" name="Shape 14"/>
          <p:cNvSpPr/>
          <p:nvPr/>
        </p:nvSpPr>
        <p:spPr>
          <a:xfrm>
            <a:off x="640080" y="3291840"/>
            <a:ext cx="7863840" cy="45720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17" name="Text 15"/>
          <p:cNvSpPr/>
          <p:nvPr/>
        </p:nvSpPr>
        <p:spPr>
          <a:xfrm>
            <a:off x="822960" y="3291840"/>
            <a:ext cx="7498080" cy="457200"/>
          </a:xfrm>
          <a:prstGeom prst="rect">
            <a:avLst/>
          </a:prstGeom>
          <a:noFill/>
          <a:ln/>
        </p:spPr>
        <p:txBody>
          <a:bodyPr wrap="square" lIns="0" tIns="0" rIns="0" bIns="0" rtlCol="0" anchor="ctr"/>
          <a:lstStyle/>
          <a:p>
            <a:pPr indent="0" marL="0">
              <a:buNone/>
            </a:pPr>
            <a:r>
              <a:rPr lang="en-US" sz="1300" b="1" i="1" dirty="0">
                <a:solidFill>
                  <a:srgbClr val="06418C"/>
                </a:solidFill>
                <a:latin typeface="Arial" pitchFamily="34" charset="0"/>
                <a:ea typeface="Arial" pitchFamily="34" charset="-122"/>
                <a:cs typeface="Arial" pitchFamily="34" charset="-120"/>
              </a:rPr>
              <a:t>AI doesn't just reduce cost — it multiplies output per person. The companies deploying internally first create structural advantages.</a:t>
            </a:r>
            <a:endParaRPr lang="en-US" sz="1300" dirty="0"/>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42D5E"/>
        </a:solidFill>
        <a:effectLst/>
      </p:bgPr>
    </p:bg>
    <p:spTree>
      <p:nvGrpSpPr>
        <p:cNvPr id="1" name=""/>
        <p:cNvGrpSpPr/>
        <p:nvPr/>
      </p:nvGrpSpPr>
      <p:grpSpPr/>
      <p:sp>
        <p:nvSpPr>
          <p:cNvPr id="2" name="Shape 0"/>
          <p:cNvSpPr/>
          <p:nvPr/>
        </p:nvSpPr>
        <p:spPr>
          <a:xfrm>
            <a:off x="0" y="0"/>
            <a:ext cx="9144000" cy="36576"/>
          </a:xfrm>
          <a:prstGeom prst="rect">
            <a:avLst/>
          </a:prstGeom>
          <a:solidFill>
            <a:srgbClr val="4471A9"/>
          </a:solidFill>
          <a:ln/>
        </p:spPr>
      </p:sp>
      <p:sp>
        <p:nvSpPr>
          <p:cNvPr id="3" name="Text 1"/>
          <p:cNvSpPr/>
          <p:nvPr/>
        </p:nvSpPr>
        <p:spPr>
          <a:xfrm>
            <a:off x="640080" y="1371600"/>
            <a:ext cx="1097280" cy="731520"/>
          </a:xfrm>
          <a:prstGeom prst="rect">
            <a:avLst/>
          </a:prstGeom>
          <a:noFill/>
          <a:ln/>
        </p:spPr>
        <p:txBody>
          <a:bodyPr wrap="square" lIns="0" tIns="0" rIns="0" bIns="0" rtlCol="0" anchor="ctr"/>
          <a:lstStyle/>
          <a:p>
            <a:pPr indent="0" marL="0">
              <a:buNone/>
            </a:pPr>
            <a:r>
              <a:rPr lang="en-US" sz="4800" b="1" dirty="0">
                <a:solidFill>
                  <a:srgbClr val="4471A9"/>
                </a:solidFill>
                <a:latin typeface="Arial" pitchFamily="34" charset="0"/>
                <a:ea typeface="Arial" pitchFamily="34" charset="-122"/>
                <a:cs typeface="Arial" pitchFamily="34" charset="-120"/>
              </a:rPr>
              <a:t>09</a:t>
            </a:r>
            <a:endParaRPr lang="en-US" sz="4800" dirty="0"/>
          </a:p>
        </p:txBody>
      </p:sp>
      <p:sp>
        <p:nvSpPr>
          <p:cNvPr id="4" name="Text 2"/>
          <p:cNvSpPr/>
          <p:nvPr/>
        </p:nvSpPr>
        <p:spPr>
          <a:xfrm>
            <a:off x="640080" y="2103120"/>
            <a:ext cx="7315200" cy="914400"/>
          </a:xfrm>
          <a:prstGeom prst="rect">
            <a:avLst/>
          </a:prstGeom>
          <a:noFill/>
          <a:ln/>
        </p:spPr>
        <p:txBody>
          <a:bodyPr wrap="square" lIns="0" tIns="0" rIns="0" bIns="0" rtlCol="0" anchor="ctr"/>
          <a:lstStyle/>
          <a:p>
            <a:pPr indent="0" marL="0">
              <a:buNone/>
            </a:pPr>
            <a:r>
              <a:rPr lang="en-US" sz="3600" b="1" spc="300" kern="0" dirty="0">
                <a:solidFill>
                  <a:srgbClr val="FFFFFF"/>
                </a:solidFill>
                <a:latin typeface="Arial" pitchFamily="34" charset="0"/>
                <a:ea typeface="Arial" pitchFamily="34" charset="-122"/>
                <a:cs typeface="Arial" pitchFamily="34" charset="-120"/>
              </a:rPr>
              <a:t>FAILURE PATTERNS</a:t>
            </a:r>
            <a:endParaRPr lang="en-US" sz="3600" dirty="0"/>
          </a:p>
        </p:txBody>
      </p:sp>
      <p:sp>
        <p:nvSpPr>
          <p:cNvPr id="5" name="Text 3"/>
          <p:cNvSpPr/>
          <p:nvPr/>
        </p:nvSpPr>
        <p:spPr>
          <a:xfrm>
            <a:off x="640080" y="3017520"/>
            <a:ext cx="6400800" cy="548640"/>
          </a:xfrm>
          <a:prstGeom prst="rect">
            <a:avLst/>
          </a:prstGeom>
          <a:noFill/>
          <a:ln/>
        </p:spPr>
        <p:txBody>
          <a:bodyPr wrap="square" rtlCol="0" anchor="ctr"/>
          <a:lstStyle/>
          <a:p>
            <a:pPr indent="0" marL="0">
              <a:buNone/>
            </a:pPr>
            <a:r>
              <a:rPr lang="en-US" sz="1600" dirty="0">
                <a:solidFill>
                  <a:srgbClr val="4471A9"/>
                </a:solidFill>
                <a:latin typeface="Arial" pitchFamily="34" charset="0"/>
                <a:ea typeface="Arial" pitchFamily="34" charset="-122"/>
                <a:cs typeface="Arial" pitchFamily="34" charset="-120"/>
              </a:rPr>
              <a:t>The transformation graveyard is specific. These are avoidable.</a:t>
            </a:r>
            <a:endParaRPr lang="en-US" sz="1600" dirty="0"/>
          </a:p>
        </p:txBody>
      </p:sp>
      <p:sp>
        <p:nvSpPr>
          <p:cNvPr id="6" name="Shape 4"/>
          <p:cNvSpPr/>
          <p:nvPr/>
        </p:nvSpPr>
        <p:spPr>
          <a:xfrm>
            <a:off x="0" y="5106924"/>
            <a:ext cx="9144000" cy="36576"/>
          </a:xfrm>
          <a:prstGeom prst="rect">
            <a:avLst/>
          </a:prstGeom>
          <a:solidFill>
            <a:srgbClr val="993399"/>
          </a:solidFill>
          <a:ln/>
        </p:spPr>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400" b="1" dirty="0">
                <a:solidFill>
                  <a:srgbClr val="06418C"/>
                </a:solidFill>
                <a:latin typeface="Arial" pitchFamily="34" charset="0"/>
                <a:ea typeface="Arial" pitchFamily="34" charset="-122"/>
                <a:cs typeface="Arial" pitchFamily="34" charset="-120"/>
              </a:rPr>
              <a:t>Six failure patterns we are designing around.</a:t>
            </a:r>
            <a:endParaRPr lang="en-US" sz="24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48</a:t>
            </a:r>
            <a:endParaRPr lang="en-US" sz="700" dirty="0"/>
          </a:p>
        </p:txBody>
      </p:sp>
      <p:sp>
        <p:nvSpPr>
          <p:cNvPr id="8" name="Shape 6"/>
          <p:cNvSpPr/>
          <p:nvPr/>
        </p:nvSpPr>
        <p:spPr>
          <a:xfrm>
            <a:off x="640080" y="1005840"/>
            <a:ext cx="2468880" cy="13258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9" name="Shape 7"/>
          <p:cNvSpPr/>
          <p:nvPr/>
        </p:nvSpPr>
        <p:spPr>
          <a:xfrm>
            <a:off x="640080" y="1005840"/>
            <a:ext cx="2468880" cy="320040"/>
          </a:xfrm>
          <a:prstGeom prst="rect">
            <a:avLst/>
          </a:prstGeom>
          <a:solidFill>
            <a:srgbClr val="D70000"/>
          </a:solidFill>
          <a:ln/>
        </p:spPr>
      </p:sp>
      <p:sp>
        <p:nvSpPr>
          <p:cNvPr id="10" name="Text 8"/>
          <p:cNvSpPr/>
          <p:nvPr/>
        </p:nvSpPr>
        <p:spPr>
          <a:xfrm>
            <a:off x="640080" y="1005840"/>
            <a:ext cx="24688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Technology-First</a:t>
            </a:r>
            <a:endParaRPr lang="en-US" sz="1200" dirty="0"/>
          </a:p>
        </p:txBody>
      </p:sp>
      <p:sp>
        <p:nvSpPr>
          <p:cNvPr id="11" name="Text 9"/>
          <p:cNvSpPr/>
          <p:nvPr/>
        </p:nvSpPr>
        <p:spPr>
          <a:xfrm>
            <a:off x="749808" y="1389888"/>
            <a:ext cx="2249424" cy="274320"/>
          </a:xfrm>
          <a:prstGeom prst="rect">
            <a:avLst/>
          </a:prstGeom>
          <a:noFill/>
          <a:ln/>
        </p:spPr>
        <p:txBody>
          <a:bodyPr wrap="square" lIns="0" tIns="0" rIns="0" bIns="0" rtlCol="0" anchor="ctr"/>
          <a:lstStyle/>
          <a:p>
            <a:pPr indent="0" marL="0">
              <a:buNone/>
            </a:pPr>
            <a:r>
              <a:rPr lang="en-US" sz="1000" b="1" dirty="0">
                <a:solidFill>
                  <a:srgbClr val="06418C"/>
                </a:solidFill>
                <a:latin typeface="Arial" pitchFamily="34" charset="0"/>
                <a:ea typeface="Arial" pitchFamily="34" charset="-122"/>
                <a:cs typeface="Arial" pitchFamily="34" charset="-120"/>
              </a:rPr>
              <a:t>IBM Watson Health — $4B+ loss</a:t>
            </a:r>
            <a:endParaRPr lang="en-US" sz="1000" dirty="0"/>
          </a:p>
        </p:txBody>
      </p:sp>
      <p:sp>
        <p:nvSpPr>
          <p:cNvPr id="12" name="Text 10"/>
          <p:cNvSpPr/>
          <p:nvPr/>
        </p:nvSpPr>
        <p:spPr>
          <a:xfrm>
            <a:off x="749808" y="1691640"/>
            <a:ext cx="2249424" cy="502920"/>
          </a:xfrm>
          <a:prstGeom prst="rect">
            <a:avLst/>
          </a:prstGeom>
          <a:noFill/>
          <a:ln/>
        </p:spPr>
        <p:txBody>
          <a:bodyPr wrap="square" lIns="0" tIns="0" rIns="0" bIns="0" rtlCol="0" anchor="ctr"/>
          <a:lstStyle/>
          <a:p>
            <a:pPr indent="0" marL="0">
              <a:lnSpc>
                <a:spcPct val="120000"/>
              </a:lnSpc>
              <a:buNone/>
            </a:pPr>
            <a:r>
              <a:rPr lang="en-US" sz="1000" dirty="0">
                <a:solidFill>
                  <a:srgbClr val="4A4A4A"/>
                </a:solidFill>
                <a:latin typeface="Arial" pitchFamily="34" charset="0"/>
                <a:ea typeface="Arial" pitchFamily="34" charset="-122"/>
                <a:cs typeface="Arial" pitchFamily="34" charset="-120"/>
              </a:rPr>
              <a:t>Built capability before understanding domain</a:t>
            </a:r>
            <a:endParaRPr lang="en-US" sz="1000" dirty="0"/>
          </a:p>
        </p:txBody>
      </p:sp>
      <p:sp>
        <p:nvSpPr>
          <p:cNvPr id="13" name="Shape 11"/>
          <p:cNvSpPr/>
          <p:nvPr/>
        </p:nvSpPr>
        <p:spPr>
          <a:xfrm>
            <a:off x="3337560" y="1005840"/>
            <a:ext cx="2468880" cy="13258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4" name="Shape 12"/>
          <p:cNvSpPr/>
          <p:nvPr/>
        </p:nvSpPr>
        <p:spPr>
          <a:xfrm>
            <a:off x="3337560" y="1005840"/>
            <a:ext cx="2468880" cy="320040"/>
          </a:xfrm>
          <a:prstGeom prst="rect">
            <a:avLst/>
          </a:prstGeom>
          <a:solidFill>
            <a:srgbClr val="D70000"/>
          </a:solidFill>
          <a:ln/>
        </p:spPr>
      </p:sp>
      <p:sp>
        <p:nvSpPr>
          <p:cNvPr id="15" name="Text 13"/>
          <p:cNvSpPr/>
          <p:nvPr/>
        </p:nvSpPr>
        <p:spPr>
          <a:xfrm>
            <a:off x="3337560" y="1005840"/>
            <a:ext cx="24688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PoC Graveyard</a:t>
            </a:r>
            <a:endParaRPr lang="en-US" sz="1200" dirty="0"/>
          </a:p>
        </p:txBody>
      </p:sp>
      <p:sp>
        <p:nvSpPr>
          <p:cNvPr id="16" name="Text 14"/>
          <p:cNvSpPr/>
          <p:nvPr/>
        </p:nvSpPr>
        <p:spPr>
          <a:xfrm>
            <a:off x="3447288" y="1389888"/>
            <a:ext cx="2249424" cy="274320"/>
          </a:xfrm>
          <a:prstGeom prst="rect">
            <a:avLst/>
          </a:prstGeom>
          <a:noFill/>
          <a:ln/>
        </p:spPr>
        <p:txBody>
          <a:bodyPr wrap="square" lIns="0" tIns="0" rIns="0" bIns="0" rtlCol="0" anchor="ctr"/>
          <a:lstStyle/>
          <a:p>
            <a:pPr indent="0" marL="0">
              <a:buNone/>
            </a:pPr>
            <a:r>
              <a:rPr lang="en-US" sz="1000" b="1" dirty="0">
                <a:solidFill>
                  <a:srgbClr val="06418C"/>
                </a:solidFill>
                <a:latin typeface="Arial" pitchFamily="34" charset="0"/>
                <a:ea typeface="Arial" pitchFamily="34" charset="-122"/>
                <a:cs typeface="Arial" pitchFamily="34" charset="-120"/>
              </a:rPr>
              <a:t>70-88% of PoCs never ship</a:t>
            </a:r>
            <a:endParaRPr lang="en-US" sz="1000" dirty="0"/>
          </a:p>
        </p:txBody>
      </p:sp>
      <p:sp>
        <p:nvSpPr>
          <p:cNvPr id="17" name="Text 15"/>
          <p:cNvSpPr/>
          <p:nvPr/>
        </p:nvSpPr>
        <p:spPr>
          <a:xfrm>
            <a:off x="3447288" y="1691640"/>
            <a:ext cx="2249424" cy="502920"/>
          </a:xfrm>
          <a:prstGeom prst="rect">
            <a:avLst/>
          </a:prstGeom>
          <a:noFill/>
          <a:ln/>
        </p:spPr>
        <p:txBody>
          <a:bodyPr wrap="square" lIns="0" tIns="0" rIns="0" bIns="0" rtlCol="0" anchor="ctr"/>
          <a:lstStyle/>
          <a:p>
            <a:pPr indent="0" marL="0">
              <a:lnSpc>
                <a:spcPct val="120000"/>
              </a:lnSpc>
              <a:buNone/>
            </a:pPr>
            <a:r>
              <a:rPr lang="en-US" sz="1000" dirty="0">
                <a:solidFill>
                  <a:srgbClr val="4A4A4A"/>
                </a:solidFill>
                <a:latin typeface="Arial" pitchFamily="34" charset="0"/>
                <a:ea typeface="Arial" pitchFamily="34" charset="-122"/>
                <a:cs typeface="Arial" pitchFamily="34" charset="-120"/>
              </a:rPr>
              <a:t>No pathway from pilot to production defined</a:t>
            </a:r>
            <a:endParaRPr lang="en-US" sz="1000" dirty="0"/>
          </a:p>
        </p:txBody>
      </p:sp>
      <p:sp>
        <p:nvSpPr>
          <p:cNvPr id="18" name="Shape 16"/>
          <p:cNvSpPr/>
          <p:nvPr/>
        </p:nvSpPr>
        <p:spPr>
          <a:xfrm>
            <a:off x="6035040" y="1005840"/>
            <a:ext cx="2468880" cy="13258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9" name="Shape 17"/>
          <p:cNvSpPr/>
          <p:nvPr/>
        </p:nvSpPr>
        <p:spPr>
          <a:xfrm>
            <a:off x="6035040" y="1005840"/>
            <a:ext cx="2468880" cy="320040"/>
          </a:xfrm>
          <a:prstGeom prst="rect">
            <a:avLst/>
          </a:prstGeom>
          <a:solidFill>
            <a:srgbClr val="D70000"/>
          </a:solidFill>
          <a:ln/>
        </p:spPr>
      </p:sp>
      <p:sp>
        <p:nvSpPr>
          <p:cNvPr id="20" name="Text 18"/>
          <p:cNvSpPr/>
          <p:nvPr/>
        </p:nvSpPr>
        <p:spPr>
          <a:xfrm>
            <a:off x="6035040" y="1005840"/>
            <a:ext cx="24688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Replacement Framing</a:t>
            </a:r>
            <a:endParaRPr lang="en-US" sz="1200" dirty="0"/>
          </a:p>
        </p:txBody>
      </p:sp>
      <p:sp>
        <p:nvSpPr>
          <p:cNvPr id="21" name="Text 19"/>
          <p:cNvSpPr/>
          <p:nvPr/>
        </p:nvSpPr>
        <p:spPr>
          <a:xfrm>
            <a:off x="6144768" y="1389888"/>
            <a:ext cx="2249424" cy="274320"/>
          </a:xfrm>
          <a:prstGeom prst="rect">
            <a:avLst/>
          </a:prstGeom>
          <a:noFill/>
          <a:ln/>
        </p:spPr>
        <p:txBody>
          <a:bodyPr wrap="square" lIns="0" tIns="0" rIns="0" bIns="0" rtlCol="0" anchor="ctr"/>
          <a:lstStyle/>
          <a:p>
            <a:pPr indent="0" marL="0">
              <a:buNone/>
            </a:pPr>
            <a:r>
              <a:rPr lang="en-US" sz="1000" b="1" dirty="0">
                <a:solidFill>
                  <a:srgbClr val="06418C"/>
                </a:solidFill>
                <a:latin typeface="Arial" pitchFamily="34" charset="0"/>
                <a:ea typeface="Arial" pitchFamily="34" charset="-122"/>
                <a:cs typeface="Arial" pitchFamily="34" charset="-120"/>
              </a:rPr>
              <a:t>Klarna — reversed workforce cuts</a:t>
            </a:r>
            <a:endParaRPr lang="en-US" sz="1000" dirty="0"/>
          </a:p>
        </p:txBody>
      </p:sp>
      <p:sp>
        <p:nvSpPr>
          <p:cNvPr id="22" name="Text 20"/>
          <p:cNvSpPr/>
          <p:nvPr/>
        </p:nvSpPr>
        <p:spPr>
          <a:xfrm>
            <a:off x="6144768" y="1691640"/>
            <a:ext cx="2249424" cy="502920"/>
          </a:xfrm>
          <a:prstGeom prst="rect">
            <a:avLst/>
          </a:prstGeom>
          <a:noFill/>
          <a:ln/>
        </p:spPr>
        <p:txBody>
          <a:bodyPr wrap="square" lIns="0" tIns="0" rIns="0" bIns="0" rtlCol="0" anchor="ctr"/>
          <a:lstStyle/>
          <a:p>
            <a:pPr indent="0" marL="0">
              <a:lnSpc>
                <a:spcPct val="120000"/>
              </a:lnSpc>
              <a:buNone/>
            </a:pPr>
            <a:r>
              <a:rPr lang="en-US" sz="1000" dirty="0">
                <a:solidFill>
                  <a:srgbClr val="4A4A4A"/>
                </a:solidFill>
                <a:latin typeface="Arial" pitchFamily="34" charset="0"/>
                <a:ea typeface="Arial" pitchFamily="34" charset="-122"/>
                <a:cs typeface="Arial" pitchFamily="34" charset="-120"/>
              </a:rPr>
              <a:t>Service quality collapsed. CEO reversed course</a:t>
            </a:r>
            <a:endParaRPr lang="en-US" sz="1000" dirty="0"/>
          </a:p>
        </p:txBody>
      </p:sp>
      <p:sp>
        <p:nvSpPr>
          <p:cNvPr id="23" name="Shape 21"/>
          <p:cNvSpPr/>
          <p:nvPr/>
        </p:nvSpPr>
        <p:spPr>
          <a:xfrm>
            <a:off x="640080" y="2514600"/>
            <a:ext cx="2468880" cy="13258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4" name="Shape 22"/>
          <p:cNvSpPr/>
          <p:nvPr/>
        </p:nvSpPr>
        <p:spPr>
          <a:xfrm>
            <a:off x="640080" y="2514600"/>
            <a:ext cx="2468880" cy="320040"/>
          </a:xfrm>
          <a:prstGeom prst="rect">
            <a:avLst/>
          </a:prstGeom>
          <a:solidFill>
            <a:srgbClr val="D70000"/>
          </a:solidFill>
          <a:ln/>
        </p:spPr>
      </p:sp>
      <p:sp>
        <p:nvSpPr>
          <p:cNvPr id="25" name="Text 23"/>
          <p:cNvSpPr/>
          <p:nvPr/>
        </p:nvSpPr>
        <p:spPr>
          <a:xfrm>
            <a:off x="640080" y="2514600"/>
            <a:ext cx="24688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Data Underestimated</a:t>
            </a:r>
            <a:endParaRPr lang="en-US" sz="1200" dirty="0"/>
          </a:p>
        </p:txBody>
      </p:sp>
      <p:sp>
        <p:nvSpPr>
          <p:cNvPr id="26" name="Text 24"/>
          <p:cNvSpPr/>
          <p:nvPr/>
        </p:nvSpPr>
        <p:spPr>
          <a:xfrm>
            <a:off x="749808" y="2898648"/>
            <a:ext cx="2249424" cy="274320"/>
          </a:xfrm>
          <a:prstGeom prst="rect">
            <a:avLst/>
          </a:prstGeom>
          <a:noFill/>
          <a:ln/>
        </p:spPr>
        <p:txBody>
          <a:bodyPr wrap="square" lIns="0" tIns="0" rIns="0" bIns="0" rtlCol="0" anchor="ctr"/>
          <a:lstStyle/>
          <a:p>
            <a:pPr indent="0" marL="0">
              <a:buNone/>
            </a:pPr>
            <a:r>
              <a:rPr lang="en-US" sz="1000" b="1" dirty="0">
                <a:solidFill>
                  <a:srgbClr val="06418C"/>
                </a:solidFill>
                <a:latin typeface="Arial" pitchFamily="34" charset="0"/>
                <a:ea typeface="Arial" pitchFamily="34" charset="-122"/>
                <a:cs typeface="Arial" pitchFamily="34" charset="-120"/>
              </a:rPr>
              <a:t>Industry-wide pattern</a:t>
            </a:r>
            <a:endParaRPr lang="en-US" sz="1000" dirty="0"/>
          </a:p>
        </p:txBody>
      </p:sp>
      <p:sp>
        <p:nvSpPr>
          <p:cNvPr id="27" name="Text 25"/>
          <p:cNvSpPr/>
          <p:nvPr/>
        </p:nvSpPr>
        <p:spPr>
          <a:xfrm>
            <a:off x="749808" y="3200400"/>
            <a:ext cx="2249424" cy="502920"/>
          </a:xfrm>
          <a:prstGeom prst="rect">
            <a:avLst/>
          </a:prstGeom>
          <a:noFill/>
          <a:ln/>
        </p:spPr>
        <p:txBody>
          <a:bodyPr wrap="square" lIns="0" tIns="0" rIns="0" bIns="0" rtlCol="0" anchor="ctr"/>
          <a:lstStyle/>
          <a:p>
            <a:pPr indent="0" marL="0">
              <a:lnSpc>
                <a:spcPct val="120000"/>
              </a:lnSpc>
              <a:buNone/>
            </a:pPr>
            <a:r>
              <a:rPr lang="en-US" sz="1000" dirty="0">
                <a:solidFill>
                  <a:srgbClr val="4A4A4A"/>
                </a:solidFill>
                <a:latin typeface="Arial" pitchFamily="34" charset="0"/>
                <a:ea typeface="Arial" pitchFamily="34" charset="-122"/>
                <a:cs typeface="Arial" pitchFamily="34" charset="-120"/>
              </a:rPr>
              <a:t>Models on ungoverned data = garbage</a:t>
            </a:r>
            <a:endParaRPr lang="en-US" sz="1000" dirty="0"/>
          </a:p>
        </p:txBody>
      </p:sp>
      <p:sp>
        <p:nvSpPr>
          <p:cNvPr id="28" name="Shape 26"/>
          <p:cNvSpPr/>
          <p:nvPr/>
        </p:nvSpPr>
        <p:spPr>
          <a:xfrm>
            <a:off x="3337560" y="2514600"/>
            <a:ext cx="2468880" cy="13258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9" name="Shape 27"/>
          <p:cNvSpPr/>
          <p:nvPr/>
        </p:nvSpPr>
        <p:spPr>
          <a:xfrm>
            <a:off x="3337560" y="2514600"/>
            <a:ext cx="2468880" cy="320040"/>
          </a:xfrm>
          <a:prstGeom prst="rect">
            <a:avLst/>
          </a:prstGeom>
          <a:solidFill>
            <a:srgbClr val="D70000"/>
          </a:solidFill>
          <a:ln/>
        </p:spPr>
      </p:sp>
      <p:sp>
        <p:nvSpPr>
          <p:cNvPr id="30" name="Text 28"/>
          <p:cNvSpPr/>
          <p:nvPr/>
        </p:nvSpPr>
        <p:spPr>
          <a:xfrm>
            <a:off x="3337560" y="2514600"/>
            <a:ext cx="24688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Product/Internal Gap</a:t>
            </a:r>
            <a:endParaRPr lang="en-US" sz="1200" dirty="0"/>
          </a:p>
        </p:txBody>
      </p:sp>
      <p:sp>
        <p:nvSpPr>
          <p:cNvPr id="31" name="Text 29"/>
          <p:cNvSpPr/>
          <p:nvPr/>
        </p:nvSpPr>
        <p:spPr>
          <a:xfrm>
            <a:off x="3447288" y="2898648"/>
            <a:ext cx="2249424" cy="274320"/>
          </a:xfrm>
          <a:prstGeom prst="rect">
            <a:avLst/>
          </a:prstGeom>
          <a:noFill/>
          <a:ln/>
        </p:spPr>
        <p:txBody>
          <a:bodyPr wrap="square" lIns="0" tIns="0" rIns="0" bIns="0" rtlCol="0" anchor="ctr"/>
          <a:lstStyle/>
          <a:p>
            <a:pPr indent="0" marL="0">
              <a:buNone/>
            </a:pPr>
            <a:r>
              <a:rPr lang="en-US" sz="1000" b="1" dirty="0">
                <a:solidFill>
                  <a:srgbClr val="06418C"/>
                </a:solidFill>
                <a:latin typeface="Arial" pitchFamily="34" charset="0"/>
                <a:ea typeface="Arial" pitchFamily="34" charset="-122"/>
                <a:cs typeface="Arial" pitchFamily="34" charset="-120"/>
              </a:rPr>
              <a:t>Infineon</a:t>
            </a:r>
            <a:endParaRPr lang="en-US" sz="1000" dirty="0"/>
          </a:p>
        </p:txBody>
      </p:sp>
      <p:sp>
        <p:nvSpPr>
          <p:cNvPr id="32" name="Text 30"/>
          <p:cNvSpPr/>
          <p:nvPr/>
        </p:nvSpPr>
        <p:spPr>
          <a:xfrm>
            <a:off x="3447288" y="3200400"/>
            <a:ext cx="2249424" cy="502920"/>
          </a:xfrm>
          <a:prstGeom prst="rect">
            <a:avLst/>
          </a:prstGeom>
          <a:noFill/>
          <a:ln/>
        </p:spPr>
        <p:txBody>
          <a:bodyPr wrap="square" lIns="0" tIns="0" rIns="0" bIns="0" rtlCol="0" anchor="ctr"/>
          <a:lstStyle/>
          <a:p>
            <a:pPr indent="0" marL="0">
              <a:lnSpc>
                <a:spcPct val="120000"/>
              </a:lnSpc>
              <a:buNone/>
            </a:pPr>
            <a:r>
              <a:rPr lang="en-US" sz="1000" dirty="0">
                <a:solidFill>
                  <a:srgbClr val="4A4A4A"/>
                </a:solidFill>
                <a:latin typeface="Arial" pitchFamily="34" charset="0"/>
                <a:ea typeface="Arial" pitchFamily="34" charset="-122"/>
                <a:cs typeface="Arial" pitchFamily="34" charset="-120"/>
              </a:rPr>
              <a:t>External AI story; internal capability lagging</a:t>
            </a:r>
            <a:endParaRPr lang="en-US" sz="1000" dirty="0"/>
          </a:p>
        </p:txBody>
      </p:sp>
      <p:sp>
        <p:nvSpPr>
          <p:cNvPr id="33" name="Shape 31"/>
          <p:cNvSpPr/>
          <p:nvPr/>
        </p:nvSpPr>
        <p:spPr>
          <a:xfrm>
            <a:off x="6035040" y="2514600"/>
            <a:ext cx="2468880" cy="13258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34" name="Shape 32"/>
          <p:cNvSpPr/>
          <p:nvPr/>
        </p:nvSpPr>
        <p:spPr>
          <a:xfrm>
            <a:off x="6035040" y="2514600"/>
            <a:ext cx="2468880" cy="320040"/>
          </a:xfrm>
          <a:prstGeom prst="rect">
            <a:avLst/>
          </a:prstGeom>
          <a:solidFill>
            <a:srgbClr val="D70000"/>
          </a:solidFill>
          <a:ln/>
        </p:spPr>
      </p:sp>
      <p:sp>
        <p:nvSpPr>
          <p:cNvPr id="35" name="Text 33"/>
          <p:cNvSpPr/>
          <p:nvPr/>
        </p:nvSpPr>
        <p:spPr>
          <a:xfrm>
            <a:off x="6035040" y="2514600"/>
            <a:ext cx="24688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Japan's Digital Cliff</a:t>
            </a:r>
            <a:endParaRPr lang="en-US" sz="1200" dirty="0"/>
          </a:p>
        </p:txBody>
      </p:sp>
      <p:sp>
        <p:nvSpPr>
          <p:cNvPr id="36" name="Text 34"/>
          <p:cNvSpPr/>
          <p:nvPr/>
        </p:nvSpPr>
        <p:spPr>
          <a:xfrm>
            <a:off x="6144768" y="2898648"/>
            <a:ext cx="2249424" cy="274320"/>
          </a:xfrm>
          <a:prstGeom prst="rect">
            <a:avLst/>
          </a:prstGeom>
          <a:noFill/>
          <a:ln/>
        </p:spPr>
        <p:txBody>
          <a:bodyPr wrap="square" lIns="0" tIns="0" rIns="0" bIns="0" rtlCol="0" anchor="ctr"/>
          <a:lstStyle/>
          <a:p>
            <a:pPr indent="0" marL="0">
              <a:buNone/>
            </a:pPr>
            <a:r>
              <a:rPr lang="en-US" sz="1000" b="1" dirty="0">
                <a:solidFill>
                  <a:srgbClr val="06418C"/>
                </a:solidFill>
                <a:latin typeface="Arial" pitchFamily="34" charset="0"/>
                <a:ea typeface="Arial" pitchFamily="34" charset="-122"/>
                <a:cs typeface="Arial" pitchFamily="34" charset="-120"/>
              </a:rPr>
              <a:t>METI 2018 — ¥12T/yr losses</a:t>
            </a:r>
            <a:endParaRPr lang="en-US" sz="1000" dirty="0"/>
          </a:p>
        </p:txBody>
      </p:sp>
      <p:sp>
        <p:nvSpPr>
          <p:cNvPr id="37" name="Text 35"/>
          <p:cNvSpPr/>
          <p:nvPr/>
        </p:nvSpPr>
        <p:spPr>
          <a:xfrm>
            <a:off x="6144768" y="3200400"/>
            <a:ext cx="2249424" cy="502920"/>
          </a:xfrm>
          <a:prstGeom prst="rect">
            <a:avLst/>
          </a:prstGeom>
          <a:noFill/>
          <a:ln/>
        </p:spPr>
        <p:txBody>
          <a:bodyPr wrap="square" lIns="0" tIns="0" rIns="0" bIns="0" rtlCol="0" anchor="ctr"/>
          <a:lstStyle/>
          <a:p>
            <a:pPr indent="0" marL="0">
              <a:lnSpc>
                <a:spcPct val="120000"/>
              </a:lnSpc>
              <a:buNone/>
            </a:pPr>
            <a:r>
              <a:rPr lang="en-US" sz="1000" dirty="0">
                <a:solidFill>
                  <a:srgbClr val="4A4A4A"/>
                </a:solidFill>
                <a:latin typeface="Arial" pitchFamily="34" charset="0"/>
                <a:ea typeface="Arial" pitchFamily="34" charset="-122"/>
                <a:cs typeface="Arial" pitchFamily="34" charset="-120"/>
              </a:rPr>
              <a:t>76.8% launched DX; only ~1 in 3 got results</a:t>
            </a:r>
            <a:endParaRPr lang="en-US" sz="1000" dirty="0"/>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42D5E"/>
        </a:solidFill>
        <a:effectLst/>
      </p:bgPr>
    </p:bg>
    <p:spTree>
      <p:nvGrpSpPr>
        <p:cNvPr id="1" name=""/>
        <p:cNvGrpSpPr/>
        <p:nvPr/>
      </p:nvGrpSpPr>
      <p:grpSpPr/>
      <p:sp>
        <p:nvSpPr>
          <p:cNvPr id="2" name="Shape 0"/>
          <p:cNvSpPr/>
          <p:nvPr/>
        </p:nvSpPr>
        <p:spPr>
          <a:xfrm>
            <a:off x="0" y="0"/>
            <a:ext cx="9144000" cy="36576"/>
          </a:xfrm>
          <a:prstGeom prst="rect">
            <a:avLst/>
          </a:prstGeom>
          <a:solidFill>
            <a:srgbClr val="4471A9"/>
          </a:solidFill>
          <a:ln/>
        </p:spPr>
      </p:sp>
      <p:sp>
        <p:nvSpPr>
          <p:cNvPr id="3" name="Text 1"/>
          <p:cNvSpPr/>
          <p:nvPr/>
        </p:nvSpPr>
        <p:spPr>
          <a:xfrm>
            <a:off x="640080" y="320040"/>
            <a:ext cx="786384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Knowing what to avoid is half the strategy.</a:t>
            </a:r>
            <a:endParaRPr lang="en-US" sz="2600" dirty="0"/>
          </a:p>
        </p:txBody>
      </p:sp>
      <p:sp>
        <p:nvSpPr>
          <p:cNvPr id="4" name="Shape 2"/>
          <p:cNvSpPr/>
          <p:nvPr/>
        </p:nvSpPr>
        <p:spPr>
          <a:xfrm>
            <a:off x="914400" y="1371600"/>
            <a:ext cx="7315200" cy="685800"/>
          </a:xfrm>
          <a:prstGeom prst="rect">
            <a:avLst/>
          </a:prstGeom>
          <a:solidFill>
            <a:srgbClr val="06418C"/>
          </a:solidFill>
          <a:ln/>
        </p:spPr>
      </p:sp>
      <p:sp>
        <p:nvSpPr>
          <p:cNvPr id="5" name="Text 3"/>
          <p:cNvSpPr/>
          <p:nvPr/>
        </p:nvSpPr>
        <p:spPr>
          <a:xfrm>
            <a:off x="1097280" y="1371600"/>
            <a:ext cx="6949440" cy="685800"/>
          </a:xfrm>
          <a:prstGeom prst="rect">
            <a:avLst/>
          </a:prstGeom>
          <a:noFill/>
          <a:ln/>
        </p:spPr>
        <p:txBody>
          <a:bodyPr wrap="square" lIns="0" tIns="0" rIns="0" bIns="0" rtlCol="0" anchor="ctr"/>
          <a:lstStyle/>
          <a:p>
            <a:pPr indent="0" marL="0">
              <a:buNone/>
            </a:pPr>
            <a:r>
              <a:rPr lang="en-US" sz="1500" b="1" i="1" dirty="0">
                <a:solidFill>
                  <a:srgbClr val="FFFFFF"/>
                </a:solidFill>
                <a:latin typeface="Arial" pitchFamily="34" charset="0"/>
                <a:ea typeface="Arial" pitchFamily="34" charset="-122"/>
                <a:cs typeface="Arial" pitchFamily="34" charset="-120"/>
              </a:rPr>
              <a:t>"We will not run pilots that are not designed to reach production."</a:t>
            </a:r>
            <a:endParaRPr lang="en-US" sz="1500" dirty="0"/>
          </a:p>
        </p:txBody>
      </p:sp>
      <p:sp>
        <p:nvSpPr>
          <p:cNvPr id="6" name="Shape 4"/>
          <p:cNvSpPr/>
          <p:nvPr/>
        </p:nvSpPr>
        <p:spPr>
          <a:xfrm>
            <a:off x="914400" y="2286000"/>
            <a:ext cx="7315200" cy="685800"/>
          </a:xfrm>
          <a:prstGeom prst="rect">
            <a:avLst/>
          </a:prstGeom>
          <a:solidFill>
            <a:srgbClr val="06418C"/>
          </a:solidFill>
          <a:ln/>
        </p:spPr>
      </p:sp>
      <p:sp>
        <p:nvSpPr>
          <p:cNvPr id="7" name="Text 5"/>
          <p:cNvSpPr/>
          <p:nvPr/>
        </p:nvSpPr>
        <p:spPr>
          <a:xfrm>
            <a:off x="1097280" y="2286000"/>
            <a:ext cx="6949440" cy="685800"/>
          </a:xfrm>
          <a:prstGeom prst="rect">
            <a:avLst/>
          </a:prstGeom>
          <a:noFill/>
          <a:ln/>
        </p:spPr>
        <p:txBody>
          <a:bodyPr wrap="square" lIns="0" tIns="0" rIns="0" bIns="0" rtlCol="0" anchor="ctr"/>
          <a:lstStyle/>
          <a:p>
            <a:pPr indent="0" marL="0">
              <a:buNone/>
            </a:pPr>
            <a:r>
              <a:rPr lang="en-US" sz="1500" b="1" i="1" dirty="0">
                <a:solidFill>
                  <a:srgbClr val="FFFFFF"/>
                </a:solidFill>
                <a:latin typeface="Arial" pitchFamily="34" charset="0"/>
                <a:ea typeface="Arial" pitchFamily="34" charset="-122"/>
                <a:cs typeface="Arial" pitchFamily="34" charset="-120"/>
              </a:rPr>
              <a:t>"We will not frame AI as headcount reduction. The workforce evolves — it doesn't shrink."</a:t>
            </a:r>
            <a:endParaRPr lang="en-US" sz="1500" dirty="0"/>
          </a:p>
        </p:txBody>
      </p:sp>
      <p:sp>
        <p:nvSpPr>
          <p:cNvPr id="8" name="Shape 6"/>
          <p:cNvSpPr/>
          <p:nvPr/>
        </p:nvSpPr>
        <p:spPr>
          <a:xfrm>
            <a:off x="914400" y="3200400"/>
            <a:ext cx="7315200" cy="685800"/>
          </a:xfrm>
          <a:prstGeom prst="rect">
            <a:avLst/>
          </a:prstGeom>
          <a:solidFill>
            <a:srgbClr val="06418C"/>
          </a:solidFill>
          <a:ln/>
        </p:spPr>
      </p:sp>
      <p:sp>
        <p:nvSpPr>
          <p:cNvPr id="9" name="Text 7"/>
          <p:cNvSpPr/>
          <p:nvPr/>
        </p:nvSpPr>
        <p:spPr>
          <a:xfrm>
            <a:off x="1097280" y="3200400"/>
            <a:ext cx="6949440" cy="685800"/>
          </a:xfrm>
          <a:prstGeom prst="rect">
            <a:avLst/>
          </a:prstGeom>
          <a:noFill/>
          <a:ln/>
        </p:spPr>
        <p:txBody>
          <a:bodyPr wrap="square" lIns="0" tIns="0" rIns="0" bIns="0" rtlCol="0" anchor="ctr"/>
          <a:lstStyle/>
          <a:p>
            <a:pPr indent="0" marL="0">
              <a:buNone/>
            </a:pPr>
            <a:r>
              <a:rPr lang="en-US" sz="1500" b="1" i="1" dirty="0">
                <a:solidFill>
                  <a:srgbClr val="FFFFFF"/>
                </a:solidFill>
                <a:latin typeface="Arial" pitchFamily="34" charset="0"/>
                <a:ea typeface="Arial" pitchFamily="34" charset="-122"/>
                <a:cs typeface="Arial" pitchFamily="34" charset="-120"/>
              </a:rPr>
              <a:t>"We will not build the application layer before the data foundation."</a:t>
            </a:r>
            <a:endParaRPr lang="en-US" sz="1500" dirty="0"/>
          </a:p>
        </p:txBody>
      </p:sp>
      <p:sp>
        <p:nvSpPr>
          <p:cNvPr id="10" name="Text 8"/>
          <p:cNvSpPr/>
          <p:nvPr/>
        </p:nvSpPr>
        <p:spPr>
          <a:xfrm>
            <a:off x="914400" y="4206240"/>
            <a:ext cx="7315200" cy="320040"/>
          </a:xfrm>
          <a:prstGeom prst="rect">
            <a:avLst/>
          </a:prstGeom>
          <a:noFill/>
          <a:ln/>
        </p:spPr>
        <p:txBody>
          <a:bodyPr wrap="square" lIns="0" tIns="0" rIns="0" bIns="0" rtlCol="0" anchor="ctr"/>
          <a:lstStyle/>
          <a:p>
            <a:pPr indent="0" marL="0">
              <a:buNone/>
            </a:pPr>
            <a:r>
              <a:rPr lang="en-US" sz="1200" dirty="0">
                <a:solidFill>
                  <a:srgbClr val="4471A9"/>
                </a:solidFill>
                <a:latin typeface="Arial" pitchFamily="34" charset="0"/>
                <a:ea typeface="Arial" pitchFamily="34" charset="-122"/>
                <a:cs typeface="Arial" pitchFamily="34" charset="-120"/>
              </a:rPr>
              <a:t>These commitments require ELT engagement and sponsorship. Not passive approval.</a:t>
            </a:r>
            <a:endParaRPr lang="en-US" sz="1200" dirty="0"/>
          </a:p>
        </p:txBody>
      </p:sp>
      <p:sp>
        <p:nvSpPr>
          <p:cNvPr id="11" name="Shape 9"/>
          <p:cNvSpPr/>
          <p:nvPr/>
        </p:nvSpPr>
        <p:spPr>
          <a:xfrm>
            <a:off x="0" y="5106924"/>
            <a:ext cx="9144000" cy="36576"/>
          </a:xfrm>
          <a:prstGeom prst="rect">
            <a:avLst/>
          </a:prstGeom>
          <a:solidFill>
            <a:srgbClr val="993399"/>
          </a:solidFill>
          <a:ln/>
        </p:spPr>
      </p:sp>
      <p:sp>
        <p:nvSpPr>
          <p:cNvPr id="12" name="Shape 10"/>
          <p:cNvSpPr/>
          <p:nvPr/>
        </p:nvSpPr>
        <p:spPr>
          <a:xfrm>
            <a:off x="457200" y="4645152"/>
            <a:ext cx="8229600" cy="0"/>
          </a:xfrm>
          <a:prstGeom prst="line">
            <a:avLst/>
          </a:prstGeom>
          <a:noFill/>
          <a:ln w="6350">
            <a:solidFill>
              <a:srgbClr val="D0D0D0"/>
            </a:solidFill>
            <a:prstDash val="solid"/>
          </a:ln>
        </p:spPr>
      </p:sp>
      <p:sp>
        <p:nvSpPr>
          <p:cNvPr id="13" name="Text 11"/>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14" name="Shape 12"/>
          <p:cNvSpPr/>
          <p:nvPr/>
        </p:nvSpPr>
        <p:spPr>
          <a:xfrm>
            <a:off x="3840480" y="4764024"/>
            <a:ext cx="1188720" cy="182880"/>
          </a:xfrm>
          <a:prstGeom prst="rect">
            <a:avLst/>
          </a:prstGeom>
          <a:solidFill>
            <a:srgbClr val="993399"/>
          </a:solidFill>
          <a:ln/>
        </p:spPr>
      </p:sp>
      <p:sp>
        <p:nvSpPr>
          <p:cNvPr id="15" name="Text 13"/>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16" name="Text 14"/>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49</a:t>
            </a:r>
            <a:endParaRPr lang="en-US" sz="700" dirty="0"/>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42D5E"/>
        </a:solidFill>
        <a:effectLst/>
      </p:bgPr>
    </p:bg>
    <p:spTree>
      <p:nvGrpSpPr>
        <p:cNvPr id="1" name=""/>
        <p:cNvGrpSpPr/>
        <p:nvPr/>
      </p:nvGrpSpPr>
      <p:grpSpPr/>
      <p:sp>
        <p:nvSpPr>
          <p:cNvPr id="2" name="Shape 0"/>
          <p:cNvSpPr/>
          <p:nvPr/>
        </p:nvSpPr>
        <p:spPr>
          <a:xfrm>
            <a:off x="0" y="0"/>
            <a:ext cx="9144000" cy="36576"/>
          </a:xfrm>
          <a:prstGeom prst="rect">
            <a:avLst/>
          </a:prstGeom>
          <a:solidFill>
            <a:srgbClr val="4471A9"/>
          </a:solidFill>
          <a:ln/>
        </p:spPr>
      </p:sp>
      <p:sp>
        <p:nvSpPr>
          <p:cNvPr id="3" name="Text 1"/>
          <p:cNvSpPr/>
          <p:nvPr/>
        </p:nvSpPr>
        <p:spPr>
          <a:xfrm>
            <a:off x="640080" y="1371600"/>
            <a:ext cx="1097280" cy="731520"/>
          </a:xfrm>
          <a:prstGeom prst="rect">
            <a:avLst/>
          </a:prstGeom>
          <a:noFill/>
          <a:ln/>
        </p:spPr>
        <p:txBody>
          <a:bodyPr wrap="square" lIns="0" tIns="0" rIns="0" bIns="0" rtlCol="0" anchor="ctr"/>
          <a:lstStyle/>
          <a:p>
            <a:pPr indent="0" marL="0">
              <a:buNone/>
            </a:pPr>
            <a:r>
              <a:rPr lang="en-US" sz="4800" b="1" dirty="0">
                <a:solidFill>
                  <a:srgbClr val="4471A9"/>
                </a:solidFill>
                <a:latin typeface="Arial" pitchFamily="34" charset="0"/>
                <a:ea typeface="Arial" pitchFamily="34" charset="-122"/>
                <a:cs typeface="Arial" pitchFamily="34" charset="-120"/>
              </a:rPr>
              <a:t>10</a:t>
            </a:r>
            <a:endParaRPr lang="en-US" sz="4800" dirty="0"/>
          </a:p>
        </p:txBody>
      </p:sp>
      <p:sp>
        <p:nvSpPr>
          <p:cNvPr id="4" name="Text 2"/>
          <p:cNvSpPr/>
          <p:nvPr/>
        </p:nvSpPr>
        <p:spPr>
          <a:xfrm>
            <a:off x="640080" y="2103120"/>
            <a:ext cx="7315200" cy="914400"/>
          </a:xfrm>
          <a:prstGeom prst="rect">
            <a:avLst/>
          </a:prstGeom>
          <a:noFill/>
          <a:ln/>
        </p:spPr>
        <p:txBody>
          <a:bodyPr wrap="square" lIns="0" tIns="0" rIns="0" bIns="0" rtlCol="0" anchor="ctr"/>
          <a:lstStyle/>
          <a:p>
            <a:pPr indent="0" marL="0">
              <a:buNone/>
            </a:pPr>
            <a:r>
              <a:rPr lang="en-US" sz="3600" b="1" spc="300" kern="0" dirty="0">
                <a:solidFill>
                  <a:srgbClr val="FFFFFF"/>
                </a:solidFill>
                <a:latin typeface="Arial" pitchFamily="34" charset="0"/>
                <a:ea typeface="Arial" pitchFamily="34" charset="-122"/>
                <a:cs typeface="Arial" pitchFamily="34" charset="-120"/>
              </a:rPr>
              <a:t>HOW WE EXECUTE</a:t>
            </a:r>
            <a:endParaRPr lang="en-US" sz="3600" dirty="0"/>
          </a:p>
        </p:txBody>
      </p:sp>
      <p:sp>
        <p:nvSpPr>
          <p:cNvPr id="5" name="Text 3"/>
          <p:cNvSpPr/>
          <p:nvPr/>
        </p:nvSpPr>
        <p:spPr>
          <a:xfrm>
            <a:off x="640080" y="3017520"/>
            <a:ext cx="6400800" cy="548640"/>
          </a:xfrm>
          <a:prstGeom prst="rect">
            <a:avLst/>
          </a:prstGeom>
          <a:noFill/>
          <a:ln/>
        </p:spPr>
        <p:txBody>
          <a:bodyPr wrap="square" rtlCol="0" anchor="ctr"/>
          <a:lstStyle/>
          <a:p>
            <a:pPr indent="0" marL="0">
              <a:buNone/>
            </a:pPr>
            <a:r>
              <a:rPr lang="en-US" sz="1600" dirty="0">
                <a:solidFill>
                  <a:srgbClr val="4471A9"/>
                </a:solidFill>
                <a:latin typeface="Arial" pitchFamily="34" charset="0"/>
                <a:ea typeface="Arial" pitchFamily="34" charset="-122"/>
                <a:cs typeface="Arial" pitchFamily="34" charset="-120"/>
              </a:rPr>
              <a:t>Operating model, governance, and the coalition</a:t>
            </a:r>
            <a:endParaRPr lang="en-US" sz="1600" dirty="0"/>
          </a:p>
        </p:txBody>
      </p:sp>
      <p:sp>
        <p:nvSpPr>
          <p:cNvPr id="6" name="Shape 4"/>
          <p:cNvSpPr/>
          <p:nvPr/>
        </p:nvSpPr>
        <p:spPr>
          <a:xfrm>
            <a:off x="0" y="5106924"/>
            <a:ext cx="9144000" cy="36576"/>
          </a:xfrm>
          <a:prstGeom prst="rect">
            <a:avLst/>
          </a:prstGeom>
          <a:solidFill>
            <a:srgbClr val="993399"/>
          </a:solidFill>
          <a:ln/>
        </p:spPr>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This operates at the center of the business.</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50</a:t>
            </a:r>
            <a:endParaRPr lang="en-US" sz="700" dirty="0"/>
          </a:p>
        </p:txBody>
      </p:sp>
      <p:sp>
        <p:nvSpPr>
          <p:cNvPr id="8" name="Shape 6"/>
          <p:cNvSpPr/>
          <p:nvPr/>
        </p:nvSpPr>
        <p:spPr>
          <a:xfrm>
            <a:off x="2926080" y="1280160"/>
            <a:ext cx="3291840" cy="2011680"/>
          </a:xfrm>
          <a:prstGeom prst="ellipse">
            <a:avLst/>
          </a:prstGeom>
          <a:solidFill>
            <a:srgbClr val="06418C"/>
          </a:solidFill>
          <a:ln/>
          <a:effectLst>
            <a:outerShdw sx="100000" sy="100000" kx="0" ky="0" algn="bl" rotWithShape="0" blurRad="101600" dist="25400" dir="8100000">
              <a:srgbClr val="000000">
                <a:alpha val="12000"/>
              </a:srgbClr>
            </a:outerShdw>
          </a:effectLst>
        </p:spPr>
      </p:sp>
      <p:sp>
        <p:nvSpPr>
          <p:cNvPr id="9" name="Text 7"/>
          <p:cNvSpPr/>
          <p:nvPr/>
        </p:nvSpPr>
        <p:spPr>
          <a:xfrm>
            <a:off x="2926080" y="1554480"/>
            <a:ext cx="3291840" cy="10972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DIGITAL &amp; AI</a:t>
            </a:r>
            <a:endParaRPr lang="en-US" sz="1800" dirty="0"/>
          </a:p>
          <a:p>
            <a:pPr algn="ctr" indent="0" marL="0">
              <a:buNone/>
            </a:pPr>
            <a:r>
              <a:rPr lang="en-US" sz="1800" b="1" dirty="0">
                <a:solidFill>
                  <a:srgbClr val="FFFFFF"/>
                </a:solidFill>
                <a:latin typeface="Arial" pitchFamily="34" charset="0"/>
                <a:ea typeface="Arial" pitchFamily="34" charset="-122"/>
                <a:cs typeface="Arial" pitchFamily="34" charset="-120"/>
              </a:rPr>
              <a:t>TRANSFORMATION</a:t>
            </a:r>
            <a:endParaRPr lang="en-US" sz="1800" dirty="0"/>
          </a:p>
        </p:txBody>
      </p:sp>
      <p:sp>
        <p:nvSpPr>
          <p:cNvPr id="10" name="Shape 8"/>
          <p:cNvSpPr/>
          <p:nvPr/>
        </p:nvSpPr>
        <p:spPr>
          <a:xfrm>
            <a:off x="274320" y="914400"/>
            <a:ext cx="2103120" cy="502920"/>
          </a:xfrm>
          <a:prstGeom prst="rect">
            <a:avLst/>
          </a:prstGeom>
          <a:solidFill>
            <a:srgbClr val="4471A9"/>
          </a:solidFill>
          <a:ln/>
          <a:effectLst>
            <a:outerShdw sx="100000" sy="100000" kx="0" ky="0" algn="bl" rotWithShape="0" blurRad="50800" dist="12700" dir="8100000">
              <a:srgbClr val="000000">
                <a:alpha val="8000"/>
              </a:srgbClr>
            </a:outerShdw>
          </a:effectLst>
        </p:spPr>
      </p:sp>
      <p:sp>
        <p:nvSpPr>
          <p:cNvPr id="11" name="Text 9"/>
          <p:cNvSpPr/>
          <p:nvPr/>
        </p:nvSpPr>
        <p:spPr>
          <a:xfrm>
            <a:off x="274320" y="914400"/>
            <a:ext cx="2103120" cy="5029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R&amp;D / Engineering</a:t>
            </a:r>
            <a:endParaRPr lang="en-US" sz="1300" dirty="0"/>
          </a:p>
        </p:txBody>
      </p:sp>
      <p:sp>
        <p:nvSpPr>
          <p:cNvPr id="12" name="Shape 10"/>
          <p:cNvSpPr/>
          <p:nvPr/>
        </p:nvSpPr>
        <p:spPr>
          <a:xfrm>
            <a:off x="6766560" y="914400"/>
            <a:ext cx="2103120" cy="502920"/>
          </a:xfrm>
          <a:prstGeom prst="rect">
            <a:avLst/>
          </a:prstGeom>
          <a:solidFill>
            <a:srgbClr val="4471A9"/>
          </a:solidFill>
          <a:ln/>
          <a:effectLst>
            <a:outerShdw sx="100000" sy="100000" kx="0" ky="0" algn="bl" rotWithShape="0" blurRad="50800" dist="12700" dir="8100000">
              <a:srgbClr val="000000">
                <a:alpha val="8000"/>
              </a:srgbClr>
            </a:outerShdw>
          </a:effectLst>
        </p:spPr>
      </p:sp>
      <p:sp>
        <p:nvSpPr>
          <p:cNvPr id="13" name="Text 11"/>
          <p:cNvSpPr/>
          <p:nvPr/>
        </p:nvSpPr>
        <p:spPr>
          <a:xfrm>
            <a:off x="6766560" y="914400"/>
            <a:ext cx="2103120" cy="5029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Operations</a:t>
            </a:r>
            <a:endParaRPr lang="en-US" sz="1300" dirty="0"/>
          </a:p>
        </p:txBody>
      </p:sp>
      <p:sp>
        <p:nvSpPr>
          <p:cNvPr id="14" name="Shape 12"/>
          <p:cNvSpPr/>
          <p:nvPr/>
        </p:nvSpPr>
        <p:spPr>
          <a:xfrm>
            <a:off x="274320" y="2148840"/>
            <a:ext cx="2103120" cy="502920"/>
          </a:xfrm>
          <a:prstGeom prst="rect">
            <a:avLst/>
          </a:prstGeom>
          <a:solidFill>
            <a:srgbClr val="4471A9"/>
          </a:solidFill>
          <a:ln/>
          <a:effectLst>
            <a:outerShdw sx="100000" sy="100000" kx="0" ky="0" algn="bl" rotWithShape="0" blurRad="50800" dist="12700" dir="8100000">
              <a:srgbClr val="000000">
                <a:alpha val="8000"/>
              </a:srgbClr>
            </a:outerShdw>
          </a:effectLst>
        </p:spPr>
      </p:sp>
      <p:sp>
        <p:nvSpPr>
          <p:cNvPr id="15" name="Text 13"/>
          <p:cNvSpPr/>
          <p:nvPr/>
        </p:nvSpPr>
        <p:spPr>
          <a:xfrm>
            <a:off x="274320" y="2148840"/>
            <a:ext cx="2103120" cy="5029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Finance</a:t>
            </a:r>
            <a:endParaRPr lang="en-US" sz="1300" dirty="0"/>
          </a:p>
        </p:txBody>
      </p:sp>
      <p:sp>
        <p:nvSpPr>
          <p:cNvPr id="16" name="Shape 14"/>
          <p:cNvSpPr/>
          <p:nvPr/>
        </p:nvSpPr>
        <p:spPr>
          <a:xfrm>
            <a:off x="6766560" y="2148840"/>
            <a:ext cx="2103120" cy="502920"/>
          </a:xfrm>
          <a:prstGeom prst="rect">
            <a:avLst/>
          </a:prstGeom>
          <a:solidFill>
            <a:srgbClr val="4471A9"/>
          </a:solidFill>
          <a:ln/>
          <a:effectLst>
            <a:outerShdw sx="100000" sy="100000" kx="0" ky="0" algn="bl" rotWithShape="0" blurRad="50800" dist="12700" dir="8100000">
              <a:srgbClr val="000000">
                <a:alpha val="8000"/>
              </a:srgbClr>
            </a:outerShdw>
          </a:effectLst>
        </p:spPr>
      </p:sp>
      <p:sp>
        <p:nvSpPr>
          <p:cNvPr id="17" name="Text 15"/>
          <p:cNvSpPr/>
          <p:nvPr/>
        </p:nvSpPr>
        <p:spPr>
          <a:xfrm>
            <a:off x="6766560" y="2148840"/>
            <a:ext cx="2103120" cy="5029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Legal</a:t>
            </a:r>
            <a:endParaRPr lang="en-US" sz="1300" dirty="0"/>
          </a:p>
        </p:txBody>
      </p:sp>
      <p:sp>
        <p:nvSpPr>
          <p:cNvPr id="18" name="Shape 16"/>
          <p:cNvSpPr/>
          <p:nvPr/>
        </p:nvSpPr>
        <p:spPr>
          <a:xfrm>
            <a:off x="274320" y="3383280"/>
            <a:ext cx="2103120" cy="502920"/>
          </a:xfrm>
          <a:prstGeom prst="rect">
            <a:avLst/>
          </a:prstGeom>
          <a:solidFill>
            <a:srgbClr val="4471A9"/>
          </a:solidFill>
          <a:ln/>
          <a:effectLst>
            <a:outerShdw sx="100000" sy="100000" kx="0" ky="0" algn="bl" rotWithShape="0" blurRad="50800" dist="12700" dir="8100000">
              <a:srgbClr val="000000">
                <a:alpha val="8000"/>
              </a:srgbClr>
            </a:outerShdw>
          </a:effectLst>
        </p:spPr>
      </p:sp>
      <p:sp>
        <p:nvSpPr>
          <p:cNvPr id="19" name="Text 17"/>
          <p:cNvSpPr/>
          <p:nvPr/>
        </p:nvSpPr>
        <p:spPr>
          <a:xfrm>
            <a:off x="274320" y="3383280"/>
            <a:ext cx="2103120" cy="5029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HR</a:t>
            </a:r>
            <a:endParaRPr lang="en-US" sz="1300" dirty="0"/>
          </a:p>
        </p:txBody>
      </p:sp>
      <p:sp>
        <p:nvSpPr>
          <p:cNvPr id="20" name="Shape 18"/>
          <p:cNvSpPr/>
          <p:nvPr/>
        </p:nvSpPr>
        <p:spPr>
          <a:xfrm>
            <a:off x="6766560" y="3383280"/>
            <a:ext cx="2103120" cy="502920"/>
          </a:xfrm>
          <a:prstGeom prst="rect">
            <a:avLst/>
          </a:prstGeom>
          <a:solidFill>
            <a:srgbClr val="4471A9"/>
          </a:solidFill>
          <a:ln/>
          <a:effectLst>
            <a:outerShdw sx="100000" sy="100000" kx="0" ky="0" algn="bl" rotWithShape="0" blurRad="50800" dist="12700" dir="8100000">
              <a:srgbClr val="000000">
                <a:alpha val="8000"/>
              </a:srgbClr>
            </a:outerShdw>
          </a:effectLst>
        </p:spPr>
      </p:sp>
      <p:sp>
        <p:nvSpPr>
          <p:cNvPr id="21" name="Text 19"/>
          <p:cNvSpPr/>
          <p:nvPr/>
        </p:nvSpPr>
        <p:spPr>
          <a:xfrm>
            <a:off x="6766560" y="3383280"/>
            <a:ext cx="2103120" cy="5029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Sales</a:t>
            </a:r>
            <a:endParaRPr lang="en-US" sz="1300" dirty="0"/>
          </a:p>
        </p:txBody>
      </p:sp>
      <p:sp>
        <p:nvSpPr>
          <p:cNvPr id="22" name="Shape 20"/>
          <p:cNvSpPr/>
          <p:nvPr/>
        </p:nvSpPr>
        <p:spPr>
          <a:xfrm>
            <a:off x="3474720" y="3749040"/>
            <a:ext cx="2103120" cy="502920"/>
          </a:xfrm>
          <a:prstGeom prst="rect">
            <a:avLst/>
          </a:prstGeom>
          <a:solidFill>
            <a:srgbClr val="4471A9"/>
          </a:solidFill>
          <a:ln/>
          <a:effectLst>
            <a:outerShdw sx="100000" sy="100000" kx="0" ky="0" algn="bl" rotWithShape="0" blurRad="50800" dist="12700" dir="8100000">
              <a:srgbClr val="000000">
                <a:alpha val="8000"/>
              </a:srgbClr>
            </a:outerShdw>
          </a:effectLst>
        </p:spPr>
      </p:sp>
      <p:sp>
        <p:nvSpPr>
          <p:cNvPr id="23" name="Text 21"/>
          <p:cNvSpPr/>
          <p:nvPr/>
        </p:nvSpPr>
        <p:spPr>
          <a:xfrm>
            <a:off x="3474720" y="3749040"/>
            <a:ext cx="2103120" cy="5029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CEO / Board</a:t>
            </a:r>
            <a:endParaRPr lang="en-US" sz="1300" dirty="0"/>
          </a:p>
        </p:txBody>
      </p:sp>
      <p:sp>
        <p:nvSpPr>
          <p:cNvPr id="24" name="Text 22"/>
          <p:cNvSpPr/>
          <p:nvPr/>
        </p:nvSpPr>
        <p:spPr>
          <a:xfrm>
            <a:off x="914400" y="4251960"/>
            <a:ext cx="7315200" cy="274320"/>
          </a:xfrm>
          <a:prstGeom prst="rect">
            <a:avLst/>
          </a:prstGeom>
          <a:noFill/>
          <a:ln/>
        </p:spPr>
        <p:txBody>
          <a:bodyPr wrap="square" lIns="0" tIns="0" rIns="0" bIns="0" rtlCol="0" anchor="ctr"/>
          <a:lstStyle/>
          <a:p>
            <a:pPr algn="ctr" indent="0" marL="0">
              <a:buNone/>
            </a:pPr>
            <a:r>
              <a:rPr lang="en-US" sz="1200" b="1" i="1" dirty="0">
                <a:solidFill>
                  <a:srgbClr val="06418C"/>
                </a:solidFill>
                <a:latin typeface="Arial" pitchFamily="34" charset="0"/>
                <a:ea typeface="Arial" pitchFamily="34" charset="-122"/>
                <a:cs typeface="Arial" pitchFamily="34" charset="-120"/>
              </a:rPr>
              <a:t>Every spoke: named relationship, shared roadmap, shared accountability.</a:t>
            </a:r>
            <a:endParaRPr lang="en-US" sz="1200" dirty="0"/>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Transformation requires partners who move with you.</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51</a:t>
            </a:r>
            <a:endParaRPr lang="en-US" sz="700" dirty="0"/>
          </a:p>
        </p:txBody>
      </p:sp>
      <p:sp>
        <p:nvSpPr>
          <p:cNvPr id="8" name="Shape 6"/>
          <p:cNvSpPr/>
          <p:nvPr/>
        </p:nvSpPr>
        <p:spPr>
          <a:xfrm>
            <a:off x="640080" y="1097280"/>
            <a:ext cx="3794760" cy="128016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9" name="Shape 7"/>
          <p:cNvSpPr/>
          <p:nvPr/>
        </p:nvSpPr>
        <p:spPr>
          <a:xfrm>
            <a:off x="640080" y="1097280"/>
            <a:ext cx="64008" cy="1280160"/>
          </a:xfrm>
          <a:prstGeom prst="rect">
            <a:avLst/>
          </a:prstGeom>
          <a:solidFill>
            <a:srgbClr val="993399"/>
          </a:solidFill>
          <a:ln/>
        </p:spPr>
      </p:sp>
      <p:sp>
        <p:nvSpPr>
          <p:cNvPr id="10" name="Text 8"/>
          <p:cNvSpPr/>
          <p:nvPr/>
        </p:nvSpPr>
        <p:spPr>
          <a:xfrm>
            <a:off x="822960" y="1188720"/>
            <a:ext cx="3474720" cy="320040"/>
          </a:xfrm>
          <a:prstGeom prst="rect">
            <a:avLst/>
          </a:prstGeom>
          <a:noFill/>
          <a:ln/>
        </p:spPr>
        <p:txBody>
          <a:bodyPr wrap="square" lIns="0" tIns="0" rIns="0" bIns="0" rtlCol="0" anchor="ctr"/>
          <a:lstStyle/>
          <a:p>
            <a:pPr indent="0" marL="0">
              <a:buNone/>
            </a:pPr>
            <a:r>
              <a:rPr lang="en-US" sz="1400" b="1" dirty="0">
                <a:solidFill>
                  <a:srgbClr val="993399"/>
                </a:solidFill>
                <a:latin typeface="Arial" pitchFamily="34" charset="0"/>
                <a:ea typeface="Arial" pitchFamily="34" charset="-122"/>
                <a:cs typeface="Arial" pitchFamily="34" charset="-120"/>
              </a:rPr>
              <a:t>HR</a:t>
            </a:r>
            <a:pPr indent="0" marL="0">
              <a:buNone/>
            </a:pPr>
            <a:r>
              <a:rPr lang="en-US" sz="1400" dirty="0">
                <a:solidFill>
                  <a:srgbClr val="06418C"/>
                </a:solidFill>
                <a:latin typeface="Arial" pitchFamily="34" charset="0"/>
                <a:ea typeface="Arial" pitchFamily="34" charset="-122"/>
                <a:cs typeface="Arial" pitchFamily="34" charset="-120"/>
              </a:rPr>
              <a:t xml:space="preserve">  —  Strategic Partner</a:t>
            </a:r>
            <a:endParaRPr lang="en-US" sz="1400" dirty="0"/>
          </a:p>
        </p:txBody>
      </p:sp>
      <p:sp>
        <p:nvSpPr>
          <p:cNvPr id="11" name="Text 9"/>
          <p:cNvSpPr/>
          <p:nvPr/>
        </p:nvSpPr>
        <p:spPr>
          <a:xfrm>
            <a:off x="822960" y="1554480"/>
            <a:ext cx="3474720" cy="685800"/>
          </a:xfrm>
          <a:prstGeom prst="rect">
            <a:avLst/>
          </a:prstGeom>
          <a:noFill/>
          <a:ln/>
        </p:spPr>
        <p:txBody>
          <a:bodyPr wrap="square" lIns="0" tIns="0" rIns="0" bIns="0" rtlCol="0" anchor="ctr"/>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Workforce planning + reskilling + change management. Starts Phase 1, not Phase 3.</a:t>
            </a:r>
            <a:endParaRPr lang="en-US" sz="1200" dirty="0"/>
          </a:p>
        </p:txBody>
      </p:sp>
      <p:sp>
        <p:nvSpPr>
          <p:cNvPr id="12" name="Shape 10"/>
          <p:cNvSpPr/>
          <p:nvPr/>
        </p:nvSpPr>
        <p:spPr>
          <a:xfrm>
            <a:off x="4709160" y="1097280"/>
            <a:ext cx="3794760" cy="128016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3" name="Shape 11"/>
          <p:cNvSpPr/>
          <p:nvPr/>
        </p:nvSpPr>
        <p:spPr>
          <a:xfrm>
            <a:off x="4709160" y="1097280"/>
            <a:ext cx="64008" cy="1280160"/>
          </a:xfrm>
          <a:prstGeom prst="rect">
            <a:avLst/>
          </a:prstGeom>
          <a:solidFill>
            <a:srgbClr val="06418C"/>
          </a:solidFill>
          <a:ln/>
        </p:spPr>
      </p:sp>
      <p:sp>
        <p:nvSpPr>
          <p:cNvPr id="14" name="Text 12"/>
          <p:cNvSpPr/>
          <p:nvPr/>
        </p:nvSpPr>
        <p:spPr>
          <a:xfrm>
            <a:off x="4892040" y="1188720"/>
            <a:ext cx="3474720" cy="320040"/>
          </a:xfrm>
          <a:prstGeom prst="rect">
            <a:avLst/>
          </a:prstGeom>
          <a:noFill/>
          <a:ln/>
        </p:spPr>
        <p:txBody>
          <a:bodyPr wrap="square" lIns="0" tIns="0" rIns="0" bIns="0" rtlCol="0" anchor="ctr"/>
          <a:lstStyle/>
          <a:p>
            <a:pPr indent="0" marL="0">
              <a:buNone/>
            </a:pPr>
            <a:r>
              <a:rPr lang="en-US" sz="1400" b="1" dirty="0">
                <a:solidFill>
                  <a:srgbClr val="06418C"/>
                </a:solidFill>
                <a:latin typeface="Arial" pitchFamily="34" charset="0"/>
                <a:ea typeface="Arial" pitchFamily="34" charset="-122"/>
                <a:cs typeface="Arial" pitchFamily="34" charset="-120"/>
              </a:rPr>
              <a:t>Sales &amp; BUs</a:t>
            </a:r>
            <a:pPr indent="0" marL="0">
              <a:buNone/>
            </a:pPr>
            <a:r>
              <a:rPr lang="en-US" sz="1400" dirty="0">
                <a:solidFill>
                  <a:srgbClr val="06418C"/>
                </a:solidFill>
                <a:latin typeface="Arial" pitchFamily="34" charset="0"/>
                <a:ea typeface="Arial" pitchFamily="34" charset="-122"/>
                <a:cs typeface="Arial" pitchFamily="34" charset="-120"/>
              </a:rPr>
              <a:t xml:space="preserve">  —  First Adopters</a:t>
            </a:r>
            <a:endParaRPr lang="en-US" sz="1400" dirty="0"/>
          </a:p>
        </p:txBody>
      </p:sp>
      <p:sp>
        <p:nvSpPr>
          <p:cNvPr id="15" name="Text 13"/>
          <p:cNvSpPr/>
          <p:nvPr/>
        </p:nvSpPr>
        <p:spPr>
          <a:xfrm>
            <a:off x="4892040" y="1554480"/>
            <a:ext cx="3474720" cy="685800"/>
          </a:xfrm>
          <a:prstGeom prst="rect">
            <a:avLst/>
          </a:prstGeom>
          <a:noFill/>
          <a:ln/>
        </p:spPr>
        <p:txBody>
          <a:bodyPr wrap="square" lIns="0" tIns="0" rIns="0" bIns="0" rtlCol="0" anchor="ctr"/>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Closest to customer. First to see value. Revenue-facing credibility accelerates adoption.</a:t>
            </a:r>
            <a:endParaRPr lang="en-US" sz="1200" dirty="0"/>
          </a:p>
        </p:txBody>
      </p:sp>
      <p:sp>
        <p:nvSpPr>
          <p:cNvPr id="16" name="Shape 14"/>
          <p:cNvSpPr/>
          <p:nvPr/>
        </p:nvSpPr>
        <p:spPr>
          <a:xfrm>
            <a:off x="640080" y="2606040"/>
            <a:ext cx="3794760" cy="128016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7" name="Shape 15"/>
          <p:cNvSpPr/>
          <p:nvPr/>
        </p:nvSpPr>
        <p:spPr>
          <a:xfrm>
            <a:off x="640080" y="2606040"/>
            <a:ext cx="64008" cy="1280160"/>
          </a:xfrm>
          <a:prstGeom prst="rect">
            <a:avLst/>
          </a:prstGeom>
          <a:solidFill>
            <a:srgbClr val="4471A9"/>
          </a:solidFill>
          <a:ln/>
        </p:spPr>
      </p:sp>
      <p:sp>
        <p:nvSpPr>
          <p:cNvPr id="18" name="Text 16"/>
          <p:cNvSpPr/>
          <p:nvPr/>
        </p:nvSpPr>
        <p:spPr>
          <a:xfrm>
            <a:off x="822960" y="2697480"/>
            <a:ext cx="3474720" cy="320040"/>
          </a:xfrm>
          <a:prstGeom prst="rect">
            <a:avLst/>
          </a:prstGeom>
          <a:noFill/>
          <a:ln/>
        </p:spPr>
        <p:txBody>
          <a:bodyPr wrap="square" lIns="0" tIns="0" rIns="0" bIns="0" rtlCol="0" anchor="ctr"/>
          <a:lstStyle/>
          <a:p>
            <a:pPr indent="0" marL="0">
              <a:buNone/>
            </a:pPr>
            <a:r>
              <a:rPr lang="en-US" sz="1400" b="1" dirty="0">
                <a:solidFill>
                  <a:srgbClr val="4471A9"/>
                </a:solidFill>
                <a:latin typeface="Arial" pitchFamily="34" charset="0"/>
                <a:ea typeface="Arial" pitchFamily="34" charset="-122"/>
                <a:cs typeface="Arial" pitchFamily="34" charset="-120"/>
              </a:rPr>
              <a:t>Product Groups</a:t>
            </a:r>
            <a:pPr indent="0" marL="0">
              <a:buNone/>
            </a:pPr>
            <a:r>
              <a:rPr lang="en-US" sz="1400" dirty="0">
                <a:solidFill>
                  <a:srgbClr val="06418C"/>
                </a:solidFill>
                <a:latin typeface="Arial" pitchFamily="34" charset="0"/>
                <a:ea typeface="Arial" pitchFamily="34" charset="-122"/>
                <a:cs typeface="Arial" pitchFamily="34" charset="-120"/>
              </a:rPr>
              <a:t xml:space="preserve">  —  Co-Builders</a:t>
            </a:r>
            <a:endParaRPr lang="en-US" sz="1400" dirty="0"/>
          </a:p>
        </p:txBody>
      </p:sp>
      <p:sp>
        <p:nvSpPr>
          <p:cNvPr id="19" name="Text 17"/>
          <p:cNvSpPr/>
          <p:nvPr/>
        </p:nvSpPr>
        <p:spPr>
          <a:xfrm>
            <a:off x="822960" y="3063240"/>
            <a:ext cx="3474720" cy="685800"/>
          </a:xfrm>
          <a:prstGeom prst="rect">
            <a:avLst/>
          </a:prstGeom>
          <a:noFill/>
          <a:ln/>
        </p:spPr>
        <p:txBody>
          <a:bodyPr wrap="square" lIns="0" tIns="0" rIns="0" bIns="0" rtlCol="0" anchor="ctr"/>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R&amp;D AI co-built with engineering, not imposed. Domain expertise is irreplaceable.</a:t>
            </a:r>
            <a:endParaRPr lang="en-US" sz="1200" dirty="0"/>
          </a:p>
        </p:txBody>
      </p:sp>
      <p:sp>
        <p:nvSpPr>
          <p:cNvPr id="20" name="Shape 18"/>
          <p:cNvSpPr/>
          <p:nvPr/>
        </p:nvSpPr>
        <p:spPr>
          <a:xfrm>
            <a:off x="4709160" y="2606040"/>
            <a:ext cx="3794760" cy="128016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1" name="Shape 19"/>
          <p:cNvSpPr/>
          <p:nvPr/>
        </p:nvSpPr>
        <p:spPr>
          <a:xfrm>
            <a:off x="4709160" y="2606040"/>
            <a:ext cx="64008" cy="1280160"/>
          </a:xfrm>
          <a:prstGeom prst="rect">
            <a:avLst/>
          </a:prstGeom>
          <a:solidFill>
            <a:srgbClr val="0891B2"/>
          </a:solidFill>
          <a:ln/>
        </p:spPr>
      </p:sp>
      <p:sp>
        <p:nvSpPr>
          <p:cNvPr id="22" name="Text 20"/>
          <p:cNvSpPr/>
          <p:nvPr/>
        </p:nvSpPr>
        <p:spPr>
          <a:xfrm>
            <a:off x="4892040" y="2697480"/>
            <a:ext cx="3474720" cy="320040"/>
          </a:xfrm>
          <a:prstGeom prst="rect">
            <a:avLst/>
          </a:prstGeom>
          <a:noFill/>
          <a:ln/>
        </p:spPr>
        <p:txBody>
          <a:bodyPr wrap="square" lIns="0" tIns="0" rIns="0" bIns="0" rtlCol="0" anchor="ctr"/>
          <a:lstStyle/>
          <a:p>
            <a:pPr indent="0" marL="0">
              <a:buNone/>
            </a:pPr>
            <a:r>
              <a:rPr lang="en-US" sz="1400" b="1" dirty="0">
                <a:solidFill>
                  <a:srgbClr val="0891B2"/>
                </a:solidFill>
                <a:latin typeface="Arial" pitchFamily="34" charset="0"/>
                <a:ea typeface="Arial" pitchFamily="34" charset="-122"/>
                <a:cs typeface="Arial" pitchFamily="34" charset="-120"/>
              </a:rPr>
              <a:t>ELT</a:t>
            </a:r>
            <a:pPr indent="0" marL="0">
              <a:buNone/>
            </a:pPr>
            <a:r>
              <a:rPr lang="en-US" sz="1400" dirty="0">
                <a:solidFill>
                  <a:srgbClr val="06418C"/>
                </a:solidFill>
                <a:latin typeface="Arial" pitchFamily="34" charset="0"/>
                <a:ea typeface="Arial" pitchFamily="34" charset="-122"/>
                <a:cs typeface="Arial" pitchFamily="34" charset="-120"/>
              </a:rPr>
              <a:t xml:space="preserve">  —  Sponsors</a:t>
            </a:r>
            <a:endParaRPr lang="en-US" sz="1400" dirty="0"/>
          </a:p>
        </p:txBody>
      </p:sp>
      <p:sp>
        <p:nvSpPr>
          <p:cNvPr id="23" name="Text 21"/>
          <p:cNvSpPr/>
          <p:nvPr/>
        </p:nvSpPr>
        <p:spPr>
          <a:xfrm>
            <a:off x="4892040" y="3063240"/>
            <a:ext cx="3474720" cy="685800"/>
          </a:xfrm>
          <a:prstGeom prst="rect">
            <a:avLst/>
          </a:prstGeom>
          <a:noFill/>
          <a:ln/>
        </p:spPr>
        <p:txBody>
          <a:bodyPr wrap="square" lIns="0" tIns="0" rIns="0" bIns="0" rtlCol="0" anchor="ctr"/>
          <a:lstStyle/>
          <a:p>
            <a:pPr indent="0" marL="0">
              <a:lnSpc>
                <a:spcPct val="120000"/>
              </a:lnSpc>
              <a:buNone/>
            </a:pPr>
            <a:r>
              <a:rPr lang="en-US" sz="1200" dirty="0">
                <a:solidFill>
                  <a:srgbClr val="4A4A4A"/>
                </a:solidFill>
                <a:latin typeface="Arial" pitchFamily="34" charset="0"/>
                <a:ea typeface="Arial" pitchFamily="34" charset="-122"/>
                <a:cs typeface="Arial" pitchFamily="34" charset="-120"/>
              </a:rPr>
              <a:t>US-based critical mass (Altium, Sales, UX, Digital). Active sponsorship vs. shelfware.</a:t>
            </a:r>
            <a:endParaRPr lang="en-US" sz="1200" dirty="0"/>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Clear governance prevents chaos.</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52</a:t>
            </a:r>
            <a:endParaRPr lang="en-US" sz="700" dirty="0"/>
          </a:p>
        </p:txBody>
      </p:sp>
      <p:sp>
        <p:nvSpPr>
          <p:cNvPr id="8" name="Shape 6"/>
          <p:cNvSpPr/>
          <p:nvPr/>
        </p:nvSpPr>
        <p:spPr>
          <a:xfrm>
            <a:off x="640080" y="1097280"/>
            <a:ext cx="7863840" cy="777240"/>
          </a:xfrm>
          <a:prstGeom prst="rect">
            <a:avLst/>
          </a:prstGeom>
          <a:solidFill>
            <a:srgbClr val="042D5E"/>
          </a:solidFill>
          <a:ln/>
          <a:effectLst>
            <a:outerShdw sx="100000" sy="100000" kx="0" ky="0" algn="bl" rotWithShape="0" blurRad="50800" dist="12700" dir="8100000">
              <a:srgbClr val="000000">
                <a:alpha val="8000"/>
              </a:srgbClr>
            </a:outerShdw>
          </a:effectLst>
        </p:spPr>
      </p:sp>
      <p:sp>
        <p:nvSpPr>
          <p:cNvPr id="9" name="Text 7"/>
          <p:cNvSpPr/>
          <p:nvPr/>
        </p:nvSpPr>
        <p:spPr>
          <a:xfrm>
            <a:off x="822960" y="1143000"/>
            <a:ext cx="164592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STRATEGIC</a:t>
            </a:r>
            <a:endParaRPr lang="en-US" sz="1400" dirty="0"/>
          </a:p>
        </p:txBody>
      </p:sp>
      <p:sp>
        <p:nvSpPr>
          <p:cNvPr id="10" name="Text 8"/>
          <p:cNvSpPr/>
          <p:nvPr/>
        </p:nvSpPr>
        <p:spPr>
          <a:xfrm>
            <a:off x="822960" y="1463040"/>
            <a:ext cx="1645920" cy="274320"/>
          </a:xfrm>
          <a:prstGeom prst="rect">
            <a:avLst/>
          </a:prstGeom>
          <a:noFill/>
          <a:ln/>
        </p:spPr>
        <p:txBody>
          <a:bodyPr wrap="square" lIns="0" tIns="0" rIns="0" bIns="0" rtlCol="0" anchor="ctr"/>
          <a:lstStyle/>
          <a:p>
            <a:pPr indent="0" marL="0">
              <a:buNone/>
            </a:pPr>
            <a:r>
              <a:rPr lang="en-US" sz="1000" dirty="0">
                <a:solidFill>
                  <a:srgbClr val="B0C4DE"/>
                </a:solidFill>
                <a:latin typeface="Arial" pitchFamily="34" charset="0"/>
                <a:ea typeface="Arial" pitchFamily="34" charset="-122"/>
                <a:cs typeface="Arial" pitchFamily="34" charset="-120"/>
              </a:rPr>
              <a:t>Quarterly</a:t>
            </a:r>
            <a:endParaRPr lang="en-US" sz="1000" dirty="0"/>
          </a:p>
        </p:txBody>
      </p:sp>
      <p:sp>
        <p:nvSpPr>
          <p:cNvPr id="11" name="Text 9"/>
          <p:cNvSpPr/>
          <p:nvPr/>
        </p:nvSpPr>
        <p:spPr>
          <a:xfrm>
            <a:off x="2651760" y="1188720"/>
            <a:ext cx="5577840" cy="594360"/>
          </a:xfrm>
          <a:prstGeom prst="rect">
            <a:avLst/>
          </a:prstGeom>
          <a:noFill/>
          <a:ln/>
        </p:spPr>
        <p:txBody>
          <a:bodyPr wrap="square" lIns="0" tIns="0" rIns="0" bIns="0" rtlCol="0" anchor="ctr"/>
          <a:lstStyle/>
          <a:p>
            <a:pPr indent="0" marL="0">
              <a:buNone/>
            </a:pPr>
            <a:r>
              <a:rPr lang="en-US" sz="1100" dirty="0">
                <a:solidFill>
                  <a:srgbClr val="D0D8E8"/>
                </a:solidFill>
                <a:latin typeface="Arial" pitchFamily="34" charset="0"/>
                <a:ea typeface="Arial" pitchFamily="34" charset="-122"/>
                <a:cs typeface="Arial" pitchFamily="34" charset="-120"/>
              </a:rPr>
              <a:t>Phase transitions • Major investments • AI ethics &amp; risk policy • Regulatory compliance</a:t>
            </a:r>
            <a:endParaRPr lang="en-US" sz="1100" dirty="0"/>
          </a:p>
        </p:txBody>
      </p:sp>
      <p:sp>
        <p:nvSpPr>
          <p:cNvPr id="12" name="Shape 10"/>
          <p:cNvSpPr/>
          <p:nvPr/>
        </p:nvSpPr>
        <p:spPr>
          <a:xfrm>
            <a:off x="914400" y="2057400"/>
            <a:ext cx="7315200" cy="777240"/>
          </a:xfrm>
          <a:prstGeom prst="rect">
            <a:avLst/>
          </a:prstGeom>
          <a:solidFill>
            <a:srgbClr val="06418C"/>
          </a:solidFill>
          <a:ln/>
          <a:effectLst>
            <a:outerShdw sx="100000" sy="100000" kx="0" ky="0" algn="bl" rotWithShape="0" blurRad="50800" dist="12700" dir="8100000">
              <a:srgbClr val="000000">
                <a:alpha val="8000"/>
              </a:srgbClr>
            </a:outerShdw>
          </a:effectLst>
        </p:spPr>
      </p:sp>
      <p:sp>
        <p:nvSpPr>
          <p:cNvPr id="13" name="Text 11"/>
          <p:cNvSpPr/>
          <p:nvPr/>
        </p:nvSpPr>
        <p:spPr>
          <a:xfrm>
            <a:off x="1097280" y="2103120"/>
            <a:ext cx="164592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PROGRAM</a:t>
            </a:r>
            <a:endParaRPr lang="en-US" sz="1400" dirty="0"/>
          </a:p>
        </p:txBody>
      </p:sp>
      <p:sp>
        <p:nvSpPr>
          <p:cNvPr id="14" name="Text 12"/>
          <p:cNvSpPr/>
          <p:nvPr/>
        </p:nvSpPr>
        <p:spPr>
          <a:xfrm>
            <a:off x="1097280" y="2423160"/>
            <a:ext cx="1645920" cy="274320"/>
          </a:xfrm>
          <a:prstGeom prst="rect">
            <a:avLst/>
          </a:prstGeom>
          <a:noFill/>
          <a:ln/>
        </p:spPr>
        <p:txBody>
          <a:bodyPr wrap="square" lIns="0" tIns="0" rIns="0" bIns="0" rtlCol="0" anchor="ctr"/>
          <a:lstStyle/>
          <a:p>
            <a:pPr indent="0" marL="0">
              <a:buNone/>
            </a:pPr>
            <a:r>
              <a:rPr lang="en-US" sz="1000" dirty="0">
                <a:solidFill>
                  <a:srgbClr val="B0C4DE"/>
                </a:solidFill>
                <a:latin typeface="Arial" pitchFamily="34" charset="0"/>
                <a:ea typeface="Arial" pitchFamily="34" charset="-122"/>
                <a:cs typeface="Arial" pitchFamily="34" charset="-120"/>
              </a:rPr>
              <a:t>Monthly</a:t>
            </a:r>
            <a:endParaRPr lang="en-US" sz="1000" dirty="0"/>
          </a:p>
        </p:txBody>
      </p:sp>
      <p:sp>
        <p:nvSpPr>
          <p:cNvPr id="15" name="Text 13"/>
          <p:cNvSpPr/>
          <p:nvPr/>
        </p:nvSpPr>
        <p:spPr>
          <a:xfrm>
            <a:off x="2926080" y="2148840"/>
            <a:ext cx="5029200" cy="594360"/>
          </a:xfrm>
          <a:prstGeom prst="rect">
            <a:avLst/>
          </a:prstGeom>
          <a:noFill/>
          <a:ln/>
        </p:spPr>
        <p:txBody>
          <a:bodyPr wrap="square" lIns="0" tIns="0" rIns="0" bIns="0" rtlCol="0" anchor="ctr"/>
          <a:lstStyle/>
          <a:p>
            <a:pPr indent="0" marL="0">
              <a:buNone/>
            </a:pPr>
            <a:r>
              <a:rPr lang="en-US" sz="1100" dirty="0">
                <a:solidFill>
                  <a:srgbClr val="D0D8E8"/>
                </a:solidFill>
                <a:latin typeface="Arial" pitchFamily="34" charset="0"/>
                <a:ea typeface="Arial" pitchFamily="34" charset="-122"/>
                <a:cs typeface="Arial" pitchFamily="34" charset="-120"/>
              </a:rPr>
              <a:t>Use case prioritization • Vendor selection • Budget allocation by function and phase</a:t>
            </a:r>
            <a:endParaRPr lang="en-US" sz="1100" dirty="0"/>
          </a:p>
        </p:txBody>
      </p:sp>
      <p:sp>
        <p:nvSpPr>
          <p:cNvPr id="16" name="Shape 14"/>
          <p:cNvSpPr/>
          <p:nvPr/>
        </p:nvSpPr>
        <p:spPr>
          <a:xfrm>
            <a:off x="1188720" y="3017520"/>
            <a:ext cx="6766560" cy="777240"/>
          </a:xfrm>
          <a:prstGeom prst="rect">
            <a:avLst/>
          </a:prstGeom>
          <a:solidFill>
            <a:srgbClr val="4471A9"/>
          </a:solidFill>
          <a:ln/>
          <a:effectLst>
            <a:outerShdw sx="100000" sy="100000" kx="0" ky="0" algn="bl" rotWithShape="0" blurRad="50800" dist="12700" dir="8100000">
              <a:srgbClr val="000000">
                <a:alpha val="8000"/>
              </a:srgbClr>
            </a:outerShdw>
          </a:effectLst>
        </p:spPr>
      </p:sp>
      <p:sp>
        <p:nvSpPr>
          <p:cNvPr id="17" name="Text 15"/>
          <p:cNvSpPr/>
          <p:nvPr/>
        </p:nvSpPr>
        <p:spPr>
          <a:xfrm>
            <a:off x="1371600" y="3063240"/>
            <a:ext cx="164592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OPERATIONAL</a:t>
            </a:r>
            <a:endParaRPr lang="en-US" sz="1400" dirty="0"/>
          </a:p>
        </p:txBody>
      </p:sp>
      <p:sp>
        <p:nvSpPr>
          <p:cNvPr id="18" name="Text 16"/>
          <p:cNvSpPr/>
          <p:nvPr/>
        </p:nvSpPr>
        <p:spPr>
          <a:xfrm>
            <a:off x="1371600" y="3383280"/>
            <a:ext cx="1645920" cy="274320"/>
          </a:xfrm>
          <a:prstGeom prst="rect">
            <a:avLst/>
          </a:prstGeom>
          <a:noFill/>
          <a:ln/>
        </p:spPr>
        <p:txBody>
          <a:bodyPr wrap="square" lIns="0" tIns="0" rIns="0" bIns="0" rtlCol="0" anchor="ctr"/>
          <a:lstStyle/>
          <a:p>
            <a:pPr indent="0" marL="0">
              <a:buNone/>
            </a:pPr>
            <a:r>
              <a:rPr lang="en-US" sz="1000" dirty="0">
                <a:solidFill>
                  <a:srgbClr val="B0C4DE"/>
                </a:solidFill>
                <a:latin typeface="Arial" pitchFamily="34" charset="0"/>
                <a:ea typeface="Arial" pitchFamily="34" charset="-122"/>
                <a:cs typeface="Arial" pitchFamily="34" charset="-120"/>
              </a:rPr>
              <a:t>Weekly / Continuous</a:t>
            </a:r>
            <a:endParaRPr lang="en-US" sz="1000" dirty="0"/>
          </a:p>
        </p:txBody>
      </p:sp>
      <p:sp>
        <p:nvSpPr>
          <p:cNvPr id="19" name="Text 17"/>
          <p:cNvSpPr/>
          <p:nvPr/>
        </p:nvSpPr>
        <p:spPr>
          <a:xfrm>
            <a:off x="3200400" y="3108960"/>
            <a:ext cx="4480560" cy="594360"/>
          </a:xfrm>
          <a:prstGeom prst="rect">
            <a:avLst/>
          </a:prstGeom>
          <a:noFill/>
          <a:ln/>
        </p:spPr>
        <p:txBody>
          <a:bodyPr wrap="square" lIns="0" tIns="0" rIns="0" bIns="0" rtlCol="0" anchor="ctr"/>
          <a:lstStyle/>
          <a:p>
            <a:pPr indent="0" marL="0">
              <a:buNone/>
            </a:pPr>
            <a:r>
              <a:rPr lang="en-US" sz="1100" dirty="0">
                <a:solidFill>
                  <a:srgbClr val="D0D8E8"/>
                </a:solidFill>
                <a:latin typeface="Arial" pitchFamily="34" charset="0"/>
                <a:ea typeface="Arial" pitchFamily="34" charset="-122"/>
                <a:cs typeface="Arial" pitchFamily="34" charset="-120"/>
              </a:rPr>
              <a:t>Deployment go/no-go • Model performance monitoring • Adoption measurement</a:t>
            </a:r>
            <a:endParaRPr lang="en-US" sz="1100" dirty="0"/>
          </a:p>
        </p:txBody>
      </p:sp>
      <p:sp>
        <p:nvSpPr>
          <p:cNvPr id="20" name="Text 18"/>
          <p:cNvSpPr/>
          <p:nvPr/>
        </p:nvSpPr>
        <p:spPr>
          <a:xfrm>
            <a:off x="914400" y="3931920"/>
            <a:ext cx="7315200" cy="365760"/>
          </a:xfrm>
          <a:prstGeom prst="rect">
            <a:avLst/>
          </a:prstGeom>
          <a:noFill/>
          <a:ln/>
        </p:spPr>
        <p:txBody>
          <a:bodyPr wrap="square" lIns="0" tIns="0" rIns="0" bIns="0" rtlCol="0" anchor="ctr"/>
          <a:lstStyle/>
          <a:p>
            <a:pPr algn="ctr" indent="0" marL="0">
              <a:buNone/>
            </a:pPr>
            <a:r>
              <a:rPr lang="en-US" sz="1400" b="1" i="1" dirty="0">
                <a:solidFill>
                  <a:srgbClr val="06418C"/>
                </a:solidFill>
                <a:latin typeface="Arial" pitchFamily="34" charset="0"/>
                <a:ea typeface="Arial" pitchFamily="34" charset="-122"/>
                <a:cs typeface="Arial" pitchFamily="34" charset="-120"/>
              </a:rPr>
              <a:t>"Every AI deployment has a named business owner. The business owns the result."</a:t>
            </a:r>
            <a:endParaRPr lang="en-US" sz="1400" dirty="0"/>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We move fast. We do not move recklessly.</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53</a:t>
            </a:r>
            <a:endParaRPr lang="en-US" sz="700" dirty="0"/>
          </a:p>
        </p:txBody>
      </p:sp>
      <p:sp>
        <p:nvSpPr>
          <p:cNvPr id="8" name="Shape 6"/>
          <p:cNvSpPr/>
          <p:nvPr/>
        </p:nvSpPr>
        <p:spPr>
          <a:xfrm>
            <a:off x="640080" y="1051560"/>
            <a:ext cx="7863840" cy="8686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9" name="Shape 7"/>
          <p:cNvSpPr/>
          <p:nvPr/>
        </p:nvSpPr>
        <p:spPr>
          <a:xfrm>
            <a:off x="640080" y="1051560"/>
            <a:ext cx="64008" cy="868680"/>
          </a:xfrm>
          <a:prstGeom prst="rect">
            <a:avLst/>
          </a:prstGeom>
          <a:solidFill>
            <a:srgbClr val="D70000"/>
          </a:solidFill>
          <a:ln/>
        </p:spPr>
      </p:sp>
      <p:sp>
        <p:nvSpPr>
          <p:cNvPr id="10" name="Text 8"/>
          <p:cNvSpPr/>
          <p:nvPr/>
        </p:nvSpPr>
        <p:spPr>
          <a:xfrm>
            <a:off x="868680" y="1097280"/>
            <a:ext cx="7452360" cy="274320"/>
          </a:xfrm>
          <a:prstGeom prst="rect">
            <a:avLst/>
          </a:prstGeom>
          <a:noFill/>
          <a:ln/>
        </p:spPr>
        <p:txBody>
          <a:bodyPr wrap="square" lIns="0" tIns="0" rIns="0" bIns="0" rtlCol="0" anchor="ctr"/>
          <a:lstStyle/>
          <a:p>
            <a:pPr indent="0" marL="0">
              <a:buNone/>
            </a:pPr>
            <a:r>
              <a:rPr lang="en-US" sz="1200" b="1" dirty="0">
                <a:solidFill>
                  <a:srgbClr val="06418C"/>
                </a:solidFill>
                <a:latin typeface="Arial" pitchFamily="34" charset="0"/>
                <a:ea typeface="Arial" pitchFamily="34" charset="-122"/>
                <a:cs typeface="Arial" pitchFamily="34" charset="-120"/>
              </a:rPr>
              <a:t>REGULATORY BASELINE (Non-negotiable)</a:t>
            </a:r>
            <a:endParaRPr lang="en-US" sz="1200" dirty="0"/>
          </a:p>
        </p:txBody>
      </p:sp>
      <p:sp>
        <p:nvSpPr>
          <p:cNvPr id="11" name="Text 9"/>
          <p:cNvSpPr/>
          <p:nvPr/>
        </p:nvSpPr>
        <p:spPr>
          <a:xfrm>
            <a:off x="868680" y="1371600"/>
            <a:ext cx="7452360" cy="502920"/>
          </a:xfrm>
          <a:prstGeom prst="rect">
            <a:avLst/>
          </a:prstGeom>
          <a:noFill/>
          <a:ln/>
        </p:spPr>
        <p:txBody>
          <a:bodyPr wrap="square" lIns="0" tIns="0" rIns="0" bIns="0" rtlCol="0" anchor="ctr"/>
          <a:lstStyle/>
          <a:p>
            <a:pPr indent="0" marL="0">
              <a:lnSpc>
                <a:spcPct val="130000"/>
              </a:lnSpc>
              <a:buNone/>
            </a:pPr>
            <a:r>
              <a:rPr lang="en-US" sz="1000" dirty="0">
                <a:solidFill>
                  <a:srgbClr val="4A4A4A"/>
                </a:solidFill>
                <a:latin typeface="Arial" pitchFamily="34" charset="0"/>
                <a:ea typeface="Arial" pitchFamily="34" charset="-122"/>
                <a:cs typeface="Arial" pitchFamily="34" charset="-120"/>
              </a:rPr>
              <a:t>EU AI Act (Aug 2026): R-Car high-risk = €35M / 7% revenue exposure</a:t>
            </a:r>
            <a:endParaRPr lang="en-US" sz="1000" dirty="0"/>
          </a:p>
          <a:p>
            <a:pPr indent="0" marL="0">
              <a:lnSpc>
                <a:spcPct val="130000"/>
              </a:lnSpc>
              <a:buNone/>
            </a:pPr>
            <a:r>
              <a:rPr lang="en-US" sz="1000" dirty="0">
                <a:solidFill>
                  <a:srgbClr val="4A4A4A"/>
                </a:solidFill>
                <a:latin typeface="Arial" pitchFamily="34" charset="0"/>
                <a:ea typeface="Arial" pitchFamily="34" charset="-122"/>
                <a:cs typeface="Arial" pitchFamily="34" charset="-120"/>
              </a:rPr>
              <a:t>Japan AI Promotion Act (Sept 2025): soft-law, reputation-driven</a:t>
            </a:r>
            <a:endParaRPr lang="en-US" sz="1000" dirty="0"/>
          </a:p>
          <a:p>
            <a:pPr indent="0" marL="0">
              <a:lnSpc>
                <a:spcPct val="130000"/>
              </a:lnSpc>
              <a:buNone/>
            </a:pPr>
            <a:r>
              <a:rPr lang="en-US" sz="1000" dirty="0">
                <a:solidFill>
                  <a:srgbClr val="4A4A4A"/>
                </a:solidFill>
                <a:latin typeface="Arial" pitchFamily="34" charset="0"/>
                <a:ea typeface="Arial" pitchFamily="34" charset="-122"/>
                <a:cs typeface="Arial" pitchFamily="34" charset="-120"/>
              </a:rPr>
              <a:t>NIST AI RMF: de facto US standard — our governance framework</a:t>
            </a:r>
            <a:endParaRPr lang="en-US" sz="1000" dirty="0"/>
          </a:p>
        </p:txBody>
      </p:sp>
      <p:sp>
        <p:nvSpPr>
          <p:cNvPr id="12" name="Shape 10"/>
          <p:cNvSpPr/>
          <p:nvPr/>
        </p:nvSpPr>
        <p:spPr>
          <a:xfrm>
            <a:off x="640080" y="2057400"/>
            <a:ext cx="7863840" cy="8686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3" name="Shape 11"/>
          <p:cNvSpPr/>
          <p:nvPr/>
        </p:nvSpPr>
        <p:spPr>
          <a:xfrm>
            <a:off x="640080" y="2057400"/>
            <a:ext cx="64008" cy="868680"/>
          </a:xfrm>
          <a:prstGeom prst="rect">
            <a:avLst/>
          </a:prstGeom>
          <a:solidFill>
            <a:srgbClr val="06418C"/>
          </a:solidFill>
          <a:ln/>
        </p:spPr>
      </p:sp>
      <p:sp>
        <p:nvSpPr>
          <p:cNvPr id="14" name="Text 12"/>
          <p:cNvSpPr/>
          <p:nvPr/>
        </p:nvSpPr>
        <p:spPr>
          <a:xfrm>
            <a:off x="868680" y="2103120"/>
            <a:ext cx="7452360" cy="274320"/>
          </a:xfrm>
          <a:prstGeom prst="rect">
            <a:avLst/>
          </a:prstGeom>
          <a:noFill/>
          <a:ln/>
        </p:spPr>
        <p:txBody>
          <a:bodyPr wrap="square" lIns="0" tIns="0" rIns="0" bIns="0" rtlCol="0" anchor="ctr"/>
          <a:lstStyle/>
          <a:p>
            <a:pPr indent="0" marL="0">
              <a:buNone/>
            </a:pPr>
            <a:r>
              <a:rPr lang="en-US" sz="1200" b="1" dirty="0">
                <a:solidFill>
                  <a:srgbClr val="06418C"/>
                </a:solidFill>
                <a:latin typeface="Arial" pitchFamily="34" charset="0"/>
                <a:ea typeface="Arial" pitchFamily="34" charset="-122"/>
                <a:cs typeface="Arial" pitchFamily="34" charset="-120"/>
              </a:rPr>
              <a:t>INTERNAL GUARDRAILS</a:t>
            </a:r>
            <a:endParaRPr lang="en-US" sz="1200" dirty="0"/>
          </a:p>
        </p:txBody>
      </p:sp>
      <p:sp>
        <p:nvSpPr>
          <p:cNvPr id="15" name="Text 13"/>
          <p:cNvSpPr/>
          <p:nvPr/>
        </p:nvSpPr>
        <p:spPr>
          <a:xfrm>
            <a:off x="868680" y="2377440"/>
            <a:ext cx="7452360" cy="502920"/>
          </a:xfrm>
          <a:prstGeom prst="rect">
            <a:avLst/>
          </a:prstGeom>
          <a:noFill/>
          <a:ln/>
        </p:spPr>
        <p:txBody>
          <a:bodyPr wrap="square" lIns="0" tIns="0" rIns="0" bIns="0" rtlCol="0" anchor="ctr"/>
          <a:lstStyle/>
          <a:p>
            <a:pPr indent="0" marL="0">
              <a:lnSpc>
                <a:spcPct val="130000"/>
              </a:lnSpc>
              <a:buNone/>
            </a:pPr>
            <a:r>
              <a:rPr lang="en-US" sz="1000" dirty="0">
                <a:solidFill>
                  <a:srgbClr val="4A4A4A"/>
                </a:solidFill>
                <a:latin typeface="Arial" pitchFamily="34" charset="0"/>
                <a:ea typeface="Arial" pitchFamily="34" charset="-122"/>
                <a:cs typeface="Arial" pitchFamily="34" charset="-120"/>
              </a:rPr>
              <a:t>No generative AI on customer decisions without human review</a:t>
            </a:r>
            <a:endParaRPr lang="en-US" sz="1000" dirty="0"/>
          </a:p>
          <a:p>
            <a:pPr indent="0" marL="0">
              <a:lnSpc>
                <a:spcPct val="130000"/>
              </a:lnSpc>
              <a:buNone/>
            </a:pPr>
            <a:r>
              <a:rPr lang="en-US" sz="1000" dirty="0">
                <a:solidFill>
                  <a:srgbClr val="4A4A4A"/>
                </a:solidFill>
                <a:latin typeface="Arial" pitchFamily="34" charset="0"/>
                <a:ea typeface="Arial" pitchFamily="34" charset="-122"/>
                <a:cs typeface="Arial" pitchFamily="34" charset="-120"/>
              </a:rPr>
              <a:t>All proprietary data training covered by IP protections</a:t>
            </a:r>
            <a:endParaRPr lang="en-US" sz="1000" dirty="0"/>
          </a:p>
          <a:p>
            <a:pPr indent="0" marL="0">
              <a:lnSpc>
                <a:spcPct val="130000"/>
              </a:lnSpc>
              <a:buNone/>
            </a:pPr>
            <a:r>
              <a:rPr lang="en-US" sz="1000" dirty="0">
                <a:solidFill>
                  <a:srgbClr val="4A4A4A"/>
                </a:solidFill>
                <a:latin typeface="Arial" pitchFamily="34" charset="0"/>
                <a:ea typeface="Arial" pitchFamily="34" charset="-122"/>
                <a:cs typeface="Arial" pitchFamily="34" charset="-120"/>
              </a:rPr>
              <a:t>Bias testing + accuracy monitoring built in from design</a:t>
            </a:r>
            <a:endParaRPr lang="en-US" sz="1000" dirty="0"/>
          </a:p>
        </p:txBody>
      </p:sp>
      <p:sp>
        <p:nvSpPr>
          <p:cNvPr id="16" name="Shape 14"/>
          <p:cNvSpPr/>
          <p:nvPr/>
        </p:nvSpPr>
        <p:spPr>
          <a:xfrm>
            <a:off x="640080" y="3063240"/>
            <a:ext cx="7863840" cy="8686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7" name="Shape 15"/>
          <p:cNvSpPr/>
          <p:nvPr/>
        </p:nvSpPr>
        <p:spPr>
          <a:xfrm>
            <a:off x="640080" y="3063240"/>
            <a:ext cx="64008" cy="868680"/>
          </a:xfrm>
          <a:prstGeom prst="rect">
            <a:avLst/>
          </a:prstGeom>
          <a:solidFill>
            <a:srgbClr val="4471A9"/>
          </a:solidFill>
          <a:ln/>
        </p:spPr>
      </p:sp>
      <p:sp>
        <p:nvSpPr>
          <p:cNvPr id="18" name="Text 16"/>
          <p:cNvSpPr/>
          <p:nvPr/>
        </p:nvSpPr>
        <p:spPr>
          <a:xfrm>
            <a:off x="868680" y="3108960"/>
            <a:ext cx="7452360" cy="274320"/>
          </a:xfrm>
          <a:prstGeom prst="rect">
            <a:avLst/>
          </a:prstGeom>
          <a:noFill/>
          <a:ln/>
        </p:spPr>
        <p:txBody>
          <a:bodyPr wrap="square" lIns="0" tIns="0" rIns="0" bIns="0" rtlCol="0" anchor="ctr"/>
          <a:lstStyle/>
          <a:p>
            <a:pPr indent="0" marL="0">
              <a:buNone/>
            </a:pPr>
            <a:r>
              <a:rPr lang="en-US" sz="1200" b="1" dirty="0">
                <a:solidFill>
                  <a:srgbClr val="06418C"/>
                </a:solidFill>
                <a:latin typeface="Arial" pitchFamily="34" charset="0"/>
                <a:ea typeface="Arial" pitchFamily="34" charset="-122"/>
                <a:cs typeface="Arial" pitchFamily="34" charset="-120"/>
              </a:rPr>
              <a:t>MONITORING &amp; RESPONSE</a:t>
            </a:r>
            <a:endParaRPr lang="en-US" sz="1200" dirty="0"/>
          </a:p>
        </p:txBody>
      </p:sp>
      <p:sp>
        <p:nvSpPr>
          <p:cNvPr id="19" name="Text 17"/>
          <p:cNvSpPr/>
          <p:nvPr/>
        </p:nvSpPr>
        <p:spPr>
          <a:xfrm>
            <a:off x="868680" y="3383280"/>
            <a:ext cx="7452360" cy="502920"/>
          </a:xfrm>
          <a:prstGeom prst="rect">
            <a:avLst/>
          </a:prstGeom>
          <a:noFill/>
          <a:ln/>
        </p:spPr>
        <p:txBody>
          <a:bodyPr wrap="square" lIns="0" tIns="0" rIns="0" bIns="0" rtlCol="0" anchor="ctr"/>
          <a:lstStyle/>
          <a:p>
            <a:pPr indent="0" marL="0">
              <a:lnSpc>
                <a:spcPct val="130000"/>
              </a:lnSpc>
              <a:buNone/>
            </a:pPr>
            <a:r>
              <a:rPr lang="en-US" sz="1000" dirty="0">
                <a:solidFill>
                  <a:srgbClr val="4A4A4A"/>
                </a:solidFill>
                <a:latin typeface="Arial" pitchFamily="34" charset="0"/>
                <a:ea typeface="Arial" pitchFamily="34" charset="-122"/>
                <a:cs typeface="Arial" pitchFamily="34" charset="-120"/>
              </a:rPr>
              <a:t>Continuous model performance monitoring (accuracy, bias, drift)</a:t>
            </a:r>
            <a:endParaRPr lang="en-US" sz="1000" dirty="0"/>
          </a:p>
          <a:p>
            <a:pPr indent="0" marL="0">
              <a:lnSpc>
                <a:spcPct val="130000"/>
              </a:lnSpc>
              <a:buNone/>
            </a:pPr>
            <a:r>
              <a:rPr lang="en-US" sz="1000" dirty="0">
                <a:solidFill>
                  <a:srgbClr val="4A4A4A"/>
                </a:solidFill>
                <a:latin typeface="Arial" pitchFamily="34" charset="0"/>
                <a:ea typeface="Arial" pitchFamily="34" charset="-122"/>
                <a:cs typeface="Arial" pitchFamily="34" charset="-120"/>
              </a:rPr>
              <a:t>Incident response protocol for AI failures</a:t>
            </a:r>
            <a:endParaRPr lang="en-US" sz="1000" dirty="0"/>
          </a:p>
          <a:p>
            <a:pPr indent="0" marL="0">
              <a:lnSpc>
                <a:spcPct val="130000"/>
              </a:lnSpc>
              <a:buNone/>
            </a:pPr>
            <a:r>
              <a:rPr lang="en-US" sz="1000" dirty="0">
                <a:solidFill>
                  <a:srgbClr val="4A4A4A"/>
                </a:solidFill>
                <a:latin typeface="Arial" pitchFamily="34" charset="0"/>
                <a:ea typeface="Arial" pitchFamily="34" charset="-122"/>
                <a:cs typeface="Arial" pitchFamily="34" charset="-120"/>
              </a:rPr>
              <a:t>Regular third-party audit of high-risk deployments</a:t>
            </a:r>
            <a:endParaRPr lang="en-US" sz="1000" dirty="0"/>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400" b="1" dirty="0">
                <a:solidFill>
                  <a:srgbClr val="06418C"/>
                </a:solidFill>
                <a:latin typeface="Arial" pitchFamily="34" charset="0"/>
                <a:ea typeface="Arial" pitchFamily="34" charset="-122"/>
                <a:cs typeface="Arial" pitchFamily="34" charset="-120"/>
              </a:rPr>
              <a:t>Technology and talent move together. Starting Day 1.</a:t>
            </a:r>
            <a:endParaRPr lang="en-US" sz="24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54</a:t>
            </a:r>
            <a:endParaRPr lang="en-US" sz="700" dirty="0"/>
          </a:p>
        </p:txBody>
      </p:sp>
      <p:sp>
        <p:nvSpPr>
          <p:cNvPr id="8" name="Shape 6"/>
          <p:cNvSpPr/>
          <p:nvPr/>
        </p:nvSpPr>
        <p:spPr>
          <a:xfrm>
            <a:off x="640080" y="1097280"/>
            <a:ext cx="7863840" cy="320040"/>
          </a:xfrm>
          <a:prstGeom prst="rect">
            <a:avLst/>
          </a:prstGeom>
          <a:solidFill>
            <a:srgbClr val="06418C"/>
          </a:solidFill>
          <a:ln/>
        </p:spPr>
      </p:sp>
      <p:sp>
        <p:nvSpPr>
          <p:cNvPr id="9" name="Text 7"/>
          <p:cNvSpPr/>
          <p:nvPr/>
        </p:nvSpPr>
        <p:spPr>
          <a:xfrm>
            <a:off x="640080" y="1097280"/>
            <a:ext cx="393192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TECHNOLOGY TRACK</a:t>
            </a:r>
            <a:endParaRPr lang="en-US" sz="1200" dirty="0"/>
          </a:p>
        </p:txBody>
      </p:sp>
      <p:sp>
        <p:nvSpPr>
          <p:cNvPr id="10" name="Text 8"/>
          <p:cNvSpPr/>
          <p:nvPr/>
        </p:nvSpPr>
        <p:spPr>
          <a:xfrm>
            <a:off x="4572000" y="1097280"/>
            <a:ext cx="393192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TALENT TRACK</a:t>
            </a:r>
            <a:endParaRPr lang="en-US" sz="1200" dirty="0"/>
          </a:p>
        </p:txBody>
      </p:sp>
      <p:sp>
        <p:nvSpPr>
          <p:cNvPr id="11" name="Shape 9"/>
          <p:cNvSpPr/>
          <p:nvPr/>
        </p:nvSpPr>
        <p:spPr>
          <a:xfrm>
            <a:off x="640080" y="1554480"/>
            <a:ext cx="822960" cy="640080"/>
          </a:xfrm>
          <a:prstGeom prst="rect">
            <a:avLst/>
          </a:prstGeom>
          <a:solidFill>
            <a:srgbClr val="4471A9"/>
          </a:solidFill>
          <a:ln/>
        </p:spPr>
      </p:sp>
      <p:sp>
        <p:nvSpPr>
          <p:cNvPr id="12" name="Text 10"/>
          <p:cNvSpPr/>
          <p:nvPr/>
        </p:nvSpPr>
        <p:spPr>
          <a:xfrm>
            <a:off x="640080" y="1554480"/>
            <a:ext cx="822960" cy="6400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P1</a:t>
            </a:r>
            <a:endParaRPr lang="en-US" sz="1400" dirty="0"/>
          </a:p>
        </p:txBody>
      </p:sp>
      <p:sp>
        <p:nvSpPr>
          <p:cNvPr id="13" name="Text 11"/>
          <p:cNvSpPr/>
          <p:nvPr/>
        </p:nvSpPr>
        <p:spPr>
          <a:xfrm>
            <a:off x="1600200" y="1600200"/>
            <a:ext cx="2926080" cy="548640"/>
          </a:xfrm>
          <a:prstGeom prst="rect">
            <a:avLst/>
          </a:prstGeom>
          <a:noFill/>
          <a:ln/>
        </p:spPr>
        <p:txBody>
          <a:bodyPr wrap="square" lIns="0" tIns="0" rIns="0" bIns="0" rtlCol="0" anchor="ctr"/>
          <a:lstStyle/>
          <a:p>
            <a:pPr indent="0" marL="0">
              <a:lnSpc>
                <a:spcPct val="120000"/>
              </a:lnSpc>
              <a:buNone/>
            </a:pPr>
            <a:r>
              <a:rPr lang="en-US" sz="1100" dirty="0">
                <a:solidFill>
                  <a:srgbClr val="4A4A4A"/>
                </a:solidFill>
                <a:latin typeface="Arial" pitchFamily="34" charset="0"/>
                <a:ea typeface="Arial" pitchFamily="34" charset="-122"/>
                <a:cs typeface="Arial" pitchFamily="34" charset="-120"/>
              </a:rPr>
              <a:t>Tools, data foundation, first automations</a:t>
            </a:r>
            <a:endParaRPr lang="en-US" sz="1100" dirty="0"/>
          </a:p>
        </p:txBody>
      </p:sp>
      <p:sp>
        <p:nvSpPr>
          <p:cNvPr id="14" name="Text 12"/>
          <p:cNvSpPr/>
          <p:nvPr/>
        </p:nvSpPr>
        <p:spPr>
          <a:xfrm>
            <a:off x="4663440" y="1600200"/>
            <a:ext cx="3840480" cy="548640"/>
          </a:xfrm>
          <a:prstGeom prst="rect">
            <a:avLst/>
          </a:prstGeom>
          <a:noFill/>
          <a:ln/>
        </p:spPr>
        <p:txBody>
          <a:bodyPr wrap="square" lIns="0" tIns="0" rIns="0" bIns="0" rtlCol="0" anchor="ctr"/>
          <a:lstStyle/>
          <a:p>
            <a:pPr indent="0" marL="0">
              <a:lnSpc>
                <a:spcPct val="120000"/>
              </a:lnSpc>
              <a:buNone/>
            </a:pPr>
            <a:r>
              <a:rPr lang="en-US" sz="1100" dirty="0">
                <a:solidFill>
                  <a:srgbClr val="4A4A4A"/>
                </a:solidFill>
                <a:latin typeface="Arial" pitchFamily="34" charset="0"/>
                <a:ea typeface="Arial" pitchFamily="34" charset="-122"/>
                <a:cs typeface="Arial" pitchFamily="34" charset="-120"/>
              </a:rPr>
              <a:t>Skills baseline, AI literacy for all, digital champions, early adopters</a:t>
            </a:r>
            <a:endParaRPr lang="en-US" sz="1100" dirty="0"/>
          </a:p>
        </p:txBody>
      </p:sp>
      <p:sp>
        <p:nvSpPr>
          <p:cNvPr id="15" name="Shape 13"/>
          <p:cNvSpPr/>
          <p:nvPr/>
        </p:nvSpPr>
        <p:spPr>
          <a:xfrm>
            <a:off x="640080" y="2331720"/>
            <a:ext cx="822960" cy="640080"/>
          </a:xfrm>
          <a:prstGeom prst="rect">
            <a:avLst/>
          </a:prstGeom>
          <a:solidFill>
            <a:srgbClr val="06418C"/>
          </a:solidFill>
          <a:ln/>
        </p:spPr>
      </p:sp>
      <p:sp>
        <p:nvSpPr>
          <p:cNvPr id="16" name="Text 14"/>
          <p:cNvSpPr/>
          <p:nvPr/>
        </p:nvSpPr>
        <p:spPr>
          <a:xfrm>
            <a:off x="640080" y="2331720"/>
            <a:ext cx="822960" cy="6400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P2</a:t>
            </a:r>
            <a:endParaRPr lang="en-US" sz="1400" dirty="0"/>
          </a:p>
        </p:txBody>
      </p:sp>
      <p:sp>
        <p:nvSpPr>
          <p:cNvPr id="17" name="Text 15"/>
          <p:cNvSpPr/>
          <p:nvPr/>
        </p:nvSpPr>
        <p:spPr>
          <a:xfrm>
            <a:off x="1600200" y="2377440"/>
            <a:ext cx="2926080" cy="548640"/>
          </a:xfrm>
          <a:prstGeom prst="rect">
            <a:avLst/>
          </a:prstGeom>
          <a:noFill/>
          <a:ln/>
        </p:spPr>
        <p:txBody>
          <a:bodyPr wrap="square" lIns="0" tIns="0" rIns="0" bIns="0" rtlCol="0" anchor="ctr"/>
          <a:lstStyle/>
          <a:p>
            <a:pPr indent="0" marL="0">
              <a:lnSpc>
                <a:spcPct val="120000"/>
              </a:lnSpc>
              <a:buNone/>
            </a:pPr>
            <a:r>
              <a:rPr lang="en-US" sz="1100" dirty="0">
                <a:solidFill>
                  <a:srgbClr val="4A4A4A"/>
                </a:solidFill>
                <a:latin typeface="Arial" pitchFamily="34" charset="0"/>
                <a:ea typeface="Arial" pitchFamily="34" charset="-122"/>
                <a:cs typeface="Arial" pitchFamily="34" charset="-120"/>
              </a:rPr>
              <a:t>AI platforms, R&amp;D acceleration, ops AI</a:t>
            </a:r>
            <a:endParaRPr lang="en-US" sz="1100" dirty="0"/>
          </a:p>
        </p:txBody>
      </p:sp>
      <p:sp>
        <p:nvSpPr>
          <p:cNvPr id="18" name="Text 16"/>
          <p:cNvSpPr/>
          <p:nvPr/>
        </p:nvSpPr>
        <p:spPr>
          <a:xfrm>
            <a:off x="4663440" y="2377440"/>
            <a:ext cx="3840480" cy="548640"/>
          </a:xfrm>
          <a:prstGeom prst="rect">
            <a:avLst/>
          </a:prstGeom>
          <a:noFill/>
          <a:ln/>
        </p:spPr>
        <p:txBody>
          <a:bodyPr wrap="square" lIns="0" tIns="0" rIns="0" bIns="0" rtlCol="0" anchor="ctr"/>
          <a:lstStyle/>
          <a:p>
            <a:pPr indent="0" marL="0">
              <a:lnSpc>
                <a:spcPct val="120000"/>
              </a:lnSpc>
              <a:buNone/>
            </a:pPr>
            <a:r>
              <a:rPr lang="en-US" sz="1100" dirty="0">
                <a:solidFill>
                  <a:srgbClr val="4A4A4A"/>
                </a:solidFill>
                <a:latin typeface="Arial" pitchFamily="34" charset="0"/>
                <a:ea typeface="Arial" pitchFamily="34" charset="-122"/>
                <a:cs typeface="Arial" pitchFamily="34" charset="-120"/>
              </a:rPr>
              <a:t>Reskilling pathways, new AI-native job families, build vs. hire</a:t>
            </a:r>
            <a:endParaRPr lang="en-US" sz="1100" dirty="0"/>
          </a:p>
        </p:txBody>
      </p:sp>
      <p:sp>
        <p:nvSpPr>
          <p:cNvPr id="19" name="Shape 17"/>
          <p:cNvSpPr/>
          <p:nvPr/>
        </p:nvSpPr>
        <p:spPr>
          <a:xfrm>
            <a:off x="640080" y="3108960"/>
            <a:ext cx="822960" cy="640080"/>
          </a:xfrm>
          <a:prstGeom prst="rect">
            <a:avLst/>
          </a:prstGeom>
          <a:solidFill>
            <a:srgbClr val="993399"/>
          </a:solidFill>
          <a:ln/>
        </p:spPr>
      </p:sp>
      <p:sp>
        <p:nvSpPr>
          <p:cNvPr id="20" name="Text 18"/>
          <p:cNvSpPr/>
          <p:nvPr/>
        </p:nvSpPr>
        <p:spPr>
          <a:xfrm>
            <a:off x="640080" y="3108960"/>
            <a:ext cx="822960" cy="64008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P3</a:t>
            </a:r>
            <a:endParaRPr lang="en-US" sz="1400" dirty="0"/>
          </a:p>
        </p:txBody>
      </p:sp>
      <p:sp>
        <p:nvSpPr>
          <p:cNvPr id="21" name="Text 19"/>
          <p:cNvSpPr/>
          <p:nvPr/>
        </p:nvSpPr>
        <p:spPr>
          <a:xfrm>
            <a:off x="1600200" y="3154680"/>
            <a:ext cx="2926080" cy="548640"/>
          </a:xfrm>
          <a:prstGeom prst="rect">
            <a:avLst/>
          </a:prstGeom>
          <a:noFill/>
          <a:ln/>
        </p:spPr>
        <p:txBody>
          <a:bodyPr wrap="square" lIns="0" tIns="0" rIns="0" bIns="0" rtlCol="0" anchor="ctr"/>
          <a:lstStyle/>
          <a:p>
            <a:pPr indent="0" marL="0">
              <a:lnSpc>
                <a:spcPct val="120000"/>
              </a:lnSpc>
              <a:buNone/>
            </a:pPr>
            <a:r>
              <a:rPr lang="en-US" sz="1100" dirty="0">
                <a:solidFill>
                  <a:srgbClr val="4A4A4A"/>
                </a:solidFill>
                <a:latin typeface="Arial" pitchFamily="34" charset="0"/>
                <a:ea typeface="Arial" pitchFamily="34" charset="-122"/>
                <a:cs typeface="Arial" pitchFamily="34" charset="-120"/>
              </a:rPr>
              <a:t>AI-native infrastructure, autonomous systems</a:t>
            </a:r>
            <a:endParaRPr lang="en-US" sz="1100" dirty="0"/>
          </a:p>
        </p:txBody>
      </p:sp>
      <p:sp>
        <p:nvSpPr>
          <p:cNvPr id="22" name="Text 20"/>
          <p:cNvSpPr/>
          <p:nvPr/>
        </p:nvSpPr>
        <p:spPr>
          <a:xfrm>
            <a:off x="4663440" y="3154680"/>
            <a:ext cx="3840480" cy="548640"/>
          </a:xfrm>
          <a:prstGeom prst="rect">
            <a:avLst/>
          </a:prstGeom>
          <a:noFill/>
          <a:ln/>
        </p:spPr>
        <p:txBody>
          <a:bodyPr wrap="square" lIns="0" tIns="0" rIns="0" bIns="0" rtlCol="0" anchor="ctr"/>
          <a:lstStyle/>
          <a:p>
            <a:pPr indent="0" marL="0">
              <a:lnSpc>
                <a:spcPct val="120000"/>
              </a:lnSpc>
              <a:buNone/>
            </a:pPr>
            <a:r>
              <a:rPr lang="en-US" sz="1100" dirty="0">
                <a:solidFill>
                  <a:srgbClr val="4A4A4A"/>
                </a:solidFill>
                <a:latin typeface="Arial" pitchFamily="34" charset="0"/>
                <a:ea typeface="Arial" pitchFamily="34" charset="-122"/>
                <a:cs typeface="Arial" pitchFamily="34" charset="-120"/>
              </a:rPr>
              <a:t>Workforce architecture redesign, org matches AI-native model</a:t>
            </a:r>
            <a:endParaRPr lang="en-US" sz="1100" dirty="0"/>
          </a:p>
        </p:txBody>
      </p:sp>
      <p:sp>
        <p:nvSpPr>
          <p:cNvPr id="23" name="Shape 21"/>
          <p:cNvSpPr/>
          <p:nvPr/>
        </p:nvSpPr>
        <p:spPr>
          <a:xfrm>
            <a:off x="640080" y="3840480"/>
            <a:ext cx="7863840" cy="45720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24" name="Text 22"/>
          <p:cNvSpPr/>
          <p:nvPr/>
        </p:nvSpPr>
        <p:spPr>
          <a:xfrm>
            <a:off x="822960" y="3840480"/>
            <a:ext cx="7498080" cy="457200"/>
          </a:xfrm>
          <a:prstGeom prst="rect">
            <a:avLst/>
          </a:prstGeom>
          <a:noFill/>
          <a:ln/>
        </p:spPr>
        <p:txBody>
          <a:bodyPr wrap="square" lIns="0" tIns="0" rIns="0" bIns="0" rtlCol="0" anchor="ctr"/>
          <a:lstStyle/>
          <a:p>
            <a:pPr indent="0" marL="0">
              <a:buNone/>
            </a:pPr>
            <a:r>
              <a:rPr lang="en-US" sz="1300" b="1" i="1" dirty="0">
                <a:solidFill>
                  <a:srgbClr val="06418C"/>
                </a:solidFill>
                <a:latin typeface="Arial" pitchFamily="34" charset="0"/>
                <a:ea typeface="Arial" pitchFamily="34" charset="-122"/>
                <a:cs typeface="Arial" pitchFamily="34" charset="-120"/>
              </a:rPr>
              <a:t>If we wait until Phase 3 to think about the workforce, we'll have the technology and not the people to use it.</a:t>
            </a:r>
            <a:endParaRPr lang="en-US" sz="1300" dirty="0"/>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42D5E"/>
        </a:solidFill>
        <a:effectLst/>
      </p:bgPr>
    </p:bg>
    <p:spTree>
      <p:nvGrpSpPr>
        <p:cNvPr id="1" name=""/>
        <p:cNvGrpSpPr/>
        <p:nvPr/>
      </p:nvGrpSpPr>
      <p:grpSpPr/>
      <p:sp>
        <p:nvSpPr>
          <p:cNvPr id="2" name="Shape 0"/>
          <p:cNvSpPr/>
          <p:nvPr/>
        </p:nvSpPr>
        <p:spPr>
          <a:xfrm>
            <a:off x="0" y="0"/>
            <a:ext cx="9144000" cy="36576"/>
          </a:xfrm>
          <a:prstGeom prst="rect">
            <a:avLst/>
          </a:prstGeom>
          <a:solidFill>
            <a:srgbClr val="4471A9"/>
          </a:solidFill>
          <a:ln/>
        </p:spPr>
      </p:sp>
      <p:sp>
        <p:nvSpPr>
          <p:cNvPr id="3" name="Text 1"/>
          <p:cNvSpPr/>
          <p:nvPr/>
        </p:nvSpPr>
        <p:spPr>
          <a:xfrm>
            <a:off x="640080" y="1371600"/>
            <a:ext cx="1097280" cy="731520"/>
          </a:xfrm>
          <a:prstGeom prst="rect">
            <a:avLst/>
          </a:prstGeom>
          <a:noFill/>
          <a:ln/>
        </p:spPr>
        <p:txBody>
          <a:bodyPr wrap="square" lIns="0" tIns="0" rIns="0" bIns="0" rtlCol="0" anchor="ctr"/>
          <a:lstStyle/>
          <a:p>
            <a:pPr indent="0" marL="0">
              <a:buNone/>
            </a:pPr>
            <a:r>
              <a:rPr lang="en-US" sz="4800" b="1" dirty="0">
                <a:solidFill>
                  <a:srgbClr val="4471A9"/>
                </a:solidFill>
                <a:latin typeface="Arial" pitchFamily="34" charset="0"/>
                <a:ea typeface="Arial" pitchFamily="34" charset="-122"/>
                <a:cs typeface="Arial" pitchFamily="34" charset="-120"/>
              </a:rPr>
              <a:t>11</a:t>
            </a:r>
            <a:endParaRPr lang="en-US" sz="4800" dirty="0"/>
          </a:p>
        </p:txBody>
      </p:sp>
      <p:sp>
        <p:nvSpPr>
          <p:cNvPr id="4" name="Text 2"/>
          <p:cNvSpPr/>
          <p:nvPr/>
        </p:nvSpPr>
        <p:spPr>
          <a:xfrm>
            <a:off x="640080" y="2103120"/>
            <a:ext cx="7315200" cy="914400"/>
          </a:xfrm>
          <a:prstGeom prst="rect">
            <a:avLst/>
          </a:prstGeom>
          <a:noFill/>
          <a:ln/>
        </p:spPr>
        <p:txBody>
          <a:bodyPr wrap="square" lIns="0" tIns="0" rIns="0" bIns="0" rtlCol="0" anchor="ctr"/>
          <a:lstStyle/>
          <a:p>
            <a:pPr indent="0" marL="0">
              <a:buNone/>
            </a:pPr>
            <a:r>
              <a:rPr lang="en-US" sz="3600" b="1" spc="300" kern="0" dirty="0">
                <a:solidFill>
                  <a:srgbClr val="FFFFFF"/>
                </a:solidFill>
                <a:latin typeface="Arial" pitchFamily="34" charset="0"/>
                <a:ea typeface="Arial" pitchFamily="34" charset="-122"/>
                <a:cs typeface="Arial" pitchFamily="34" charset="-120"/>
              </a:rPr>
              <a:t>THE AMBITION</a:t>
            </a:r>
            <a:endParaRPr lang="en-US" sz="3600" dirty="0"/>
          </a:p>
        </p:txBody>
      </p:sp>
      <p:sp>
        <p:nvSpPr>
          <p:cNvPr id="5" name="Text 3"/>
          <p:cNvSpPr/>
          <p:nvPr/>
        </p:nvSpPr>
        <p:spPr>
          <a:xfrm>
            <a:off x="640080" y="3017520"/>
            <a:ext cx="6400800" cy="548640"/>
          </a:xfrm>
          <a:prstGeom prst="rect">
            <a:avLst/>
          </a:prstGeom>
          <a:noFill/>
          <a:ln/>
        </p:spPr>
        <p:txBody>
          <a:bodyPr wrap="square" rtlCol="0" anchor="ctr"/>
          <a:lstStyle/>
          <a:p>
            <a:pPr indent="0" marL="0">
              <a:buNone/>
            </a:pPr>
            <a:r>
              <a:rPr lang="en-US" sz="1600" dirty="0">
                <a:solidFill>
                  <a:srgbClr val="4471A9"/>
                </a:solidFill>
                <a:latin typeface="Arial" pitchFamily="34" charset="0"/>
                <a:ea typeface="Arial" pitchFamily="34" charset="-122"/>
                <a:cs typeface="Arial" pitchFamily="34" charset="-120"/>
              </a:rPr>
              <a:t>What Renesas looks like when this is working</a:t>
            </a:r>
            <a:endParaRPr lang="en-US" sz="1600" dirty="0"/>
          </a:p>
        </p:txBody>
      </p:sp>
      <p:sp>
        <p:nvSpPr>
          <p:cNvPr id="6" name="Shape 4"/>
          <p:cNvSpPr/>
          <p:nvPr/>
        </p:nvSpPr>
        <p:spPr>
          <a:xfrm>
            <a:off x="0" y="5106924"/>
            <a:ext cx="9144000" cy="36576"/>
          </a:xfrm>
          <a:prstGeom prst="rect">
            <a:avLst/>
          </a:prstGeom>
          <a:solidFill>
            <a:srgbClr val="993399"/>
          </a:solidFill>
          <a:ln/>
        </p:spPr>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42D5E"/>
        </a:solidFill>
        <a:effectLst/>
      </p:bgPr>
    </p:bg>
    <p:spTree>
      <p:nvGrpSpPr>
        <p:cNvPr id="1" name=""/>
        <p:cNvGrpSpPr/>
        <p:nvPr/>
      </p:nvGrpSpPr>
      <p:grpSpPr/>
      <p:sp>
        <p:nvSpPr>
          <p:cNvPr id="2" name="Shape 0"/>
          <p:cNvSpPr/>
          <p:nvPr/>
        </p:nvSpPr>
        <p:spPr>
          <a:xfrm>
            <a:off x="0" y="0"/>
            <a:ext cx="9144000" cy="36576"/>
          </a:xfrm>
          <a:prstGeom prst="rect">
            <a:avLst/>
          </a:prstGeom>
          <a:solidFill>
            <a:srgbClr val="4471A9"/>
          </a:solidFill>
          <a:ln/>
        </p:spPr>
      </p:sp>
      <p:sp>
        <p:nvSpPr>
          <p:cNvPr id="3" name="Text 1"/>
          <p:cNvSpPr/>
          <p:nvPr/>
        </p:nvSpPr>
        <p:spPr>
          <a:xfrm>
            <a:off x="640080" y="274320"/>
            <a:ext cx="7863840" cy="50292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What Renesas looks like when this is working.</a:t>
            </a:r>
            <a:endParaRPr lang="en-US" sz="2400" dirty="0"/>
          </a:p>
        </p:txBody>
      </p:sp>
      <p:sp>
        <p:nvSpPr>
          <p:cNvPr id="4" name="Shape 2"/>
          <p:cNvSpPr/>
          <p:nvPr/>
        </p:nvSpPr>
        <p:spPr>
          <a:xfrm>
            <a:off x="640080" y="1097280"/>
            <a:ext cx="7863840" cy="548640"/>
          </a:xfrm>
          <a:prstGeom prst="rect">
            <a:avLst/>
          </a:prstGeom>
          <a:solidFill>
            <a:srgbClr val="06418C"/>
          </a:solidFill>
          <a:ln/>
        </p:spPr>
      </p:sp>
      <p:sp>
        <p:nvSpPr>
          <p:cNvPr id="5" name="Text 3"/>
          <p:cNvSpPr/>
          <p:nvPr/>
        </p:nvSpPr>
        <p:spPr>
          <a:xfrm>
            <a:off x="914400" y="1097280"/>
            <a:ext cx="7315200"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R&amp;D cycles shortened by AI at every stage — from spec to tape-out</a:t>
            </a:r>
            <a:endParaRPr lang="en-US" sz="1500" dirty="0"/>
          </a:p>
        </p:txBody>
      </p:sp>
      <p:sp>
        <p:nvSpPr>
          <p:cNvPr id="6" name="Shape 4"/>
          <p:cNvSpPr/>
          <p:nvPr/>
        </p:nvSpPr>
        <p:spPr>
          <a:xfrm>
            <a:off x="640080" y="1783080"/>
            <a:ext cx="7863840" cy="548640"/>
          </a:xfrm>
          <a:prstGeom prst="rect">
            <a:avLst/>
          </a:prstGeom>
          <a:solidFill>
            <a:srgbClr val="06418C"/>
          </a:solidFill>
          <a:ln/>
        </p:spPr>
      </p:sp>
      <p:sp>
        <p:nvSpPr>
          <p:cNvPr id="7" name="Text 5"/>
          <p:cNvSpPr/>
          <p:nvPr/>
        </p:nvSpPr>
        <p:spPr>
          <a:xfrm>
            <a:off x="914400" y="1783080"/>
            <a:ext cx="7315200"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Engineers spend time on novel problems, not documentation and rework</a:t>
            </a:r>
            <a:endParaRPr lang="en-US" sz="1500" dirty="0"/>
          </a:p>
        </p:txBody>
      </p:sp>
      <p:sp>
        <p:nvSpPr>
          <p:cNvPr id="8" name="Shape 6"/>
          <p:cNvSpPr/>
          <p:nvPr/>
        </p:nvSpPr>
        <p:spPr>
          <a:xfrm>
            <a:off x="640080" y="2468880"/>
            <a:ext cx="7863840" cy="548640"/>
          </a:xfrm>
          <a:prstGeom prst="rect">
            <a:avLst/>
          </a:prstGeom>
          <a:solidFill>
            <a:srgbClr val="06418C"/>
          </a:solidFill>
          <a:ln/>
        </p:spPr>
      </p:sp>
      <p:sp>
        <p:nvSpPr>
          <p:cNvPr id="9" name="Text 7"/>
          <p:cNvSpPr/>
          <p:nvPr/>
        </p:nvSpPr>
        <p:spPr>
          <a:xfrm>
            <a:off x="914400" y="2468880"/>
            <a:ext cx="7315200"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Every function operates on real-time data, not last month's report</a:t>
            </a:r>
            <a:endParaRPr lang="en-US" sz="1500" dirty="0"/>
          </a:p>
        </p:txBody>
      </p:sp>
      <p:sp>
        <p:nvSpPr>
          <p:cNvPr id="10" name="Shape 8"/>
          <p:cNvSpPr/>
          <p:nvPr/>
        </p:nvSpPr>
        <p:spPr>
          <a:xfrm>
            <a:off x="640080" y="3154680"/>
            <a:ext cx="7863840" cy="548640"/>
          </a:xfrm>
          <a:prstGeom prst="rect">
            <a:avLst/>
          </a:prstGeom>
          <a:solidFill>
            <a:srgbClr val="06418C"/>
          </a:solidFill>
          <a:ln/>
        </p:spPr>
      </p:sp>
      <p:sp>
        <p:nvSpPr>
          <p:cNvPr id="11" name="Text 9"/>
          <p:cNvSpPr/>
          <p:nvPr/>
        </p:nvSpPr>
        <p:spPr>
          <a:xfrm>
            <a:off x="914400" y="3154680"/>
            <a:ext cx="7315200"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The supply chain predicts disruptions before they happen</a:t>
            </a:r>
            <a:endParaRPr lang="en-US" sz="1500" dirty="0"/>
          </a:p>
        </p:txBody>
      </p:sp>
      <p:sp>
        <p:nvSpPr>
          <p:cNvPr id="12" name="Shape 10"/>
          <p:cNvSpPr/>
          <p:nvPr/>
        </p:nvSpPr>
        <p:spPr>
          <a:xfrm>
            <a:off x="640080" y="3840480"/>
            <a:ext cx="7863840" cy="548640"/>
          </a:xfrm>
          <a:prstGeom prst="rect">
            <a:avLst/>
          </a:prstGeom>
          <a:solidFill>
            <a:srgbClr val="06418C"/>
          </a:solidFill>
          <a:ln/>
        </p:spPr>
      </p:sp>
      <p:sp>
        <p:nvSpPr>
          <p:cNvPr id="13" name="Text 11"/>
          <p:cNvSpPr/>
          <p:nvPr/>
        </p:nvSpPr>
        <p:spPr>
          <a:xfrm>
            <a:off x="914400" y="3840480"/>
            <a:ext cx="7315200"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Organizational knowledge compounds instead of eroding</a:t>
            </a:r>
            <a:endParaRPr lang="en-US" sz="1500" dirty="0"/>
          </a:p>
        </p:txBody>
      </p:sp>
      <p:sp>
        <p:nvSpPr>
          <p:cNvPr id="14" name="Shape 12"/>
          <p:cNvSpPr/>
          <p:nvPr/>
        </p:nvSpPr>
        <p:spPr>
          <a:xfrm>
            <a:off x="0" y="5106924"/>
            <a:ext cx="9144000" cy="36576"/>
          </a:xfrm>
          <a:prstGeom prst="rect">
            <a:avLst/>
          </a:prstGeom>
          <a:solidFill>
            <a:srgbClr val="993399"/>
          </a:solidFill>
          <a:ln/>
        </p:spPr>
      </p:sp>
      <p:sp>
        <p:nvSpPr>
          <p:cNvPr id="15" name="Shape 13"/>
          <p:cNvSpPr/>
          <p:nvPr/>
        </p:nvSpPr>
        <p:spPr>
          <a:xfrm>
            <a:off x="457200" y="4645152"/>
            <a:ext cx="8229600" cy="0"/>
          </a:xfrm>
          <a:prstGeom prst="line">
            <a:avLst/>
          </a:prstGeom>
          <a:noFill/>
          <a:ln w="6350">
            <a:solidFill>
              <a:srgbClr val="D0D0D0"/>
            </a:solidFill>
            <a:prstDash val="solid"/>
          </a:ln>
        </p:spPr>
      </p:sp>
      <p:sp>
        <p:nvSpPr>
          <p:cNvPr id="16" name="Text 14"/>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17" name="Shape 15"/>
          <p:cNvSpPr/>
          <p:nvPr/>
        </p:nvSpPr>
        <p:spPr>
          <a:xfrm>
            <a:off x="3840480" y="4764024"/>
            <a:ext cx="1188720" cy="182880"/>
          </a:xfrm>
          <a:prstGeom prst="rect">
            <a:avLst/>
          </a:prstGeom>
          <a:solidFill>
            <a:srgbClr val="993399"/>
          </a:solidFill>
          <a:ln/>
        </p:spPr>
      </p:sp>
      <p:sp>
        <p:nvSpPr>
          <p:cNvPr id="18" name="Text 16"/>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19" name="Text 17"/>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55</a:t>
            </a:r>
            <a:endParaRPr lang="en-US" sz="700" dirty="0"/>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p:nvPr/>
        </p:nvSpPr>
        <p:spPr>
          <a:xfrm>
            <a:off x="640080" y="320040"/>
            <a:ext cx="7863840" cy="64008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ea typeface="Arial" pitchFamily="34" charset="-122"/>
                <a:cs typeface="Arial" pitchFamily="34" charset="-120"/>
              </a:rPr>
              <a:t>R365 + Altium + AI = the platform play.</a:t>
            </a:r>
            <a:endParaRPr lang="en-US" sz="28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56</a:t>
            </a:r>
            <a:endParaRPr lang="en-US" sz="700" dirty="0"/>
          </a:p>
        </p:txBody>
      </p:sp>
      <p:sp>
        <p:nvSpPr>
          <p:cNvPr id="8" name="Shape 6"/>
          <p:cNvSpPr/>
          <p:nvPr/>
        </p:nvSpPr>
        <p:spPr>
          <a:xfrm>
            <a:off x="640080" y="1188720"/>
            <a:ext cx="2468880" cy="2286000"/>
          </a:xfrm>
          <a:prstGeom prst="rect">
            <a:avLst/>
          </a:prstGeom>
          <a:solidFill>
            <a:srgbClr val="9D9D9D"/>
          </a:solidFill>
          <a:ln/>
          <a:effectLst>
            <a:outerShdw sx="100000" sy="100000" kx="0" ky="0" algn="bl" rotWithShape="0" blurRad="101600" dist="25400" dir="8100000">
              <a:srgbClr val="000000">
                <a:alpha val="12000"/>
              </a:srgbClr>
            </a:outerShdw>
          </a:effectLst>
        </p:spPr>
      </p:sp>
      <p:sp>
        <p:nvSpPr>
          <p:cNvPr id="9" name="Text 7"/>
          <p:cNvSpPr/>
          <p:nvPr/>
        </p:nvSpPr>
        <p:spPr>
          <a:xfrm>
            <a:off x="640080" y="1280160"/>
            <a:ext cx="24688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TODAY</a:t>
            </a:r>
            <a:endParaRPr lang="en-US" sz="1400" dirty="0"/>
          </a:p>
        </p:txBody>
      </p:sp>
      <p:sp>
        <p:nvSpPr>
          <p:cNvPr id="10" name="Text 8"/>
          <p:cNvSpPr/>
          <p:nvPr/>
        </p:nvSpPr>
        <p:spPr>
          <a:xfrm>
            <a:off x="777240" y="1737360"/>
            <a:ext cx="2194560" cy="1554480"/>
          </a:xfrm>
          <a:prstGeom prst="rect">
            <a:avLst/>
          </a:prstGeom>
          <a:noFill/>
          <a:ln/>
        </p:spPr>
        <p:txBody>
          <a:bodyPr wrap="square" lIns="0" tIns="0" rIns="0" bIns="0" rtlCol="0" anchor="ctr"/>
          <a:lstStyle/>
          <a:p>
            <a:pPr indent="0" marL="0">
              <a:lnSpc>
                <a:spcPct val="125000"/>
              </a:lnSpc>
              <a:buNone/>
            </a:pPr>
            <a:r>
              <a:rPr lang="en-US" sz="1100" dirty="0">
                <a:solidFill>
                  <a:srgbClr val="D0D8E8"/>
                </a:solidFill>
                <a:latin typeface="Arial" pitchFamily="34" charset="0"/>
                <a:ea typeface="Arial" pitchFamily="34" charset="-122"/>
                <a:cs typeface="Arial" pitchFamily="34" charset="-120"/>
              </a:rPr>
              <a:t>Altium as PCB design tool acquisition. R365 as product platform initiative. Separate tracks, natural alignment.</a:t>
            </a:r>
            <a:endParaRPr lang="en-US" sz="1100" dirty="0"/>
          </a:p>
        </p:txBody>
      </p:sp>
      <p:sp>
        <p:nvSpPr>
          <p:cNvPr id="11" name="Text 9"/>
          <p:cNvSpPr/>
          <p:nvPr/>
        </p:nvSpPr>
        <p:spPr>
          <a:xfrm>
            <a:off x="3063240" y="1828800"/>
            <a:ext cx="365760" cy="731520"/>
          </a:xfrm>
          <a:prstGeom prst="rect">
            <a:avLst/>
          </a:prstGeom>
          <a:noFill/>
          <a:ln/>
        </p:spPr>
        <p:txBody>
          <a:bodyPr wrap="square" rtlCol="0" anchor="ctr"/>
          <a:lstStyle/>
          <a:p>
            <a:pPr algn="ctr" indent="0" marL="0">
              <a:buNone/>
            </a:pPr>
            <a:r>
              <a:rPr lang="en-US" sz="2800" dirty="0">
                <a:solidFill>
                  <a:srgbClr val="06418C"/>
                </a:solidFill>
                <a:latin typeface="Arial" pitchFamily="34" charset="0"/>
                <a:ea typeface="Arial" pitchFamily="34" charset="-122"/>
                <a:cs typeface="Arial" pitchFamily="34" charset="-120"/>
              </a:rPr>
              <a:t>→</a:t>
            </a:r>
            <a:endParaRPr lang="en-US" sz="2800" dirty="0"/>
          </a:p>
        </p:txBody>
      </p:sp>
      <p:sp>
        <p:nvSpPr>
          <p:cNvPr id="12" name="Shape 10"/>
          <p:cNvSpPr/>
          <p:nvPr/>
        </p:nvSpPr>
        <p:spPr>
          <a:xfrm>
            <a:off x="3337560" y="1188720"/>
            <a:ext cx="2468880" cy="2286000"/>
          </a:xfrm>
          <a:prstGeom prst="rect">
            <a:avLst/>
          </a:prstGeom>
          <a:solidFill>
            <a:srgbClr val="06418C"/>
          </a:solidFill>
          <a:ln/>
          <a:effectLst>
            <a:outerShdw sx="100000" sy="100000" kx="0" ky="0" algn="bl" rotWithShape="0" blurRad="101600" dist="25400" dir="8100000">
              <a:srgbClr val="000000">
                <a:alpha val="12000"/>
              </a:srgbClr>
            </a:outerShdw>
          </a:effectLst>
        </p:spPr>
      </p:sp>
      <p:sp>
        <p:nvSpPr>
          <p:cNvPr id="13" name="Text 11"/>
          <p:cNvSpPr/>
          <p:nvPr/>
        </p:nvSpPr>
        <p:spPr>
          <a:xfrm>
            <a:off x="3337560" y="1280160"/>
            <a:ext cx="24688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PHASE 2</a:t>
            </a:r>
            <a:endParaRPr lang="en-US" sz="1400" dirty="0"/>
          </a:p>
        </p:txBody>
      </p:sp>
      <p:sp>
        <p:nvSpPr>
          <p:cNvPr id="14" name="Text 12"/>
          <p:cNvSpPr/>
          <p:nvPr/>
        </p:nvSpPr>
        <p:spPr>
          <a:xfrm>
            <a:off x="3474720" y="1737360"/>
            <a:ext cx="2194560" cy="1554480"/>
          </a:xfrm>
          <a:prstGeom prst="rect">
            <a:avLst/>
          </a:prstGeom>
          <a:noFill/>
          <a:ln/>
        </p:spPr>
        <p:txBody>
          <a:bodyPr wrap="square" lIns="0" tIns="0" rIns="0" bIns="0" rtlCol="0" anchor="ctr"/>
          <a:lstStyle/>
          <a:p>
            <a:pPr indent="0" marL="0">
              <a:lnSpc>
                <a:spcPct val="125000"/>
              </a:lnSpc>
              <a:buNone/>
            </a:pPr>
            <a:r>
              <a:rPr lang="en-US" sz="1100" dirty="0">
                <a:solidFill>
                  <a:srgbClr val="D0D8E8"/>
                </a:solidFill>
                <a:latin typeface="Arial" pitchFamily="34" charset="0"/>
                <a:ea typeface="Arial" pitchFamily="34" charset="-122"/>
                <a:cs typeface="Arial" pitchFamily="34" charset="-120"/>
              </a:rPr>
              <a:t>AI-enriched design experience. Component intelligence in the workflow. Engineers get AI-assisted selection, reference designs, guidance — powered by our data infrastructure.</a:t>
            </a:r>
            <a:endParaRPr lang="en-US" sz="1100" dirty="0"/>
          </a:p>
        </p:txBody>
      </p:sp>
      <p:sp>
        <p:nvSpPr>
          <p:cNvPr id="15" name="Text 13"/>
          <p:cNvSpPr/>
          <p:nvPr/>
        </p:nvSpPr>
        <p:spPr>
          <a:xfrm>
            <a:off x="5760720" y="1828800"/>
            <a:ext cx="365760" cy="731520"/>
          </a:xfrm>
          <a:prstGeom prst="rect">
            <a:avLst/>
          </a:prstGeom>
          <a:noFill/>
          <a:ln/>
        </p:spPr>
        <p:txBody>
          <a:bodyPr wrap="square" rtlCol="0" anchor="ctr"/>
          <a:lstStyle/>
          <a:p>
            <a:pPr algn="ctr" indent="0" marL="0">
              <a:buNone/>
            </a:pPr>
            <a:r>
              <a:rPr lang="en-US" sz="2800" dirty="0">
                <a:solidFill>
                  <a:srgbClr val="06418C"/>
                </a:solidFill>
                <a:latin typeface="Arial" pitchFamily="34" charset="0"/>
                <a:ea typeface="Arial" pitchFamily="34" charset="-122"/>
                <a:cs typeface="Arial" pitchFamily="34" charset="-120"/>
              </a:rPr>
              <a:t>→</a:t>
            </a:r>
            <a:endParaRPr lang="en-US" sz="2800" dirty="0"/>
          </a:p>
        </p:txBody>
      </p:sp>
      <p:sp>
        <p:nvSpPr>
          <p:cNvPr id="16" name="Shape 14"/>
          <p:cNvSpPr/>
          <p:nvPr/>
        </p:nvSpPr>
        <p:spPr>
          <a:xfrm>
            <a:off x="6035040" y="1188720"/>
            <a:ext cx="2468880" cy="2286000"/>
          </a:xfrm>
          <a:prstGeom prst="rect">
            <a:avLst/>
          </a:prstGeom>
          <a:solidFill>
            <a:srgbClr val="042D5E"/>
          </a:solidFill>
          <a:ln/>
          <a:effectLst>
            <a:outerShdw sx="100000" sy="100000" kx="0" ky="0" algn="bl" rotWithShape="0" blurRad="101600" dist="25400" dir="8100000">
              <a:srgbClr val="000000">
                <a:alpha val="12000"/>
              </a:srgbClr>
            </a:outerShdw>
          </a:effectLst>
        </p:spPr>
      </p:sp>
      <p:sp>
        <p:nvSpPr>
          <p:cNvPr id="17" name="Text 15"/>
          <p:cNvSpPr/>
          <p:nvPr/>
        </p:nvSpPr>
        <p:spPr>
          <a:xfrm>
            <a:off x="6035040" y="1280160"/>
            <a:ext cx="24688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PHASE 3</a:t>
            </a:r>
            <a:endParaRPr lang="en-US" sz="1400" dirty="0"/>
          </a:p>
        </p:txBody>
      </p:sp>
      <p:sp>
        <p:nvSpPr>
          <p:cNvPr id="18" name="Text 16"/>
          <p:cNvSpPr/>
          <p:nvPr/>
        </p:nvSpPr>
        <p:spPr>
          <a:xfrm>
            <a:off x="6172200" y="1737360"/>
            <a:ext cx="2194560" cy="1554480"/>
          </a:xfrm>
          <a:prstGeom prst="rect">
            <a:avLst/>
          </a:prstGeom>
          <a:noFill/>
          <a:ln/>
        </p:spPr>
        <p:txBody>
          <a:bodyPr wrap="square" lIns="0" tIns="0" rIns="0" bIns="0" rtlCol="0" anchor="ctr"/>
          <a:lstStyle/>
          <a:p>
            <a:pPr indent="0" marL="0">
              <a:lnSpc>
                <a:spcPct val="125000"/>
              </a:lnSpc>
              <a:buNone/>
            </a:pPr>
            <a:r>
              <a:rPr lang="en-US" sz="1100" dirty="0">
                <a:solidFill>
                  <a:srgbClr val="D0D8E8"/>
                </a:solidFill>
                <a:latin typeface="Arial" pitchFamily="34" charset="0"/>
                <a:ea typeface="Arial" pitchFamily="34" charset="-122"/>
                <a:cs typeface="Arial" pitchFamily="34" charset="-120"/>
              </a:rPr>
              <a:t>End-to-end platform. R365 + Altium's community + AI = ecosystem where Renesas components are preferred by design. Not pushed — designed in.</a:t>
            </a:r>
            <a:endParaRPr lang="en-US" sz="1100" dirty="0"/>
          </a:p>
        </p:txBody>
      </p:sp>
      <p:sp>
        <p:nvSpPr>
          <p:cNvPr id="19" name="Shape 17"/>
          <p:cNvSpPr/>
          <p:nvPr/>
        </p:nvSpPr>
        <p:spPr>
          <a:xfrm>
            <a:off x="640080" y="3840480"/>
            <a:ext cx="7863840" cy="457200"/>
          </a:xfrm>
          <a:prstGeom prst="rect">
            <a:avLst/>
          </a:prstGeom>
          <a:solidFill>
            <a:srgbClr val="E8EFF7"/>
          </a:solidFill>
          <a:ln/>
          <a:effectLst>
            <a:outerShdw sx="100000" sy="100000" kx="0" ky="0" algn="bl" rotWithShape="0" blurRad="50800" dist="12700" dir="8100000">
              <a:srgbClr val="000000">
                <a:alpha val="8000"/>
              </a:srgbClr>
            </a:outerShdw>
          </a:effectLst>
        </p:spPr>
      </p:sp>
      <p:sp>
        <p:nvSpPr>
          <p:cNvPr id="20" name="Text 18"/>
          <p:cNvSpPr/>
          <p:nvPr/>
        </p:nvSpPr>
        <p:spPr>
          <a:xfrm>
            <a:off x="822960" y="3840480"/>
            <a:ext cx="7498080" cy="457200"/>
          </a:xfrm>
          <a:prstGeom prst="rect">
            <a:avLst/>
          </a:prstGeom>
          <a:noFill/>
          <a:ln/>
        </p:spPr>
        <p:txBody>
          <a:bodyPr wrap="square" lIns="0" tIns="0" rIns="0" bIns="0" rtlCol="0" anchor="ctr"/>
          <a:lstStyle/>
          <a:p>
            <a:pPr indent="0" marL="0">
              <a:buNone/>
            </a:pPr>
            <a:r>
              <a:rPr lang="en-US" sz="1300" b="1" i="1" dirty="0">
                <a:solidFill>
                  <a:srgbClr val="06418C"/>
                </a:solidFill>
                <a:latin typeface="Arial" pitchFamily="34" charset="0"/>
                <a:ea typeface="Arial" pitchFamily="34" charset="-122"/>
                <a:cs typeface="Arial" pitchFamily="34" charset="-120"/>
              </a:rPr>
              <a:t>The digital infrastructure we build in Phases 1-2 is the foundation that makes R365/Altium real. Without it, the platform vision is just a PowerPoint.</a:t>
            </a:r>
            <a:endParaRPr lang="en-US" sz="1300" dirty="0"/>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42D5E"/>
        </a:solidFill>
        <a:effectLst/>
      </p:bgPr>
    </p:bg>
    <p:spTree>
      <p:nvGrpSpPr>
        <p:cNvPr id="1" name=""/>
        <p:cNvGrpSpPr/>
        <p:nvPr/>
      </p:nvGrpSpPr>
      <p:grpSpPr/>
      <p:sp>
        <p:nvSpPr>
          <p:cNvPr id="2" name="Shape 0"/>
          <p:cNvSpPr/>
          <p:nvPr/>
        </p:nvSpPr>
        <p:spPr>
          <a:xfrm>
            <a:off x="0" y="0"/>
            <a:ext cx="9144000" cy="36576"/>
          </a:xfrm>
          <a:prstGeom prst="rect">
            <a:avLst/>
          </a:prstGeom>
          <a:solidFill>
            <a:srgbClr val="4471A9"/>
          </a:solidFill>
          <a:ln/>
        </p:spPr>
      </p:sp>
      <p:sp>
        <p:nvSpPr>
          <p:cNvPr id="3" name="Text 1"/>
          <p:cNvSpPr/>
          <p:nvPr/>
        </p:nvSpPr>
        <p:spPr>
          <a:xfrm>
            <a:off x="914400" y="731520"/>
            <a:ext cx="7315200" cy="822960"/>
          </a:xfrm>
          <a:prstGeom prst="rect">
            <a:avLst/>
          </a:prstGeom>
          <a:noFill/>
          <a:ln/>
        </p:spPr>
        <p:txBody>
          <a:bodyPr wrap="square" lIns="0" tIns="0" rIns="0" bIns="0" rtlCol="0" anchor="ctr"/>
          <a:lstStyle/>
          <a:p>
            <a:pPr algn="ctr" indent="0" marL="0">
              <a:buNone/>
            </a:pPr>
            <a:r>
              <a:rPr lang="en-US" sz="2200" dirty="0">
                <a:solidFill>
                  <a:srgbClr val="8EAFD0"/>
                </a:solidFill>
                <a:latin typeface="Arial" pitchFamily="34" charset="0"/>
                <a:ea typeface="Arial" pitchFamily="34" charset="-122"/>
                <a:cs typeface="Arial" pitchFamily="34" charset="-120"/>
              </a:rPr>
              <a:t>Digital and AI transformation at Renesas</a:t>
            </a:r>
            <a:endParaRPr lang="en-US" sz="2200" dirty="0"/>
          </a:p>
          <a:p>
            <a:pPr algn="ctr" indent="0" marL="0">
              <a:buNone/>
            </a:pPr>
            <a:r>
              <a:rPr lang="en-US" sz="2200" dirty="0">
                <a:solidFill>
                  <a:srgbClr val="8EAFD0"/>
                </a:solidFill>
                <a:latin typeface="Arial" pitchFamily="34" charset="0"/>
                <a:ea typeface="Arial" pitchFamily="34" charset="-122"/>
                <a:cs typeface="Arial" pitchFamily="34" charset="-120"/>
              </a:rPr>
              <a:t>is not about running the servers.</a:t>
            </a:r>
            <a:endParaRPr lang="en-US" sz="2200" dirty="0"/>
          </a:p>
        </p:txBody>
      </p:sp>
      <p:sp>
        <p:nvSpPr>
          <p:cNvPr id="4" name="Text 2"/>
          <p:cNvSpPr/>
          <p:nvPr/>
        </p:nvSpPr>
        <p:spPr>
          <a:xfrm>
            <a:off x="914400" y="1828800"/>
            <a:ext cx="731520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It's about designing the company</a:t>
            </a:r>
            <a:endParaRPr lang="en-US" sz="3000" dirty="0"/>
          </a:p>
          <a:p>
            <a:pPr algn="ctr" indent="0" marL="0">
              <a:buNone/>
            </a:pPr>
            <a:r>
              <a:rPr lang="en-US" sz="3000" b="1" dirty="0">
                <a:solidFill>
                  <a:srgbClr val="FFFFFF"/>
                </a:solidFill>
                <a:latin typeface="Arial" pitchFamily="34" charset="0"/>
                <a:ea typeface="Arial" pitchFamily="34" charset="-122"/>
                <a:cs typeface="Arial" pitchFamily="34" charset="-120"/>
              </a:rPr>
              <a:t>that competes in 2030.</a:t>
            </a:r>
            <a:endParaRPr lang="en-US" sz="3000" dirty="0"/>
          </a:p>
        </p:txBody>
      </p:sp>
      <p:sp>
        <p:nvSpPr>
          <p:cNvPr id="5" name="Text 3"/>
          <p:cNvSpPr/>
          <p:nvPr/>
        </p:nvSpPr>
        <p:spPr>
          <a:xfrm>
            <a:off x="1371600" y="3200400"/>
            <a:ext cx="6400800" cy="914400"/>
          </a:xfrm>
          <a:prstGeom prst="rect">
            <a:avLst/>
          </a:prstGeom>
          <a:noFill/>
          <a:ln/>
        </p:spPr>
        <p:txBody>
          <a:bodyPr wrap="square" lIns="0" tIns="0" rIns="0" bIns="0" rtlCol="0" anchor="ctr"/>
          <a:lstStyle/>
          <a:p>
            <a:pPr algn="ctr" indent="0" marL="0">
              <a:lnSpc>
                <a:spcPct val="150000"/>
              </a:lnSpc>
              <a:buNone/>
            </a:pPr>
            <a:r>
              <a:rPr lang="en-US" sz="1600" dirty="0">
                <a:solidFill>
                  <a:srgbClr val="4471A9"/>
                </a:solidFill>
                <a:latin typeface="Arial" pitchFamily="34" charset="0"/>
                <a:ea typeface="Arial" pitchFamily="34" charset="-122"/>
                <a:cs typeface="Arial" pitchFamily="34" charset="-120"/>
              </a:rPr>
              <a:t>The aspiration is an AI-native Renesas.</a:t>
            </a:r>
            <a:endParaRPr lang="en-US" sz="1600" dirty="0"/>
          </a:p>
          <a:p>
            <a:pPr algn="ctr" indent="0" marL="0">
              <a:lnSpc>
                <a:spcPct val="150000"/>
              </a:lnSpc>
              <a:buNone/>
            </a:pPr>
            <a:r>
              <a:rPr lang="en-US" sz="1600" dirty="0">
                <a:solidFill>
                  <a:srgbClr val="4471A9"/>
                </a:solidFill>
                <a:latin typeface="Arial" pitchFamily="34" charset="0"/>
                <a:ea typeface="Arial" pitchFamily="34" charset="-122"/>
                <a:cs typeface="Arial" pitchFamily="34" charset="-120"/>
              </a:rPr>
              <a:t>The approach is pragmatic.</a:t>
            </a:r>
            <a:endParaRPr lang="en-US" sz="1600" dirty="0"/>
          </a:p>
          <a:p>
            <a:pPr algn="ctr" indent="0" marL="0">
              <a:lnSpc>
                <a:spcPct val="150000"/>
              </a:lnSpc>
              <a:buNone/>
            </a:pPr>
            <a:r>
              <a:rPr lang="en-US" sz="1600" dirty="0">
                <a:solidFill>
                  <a:srgbClr val="4471A9"/>
                </a:solidFill>
                <a:latin typeface="Arial" pitchFamily="34" charset="0"/>
                <a:ea typeface="Arial" pitchFamily="34" charset="-122"/>
                <a:cs typeface="Arial" pitchFamily="34" charset="-120"/>
              </a:rPr>
              <a:t>The first step is concrete.</a:t>
            </a:r>
            <a:endParaRPr lang="en-US" sz="1600" dirty="0"/>
          </a:p>
        </p:txBody>
      </p:sp>
      <p:sp>
        <p:nvSpPr>
          <p:cNvPr id="6" name="Shape 4"/>
          <p:cNvSpPr/>
          <p:nvPr/>
        </p:nvSpPr>
        <p:spPr>
          <a:xfrm>
            <a:off x="0" y="5106924"/>
            <a:ext cx="9144000" cy="36576"/>
          </a:xfrm>
          <a:prstGeom prst="rect">
            <a:avLst/>
          </a:prstGeom>
          <a:solidFill>
            <a:srgbClr val="993399"/>
          </a:solidFill>
          <a:ln/>
        </p:spPr>
      </p:sp>
      <p:sp>
        <p:nvSpPr>
          <p:cNvPr id="7" name="Shape 5"/>
          <p:cNvSpPr/>
          <p:nvPr/>
        </p:nvSpPr>
        <p:spPr>
          <a:xfrm>
            <a:off x="457200" y="4645152"/>
            <a:ext cx="8229600" cy="0"/>
          </a:xfrm>
          <a:prstGeom prst="line">
            <a:avLst/>
          </a:prstGeom>
          <a:noFill/>
          <a:ln w="6350">
            <a:solidFill>
              <a:srgbClr val="D0D0D0"/>
            </a:solidFill>
            <a:prstDash val="solid"/>
          </a:ln>
        </p:spPr>
      </p:sp>
      <p:sp>
        <p:nvSpPr>
          <p:cNvPr id="8" name="Text 6"/>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9" name="Shape 7"/>
          <p:cNvSpPr/>
          <p:nvPr/>
        </p:nvSpPr>
        <p:spPr>
          <a:xfrm>
            <a:off x="3840480" y="4764024"/>
            <a:ext cx="1188720" cy="182880"/>
          </a:xfrm>
          <a:prstGeom prst="rect">
            <a:avLst/>
          </a:prstGeom>
          <a:solidFill>
            <a:srgbClr val="993399"/>
          </a:solidFill>
          <a:ln/>
        </p:spPr>
      </p:sp>
      <p:sp>
        <p:nvSpPr>
          <p:cNvPr id="10" name="Text 8"/>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11" name="Text 9"/>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57</a:t>
            </a:r>
            <a:endParaRPr lang="en-US" sz="700" dirty="0"/>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42D5E"/>
        </a:solidFill>
        <a:effectLst/>
      </p:bgPr>
    </p:bg>
    <p:spTree>
      <p:nvGrpSpPr>
        <p:cNvPr id="1" name=""/>
        <p:cNvGrpSpPr/>
        <p:nvPr/>
      </p:nvGrpSpPr>
      <p:grpSpPr/>
      <p:sp>
        <p:nvSpPr>
          <p:cNvPr id="2" name="Shape 0"/>
          <p:cNvSpPr/>
          <p:nvPr/>
        </p:nvSpPr>
        <p:spPr>
          <a:xfrm>
            <a:off x="0" y="0"/>
            <a:ext cx="9144000" cy="36576"/>
          </a:xfrm>
          <a:prstGeom prst="rect">
            <a:avLst/>
          </a:prstGeom>
          <a:solidFill>
            <a:srgbClr val="4471A9"/>
          </a:solidFill>
          <a:ln/>
        </p:spPr>
      </p:sp>
      <p:sp>
        <p:nvSpPr>
          <p:cNvPr id="3" name="Text 1"/>
          <p:cNvSpPr/>
          <p:nvPr/>
        </p:nvSpPr>
        <p:spPr>
          <a:xfrm>
            <a:off x="640080" y="1371600"/>
            <a:ext cx="7863840" cy="731520"/>
          </a:xfrm>
          <a:prstGeom prst="rect">
            <a:avLst/>
          </a:prstGeom>
          <a:noFill/>
          <a:ln/>
        </p:spPr>
        <p:txBody>
          <a:bodyPr wrap="square" lIns="0" tIns="0" rIns="0" bIns="0" rtlCol="0" anchor="ctr"/>
          <a:lstStyle/>
          <a:p>
            <a:pPr indent="0" marL="0">
              <a:buNone/>
            </a:pPr>
            <a:r>
              <a:rPr lang="en-US" sz="4000" b="1" spc="500" kern="0" dirty="0">
                <a:solidFill>
                  <a:srgbClr val="FFFFFF"/>
                </a:solidFill>
                <a:latin typeface="Arial" pitchFamily="34" charset="0"/>
                <a:ea typeface="Arial" pitchFamily="34" charset="-122"/>
                <a:cs typeface="Arial" pitchFamily="34" charset="-120"/>
              </a:rPr>
              <a:t>APPENDIX</a:t>
            </a:r>
            <a:endParaRPr lang="en-US" sz="4000" dirty="0"/>
          </a:p>
        </p:txBody>
      </p:sp>
      <p:sp>
        <p:nvSpPr>
          <p:cNvPr id="4" name="Text 2"/>
          <p:cNvSpPr/>
          <p:nvPr/>
        </p:nvSpPr>
        <p:spPr>
          <a:xfrm>
            <a:off x="640080" y="2286000"/>
            <a:ext cx="7863840" cy="347472"/>
          </a:xfrm>
          <a:prstGeom prst="rect">
            <a:avLst/>
          </a:prstGeom>
          <a:noFill/>
          <a:ln/>
        </p:spPr>
        <p:txBody>
          <a:bodyPr wrap="square" lIns="0" tIns="0" rIns="0" bIns="0" rtlCol="0" anchor="ctr"/>
          <a:lstStyle/>
          <a:p>
            <a:pPr indent="0" marL="0">
              <a:buNone/>
            </a:pPr>
            <a:r>
              <a:rPr lang="en-US" sz="1400" b="1" dirty="0">
                <a:solidFill>
                  <a:srgbClr val="4471A9"/>
                </a:solidFill>
                <a:latin typeface="Arial" pitchFamily="34" charset="0"/>
                <a:ea typeface="Arial" pitchFamily="34" charset="-122"/>
                <a:cs typeface="Arial" pitchFamily="34" charset="-120"/>
              </a:rPr>
              <a:t xml:space="preserve">1.  </a:t>
            </a:r>
            <a:pPr indent="0" marL="0">
              <a:buNone/>
            </a:pPr>
            <a:r>
              <a:rPr lang="en-US" sz="1400" dirty="0">
                <a:solidFill>
                  <a:srgbClr val="B0C4DE"/>
                </a:solidFill>
                <a:latin typeface="Arial" pitchFamily="34" charset="0"/>
                <a:ea typeface="Arial" pitchFamily="34" charset="-122"/>
                <a:cs typeface="Arial" pitchFamily="34" charset="-120"/>
              </a:rPr>
              <a:t>Detailed use case specifications by department</a:t>
            </a:r>
            <a:endParaRPr lang="en-US" sz="1400" dirty="0"/>
          </a:p>
        </p:txBody>
      </p:sp>
      <p:sp>
        <p:nvSpPr>
          <p:cNvPr id="5" name="Text 3"/>
          <p:cNvSpPr/>
          <p:nvPr/>
        </p:nvSpPr>
        <p:spPr>
          <a:xfrm>
            <a:off x="640080" y="2651760"/>
            <a:ext cx="7863840" cy="347472"/>
          </a:xfrm>
          <a:prstGeom prst="rect">
            <a:avLst/>
          </a:prstGeom>
          <a:noFill/>
          <a:ln/>
        </p:spPr>
        <p:txBody>
          <a:bodyPr wrap="square" lIns="0" tIns="0" rIns="0" bIns="0" rtlCol="0" anchor="ctr"/>
          <a:lstStyle/>
          <a:p>
            <a:pPr indent="0" marL="0">
              <a:buNone/>
            </a:pPr>
            <a:r>
              <a:rPr lang="en-US" sz="1400" b="1" dirty="0">
                <a:solidFill>
                  <a:srgbClr val="4471A9"/>
                </a:solidFill>
                <a:latin typeface="Arial" pitchFamily="34" charset="0"/>
                <a:ea typeface="Arial" pitchFamily="34" charset="-122"/>
                <a:cs typeface="Arial" pitchFamily="34" charset="-120"/>
              </a:rPr>
              <a:t xml:space="preserve">2.  </a:t>
            </a:r>
            <a:pPr indent="0" marL="0">
              <a:buNone/>
            </a:pPr>
            <a:r>
              <a:rPr lang="en-US" sz="1400" dirty="0">
                <a:solidFill>
                  <a:srgbClr val="B0C4DE"/>
                </a:solidFill>
                <a:latin typeface="Arial" pitchFamily="34" charset="0"/>
                <a:ea typeface="Arial" pitchFamily="34" charset="-122"/>
                <a:cs typeface="Arial" pitchFamily="34" charset="-120"/>
              </a:rPr>
              <a:t>Technology vendor evaluation (with named vendors)</a:t>
            </a:r>
            <a:endParaRPr lang="en-US" sz="1400" dirty="0"/>
          </a:p>
        </p:txBody>
      </p:sp>
      <p:sp>
        <p:nvSpPr>
          <p:cNvPr id="6" name="Text 4"/>
          <p:cNvSpPr/>
          <p:nvPr/>
        </p:nvSpPr>
        <p:spPr>
          <a:xfrm>
            <a:off x="640080" y="3017520"/>
            <a:ext cx="7863840" cy="347472"/>
          </a:xfrm>
          <a:prstGeom prst="rect">
            <a:avLst/>
          </a:prstGeom>
          <a:noFill/>
          <a:ln/>
        </p:spPr>
        <p:txBody>
          <a:bodyPr wrap="square" lIns="0" tIns="0" rIns="0" bIns="0" rtlCol="0" anchor="ctr"/>
          <a:lstStyle/>
          <a:p>
            <a:pPr indent="0" marL="0">
              <a:buNone/>
            </a:pPr>
            <a:r>
              <a:rPr lang="en-US" sz="1400" b="1" dirty="0">
                <a:solidFill>
                  <a:srgbClr val="4471A9"/>
                </a:solidFill>
                <a:latin typeface="Arial" pitchFamily="34" charset="0"/>
                <a:ea typeface="Arial" pitchFamily="34" charset="-122"/>
                <a:cs typeface="Arial" pitchFamily="34" charset="-120"/>
              </a:rPr>
              <a:t xml:space="preserve">3.  </a:t>
            </a:r>
            <a:pPr indent="0" marL="0">
              <a:buNone/>
            </a:pPr>
            <a:r>
              <a:rPr lang="en-US" sz="1400" dirty="0">
                <a:solidFill>
                  <a:srgbClr val="B0C4DE"/>
                </a:solidFill>
                <a:latin typeface="Arial" pitchFamily="34" charset="0"/>
                <a:ea typeface="Arial" pitchFamily="34" charset="-122"/>
                <a:cs typeface="Arial" pitchFamily="34" charset="-120"/>
              </a:rPr>
              <a:t>Regulatory compliance detail (EU AI Act, NIST, Japan)</a:t>
            </a:r>
            <a:endParaRPr lang="en-US" sz="1400" dirty="0"/>
          </a:p>
        </p:txBody>
      </p:sp>
      <p:sp>
        <p:nvSpPr>
          <p:cNvPr id="7" name="Text 5"/>
          <p:cNvSpPr/>
          <p:nvPr/>
        </p:nvSpPr>
        <p:spPr>
          <a:xfrm>
            <a:off x="640080" y="3383280"/>
            <a:ext cx="7863840" cy="347472"/>
          </a:xfrm>
          <a:prstGeom prst="rect">
            <a:avLst/>
          </a:prstGeom>
          <a:noFill/>
          <a:ln/>
        </p:spPr>
        <p:txBody>
          <a:bodyPr wrap="square" lIns="0" tIns="0" rIns="0" bIns="0" rtlCol="0" anchor="ctr"/>
          <a:lstStyle/>
          <a:p>
            <a:pPr indent="0" marL="0">
              <a:buNone/>
            </a:pPr>
            <a:r>
              <a:rPr lang="en-US" sz="1400" b="1" dirty="0">
                <a:solidFill>
                  <a:srgbClr val="4471A9"/>
                </a:solidFill>
                <a:latin typeface="Arial" pitchFamily="34" charset="0"/>
                <a:ea typeface="Arial" pitchFamily="34" charset="-122"/>
                <a:cs typeface="Arial" pitchFamily="34" charset="-120"/>
              </a:rPr>
              <a:t xml:space="preserve">4.  </a:t>
            </a:r>
            <a:pPr indent="0" marL="0">
              <a:buNone/>
            </a:pPr>
            <a:r>
              <a:rPr lang="en-US" sz="1400" dirty="0">
                <a:solidFill>
                  <a:srgbClr val="B0C4DE"/>
                </a:solidFill>
                <a:latin typeface="Arial" pitchFamily="34" charset="0"/>
                <a:ea typeface="Arial" pitchFamily="34" charset="-122"/>
                <a:cs typeface="Arial" pitchFamily="34" charset="-120"/>
              </a:rPr>
              <a:t>Data platform architecture deep dive</a:t>
            </a:r>
            <a:endParaRPr lang="en-US" sz="1400" dirty="0"/>
          </a:p>
        </p:txBody>
      </p:sp>
      <p:sp>
        <p:nvSpPr>
          <p:cNvPr id="8" name="Text 6"/>
          <p:cNvSpPr/>
          <p:nvPr/>
        </p:nvSpPr>
        <p:spPr>
          <a:xfrm>
            <a:off x="640080" y="3749040"/>
            <a:ext cx="7863840" cy="347472"/>
          </a:xfrm>
          <a:prstGeom prst="rect">
            <a:avLst/>
          </a:prstGeom>
          <a:noFill/>
          <a:ln/>
        </p:spPr>
        <p:txBody>
          <a:bodyPr wrap="square" lIns="0" tIns="0" rIns="0" bIns="0" rtlCol="0" anchor="ctr"/>
          <a:lstStyle/>
          <a:p>
            <a:pPr indent="0" marL="0">
              <a:buNone/>
            </a:pPr>
            <a:r>
              <a:rPr lang="en-US" sz="1400" b="1" dirty="0">
                <a:solidFill>
                  <a:srgbClr val="4471A9"/>
                </a:solidFill>
                <a:latin typeface="Arial" pitchFamily="34" charset="0"/>
                <a:ea typeface="Arial" pitchFamily="34" charset="-122"/>
                <a:cs typeface="Arial" pitchFamily="34" charset="-120"/>
              </a:rPr>
              <a:t xml:space="preserve">5.  </a:t>
            </a:r>
            <a:pPr indent="0" marL="0">
              <a:buNone/>
            </a:pPr>
            <a:r>
              <a:rPr lang="en-US" sz="1400" dirty="0">
                <a:solidFill>
                  <a:srgbClr val="B0C4DE"/>
                </a:solidFill>
                <a:latin typeface="Arial" pitchFamily="34" charset="0"/>
                <a:ea typeface="Arial" pitchFamily="34" charset="-122"/>
                <a:cs typeface="Arial" pitchFamily="34" charset="-120"/>
              </a:rPr>
              <a:t>Competitive intelligence detail with sourcing</a:t>
            </a:r>
            <a:endParaRPr lang="en-US" sz="1400" dirty="0"/>
          </a:p>
        </p:txBody>
      </p:sp>
      <p:sp>
        <p:nvSpPr>
          <p:cNvPr id="9" name="Text 7"/>
          <p:cNvSpPr/>
          <p:nvPr/>
        </p:nvSpPr>
        <p:spPr>
          <a:xfrm>
            <a:off x="640080" y="4114800"/>
            <a:ext cx="7863840" cy="730000"/>
          </a:xfrm>
          <a:prstGeom prst="rect">
            <a:avLst/>
          </a:prstGeom>
          <a:noFill/>
          <a:ln/>
        </p:spPr>
        <p:txBody>
          <a:bodyPr wrap="square" lIns="0" tIns="0" rIns="0" bIns="0" rtlCol="0" anchor="t"/>
          <a:lstStyle/>
          <a:p>
            <a:pPr indent="0" marL="0">
              <a:buNone/>
            </a:pPr>
            <a:r>
              <a:rPr lang="en-US" sz="1400" b="1" dirty="0">
                <a:solidFill>
                  <a:srgbClr val="4471A9"/>
                </a:solidFill>
                <a:latin typeface="Arial" pitchFamily="34" charset="0"/>
                <a:ea typeface="Arial" pitchFamily="34" charset="-122"/>
                <a:cs typeface="Arial" pitchFamily="34" charset="-120"/>
              </a:rPr>
              <a:t xml:space="preserve">6.  </a:t>
            </a:r>
            <a:r>
              <a:rPr lang="en-US" sz="1400" dirty="0">
                <a:solidFill>
                  <a:srgbClr val="B0C4DE"/>
                </a:solidFill>
                <a:latin typeface="Arial" pitchFamily="34" charset="0"/>
                <a:ea typeface="Arial" pitchFamily="34" charset="-122"/>
                <a:cs typeface="Arial" pitchFamily="34" charset="-120"/>
              </a:rPr>
              <a:t>Self-funding financial model (directional)</a:t>
            </a:r>
            <a:endParaRPr lang="en-US" sz="1400" dirty="0"/>
          </a:p>
          <a:p>
            <a:pPr indent="0" marL="0">
              <a:buNone/>
            </a:pPr>
            <a:r>
              <a:rPr lang="en-US" sz="1400" b="1" dirty="0">
                <a:solidFill>
                  <a:srgbClr val="4471A9"/>
                </a:solidFill>
                <a:latin typeface="Arial" pitchFamily="34" charset="0"/>
                <a:ea typeface="Arial" pitchFamily="34" charset="-122"/>
                <a:cs typeface="Arial" pitchFamily="34" charset="-120"/>
              </a:rPr>
              <a:t xml:space="preserve">7.  </a:t>
            </a:r>
            <a:r>
              <a:rPr lang="en-US" sz="1400" dirty="0">
                <a:solidFill>
                  <a:srgbClr val="B0C4DE"/>
                </a:solidFill>
                <a:latin typeface="Arial" pitchFamily="34" charset="0"/>
                <a:ea typeface="Arial" pitchFamily="34" charset="-122"/>
                <a:cs typeface="Arial" pitchFamily="34" charset="-120"/>
              </a:rPr>
              <a:t>CEO perspectives — Databricks &amp; Glean on enterprise AI</a:t>
            </a:r>
            <a:endParaRPr lang="en-US" sz="1400" dirty="0"/>
          </a:p>
        </p:txBody>
      </p:sp>
      <p:sp>
        <p:nvSpPr>
          <p:cNvPr id="10" name="Shape 8"/>
          <p:cNvSpPr/>
          <p:nvPr/>
        </p:nvSpPr>
        <p:spPr>
          <a:xfrm>
            <a:off x="0" y="5106924"/>
            <a:ext cx="9144000" cy="36576"/>
          </a:xfrm>
          <a:prstGeom prst="rect">
            <a:avLst/>
          </a:prstGeom>
          <a:solidFill>
            <a:srgbClr val="993399"/>
          </a:solidFill>
          <a:ln/>
        </p:spPr>
      </p:sp>
      <p:sp>
        <p:nvSpPr>
          <p:cNvPr id="11" name="Shape 9"/>
          <p:cNvSpPr/>
          <p:nvPr/>
        </p:nvSpPr>
        <p:spPr>
          <a:xfrm>
            <a:off x="457200" y="4645152"/>
            <a:ext cx="8229600" cy="0"/>
          </a:xfrm>
          <a:prstGeom prst="line">
            <a:avLst/>
          </a:prstGeom>
          <a:noFill/>
          <a:ln w="6350">
            <a:solidFill>
              <a:srgbClr val="D0D0D0"/>
            </a:solidFill>
            <a:prstDash val="solid"/>
          </a:ln>
        </p:spPr>
      </p:sp>
      <p:sp>
        <p:nvSpPr>
          <p:cNvPr id="12" name="Text 10"/>
          <p:cNvSpPr/>
          <p:nvPr/>
        </p:nvSpPr>
        <p:spPr>
          <a:xfrm>
            <a:off x="457200" y="4736592"/>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13" name="Shape 11"/>
          <p:cNvSpPr/>
          <p:nvPr/>
        </p:nvSpPr>
        <p:spPr>
          <a:xfrm>
            <a:off x="3840480" y="4764024"/>
            <a:ext cx="1188720" cy="182880"/>
          </a:xfrm>
          <a:prstGeom prst="rect">
            <a:avLst/>
          </a:prstGeom>
          <a:solidFill>
            <a:srgbClr val="993399"/>
          </a:solidFill>
          <a:ln/>
        </p:spPr>
      </p:sp>
      <p:sp>
        <p:nvSpPr>
          <p:cNvPr id="14" name="Text 12"/>
          <p:cNvSpPr/>
          <p:nvPr/>
        </p:nvSpPr>
        <p:spPr>
          <a:xfrm>
            <a:off x="3840480" y="4736592"/>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15" name="Text 13"/>
          <p:cNvSpPr/>
          <p:nvPr/>
        </p:nvSpPr>
        <p:spPr>
          <a:xfrm>
            <a:off x="7772400" y="4736592"/>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58</a:t>
            </a:r>
            <a:endParaRPr lang="en-US" sz="7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1">
    <p:bg>
      <p:bgPr>
        <a:solidFill>
          <a:srgbClr val="042D5E"/>
        </a:solidFill>
      </p:bgPr>
    </p:bg>
    <p:spTree>
      <p:nvGrpSpPr>
        <p:cNvPr id="1" name=""/>
        <p:cNvGrpSpPr/>
        <p:nvPr/>
      </p:nvGrpSpPr>
      <p:grpSpPr>
        <a:xfrm>
          <a:off x="0" y="0"/>
          <a:ext cx="0" cy="0"/>
          <a:chOff x="0" y="0"/>
          <a:chExt cx="0" cy="0"/>
        </a:xfrm>
      </p:grpSpPr>
      <p:sp>
        <p:nvSpPr>
          <p:cNvPr id="2" name="Text 0"/>
          <p:cNvSpPr/>
          <p:nvPr/>
        </p:nvSpPr>
        <p:spPr>
          <a:xfrm>
            <a:off x="640080" y="640080"/>
            <a:ext cx="7863840" cy="457200"/>
          </a:xfrm>
          <a:prstGeom prst="rect">
            <a:avLst/>
          </a:prstGeom>
          <a:noFill/>
          <a:ln/>
        </p:spPr>
        <p:txBody>
          <a:bodyPr wrap="square" rtlCol="0" anchor="ctr"/>
          <a:lstStyle/>
          <a:p>
            <a:pPr indent="0" marL="0">
              <a:buNone/>
            </a:pPr>
            <a:r>
              <a:rPr lang="en-US" sz="1400" b="1" spc="600" kern="0" dirty="0">
                <a:solidFill>
                  <a:srgbClr val="4471A9"/>
                </a:solidFill>
                <a:latin typeface="Arial" pitchFamily="34" charset="0"/>
                <a:ea typeface="Arial" pitchFamily="34" charset="-122"/>
                <a:cs typeface="Arial" pitchFamily="34" charset="-120"/>
              </a:rPr>
              <a:t>BACKUP</a:t>
            </a:r>
            <a:endParaRPr lang="en-US" sz="1400" dirty="0"/>
          </a:p>
        </p:txBody>
      </p:sp>
      <p:sp>
        <p:nvSpPr>
          <p:cNvPr id="3" name="Text 1"/>
          <p:cNvSpPr/>
          <p:nvPr/>
        </p:nvSpPr>
        <p:spPr>
          <a:xfrm>
            <a:off x="640080" y="1280160"/>
            <a:ext cx="7863840" cy="109728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The AI Landscape</a:t>
            </a:r>
            <a:endParaRPr lang="en-US" sz="4000" dirty="0"/>
          </a:p>
        </p:txBody>
      </p:sp>
      <p:sp>
        <p:nvSpPr>
          <p:cNvPr id="4" name="Text 2"/>
          <p:cNvSpPr/>
          <p:nvPr/>
        </p:nvSpPr>
        <p:spPr>
          <a:xfrm>
            <a:off x="640080" y="2377440"/>
            <a:ext cx="7863840" cy="457200"/>
          </a:xfrm>
          <a:prstGeom prst="rect">
            <a:avLst/>
          </a:prstGeom>
          <a:noFill/>
          <a:ln/>
        </p:spPr>
        <p:txBody>
          <a:bodyPr wrap="square" rtlCol="0" anchor="ctr"/>
          <a:lstStyle/>
          <a:p>
            <a:pPr indent="0" marL="0">
              <a:buNone/>
            </a:pPr>
            <a:r>
              <a:rPr lang="en-US" sz="2000" dirty="0">
                <a:solidFill>
                  <a:srgbClr val="4471A9"/>
                </a:solidFill>
                <a:latin typeface="Arial" pitchFamily="34" charset="0"/>
                <a:ea typeface="Arial" pitchFamily="34" charset="-122"/>
                <a:cs typeface="Arial" pitchFamily="34" charset="-120"/>
              </a:rPr>
              <a:t>Market Intelligence &amp; Cycle Analysis</a:t>
            </a:r>
            <a:endParaRPr lang="en-US" sz="2000" dirty="0"/>
          </a:p>
        </p:txBody>
      </p:sp>
      <p:sp>
        <p:nvSpPr>
          <p:cNvPr id="5" name="Shape 3"/>
          <p:cNvSpPr/>
          <p:nvPr/>
        </p:nvSpPr>
        <p:spPr>
          <a:xfrm>
            <a:off x="640080" y="3108960"/>
            <a:ext cx="2286000" cy="0"/>
          </a:xfrm>
          <a:prstGeom prst="line">
            <a:avLst/>
          </a:prstGeom>
          <a:noFill/>
          <a:ln w="38100">
            <a:solidFill>
              <a:srgbClr val="993399"/>
            </a:solidFill>
            <a:prstDash val="solid"/>
          </a:ln>
        </p:spPr>
      </p:sp>
      <p:sp>
        <p:nvSpPr>
          <p:cNvPr id="6" name="Text 4"/>
          <p:cNvSpPr/>
          <p:nvPr/>
        </p:nvSpPr>
        <p:spPr>
          <a:xfrm>
            <a:off x="640080" y="3383280"/>
            <a:ext cx="7863840" cy="365760"/>
          </a:xfrm>
          <a:prstGeom prst="rect">
            <a:avLst/>
          </a:prstGeom>
          <a:noFill/>
          <a:ln/>
        </p:spPr>
        <p:txBody>
          <a:bodyPr wrap="square" rtlCol="0" anchor="ctr"/>
          <a:lstStyle/>
          <a:p>
            <a:pPr indent="0" marL="0">
              <a:buNone/>
            </a:pPr>
            <a:r>
              <a:rPr lang="en-US" sz="1100" i="1" dirty="0">
                <a:solidFill>
                  <a:srgbClr val="4471A9"/>
                </a:solidFill>
                <a:latin typeface="Arial" pitchFamily="34" charset="0"/>
                <a:ea typeface="Arial" pitchFamily="34" charset="-122"/>
                <a:cs typeface="Arial" pitchFamily="34" charset="-120"/>
              </a:rPr>
              <a:t>Source: All-In Podcast analysis (Chamath Palihapitiya, David Sacks, Brad Gerstner), March 2026</a:t>
            </a:r>
            <a:endParaRPr lang="en-US" sz="1100" dirty="0"/>
          </a:p>
        </p:txBody>
      </p:sp>
      <p:sp>
        <p:nvSpPr>
          <p:cNvPr id="7" name="Text 5"/>
          <p:cNvSpPr/>
          <p:nvPr/>
        </p:nvSpPr>
        <p:spPr>
          <a:xfrm>
            <a:off x="3840480" y="4727448"/>
            <a:ext cx="1188720" cy="237744"/>
          </a:xfrm>
          <a:prstGeom prst="rect">
            <a:avLst/>
          </a:prstGeom>
          <a:noFill/>
          <a:ln/>
        </p:spPr>
        <p:txBody>
          <a:bodyPr wrap="square" rtlCol="0" anchor="ctr"/>
          <a:lstStyle/>
          <a:p>
            <a:pPr algn="ctr" indent="0" marL="0">
              <a:buNone/>
            </a:pPr>
            <a:r>
              <a:rPr lang="en-US" sz="700" b="1" dirty="0">
                <a:solidFill>
                  <a:srgbClr val="4471A9"/>
                </a:solidFill>
                <a:latin typeface="Arial" pitchFamily="34" charset="0"/>
                <a:ea typeface="Arial" pitchFamily="34" charset="-122"/>
                <a:cs typeface="Arial" pitchFamily="34" charset="-120"/>
              </a:rPr>
              <a:t>RENESAS CONFIDENTIAL</a:t>
            </a:r>
            <a:endParaRPr lang="en-US" sz="7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640080"/>
          </a:xfrm>
          <a:prstGeom prst="rect">
            <a:avLst/>
          </a:prstGeom>
          <a:noFill/>
          <a:ln/>
        </p:spPr>
        <p:txBody>
          <a:bodyPr wrap="square" lIns="0" tIns="0" rIns="0" bIns="0" rtlCol="0" anchor="ctr"/>
          <a:lstStyle/>
          <a:p>
            <a:pPr indent="0" marL="0">
              <a:buNone/>
            </a:pPr>
            <a:r>
              <a:rPr lang="en-US" sz="2600" b="1" dirty="0">
                <a:solidFill>
                  <a:srgbClr val="06418C"/>
                </a:solidFill>
                <a:latin typeface="Arial" pitchFamily="34" charset="0"/>
                <a:ea typeface="Arial" pitchFamily="34" charset="-122"/>
                <a:cs typeface="Arial" pitchFamily="34" charset="-120"/>
              </a:rPr>
              <a:t>AI revenue is exploding. Enterprise ROI is not.</a:t>
            </a:r>
            <a:endParaRPr lang="en-US" sz="26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27448"/>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27448"/>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27448"/>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B1</a:t>
            </a:r>
            <a:endParaRPr lang="en-US" sz="700" dirty="0"/>
          </a:p>
        </p:txBody>
      </p:sp>
      <p:sp>
        <p:nvSpPr>
          <p:cNvPr id="8" name="Text 6"/>
          <p:cNvSpPr/>
          <p:nvPr/>
        </p:nvSpPr>
        <p:spPr>
          <a:xfrm>
            <a:off x="640080" y="1097280"/>
            <a:ext cx="3474720" cy="2743200"/>
          </a:xfrm>
          <a:prstGeom prst="rect">
            <a:avLst/>
          </a:prstGeom>
          <a:noFill/>
          <a:ln/>
        </p:spPr>
        <p:txBody>
          <a:bodyPr wrap="square" rtlCol="0" anchor="t"/>
          <a:lstStyle/>
          <a:p>
            <a:pPr indent="0" marL="0">
              <a:buNone/>
            </a:pPr>
            <a:r>
              <a:rPr lang="en-US" sz="4400" b="1" dirty="0">
                <a:solidFill>
                  <a:srgbClr val="06418C"/>
                </a:solidFill>
              </a:rPr>
              <a:t>$20B</a:t>
            </a:r>
            <a:endParaRPr lang="en-US" sz="4400" dirty="0"/>
          </a:p>
          <a:p>
            <a:pPr indent="0" marL="0">
              <a:buNone/>
            </a:pPr>
            <a:r>
              <a:rPr lang="en-US" sz="1100" dirty="0">
                <a:solidFill>
                  <a:srgbClr val="4A4A4A"/>
                </a:solidFill>
              </a:rPr>
              <a:t>OpenAI annual revenue</a:t>
            </a:r>
            <a:endParaRPr lang="en-US" sz="4400" dirty="0"/>
          </a:p>
          <a:p>
            <a:pPr indent="0" marL="0">
              <a:buNone/>
            </a:pPr>
            <a:r>
              <a:rPr lang="en-US" sz="1000" dirty="0">
                <a:solidFill>
                  <a:srgbClr val="9D9D9D"/>
                </a:solidFill>
              </a:rPr>
              <a:t>($2B → $20B in ~24 months)</a:t>
            </a:r>
            <a:endParaRPr lang="en-US" sz="4400" dirty="0"/>
          </a:p>
          <a:p>
            <a:pPr indent="0" marL="0">
              <a:buNone/>
            </a:pPr>
            <a:endParaRPr lang="en-US" sz="4400" dirty="0"/>
          </a:p>
          <a:p>
            <a:pPr indent="0" marL="0">
              <a:buNone/>
            </a:pPr>
            <a:r>
              <a:rPr lang="en-US" sz="4400" b="1" dirty="0">
                <a:solidFill>
                  <a:srgbClr val="4471A9"/>
                </a:solidFill>
              </a:rPr>
              <a:t>$14B</a:t>
            </a:r>
            <a:endParaRPr lang="en-US" sz="4400" dirty="0"/>
          </a:p>
          <a:p>
            <a:pPr indent="0" marL="0">
              <a:buNone/>
            </a:pPr>
            <a:r>
              <a:rPr lang="en-US" sz="1100" dirty="0">
                <a:solidFill>
                  <a:srgbClr val="4A4A4A"/>
                </a:solidFill>
              </a:rPr>
              <a:t>Anthropic annualized run rate</a:t>
            </a:r>
            <a:endParaRPr lang="en-US" sz="4400" dirty="0"/>
          </a:p>
          <a:p>
            <a:pPr indent="0" marL="0">
              <a:buNone/>
            </a:pPr>
            <a:r>
              <a:rPr lang="en-US" sz="1000" dirty="0">
                <a:solidFill>
                  <a:srgbClr val="9D9D9D"/>
                </a:solidFill>
              </a:rPr>
              <a:t>($1B → $14B in ~14 months)</a:t>
            </a:r>
            <a:endParaRPr lang="en-US" sz="4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0" y="1097280"/>
          <a:ext cx="4114800" cy="914400"/>
        </p:xfrm>
        <a:graphic>
          <a:graphicData uri="http://schemas.openxmlformats.org/drawingml/2006/table">
            <a:tbl>
              <a:tblPr/>
              <a:tblGrid>
                <a:gridCol w="2011680"/>
                <a:gridCol w="210312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Company</a:t>
                      </a:r>
                      <a:endParaRPr lang="en-US" sz="10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42D5E"/>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Time to $10B Revenue</a:t>
                      </a:r>
                      <a:endParaRPr lang="en-US" sz="10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42D5E"/>
                    </a:solidFill>
                  </a:tcPr>
                </a:tc>
              </a:tr>
              <a:tr h="274320">
                <a:tc>
                  <a:txBody>
                    <a:bodyPr/>
                    <a:lstStyle/>
                    <a:p>
                      <a:pPr indent="0" marL="0">
                        <a:buNone/>
                      </a:pPr>
                      <a:r>
                        <a:rPr lang="en-US" sz="1000" dirty="0">
                          <a:solidFill>
                            <a:srgbClr val="4A4A4A"/>
                          </a:solidFill>
                          <a:latin typeface="Arial" pitchFamily="34" charset="0"/>
                          <a:ea typeface="Arial" pitchFamily="34" charset="-122"/>
                          <a:cs typeface="Arial" pitchFamily="34" charset="-120"/>
                        </a:rPr>
                        <a:t>Google</a:t>
                      </a:r>
                      <a:endParaRPr lang="en-US" sz="10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000" dirty="0">
                          <a:solidFill>
                            <a:srgbClr val="4A4A4A"/>
                          </a:solidFill>
                          <a:latin typeface="Arial" pitchFamily="34" charset="0"/>
                          <a:ea typeface="Arial" pitchFamily="34" charset="-122"/>
                          <a:cs typeface="Arial" pitchFamily="34" charset="-120"/>
                        </a:rPr>
                        <a:t>~20 years</a:t>
                      </a:r>
                      <a:endParaRPr lang="en-US" sz="10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r>
              <a:tr h="274320">
                <a:tc>
                  <a:txBody>
                    <a:bodyPr/>
                    <a:lstStyle/>
                    <a:p>
                      <a:pPr indent="0" marL="0">
                        <a:buNone/>
                      </a:pPr>
                      <a:r>
                        <a:rPr lang="en-US" sz="1000" dirty="0">
                          <a:solidFill>
                            <a:srgbClr val="4A4A4A"/>
                          </a:solidFill>
                          <a:latin typeface="Arial" pitchFamily="34" charset="0"/>
                          <a:ea typeface="Arial" pitchFamily="34" charset="-122"/>
                          <a:cs typeface="Arial" pitchFamily="34" charset="-120"/>
                        </a:rPr>
                        <a:t>Amazon</a:t>
                      </a:r>
                      <a:endParaRPr lang="en-US" sz="10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1000" dirty="0">
                          <a:solidFill>
                            <a:srgbClr val="4A4A4A"/>
                          </a:solidFill>
                          <a:latin typeface="Arial" pitchFamily="34" charset="0"/>
                          <a:ea typeface="Arial" pitchFamily="34" charset="-122"/>
                          <a:cs typeface="Arial" pitchFamily="34" charset="-120"/>
                        </a:rPr>
                        <a:t>~18 years</a:t>
                      </a:r>
                      <a:endParaRPr lang="en-US" sz="10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274320">
                <a:tc>
                  <a:txBody>
                    <a:bodyPr/>
                    <a:lstStyle/>
                    <a:p>
                      <a:pPr indent="0" marL="0">
                        <a:buNone/>
                      </a:pPr>
                      <a:r>
                        <a:rPr lang="en-US" sz="1000" dirty="0">
                          <a:solidFill>
                            <a:srgbClr val="4A4A4A"/>
                          </a:solidFill>
                          <a:latin typeface="Arial" pitchFamily="34" charset="0"/>
                          <a:ea typeface="Arial" pitchFamily="34" charset="-122"/>
                          <a:cs typeface="Arial" pitchFamily="34" charset="-120"/>
                        </a:rPr>
                        <a:t>Microsoft</a:t>
                      </a:r>
                      <a:endParaRPr lang="en-US" sz="10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1000" dirty="0">
                          <a:solidFill>
                            <a:srgbClr val="4A4A4A"/>
                          </a:solidFill>
                          <a:latin typeface="Arial" pitchFamily="34" charset="0"/>
                          <a:ea typeface="Arial" pitchFamily="34" charset="-122"/>
                          <a:cs typeface="Arial" pitchFamily="34" charset="-120"/>
                        </a:rPr>
                        <a:t>~15 years</a:t>
                      </a:r>
                      <a:endParaRPr lang="en-US" sz="10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r>
              <a:tr h="274320">
                <a:tc>
                  <a:txBody>
                    <a:bodyPr/>
                    <a:lstStyle/>
                    <a:p>
                      <a:pPr indent="0" marL="0">
                        <a:buNone/>
                      </a:pPr>
                      <a:r>
                        <a:rPr lang="en-US" sz="1000" b="1" dirty="0">
                          <a:solidFill>
                            <a:srgbClr val="06418C"/>
                          </a:solidFill>
                          <a:latin typeface="Arial" pitchFamily="34" charset="0"/>
                          <a:ea typeface="Arial" pitchFamily="34" charset="-122"/>
                          <a:cs typeface="Arial" pitchFamily="34" charset="-120"/>
                        </a:rPr>
                        <a:t>OpenAI</a:t>
                      </a:r>
                      <a:endParaRPr lang="en-US" sz="10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0F8"/>
                    </a:solidFill>
                  </a:tcPr>
                </a:tc>
                <a:tc>
                  <a:txBody>
                    <a:bodyPr/>
                    <a:lstStyle/>
                    <a:p>
                      <a:pPr indent="0" marL="0">
                        <a:buNone/>
                      </a:pPr>
                      <a:r>
                        <a:rPr lang="en-US" sz="1000" b="1" dirty="0">
                          <a:solidFill>
                            <a:srgbClr val="06418C"/>
                          </a:solidFill>
                          <a:latin typeface="Arial" pitchFamily="34" charset="0"/>
                          <a:ea typeface="Arial" pitchFamily="34" charset="-122"/>
                          <a:cs typeface="Arial" pitchFamily="34" charset="-120"/>
                        </a:rPr>
                        <a:t>~2 years</a:t>
                      </a:r>
                      <a:endParaRPr lang="en-US" sz="10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0F8"/>
                    </a:solidFill>
                  </a:tcPr>
                </a:tc>
              </a:tr>
            </a:tbl>
          </a:graphicData>
        </a:graphic>
      </p:graphicFrame>
      <p:sp>
        <p:nvSpPr>
          <p:cNvPr id="10" name="Shape 7"/>
          <p:cNvSpPr/>
          <p:nvPr/>
        </p:nvSpPr>
        <p:spPr>
          <a:xfrm>
            <a:off x="4572000" y="2743200"/>
            <a:ext cx="4114800" cy="502920"/>
          </a:xfrm>
          <a:prstGeom prst="rect">
            <a:avLst/>
          </a:prstGeom>
          <a:solidFill>
            <a:srgbClr val="E8F0F8"/>
          </a:solidFill>
          <a:ln/>
        </p:spPr>
      </p:sp>
      <p:sp>
        <p:nvSpPr>
          <p:cNvPr id="11" name="Shape 8"/>
          <p:cNvSpPr/>
          <p:nvPr/>
        </p:nvSpPr>
        <p:spPr>
          <a:xfrm>
            <a:off x="4572000" y="2743200"/>
            <a:ext cx="54864" cy="502920"/>
          </a:xfrm>
          <a:prstGeom prst="rect">
            <a:avLst/>
          </a:prstGeom>
          <a:solidFill>
            <a:srgbClr val="06418C"/>
          </a:solidFill>
          <a:ln/>
        </p:spPr>
      </p:sp>
      <p:sp>
        <p:nvSpPr>
          <p:cNvPr id="12" name="Text 9"/>
          <p:cNvSpPr/>
          <p:nvPr/>
        </p:nvSpPr>
        <p:spPr>
          <a:xfrm>
            <a:off x="4709160" y="2743200"/>
            <a:ext cx="3931920" cy="502920"/>
          </a:xfrm>
          <a:prstGeom prst="rect">
            <a:avLst/>
          </a:prstGeom>
          <a:noFill/>
          <a:ln/>
        </p:spPr>
        <p:txBody>
          <a:bodyPr wrap="square" rtlCol="0" anchor="ctr"/>
          <a:lstStyle/>
          <a:p>
            <a:pPr indent="0" marL="0">
              <a:buNone/>
            </a:pPr>
            <a:r>
              <a:rPr lang="en-US" sz="950" i="1" dirty="0">
                <a:solidFill>
                  <a:srgbClr val="042D5E"/>
                </a:solidFill>
                <a:latin typeface="Arial" pitchFamily="34" charset="0"/>
                <a:ea typeface="Arial" pitchFamily="34" charset="-122"/>
                <a:cs typeface="Arial" pitchFamily="34" charset="-120"/>
              </a:rPr>
              <a:t>Token Spend ≠ ROI: "My AI spending is tripling every few months. My revenue is not."</a:t>
            </a:r>
            <a:endParaRPr lang="en-US" sz="950" dirty="0"/>
          </a:p>
        </p:txBody>
      </p:sp>
      <p:sp>
        <p:nvSpPr>
          <p:cNvPr id="13" name="Shape 10"/>
          <p:cNvSpPr/>
          <p:nvPr/>
        </p:nvSpPr>
        <p:spPr>
          <a:xfrm>
            <a:off x="640080" y="3931920"/>
            <a:ext cx="7863840" cy="548640"/>
          </a:xfrm>
          <a:prstGeom prst="rect">
            <a:avLst/>
          </a:prstGeom>
          <a:solidFill>
            <a:srgbClr val="F5F5F5"/>
          </a:solidFill>
          <a:ln/>
        </p:spPr>
      </p:sp>
      <p:sp>
        <p:nvSpPr>
          <p:cNvPr id="14" name="Text 11"/>
          <p:cNvSpPr/>
          <p:nvPr/>
        </p:nvSpPr>
        <p:spPr>
          <a:xfrm>
            <a:off x="777240" y="3931920"/>
            <a:ext cx="7589520" cy="548640"/>
          </a:xfrm>
          <a:prstGeom prst="rect">
            <a:avLst/>
          </a:prstGeom>
          <a:noFill/>
          <a:ln/>
        </p:spPr>
        <p:txBody>
          <a:bodyPr wrap="square" rtlCol="0" anchor="ctr"/>
          <a:lstStyle/>
          <a:p>
            <a:pPr indent="0" marL="0">
              <a:buNone/>
            </a:pPr>
            <a:r>
              <a:rPr lang="en-US" sz="1000" b="1" dirty="0">
                <a:solidFill>
                  <a:srgbClr val="4A4A4A"/>
                </a:solidFill>
                <a:latin typeface="Arial" pitchFamily="34" charset="0"/>
                <a:ea typeface="Arial" pitchFamily="34" charset="-122"/>
                <a:cs typeface="Arial" pitchFamily="34" charset="-120"/>
              </a:rPr>
              <a:t xml:space="preserve">Enterprise reality: </a:t>
            </a:r>
            <a:pPr indent="0" marL="0">
              <a:buNone/>
            </a:pPr>
            <a:r>
              <a:rPr lang="en-US" sz="1000" dirty="0">
                <a:solidFill>
                  <a:srgbClr val="4A4A4A"/>
                </a:solidFill>
                <a:latin typeface="Arial" pitchFamily="34" charset="0"/>
                <a:ea typeface="Arial" pitchFamily="34" charset="-122"/>
                <a:cs typeface="Arial" pitchFamily="34" charset="-120"/>
              </a:rPr>
              <a:t>Most enterprise AI spend is still experimentation — pilots, innovation budgets, internal tool testing. Fortune 1000 companies are running pilots because boards demand an AI strategy. But pilots ≠ core workflow. Revenue durability is the open question.</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640080"/>
          </a:xfrm>
          <a:prstGeom prst="rect">
            <a:avLst/>
          </a:prstGeom>
          <a:noFill/>
          <a:ln/>
        </p:spPr>
        <p:txBody>
          <a:bodyPr wrap="square" lIns="0" tIns="0" rIns="0" bIns="0" rtlCol="0" anchor="ctr"/>
          <a:lstStyle/>
          <a:p>
            <a:pPr indent="0" marL="0">
              <a:buNone/>
            </a:pPr>
            <a:r>
              <a:rPr lang="en-US" sz="2600" b="1" dirty="0">
                <a:solidFill>
                  <a:srgbClr val="06418C"/>
                </a:solidFill>
                <a:latin typeface="Arial" pitchFamily="34" charset="0"/>
                <a:ea typeface="Arial" pitchFamily="34" charset="-122"/>
                <a:cs typeface="Arial" pitchFamily="34" charset="-120"/>
              </a:rPr>
              <a:t>The only proven enterprise use case: coding.</a:t>
            </a:r>
            <a:endParaRPr lang="en-US" sz="26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27448"/>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27448"/>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27448"/>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B2</a:t>
            </a:r>
            <a:endParaRPr lang="en-US" sz="700" dirty="0"/>
          </a:p>
        </p:txBody>
      </p:sp>
      <p:sp>
        <p:nvSpPr>
          <p:cNvPr id="8" name="Shape 6"/>
          <p:cNvSpPr/>
          <p:nvPr/>
        </p:nvSpPr>
        <p:spPr>
          <a:xfrm>
            <a:off x="640080" y="1097280"/>
            <a:ext cx="3749040" cy="2926080"/>
          </a:xfrm>
          <a:prstGeom prst="rect">
            <a:avLst/>
          </a:prstGeom>
          <a:solidFill>
            <a:srgbClr val="FFFFFF"/>
          </a:solidFill>
          <a:ln/>
          <a:effectLst>
            <a:outerShdw sx="100000" sy="100000" kx="0" ky="0" algn="bl" rotWithShape="0" blurRad="76200" dist="25400" dir="18900000">
              <a:srgbClr val="000000">
                <a:alpha val="8000"/>
              </a:srgbClr>
            </a:outerShdw>
          </a:effectLst>
        </p:spPr>
      </p:sp>
      <p:sp>
        <p:nvSpPr>
          <p:cNvPr id="9" name="Shape 7"/>
          <p:cNvSpPr/>
          <p:nvPr/>
        </p:nvSpPr>
        <p:spPr>
          <a:xfrm>
            <a:off x="640080" y="1097280"/>
            <a:ext cx="64008" cy="2926080"/>
          </a:xfrm>
          <a:prstGeom prst="rect">
            <a:avLst/>
          </a:prstGeom>
          <a:solidFill>
            <a:srgbClr val="06418C"/>
          </a:solidFill>
          <a:ln/>
        </p:spPr>
      </p:sp>
      <p:sp>
        <p:nvSpPr>
          <p:cNvPr id="10" name="Text 8"/>
          <p:cNvSpPr/>
          <p:nvPr/>
        </p:nvSpPr>
        <p:spPr>
          <a:xfrm>
            <a:off x="822960" y="1234440"/>
            <a:ext cx="3383280" cy="320040"/>
          </a:xfrm>
          <a:prstGeom prst="rect">
            <a:avLst/>
          </a:prstGeom>
          <a:noFill/>
          <a:ln/>
        </p:spPr>
        <p:txBody>
          <a:bodyPr wrap="square" lIns="0" tIns="0" rIns="0" bIns="0" rtlCol="0" anchor="ctr"/>
          <a:lstStyle/>
          <a:p>
            <a:pPr indent="0" marL="0">
              <a:buNone/>
            </a:pPr>
            <a:r>
              <a:rPr lang="en-US" sz="1500" b="1" dirty="0">
                <a:solidFill>
                  <a:srgbClr val="06418C"/>
                </a:solidFill>
                <a:latin typeface="Arial" pitchFamily="34" charset="0"/>
                <a:ea typeface="Arial" pitchFamily="34" charset="-122"/>
                <a:cs typeface="Arial" pitchFamily="34" charset="-120"/>
              </a:rPr>
              <a:t>What’s Proven</a:t>
            </a:r>
            <a:endParaRPr lang="en-US" sz="1500" dirty="0"/>
          </a:p>
        </p:txBody>
      </p:sp>
      <p:sp>
        <p:nvSpPr>
          <p:cNvPr id="11" name="Text 9"/>
          <p:cNvSpPr/>
          <p:nvPr/>
        </p:nvSpPr>
        <p:spPr>
          <a:xfrm>
            <a:off x="822960" y="1645920"/>
            <a:ext cx="3383280" cy="2468880"/>
          </a:xfrm>
          <a:prstGeom prst="rect">
            <a:avLst/>
          </a:prstGeom>
          <a:noFill/>
          <a:ln/>
        </p:spPr>
        <p:txBody>
          <a:bodyPr wrap="square" rtlCol="0" anchor="t"/>
          <a:lstStyle/>
          <a:p>
            <a:pPr indent="0" marL="0">
              <a:buNone/>
            </a:pPr>
            <a:r>
              <a:rPr lang="en-US" sz="1100" b="1" dirty="0">
                <a:solidFill>
                  <a:srgbClr val="4A4A4A"/>
                </a:solidFill>
                <a:latin typeface="Arial" pitchFamily="34" charset="0"/>
                <a:ea typeface="Arial" pitchFamily="34" charset="-122"/>
                <a:cs typeface="Arial" pitchFamily="34" charset="-120"/>
              </a:rPr>
              <a:t>AI is replacing or augmenting:</a:t>
            </a:r>
            <a:endParaRPr lang="en-US" sz="1100" dirty="0"/>
          </a:p>
          <a:p>
            <a:pPr indent="0" marL="0">
              <a:buNone/>
            </a:pPr>
            <a:endParaRPr lang="en-US" sz="1100" dirty="0"/>
          </a:p>
          <a:p>
            <a:pPr marL="342900" indent="-342900">
              <a:buSzPct val="100000"/>
              <a:buChar char="•"/>
            </a:pPr>
            <a:r>
              <a:rPr lang="en-US" sz="1100" dirty="0">
                <a:solidFill>
                  <a:srgbClr val="4A4A4A"/>
                </a:solidFill>
                <a:latin typeface="Arial" pitchFamily="34" charset="0"/>
                <a:ea typeface="Arial" pitchFamily="34" charset="-122"/>
                <a:cs typeface="Arial" pitchFamily="34" charset="-120"/>
              </a:rPr>
              <a:t>Software engineering</a:t>
            </a:r>
            <a:endParaRPr lang="en-US" sz="1100" dirty="0"/>
          </a:p>
          <a:p>
            <a:pPr marL="342900" indent="-342900">
              <a:buSzPct val="100000"/>
              <a:buChar char="•"/>
            </a:pPr>
            <a:r>
              <a:rPr lang="en-US" sz="1100" dirty="0">
                <a:solidFill>
                  <a:srgbClr val="4A4A4A"/>
                </a:solidFill>
                <a:latin typeface="Arial" pitchFamily="34" charset="0"/>
                <a:ea typeface="Arial" pitchFamily="34" charset="-122"/>
                <a:cs typeface="Arial" pitchFamily="34" charset="-120"/>
              </a:rPr>
              <a:t>Debugging &amp; code review</a:t>
            </a:r>
            <a:endParaRPr lang="en-US" sz="1100" dirty="0"/>
          </a:p>
          <a:p>
            <a:pPr marL="342900" indent="-342900">
              <a:buSzPct val="100000"/>
              <a:buChar char="•"/>
            </a:pPr>
            <a:r>
              <a:rPr lang="en-US" sz="1100" dirty="0">
                <a:solidFill>
                  <a:srgbClr val="4A4A4A"/>
                </a:solidFill>
                <a:latin typeface="Arial" pitchFamily="34" charset="0"/>
                <a:ea typeface="Arial" pitchFamily="34" charset="-122"/>
                <a:cs typeface="Arial" pitchFamily="34" charset="-120"/>
              </a:rPr>
              <a:t>Code generation</a:t>
            </a:r>
            <a:endParaRPr lang="en-US" sz="1100" dirty="0"/>
          </a:p>
          <a:p>
            <a:pPr marL="342900" indent="-342900">
              <a:buSzPct val="100000"/>
              <a:buChar char="•"/>
            </a:pPr>
            <a:r>
              <a:rPr lang="en-US" sz="1100" dirty="0">
                <a:solidFill>
                  <a:srgbClr val="4A4A4A"/>
                </a:solidFill>
                <a:latin typeface="Arial" pitchFamily="34" charset="0"/>
                <a:ea typeface="Arial" pitchFamily="34" charset="-122"/>
                <a:cs typeface="Arial" pitchFamily="34" charset="-120"/>
              </a:rPr>
              <a:t>Documentation</a:t>
            </a:r>
            <a:endParaRPr lang="en-US" sz="1100" dirty="0"/>
          </a:p>
          <a:p>
            <a:pPr indent="0" marL="0">
              <a:buNone/>
            </a:pPr>
            <a:endParaRPr lang="en-US" sz="1100" dirty="0"/>
          </a:p>
          <a:p>
            <a:pPr indent="0" marL="0">
              <a:buNone/>
            </a:pPr>
            <a:r>
              <a:rPr lang="en-US" sz="1100" b="1" dirty="0">
                <a:solidFill>
                  <a:srgbClr val="4A4A4A"/>
                </a:solidFill>
                <a:latin typeface="Arial" pitchFamily="34" charset="0"/>
                <a:ea typeface="Arial" pitchFamily="34" charset="-122"/>
                <a:cs typeface="Arial" pitchFamily="34" charset="-120"/>
              </a:rPr>
              <a:t>Why this matters:</a:t>
            </a:r>
            <a:endParaRPr lang="en-US" sz="1100" dirty="0"/>
          </a:p>
          <a:p>
            <a:pPr indent="0" marL="0">
              <a:buNone/>
            </a:pPr>
            <a:r>
              <a:rPr lang="en-US" sz="1100" dirty="0">
                <a:solidFill>
                  <a:srgbClr val="4A4A4A"/>
                </a:solidFill>
                <a:latin typeface="Arial" pitchFamily="34" charset="0"/>
                <a:ea typeface="Arial" pitchFamily="34" charset="-122"/>
                <a:cs typeface="Arial" pitchFamily="34" charset="-120"/>
              </a:rPr>
              <a:t>Code demand is infinite. Companies always wanted more software but couldn’t hire enough engineers. AI removes that bottleneck.</a:t>
            </a:r>
            <a:endParaRPr lang="en-US" sz="1100" dirty="0"/>
          </a:p>
        </p:txBody>
      </p:sp>
      <p:sp>
        <p:nvSpPr>
          <p:cNvPr id="12" name="Shape 10"/>
          <p:cNvSpPr/>
          <p:nvPr/>
        </p:nvSpPr>
        <p:spPr>
          <a:xfrm>
            <a:off x="4754880" y="1097280"/>
            <a:ext cx="3749040" cy="2926080"/>
          </a:xfrm>
          <a:prstGeom prst="rect">
            <a:avLst/>
          </a:prstGeom>
          <a:solidFill>
            <a:srgbClr val="FFFFFF"/>
          </a:solidFill>
          <a:ln/>
          <a:effectLst>
            <a:outerShdw sx="100000" sy="100000" kx="0" ky="0" algn="bl" rotWithShape="0" blurRad="76200" dist="25400" dir="18900000">
              <a:srgbClr val="000000">
                <a:alpha val="8000"/>
              </a:srgbClr>
            </a:outerShdw>
          </a:effectLst>
        </p:spPr>
      </p:sp>
      <p:sp>
        <p:nvSpPr>
          <p:cNvPr id="13" name="Shape 11"/>
          <p:cNvSpPr/>
          <p:nvPr/>
        </p:nvSpPr>
        <p:spPr>
          <a:xfrm>
            <a:off x="4754880" y="1097280"/>
            <a:ext cx="64008" cy="2926080"/>
          </a:xfrm>
          <a:prstGeom prst="rect">
            <a:avLst/>
          </a:prstGeom>
          <a:solidFill>
            <a:srgbClr val="993399"/>
          </a:solidFill>
          <a:ln/>
        </p:spPr>
      </p:sp>
      <p:sp>
        <p:nvSpPr>
          <p:cNvPr id="14" name="Text 12"/>
          <p:cNvSpPr/>
          <p:nvPr/>
        </p:nvSpPr>
        <p:spPr>
          <a:xfrm>
            <a:off x="4937760" y="1234440"/>
            <a:ext cx="3383280" cy="320040"/>
          </a:xfrm>
          <a:prstGeom prst="rect">
            <a:avLst/>
          </a:prstGeom>
          <a:noFill/>
          <a:ln/>
        </p:spPr>
        <p:txBody>
          <a:bodyPr wrap="square" lIns="0" tIns="0" rIns="0" bIns="0" rtlCol="0" anchor="ctr"/>
          <a:lstStyle/>
          <a:p>
            <a:pPr indent="0" marL="0">
              <a:buNone/>
            </a:pPr>
            <a:r>
              <a:rPr lang="en-US" sz="1500" b="1" dirty="0">
                <a:solidFill>
                  <a:srgbClr val="06418C"/>
                </a:solidFill>
                <a:latin typeface="Arial" pitchFamily="34" charset="0"/>
                <a:ea typeface="Arial" pitchFamily="34" charset="-122"/>
                <a:cs typeface="Arial" pitchFamily="34" charset="-120"/>
              </a:rPr>
              <a:t>What’s Next</a:t>
            </a:r>
            <a:endParaRPr lang="en-US" sz="1500" dirty="0"/>
          </a:p>
        </p:txBody>
      </p:sp>
      <p:sp>
        <p:nvSpPr>
          <p:cNvPr id="15" name="Text 13"/>
          <p:cNvSpPr/>
          <p:nvPr/>
        </p:nvSpPr>
        <p:spPr>
          <a:xfrm>
            <a:off x="4937760" y="1645920"/>
            <a:ext cx="3383280" cy="2468880"/>
          </a:xfrm>
          <a:prstGeom prst="rect">
            <a:avLst/>
          </a:prstGeom>
          <a:noFill/>
          <a:ln/>
        </p:spPr>
        <p:txBody>
          <a:bodyPr wrap="square" rtlCol="0" anchor="t"/>
          <a:lstStyle/>
          <a:p>
            <a:pPr indent="0" marL="0">
              <a:buNone/>
            </a:pPr>
            <a:r>
              <a:rPr lang="en-US" sz="1100" b="1" dirty="0">
                <a:solidFill>
                  <a:srgbClr val="4A4A4A"/>
                </a:solidFill>
                <a:latin typeface="Arial" pitchFamily="34" charset="0"/>
                <a:ea typeface="Arial" pitchFamily="34" charset="-122"/>
                <a:cs typeface="Arial" pitchFamily="34" charset="-120"/>
              </a:rPr>
              <a:t>The next wave must be:</a:t>
            </a:r>
            <a:endParaRPr lang="en-US" sz="1100" dirty="0"/>
          </a:p>
          <a:p>
            <a:pPr indent="0" marL="0">
              <a:buNone/>
            </a:pPr>
            <a:endParaRPr lang="en-US" sz="1100" dirty="0"/>
          </a:p>
          <a:p>
            <a:pPr marL="342900" indent="-342900">
              <a:buSzPct val="100000"/>
              <a:buChar char="•"/>
            </a:pPr>
            <a:r>
              <a:rPr lang="en-US" sz="1100" dirty="0">
                <a:solidFill>
                  <a:srgbClr val="4A4A4A"/>
                </a:solidFill>
                <a:latin typeface="Arial" pitchFamily="34" charset="0"/>
                <a:ea typeface="Arial" pitchFamily="34" charset="-122"/>
                <a:cs typeface="Arial" pitchFamily="34" charset="-120"/>
              </a:rPr>
              <a:t>Agents</a:t>
            </a:r>
            <a:endParaRPr lang="en-US" sz="1100" dirty="0"/>
          </a:p>
          <a:p>
            <a:pPr marL="342900" indent="-342900">
              <a:buSzPct val="100000"/>
              <a:buChar char="•"/>
            </a:pPr>
            <a:r>
              <a:rPr lang="en-US" sz="1100" dirty="0">
                <a:solidFill>
                  <a:srgbClr val="4A4A4A"/>
                </a:solidFill>
                <a:latin typeface="Arial" pitchFamily="34" charset="0"/>
                <a:ea typeface="Arial" pitchFamily="34" charset="-122"/>
                <a:cs typeface="Arial" pitchFamily="34" charset="-120"/>
              </a:rPr>
              <a:t>Automation</a:t>
            </a:r>
            <a:endParaRPr lang="en-US" sz="1100" dirty="0"/>
          </a:p>
          <a:p>
            <a:pPr marL="342900" indent="-342900">
              <a:buSzPct val="100000"/>
              <a:buChar char="•"/>
            </a:pPr>
            <a:r>
              <a:rPr lang="en-US" sz="1100" dirty="0">
                <a:solidFill>
                  <a:srgbClr val="4A4A4A"/>
                </a:solidFill>
                <a:latin typeface="Arial" pitchFamily="34" charset="0"/>
                <a:ea typeface="Arial" pitchFamily="34" charset="-122"/>
                <a:cs typeface="Arial" pitchFamily="34" charset="-120"/>
              </a:rPr>
              <a:t>Business workflows</a:t>
            </a:r>
            <a:endParaRPr lang="en-US" sz="1100" dirty="0"/>
          </a:p>
          <a:p>
            <a:pPr indent="0" marL="0">
              <a:buNone/>
            </a:pPr>
            <a:endParaRPr lang="en-US" sz="1100" dirty="0"/>
          </a:p>
          <a:p>
            <a:pPr indent="0" marL="0">
              <a:buNone/>
            </a:pPr>
            <a:r>
              <a:rPr lang="en-US" sz="1100" b="1" dirty="0">
                <a:solidFill>
                  <a:srgbClr val="4A4A4A"/>
                </a:solidFill>
                <a:latin typeface="Arial" pitchFamily="34" charset="0"/>
                <a:ea typeface="Arial" pitchFamily="34" charset="-122"/>
                <a:cs typeface="Arial" pitchFamily="34" charset="-120"/>
              </a:rPr>
              <a:t>The gap:</a:t>
            </a:r>
            <a:endParaRPr lang="en-US" sz="1100" dirty="0"/>
          </a:p>
          <a:p>
            <a:pPr indent="0" marL="0">
              <a:buNone/>
            </a:pPr>
            <a:r>
              <a:rPr lang="en-US" sz="1100" dirty="0">
                <a:solidFill>
                  <a:srgbClr val="4A4A4A"/>
                </a:solidFill>
                <a:latin typeface="Arial" pitchFamily="34" charset="0"/>
                <a:ea typeface="Arial" pitchFamily="34" charset="-122"/>
                <a:cs typeface="Arial" pitchFamily="34" charset="-120"/>
              </a:rPr>
              <a:t>This transition hasn’t fully happened yet. Coding alone cannot justify trillions in investment. The productivity explosion AI will deliver has not yet shown up in macroeconomic data.</a:t>
            </a:r>
            <a:endParaRPr lang="en-US" sz="1100" dirty="0"/>
          </a:p>
        </p:txBody>
      </p:sp>
      <p:sp>
        <p:nvSpPr>
          <p:cNvPr id="16" name="Shape 14"/>
          <p:cNvSpPr/>
          <p:nvPr/>
        </p:nvSpPr>
        <p:spPr>
          <a:xfrm>
            <a:off x="640080" y="4160520"/>
            <a:ext cx="7863840" cy="365760"/>
          </a:xfrm>
          <a:prstGeom prst="rect">
            <a:avLst/>
          </a:prstGeom>
          <a:solidFill>
            <a:srgbClr val="E8F0F8"/>
          </a:solidFill>
          <a:ln/>
        </p:spPr>
      </p:sp>
      <p:sp>
        <p:nvSpPr>
          <p:cNvPr id="17" name="Shape 15"/>
          <p:cNvSpPr/>
          <p:nvPr/>
        </p:nvSpPr>
        <p:spPr>
          <a:xfrm>
            <a:off x="640080" y="4160520"/>
            <a:ext cx="54864" cy="365760"/>
          </a:xfrm>
          <a:prstGeom prst="rect">
            <a:avLst/>
          </a:prstGeom>
          <a:solidFill>
            <a:srgbClr val="4471A9"/>
          </a:solidFill>
          <a:ln/>
        </p:spPr>
      </p:sp>
      <p:sp>
        <p:nvSpPr>
          <p:cNvPr id="18" name="Text 16"/>
          <p:cNvSpPr/>
          <p:nvPr/>
        </p:nvSpPr>
        <p:spPr>
          <a:xfrm>
            <a:off x="777240" y="4160520"/>
            <a:ext cx="7589520" cy="365760"/>
          </a:xfrm>
          <a:prstGeom prst="rect">
            <a:avLst/>
          </a:prstGeom>
          <a:noFill/>
          <a:ln/>
        </p:spPr>
        <p:txBody>
          <a:bodyPr wrap="square" rtlCol="0" anchor="ctr"/>
          <a:lstStyle/>
          <a:p>
            <a:pPr indent="0" marL="0">
              <a:buNone/>
            </a:pPr>
            <a:r>
              <a:rPr lang="en-US" sz="950" i="1" dirty="0">
                <a:solidFill>
                  <a:srgbClr val="042D5E"/>
                </a:solidFill>
                <a:latin typeface="Arial" pitchFamily="34" charset="0"/>
                <a:ea typeface="Arial" pitchFamily="34" charset="-122"/>
                <a:cs typeface="Arial" pitchFamily="34" charset="-120"/>
              </a:rPr>
              <a:t>David Sacks counterpoint: Code demand is infinite — this single use case may be enough to sustain the investment cycle until agents mature.</a:t>
            </a:r>
            <a:endParaRPr lang="en-US" sz="9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640080"/>
          </a:xfrm>
          <a:prstGeom prst="rect">
            <a:avLst/>
          </a:prstGeom>
          <a:noFill/>
          <a:ln/>
        </p:spPr>
        <p:txBody>
          <a:bodyPr wrap="square" lIns="0" tIns="0" rIns="0" bIns="0" rtlCol="0" anchor="ctr"/>
          <a:lstStyle/>
          <a:p>
            <a:pPr indent="0" marL="0">
              <a:buNone/>
            </a:pPr>
            <a:r>
              <a:rPr lang="en-US" sz="2600" b="1" dirty="0">
                <a:solidFill>
                  <a:srgbClr val="06418C"/>
                </a:solidFill>
                <a:latin typeface="Arial" pitchFamily="34" charset="0"/>
                <a:ea typeface="Arial" pitchFamily="34" charset="-122"/>
                <a:cs typeface="Arial" pitchFamily="34" charset="-120"/>
              </a:rPr>
              <a:t>The AI economy has three layers. Layer 3 has barely started.</a:t>
            </a:r>
            <a:endParaRPr lang="en-US" sz="26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27448"/>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27448"/>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27448"/>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B3</a:t>
            </a:r>
            <a:endParaRPr lang="en-US" sz="700" dirty="0"/>
          </a:p>
        </p:txBody>
      </p:sp>
      <p:sp>
        <p:nvSpPr>
          <p:cNvPr id="8" name="Shape 6"/>
          <p:cNvSpPr/>
          <p:nvPr/>
        </p:nvSpPr>
        <p:spPr>
          <a:xfrm>
            <a:off x="640080" y="1143000"/>
            <a:ext cx="7863840" cy="914400"/>
          </a:xfrm>
          <a:prstGeom prst="rect">
            <a:avLst/>
          </a:prstGeom>
          <a:solidFill>
            <a:srgbClr val="042D5E"/>
          </a:solidFill>
          <a:ln/>
        </p:spPr>
      </p:sp>
      <p:sp>
        <p:nvSpPr>
          <p:cNvPr id="9" name="Text 7"/>
          <p:cNvSpPr/>
          <p:nvPr/>
        </p:nvSpPr>
        <p:spPr>
          <a:xfrm>
            <a:off x="822960" y="1170432"/>
            <a:ext cx="2286000" cy="320040"/>
          </a:xfrm>
          <a:prstGeom prst="rect">
            <a:avLst/>
          </a:prstGeom>
          <a:noFill/>
          <a:ln/>
        </p:spPr>
        <p:txBody>
          <a:bodyPr wrap="square" rtlCol="0" anchor="ctr"/>
          <a:lstStyle/>
          <a:p>
            <a:pPr indent="0" marL="0">
              <a:buNone/>
            </a:pPr>
            <a:r>
              <a:rPr lang="en-US" sz="1100" b="1" spc="200" kern="0" dirty="0">
                <a:solidFill>
                  <a:srgbClr val="FFFFFF"/>
                </a:solidFill>
                <a:latin typeface="Arial" pitchFamily="34" charset="0"/>
                <a:ea typeface="Arial" pitchFamily="34" charset="-122"/>
                <a:cs typeface="Arial" pitchFamily="34" charset="-120"/>
              </a:rPr>
              <a:t>LAYER 1: COMPUTE</a:t>
            </a:r>
            <a:endParaRPr lang="en-US" sz="1100" dirty="0"/>
          </a:p>
        </p:txBody>
      </p:sp>
      <p:sp>
        <p:nvSpPr>
          <p:cNvPr id="10" name="Text 8"/>
          <p:cNvSpPr/>
          <p:nvPr/>
        </p:nvSpPr>
        <p:spPr>
          <a:xfrm>
            <a:off x="822960" y="1463040"/>
            <a:ext cx="4572000" cy="274320"/>
          </a:xfrm>
          <a:prstGeom prst="rect">
            <a:avLst/>
          </a:prstGeom>
          <a:noFill/>
          <a:ln/>
        </p:spPr>
        <p:txBody>
          <a:bodyPr wrap="square" rtlCol="0" anchor="ctr"/>
          <a:lstStyle/>
          <a:p>
            <a:pPr indent="0" marL="0">
              <a:buNone/>
            </a:pPr>
            <a:r>
              <a:rPr lang="en-US" sz="1000" dirty="0">
                <a:solidFill>
                  <a:srgbClr val="4471A9"/>
                </a:solidFill>
                <a:latin typeface="Arial" pitchFamily="34" charset="0"/>
                <a:ea typeface="Arial" pitchFamily="34" charset="-122"/>
                <a:cs typeface="Arial" pitchFamily="34" charset="-120"/>
              </a:rPr>
              <a:t>NVIDIA • Hyperscale data centers • Energy infrastructure</a:t>
            </a:r>
            <a:endParaRPr lang="en-US" sz="1000" dirty="0"/>
          </a:p>
        </p:txBody>
      </p:sp>
      <p:sp>
        <p:nvSpPr>
          <p:cNvPr id="11" name="Text 9"/>
          <p:cNvSpPr/>
          <p:nvPr/>
        </p:nvSpPr>
        <p:spPr>
          <a:xfrm>
            <a:off x="822960" y="1719072"/>
            <a:ext cx="548640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1 GW data center:</a:t>
            </a:r>
            <a:pPr indent="0" marL="0">
              <a:buNone/>
            </a:pPr>
            <a:r>
              <a:rPr lang="en-US" sz="1000" dirty="0">
                <a:solidFill>
                  <a:srgbClr val="4471A9"/>
                </a:solidFill>
                <a:latin typeface="Arial" pitchFamily="34" charset="0"/>
                <a:ea typeface="Arial" pitchFamily="34" charset="-122"/>
                <a:cs typeface="Arial" pitchFamily="34" charset="-120"/>
              </a:rPr>
              <a:t xml:space="preserve"> ~$50B to build • ~$10B/year revenue • 5–6 year payback</a:t>
            </a:r>
            <a:endParaRPr lang="en-US" sz="1000" dirty="0"/>
          </a:p>
        </p:txBody>
      </p:sp>
      <p:sp>
        <p:nvSpPr>
          <p:cNvPr id="12" name="Text 10"/>
          <p:cNvSpPr/>
          <p:nvPr/>
        </p:nvSpPr>
        <p:spPr>
          <a:xfrm>
            <a:off x="5943600" y="1234440"/>
            <a:ext cx="2377440" cy="640080"/>
          </a:xfrm>
          <a:prstGeom prst="rect">
            <a:avLst/>
          </a:prstGeom>
          <a:noFill/>
          <a:ln/>
        </p:spPr>
        <p:txBody>
          <a:bodyPr wrap="square" rtlCol="0" anchor="ctr"/>
          <a:lstStyle/>
          <a:p>
            <a:pPr algn="r" indent="0" marL="0">
              <a:buNone/>
            </a:pPr>
            <a:r>
              <a:rPr lang="en-US" sz="1200" b="1" i="1" dirty="0">
                <a:solidFill>
                  <a:srgbClr val="FFFFFF"/>
                </a:solidFill>
                <a:latin typeface="Arial" pitchFamily="34" charset="0"/>
                <a:ea typeface="Arial" pitchFamily="34" charset="-122"/>
                <a:cs typeface="Arial" pitchFamily="34" charset="-120"/>
              </a:rPr>
              <a:t>AI economics = energy economics</a:t>
            </a:r>
            <a:endParaRPr lang="en-US" sz="1200" dirty="0"/>
          </a:p>
        </p:txBody>
      </p:sp>
      <p:sp>
        <p:nvSpPr>
          <p:cNvPr id="13" name="Shape 11"/>
          <p:cNvSpPr/>
          <p:nvPr/>
        </p:nvSpPr>
        <p:spPr>
          <a:xfrm>
            <a:off x="640080" y="2194560"/>
            <a:ext cx="7863840" cy="914400"/>
          </a:xfrm>
          <a:prstGeom prst="rect">
            <a:avLst/>
          </a:prstGeom>
          <a:solidFill>
            <a:srgbClr val="06418C"/>
          </a:solidFill>
          <a:ln/>
        </p:spPr>
      </p:sp>
      <p:sp>
        <p:nvSpPr>
          <p:cNvPr id="14" name="Text 12"/>
          <p:cNvSpPr/>
          <p:nvPr/>
        </p:nvSpPr>
        <p:spPr>
          <a:xfrm>
            <a:off x="822960" y="2221992"/>
            <a:ext cx="3200400" cy="320040"/>
          </a:xfrm>
          <a:prstGeom prst="rect">
            <a:avLst/>
          </a:prstGeom>
          <a:noFill/>
          <a:ln/>
        </p:spPr>
        <p:txBody>
          <a:bodyPr wrap="square" rtlCol="0" anchor="ctr"/>
          <a:lstStyle/>
          <a:p>
            <a:pPr indent="0" marL="0">
              <a:buNone/>
            </a:pPr>
            <a:r>
              <a:rPr lang="en-US" sz="1100" b="1" spc="200" kern="0" dirty="0">
                <a:solidFill>
                  <a:srgbClr val="FFFFFF"/>
                </a:solidFill>
                <a:latin typeface="Arial" pitchFamily="34" charset="0"/>
                <a:ea typeface="Arial" pitchFamily="34" charset="-122"/>
                <a:cs typeface="Arial" pitchFamily="34" charset="-120"/>
              </a:rPr>
              <a:t>LAYER 2: FOUNDATION MODELS</a:t>
            </a:r>
            <a:endParaRPr lang="en-US" sz="1100" dirty="0"/>
          </a:p>
        </p:txBody>
      </p:sp>
      <p:sp>
        <p:nvSpPr>
          <p:cNvPr id="15" name="Text 13"/>
          <p:cNvSpPr/>
          <p:nvPr/>
        </p:nvSpPr>
        <p:spPr>
          <a:xfrm>
            <a:off x="822960" y="2514600"/>
            <a:ext cx="4572000" cy="274320"/>
          </a:xfrm>
          <a:prstGeom prst="rect">
            <a:avLst/>
          </a:prstGeom>
          <a:noFill/>
          <a:ln/>
        </p:spPr>
        <p:txBody>
          <a:bodyPr wrap="square" rtlCol="0" anchor="ctr"/>
          <a:lstStyle/>
          <a:p>
            <a:pPr indent="0" marL="0">
              <a:buNone/>
            </a:pPr>
            <a:r>
              <a:rPr lang="en-US" sz="1000" dirty="0">
                <a:solidFill>
                  <a:srgbClr val="E8F0F8"/>
                </a:solidFill>
                <a:latin typeface="Arial" pitchFamily="34" charset="0"/>
                <a:ea typeface="Arial" pitchFamily="34" charset="-122"/>
                <a:cs typeface="Arial" pitchFamily="34" charset="-120"/>
              </a:rPr>
              <a:t>OpenAI • Anthropic • Google DeepMind</a:t>
            </a:r>
            <a:endParaRPr lang="en-US" sz="1000" dirty="0"/>
          </a:p>
        </p:txBody>
      </p:sp>
      <p:sp>
        <p:nvSpPr>
          <p:cNvPr id="16" name="Text 14"/>
          <p:cNvSpPr/>
          <p:nvPr/>
        </p:nvSpPr>
        <p:spPr>
          <a:xfrm>
            <a:off x="822960" y="2743200"/>
            <a:ext cx="5486400" cy="274320"/>
          </a:xfrm>
          <a:prstGeom prst="rect">
            <a:avLst/>
          </a:prstGeom>
          <a:noFill/>
          <a:ln/>
        </p:spPr>
        <p:txBody>
          <a:bodyPr wrap="square" rtlCol="0" anchor="ctr"/>
          <a:lstStyle/>
          <a:p>
            <a:pPr indent="0" marL="0">
              <a:buNone/>
            </a:pPr>
            <a:r>
              <a:rPr lang="en-US" sz="1000" dirty="0">
                <a:solidFill>
                  <a:srgbClr val="E8F0F8"/>
                </a:solidFill>
                <a:latin typeface="Arial" pitchFamily="34" charset="0"/>
                <a:ea typeface="Arial" pitchFamily="34" charset="-122"/>
                <a:cs typeface="Arial" pitchFamily="34" charset="-120"/>
              </a:rPr>
              <a:t>Fastest revenue growth in recorded history. Still defining competitive moats and pricing models.</a:t>
            </a:r>
            <a:endParaRPr lang="en-US" sz="1000" dirty="0"/>
          </a:p>
        </p:txBody>
      </p:sp>
      <p:sp>
        <p:nvSpPr>
          <p:cNvPr id="17" name="Text 15"/>
          <p:cNvSpPr/>
          <p:nvPr/>
        </p:nvSpPr>
        <p:spPr>
          <a:xfrm>
            <a:off x="5943600" y="2286000"/>
            <a:ext cx="2377440" cy="640080"/>
          </a:xfrm>
          <a:prstGeom prst="rect">
            <a:avLst/>
          </a:prstGeom>
          <a:noFill/>
          <a:ln/>
        </p:spPr>
        <p:txBody>
          <a:bodyPr wrap="square" rtlCol="0" anchor="ctr"/>
          <a:lstStyle/>
          <a:p>
            <a:pPr algn="r" indent="0" marL="0">
              <a:buNone/>
            </a:pPr>
            <a:r>
              <a:rPr lang="en-US" sz="1200" b="1" i="1" dirty="0">
                <a:solidFill>
                  <a:srgbClr val="FFFFFF"/>
                </a:solidFill>
                <a:latin typeface="Arial" pitchFamily="34" charset="0"/>
                <a:ea typeface="Arial" pitchFamily="34" charset="-122"/>
                <a:cs typeface="Arial" pitchFamily="34" charset="-120"/>
              </a:rPr>
              <a:t>Revenue is real.</a:t>
            </a:r>
            <a:endParaRPr lang="en-US" sz="1200" dirty="0"/>
          </a:p>
          <a:p>
            <a:pPr algn="r" indent="0" marL="0">
              <a:buNone/>
            </a:pPr>
            <a:r>
              <a:rPr lang="en-US" sz="1200" b="1" i="1" dirty="0">
                <a:solidFill>
                  <a:srgbClr val="FFFFFF"/>
                </a:solidFill>
                <a:latin typeface="Arial" pitchFamily="34" charset="0"/>
                <a:ea typeface="Arial" pitchFamily="34" charset="-122"/>
                <a:cs typeface="Arial" pitchFamily="34" charset="-120"/>
              </a:rPr>
              <a:t>ROI is unproven.</a:t>
            </a:r>
            <a:endParaRPr lang="en-US" sz="1200" dirty="0"/>
          </a:p>
        </p:txBody>
      </p:sp>
      <p:sp>
        <p:nvSpPr>
          <p:cNvPr id="18" name="Shape 16"/>
          <p:cNvSpPr/>
          <p:nvPr/>
        </p:nvSpPr>
        <p:spPr>
          <a:xfrm>
            <a:off x="640080" y="3246120"/>
            <a:ext cx="7863840" cy="914400"/>
          </a:xfrm>
          <a:prstGeom prst="rect">
            <a:avLst/>
          </a:prstGeom>
          <a:solidFill>
            <a:srgbClr val="993399"/>
          </a:solidFill>
          <a:ln/>
        </p:spPr>
      </p:sp>
      <p:sp>
        <p:nvSpPr>
          <p:cNvPr id="19" name="Text 17"/>
          <p:cNvSpPr/>
          <p:nvPr/>
        </p:nvSpPr>
        <p:spPr>
          <a:xfrm>
            <a:off x="822960" y="3273552"/>
            <a:ext cx="3200400" cy="320040"/>
          </a:xfrm>
          <a:prstGeom prst="rect">
            <a:avLst/>
          </a:prstGeom>
          <a:noFill/>
          <a:ln/>
        </p:spPr>
        <p:txBody>
          <a:bodyPr wrap="square" rtlCol="0" anchor="ctr"/>
          <a:lstStyle/>
          <a:p>
            <a:pPr indent="0" marL="0">
              <a:buNone/>
            </a:pPr>
            <a:r>
              <a:rPr lang="en-US" sz="1100" b="1" spc="200" kern="0" dirty="0">
                <a:solidFill>
                  <a:srgbClr val="FFFFFF"/>
                </a:solidFill>
                <a:latin typeface="Arial" pitchFamily="34" charset="0"/>
                <a:ea typeface="Arial" pitchFamily="34" charset="-122"/>
                <a:cs typeface="Arial" pitchFamily="34" charset="-120"/>
              </a:rPr>
              <a:t>LAYER 3: APPLICATIONS</a:t>
            </a:r>
            <a:endParaRPr lang="en-US" sz="1100" dirty="0"/>
          </a:p>
        </p:txBody>
      </p:sp>
      <p:sp>
        <p:nvSpPr>
          <p:cNvPr id="20" name="Text 18"/>
          <p:cNvSpPr/>
          <p:nvPr/>
        </p:nvSpPr>
        <p:spPr>
          <a:xfrm>
            <a:off x="822960" y="3566160"/>
            <a:ext cx="5029200" cy="274320"/>
          </a:xfrm>
          <a:prstGeom prst="rect">
            <a:avLst/>
          </a:prstGeom>
          <a:noFill/>
          <a:ln/>
        </p:spPr>
        <p:txBody>
          <a:bodyPr wrap="square" rtlCol="0" anchor="ctr"/>
          <a:lstStyle/>
          <a:p>
            <a:pPr indent="0" marL="0">
              <a:buNone/>
            </a:pPr>
            <a:r>
              <a:rPr lang="en-US" sz="1000" dirty="0">
                <a:solidFill>
                  <a:srgbClr val="E8D0F0"/>
                </a:solidFill>
                <a:latin typeface="Arial" pitchFamily="34" charset="0"/>
                <a:ea typeface="Arial" pitchFamily="34" charset="-122"/>
                <a:cs typeface="Arial" pitchFamily="34" charset="-120"/>
              </a:rPr>
              <a:t>Agents • Automation • Industry-specific AI • Workflow integration</a:t>
            </a:r>
            <a:endParaRPr lang="en-US" sz="1000" dirty="0"/>
          </a:p>
        </p:txBody>
      </p:sp>
      <p:sp>
        <p:nvSpPr>
          <p:cNvPr id="21" name="Text 19"/>
          <p:cNvSpPr/>
          <p:nvPr/>
        </p:nvSpPr>
        <p:spPr>
          <a:xfrm>
            <a:off x="822960" y="3794760"/>
            <a:ext cx="5486400" cy="274320"/>
          </a:xfrm>
          <a:prstGeom prst="rect">
            <a:avLst/>
          </a:prstGeom>
          <a:noFill/>
          <a:ln/>
        </p:spPr>
        <p:txBody>
          <a:bodyPr wrap="square" rtlCol="0" anchor="ctr"/>
          <a:lstStyle/>
          <a:p>
            <a:pPr indent="0" marL="0">
              <a:buNone/>
            </a:pPr>
            <a:r>
              <a:rPr lang="en-US" sz="1000" dirty="0">
                <a:solidFill>
                  <a:srgbClr val="E8D0F0"/>
                </a:solidFill>
                <a:latin typeface="Arial" pitchFamily="34" charset="0"/>
                <a:ea typeface="Arial" pitchFamily="34" charset="-122"/>
                <a:cs typeface="Arial" pitchFamily="34" charset="-120"/>
              </a:rPr>
              <a:t>Barely started. This is where the majority of economic value will ultimately be created.</a:t>
            </a:r>
            <a:endParaRPr lang="en-US" sz="1000" dirty="0"/>
          </a:p>
        </p:txBody>
      </p:sp>
      <p:sp>
        <p:nvSpPr>
          <p:cNvPr id="22" name="Text 20"/>
          <p:cNvSpPr/>
          <p:nvPr/>
        </p:nvSpPr>
        <p:spPr>
          <a:xfrm>
            <a:off x="5943600" y="3337560"/>
            <a:ext cx="2377440" cy="640080"/>
          </a:xfrm>
          <a:prstGeom prst="rect">
            <a:avLst/>
          </a:prstGeom>
          <a:noFill/>
          <a:ln/>
        </p:spPr>
        <p:txBody>
          <a:bodyPr wrap="square" rtlCol="0" anchor="ctr"/>
          <a:lstStyle/>
          <a:p>
            <a:pPr algn="r" indent="0" marL="0">
              <a:buNone/>
            </a:pPr>
            <a:r>
              <a:rPr lang="en-US" sz="1200" b="1" i="1" dirty="0">
                <a:solidFill>
                  <a:srgbClr val="FFFFFF"/>
                </a:solidFill>
                <a:latin typeface="Arial" pitchFamily="34" charset="0"/>
                <a:ea typeface="Arial" pitchFamily="34" charset="-122"/>
                <a:cs typeface="Arial" pitchFamily="34" charset="-120"/>
              </a:rPr>
              <a:t>BIGGEST VALUE</a:t>
            </a:r>
            <a:endParaRPr lang="en-US" sz="1200" dirty="0"/>
          </a:p>
          <a:p>
            <a:pPr algn="r" indent="0" marL="0">
              <a:buNone/>
            </a:pPr>
            <a:r>
              <a:rPr lang="en-US" sz="1200" b="1" i="1" dirty="0">
                <a:solidFill>
                  <a:srgbClr val="FFFFFF"/>
                </a:solidFill>
                <a:latin typeface="Arial" pitchFamily="34" charset="0"/>
                <a:ea typeface="Arial" pitchFamily="34" charset="-122"/>
                <a:cs typeface="Arial" pitchFamily="34" charset="-120"/>
              </a:rPr>
              <a:t>BAREST START</a:t>
            </a:r>
            <a:endParaRPr lang="en-US" sz="1200" dirty="0"/>
          </a:p>
        </p:txBody>
      </p:sp>
      <p:sp>
        <p:nvSpPr>
          <p:cNvPr id="23" name="Text 21"/>
          <p:cNvSpPr/>
          <p:nvPr/>
        </p:nvSpPr>
        <p:spPr>
          <a:xfrm>
            <a:off x="640080" y="4251960"/>
            <a:ext cx="7863840" cy="274320"/>
          </a:xfrm>
          <a:prstGeom prst="rect">
            <a:avLst/>
          </a:prstGeom>
          <a:noFill/>
          <a:ln/>
        </p:spPr>
        <p:txBody>
          <a:bodyPr wrap="square" rtlCol="0" anchor="ctr"/>
          <a:lstStyle/>
          <a:p>
            <a:pPr indent="0" marL="0">
              <a:buNone/>
            </a:pPr>
            <a:r>
              <a:rPr lang="en-US" sz="950" i="1" dirty="0">
                <a:solidFill>
                  <a:srgbClr val="9D9D9D"/>
                </a:solidFill>
                <a:latin typeface="Arial" pitchFamily="34" charset="0"/>
                <a:ea typeface="Arial" pitchFamily="34" charset="-122"/>
                <a:cs typeface="Arial" pitchFamily="34" charset="-120"/>
              </a:rPr>
              <a:t>Resembles: railroads • electricity grids • telecom networks. Not normal software economics. The J-curve is huge.</a:t>
            </a:r>
            <a:endParaRPr lang="en-US" sz="9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548640"/>
          </a:xfrm>
          <a:prstGeom prst="rect">
            <a:avLst/>
          </a:prstGeom>
          <a:noFill/>
          <a:ln/>
        </p:spPr>
        <p:txBody>
          <a:bodyPr wrap="square" lIns="0" tIns="0" rIns="0" bIns="0" rtlCol="0" anchor="ctr"/>
          <a:lstStyle/>
          <a:p>
            <a:pPr indent="0" marL="0">
              <a:buNone/>
            </a:pPr>
            <a:r>
              <a:rPr lang="en-US" sz="2600" b="1" dirty="0">
                <a:solidFill>
                  <a:srgbClr val="06418C"/>
                </a:solidFill>
                <a:latin typeface="Arial" pitchFamily="34" charset="0"/>
                <a:ea typeface="Arial" pitchFamily="34" charset="-122"/>
                <a:cs typeface="Arial" pitchFamily="34" charset="-120"/>
              </a:rPr>
              <a:t>The shift: IT budget → workforce budget.</a:t>
            </a:r>
            <a:endParaRPr lang="en-US" sz="26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27448"/>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27448"/>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27448"/>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B4</a:t>
            </a:r>
            <a:endParaRPr lang="en-US" sz="700" dirty="0"/>
          </a:p>
        </p:txBody>
      </p:sp>
      <p:sp>
        <p:nvSpPr>
          <p:cNvPr id="8" name="Shape 6"/>
          <p:cNvSpPr/>
          <p:nvPr/>
        </p:nvSpPr>
        <p:spPr>
          <a:xfrm>
            <a:off x="640080" y="1005840"/>
            <a:ext cx="3749040" cy="2377440"/>
          </a:xfrm>
          <a:prstGeom prst="rect">
            <a:avLst/>
          </a:prstGeom>
          <a:solidFill>
            <a:srgbClr val="F5F5F5"/>
          </a:solidFill>
          <a:ln/>
        </p:spPr>
      </p:sp>
      <p:sp>
        <p:nvSpPr>
          <p:cNvPr id="9" name="Shape 7"/>
          <p:cNvSpPr/>
          <p:nvPr/>
        </p:nvSpPr>
        <p:spPr>
          <a:xfrm>
            <a:off x="640080" y="1005840"/>
            <a:ext cx="3749040" cy="54864"/>
          </a:xfrm>
          <a:prstGeom prst="rect">
            <a:avLst/>
          </a:prstGeom>
          <a:solidFill>
            <a:srgbClr val="D0D0D0"/>
          </a:solidFill>
          <a:ln/>
        </p:spPr>
      </p:sp>
      <p:sp>
        <p:nvSpPr>
          <p:cNvPr id="10" name="Text 8"/>
          <p:cNvSpPr/>
          <p:nvPr/>
        </p:nvSpPr>
        <p:spPr>
          <a:xfrm>
            <a:off x="822960" y="1097280"/>
            <a:ext cx="3383280" cy="320040"/>
          </a:xfrm>
          <a:prstGeom prst="rect">
            <a:avLst/>
          </a:prstGeom>
          <a:noFill/>
          <a:ln/>
        </p:spPr>
        <p:txBody>
          <a:bodyPr wrap="square" rtlCol="0" anchor="ctr"/>
          <a:lstStyle/>
          <a:p>
            <a:pPr indent="0" marL="0">
              <a:buNone/>
            </a:pPr>
            <a:r>
              <a:rPr lang="en-US" sz="1200" b="1" spc="200" kern="0" dirty="0">
                <a:solidFill>
                  <a:srgbClr val="9D9D9D"/>
                </a:solidFill>
                <a:latin typeface="Arial" pitchFamily="34" charset="0"/>
                <a:ea typeface="Arial" pitchFamily="34" charset="-122"/>
                <a:cs typeface="Arial" pitchFamily="34" charset="-120"/>
              </a:rPr>
              <a:t>THE OLD MODEL</a:t>
            </a:r>
            <a:endParaRPr lang="en-US" sz="1200" dirty="0"/>
          </a:p>
        </p:txBody>
      </p:sp>
      <p:sp>
        <p:nvSpPr>
          <p:cNvPr id="11" name="Text 9"/>
          <p:cNvSpPr/>
          <p:nvPr/>
        </p:nvSpPr>
        <p:spPr>
          <a:xfrm>
            <a:off x="822960" y="1508760"/>
            <a:ext cx="3383280" cy="1645920"/>
          </a:xfrm>
          <a:prstGeom prst="rect">
            <a:avLst/>
          </a:prstGeom>
          <a:noFill/>
          <a:ln/>
        </p:spPr>
        <p:txBody>
          <a:bodyPr wrap="square" rtlCol="0" anchor="t"/>
          <a:lstStyle/>
          <a:p>
            <a:pPr indent="0" marL="0">
              <a:buNone/>
            </a:pPr>
            <a:r>
              <a:rPr lang="en-US" sz="1100" b="1" dirty="0">
                <a:solidFill>
                  <a:srgbClr val="4A4A4A"/>
                </a:solidFill>
                <a:latin typeface="Arial" pitchFamily="34" charset="0"/>
                <a:ea typeface="Arial" pitchFamily="34" charset="-122"/>
                <a:cs typeface="Arial" pitchFamily="34" charset="-120"/>
              </a:rPr>
              <a:t>AI = software tool</a:t>
            </a:r>
            <a:endParaRPr lang="en-US" sz="1100" dirty="0"/>
          </a:p>
          <a:p>
            <a:pPr indent="0" marL="0">
              <a:buNone/>
            </a:pPr>
            <a:endParaRPr lang="en-US" sz="1100" dirty="0"/>
          </a:p>
          <a:p>
            <a:pPr marL="342900" indent="-342900">
              <a:buSzPct val="100000"/>
              <a:buChar char="•"/>
            </a:pPr>
            <a:r>
              <a:rPr lang="en-US" sz="1050" dirty="0">
                <a:solidFill>
                  <a:srgbClr val="4A4A4A"/>
                </a:solidFill>
                <a:latin typeface="Arial" pitchFamily="34" charset="0"/>
                <a:ea typeface="Arial" pitchFamily="34" charset="-122"/>
                <a:cs typeface="Arial" pitchFamily="34" charset="-120"/>
              </a:rPr>
              <a:t>Competes against other software purchases</a:t>
            </a:r>
            <a:endParaRPr lang="en-US" sz="1100" dirty="0"/>
          </a:p>
          <a:p>
            <a:pPr marL="342900" indent="-342900">
              <a:buSzPct val="100000"/>
              <a:buChar char="•"/>
            </a:pPr>
            <a:r>
              <a:rPr lang="en-US" sz="1050" dirty="0">
                <a:solidFill>
                  <a:srgbClr val="4A4A4A"/>
                </a:solidFill>
                <a:latin typeface="Arial" pitchFamily="34" charset="0"/>
                <a:ea typeface="Arial" pitchFamily="34" charset="-122"/>
                <a:cs typeface="Arial" pitchFamily="34" charset="-120"/>
              </a:rPr>
              <a:t>Budget owner: IT / CIO</a:t>
            </a:r>
            <a:endParaRPr lang="en-US" sz="1100" dirty="0"/>
          </a:p>
          <a:p>
            <a:pPr marL="342900" indent="-342900">
              <a:buSzPct val="100000"/>
              <a:buChar char="•"/>
            </a:pPr>
            <a:r>
              <a:rPr lang="en-US" sz="1050" dirty="0">
                <a:solidFill>
                  <a:srgbClr val="4A4A4A"/>
                </a:solidFill>
                <a:latin typeface="Arial" pitchFamily="34" charset="0"/>
                <a:ea typeface="Arial" pitchFamily="34" charset="-122"/>
                <a:cs typeface="Arial" pitchFamily="34" charset="-120"/>
              </a:rPr>
              <a:t>Use case: marginal efficiency gains</a:t>
            </a:r>
            <a:endParaRPr lang="en-US" sz="1100" dirty="0"/>
          </a:p>
          <a:p>
            <a:pPr marL="342900" indent="-342900">
              <a:buSzPct val="100000"/>
              <a:buChar char="•"/>
            </a:pPr>
            <a:r>
              <a:rPr lang="en-US" sz="1050" dirty="0">
                <a:solidFill>
                  <a:srgbClr val="4A4A4A"/>
                </a:solidFill>
                <a:latin typeface="Arial" pitchFamily="34" charset="0"/>
                <a:ea typeface="Arial" pitchFamily="34" charset="-122"/>
                <a:cs typeface="Arial" pitchFamily="34" charset="-120"/>
              </a:rPr>
              <a:t>Impact: measured in compute costs saved</a:t>
            </a:r>
            <a:endParaRPr lang="en-US" sz="1100" dirty="0"/>
          </a:p>
        </p:txBody>
      </p:sp>
      <p:sp>
        <p:nvSpPr>
          <p:cNvPr id="12" name="Text 10"/>
          <p:cNvSpPr/>
          <p:nvPr/>
        </p:nvSpPr>
        <p:spPr>
          <a:xfrm>
            <a:off x="4160520" y="1645920"/>
            <a:ext cx="822960" cy="731520"/>
          </a:xfrm>
          <a:prstGeom prst="rect">
            <a:avLst/>
          </a:prstGeom>
          <a:noFill/>
          <a:ln/>
        </p:spPr>
        <p:txBody>
          <a:bodyPr wrap="square" rtlCol="0" anchor="ctr"/>
          <a:lstStyle/>
          <a:p>
            <a:pPr algn="ctr" indent="0" marL="0">
              <a:buNone/>
            </a:pPr>
            <a:r>
              <a:rPr lang="en-US" sz="3600" b="1" dirty="0">
                <a:solidFill>
                  <a:srgbClr val="06418C"/>
                </a:solidFill>
                <a:latin typeface="Arial" pitchFamily="34" charset="0"/>
                <a:ea typeface="Arial" pitchFamily="34" charset="-122"/>
                <a:cs typeface="Arial" pitchFamily="34" charset="-120"/>
              </a:rPr>
              <a:t>→</a:t>
            </a:r>
            <a:endParaRPr lang="en-US" sz="3600" dirty="0"/>
          </a:p>
        </p:txBody>
      </p:sp>
      <p:sp>
        <p:nvSpPr>
          <p:cNvPr id="13" name="Shape 11"/>
          <p:cNvSpPr/>
          <p:nvPr/>
        </p:nvSpPr>
        <p:spPr>
          <a:xfrm>
            <a:off x="4754880" y="1005840"/>
            <a:ext cx="3931920" cy="2377440"/>
          </a:xfrm>
          <a:prstGeom prst="rect">
            <a:avLst/>
          </a:prstGeom>
          <a:solidFill>
            <a:srgbClr val="E8F0F8"/>
          </a:solidFill>
          <a:ln/>
        </p:spPr>
      </p:sp>
      <p:sp>
        <p:nvSpPr>
          <p:cNvPr id="14" name="Shape 12"/>
          <p:cNvSpPr/>
          <p:nvPr/>
        </p:nvSpPr>
        <p:spPr>
          <a:xfrm>
            <a:off x="4754880" y="1005840"/>
            <a:ext cx="3931920" cy="54864"/>
          </a:xfrm>
          <a:prstGeom prst="rect">
            <a:avLst/>
          </a:prstGeom>
          <a:solidFill>
            <a:srgbClr val="06418C"/>
          </a:solidFill>
          <a:ln/>
        </p:spPr>
      </p:sp>
      <p:sp>
        <p:nvSpPr>
          <p:cNvPr id="15" name="Text 13"/>
          <p:cNvSpPr/>
          <p:nvPr/>
        </p:nvSpPr>
        <p:spPr>
          <a:xfrm>
            <a:off x="4937760" y="1097280"/>
            <a:ext cx="3566160" cy="320040"/>
          </a:xfrm>
          <a:prstGeom prst="rect">
            <a:avLst/>
          </a:prstGeom>
          <a:noFill/>
          <a:ln/>
        </p:spPr>
        <p:txBody>
          <a:bodyPr wrap="square" rtlCol="0" anchor="ctr"/>
          <a:lstStyle/>
          <a:p>
            <a:pPr indent="0" marL="0">
              <a:buNone/>
            </a:pPr>
            <a:r>
              <a:rPr lang="en-US" sz="1200" b="1" spc="200" kern="0" dirty="0">
                <a:solidFill>
                  <a:srgbClr val="06418C"/>
                </a:solidFill>
                <a:latin typeface="Arial" pitchFamily="34" charset="0"/>
                <a:ea typeface="Arial" pitchFamily="34" charset="-122"/>
                <a:cs typeface="Arial" pitchFamily="34" charset="-120"/>
              </a:rPr>
              <a:t>THE NEW MODEL</a:t>
            </a:r>
            <a:endParaRPr lang="en-US" sz="1200" dirty="0"/>
          </a:p>
        </p:txBody>
      </p:sp>
      <p:sp>
        <p:nvSpPr>
          <p:cNvPr id="16" name="Text 14"/>
          <p:cNvSpPr/>
          <p:nvPr/>
        </p:nvSpPr>
        <p:spPr>
          <a:xfrm>
            <a:off x="4937760" y="1508760"/>
            <a:ext cx="3566160" cy="1645920"/>
          </a:xfrm>
          <a:prstGeom prst="rect">
            <a:avLst/>
          </a:prstGeom>
          <a:noFill/>
          <a:ln/>
        </p:spPr>
        <p:txBody>
          <a:bodyPr wrap="square" rtlCol="0" anchor="t"/>
          <a:lstStyle/>
          <a:p>
            <a:pPr indent="0" marL="0">
              <a:buNone/>
            </a:pPr>
            <a:r>
              <a:rPr lang="en-US" sz="1100" b="1" dirty="0">
                <a:solidFill>
                  <a:srgbClr val="042D5E"/>
                </a:solidFill>
                <a:latin typeface="Arial" pitchFamily="34" charset="0"/>
                <a:ea typeface="Arial" pitchFamily="34" charset="-122"/>
                <a:cs typeface="Arial" pitchFamily="34" charset="-120"/>
              </a:rPr>
              <a:t>AI = augments / replaces knowledge workers</a:t>
            </a:r>
            <a:endParaRPr lang="en-US" sz="1100" dirty="0"/>
          </a:p>
          <a:p>
            <a:pPr indent="0" marL="0">
              <a:buNone/>
            </a:pPr>
            <a:endParaRPr lang="en-US" sz="1100" dirty="0"/>
          </a:p>
          <a:p>
            <a:pPr marL="342900" indent="-342900">
              <a:buSzPct val="100000"/>
              <a:buChar char="•"/>
            </a:pPr>
            <a:r>
              <a:rPr lang="en-US" sz="1050" dirty="0">
                <a:solidFill>
                  <a:srgbClr val="042D5E"/>
                </a:solidFill>
                <a:latin typeface="Arial" pitchFamily="34" charset="0"/>
                <a:ea typeface="Arial" pitchFamily="34" charset="-122"/>
                <a:cs typeface="Arial" pitchFamily="34" charset="-120"/>
              </a:rPr>
              <a:t>Analysts, engineers, lawyers, marketers, SDRs</a:t>
            </a:r>
            <a:endParaRPr lang="en-US" sz="1100" dirty="0"/>
          </a:p>
          <a:p>
            <a:pPr marL="342900" indent="-342900">
              <a:buSzPct val="100000"/>
              <a:buChar char="•"/>
            </a:pPr>
            <a:r>
              <a:rPr lang="en-US" sz="1050" dirty="0">
                <a:solidFill>
                  <a:srgbClr val="042D5E"/>
                </a:solidFill>
                <a:latin typeface="Arial" pitchFamily="34" charset="0"/>
                <a:ea typeface="Arial" pitchFamily="34" charset="-122"/>
                <a:cs typeface="Arial" pitchFamily="34" charset="-120"/>
              </a:rPr>
              <a:t>Budget owner: every function (CFO, R&amp;D, GC, CMO)</a:t>
            </a:r>
            <a:endParaRPr lang="en-US" sz="1100" dirty="0"/>
          </a:p>
          <a:p>
            <a:pPr marL="342900" indent="-342900">
              <a:buSzPct val="100000"/>
              <a:buChar char="•"/>
            </a:pPr>
            <a:r>
              <a:rPr lang="en-US" sz="1050" dirty="0">
                <a:solidFill>
                  <a:srgbClr val="042D5E"/>
                </a:solidFill>
                <a:latin typeface="Arial" pitchFamily="34" charset="0"/>
                <a:ea typeface="Arial" pitchFamily="34" charset="-122"/>
                <a:cs typeface="Arial" pitchFamily="34" charset="-120"/>
              </a:rPr>
              <a:t>Use case: structural cost reduction + output multiplication</a:t>
            </a:r>
            <a:endParaRPr lang="en-US" sz="1100" dirty="0"/>
          </a:p>
          <a:p>
            <a:pPr marL="342900" indent="-342900">
              <a:buSzPct val="100000"/>
              <a:buChar char="•"/>
            </a:pPr>
            <a:r>
              <a:rPr lang="en-US" sz="1050" dirty="0">
                <a:solidFill>
                  <a:srgbClr val="042D5E"/>
                </a:solidFill>
                <a:latin typeface="Arial" pitchFamily="34" charset="0"/>
                <a:ea typeface="Arial" pitchFamily="34" charset="-122"/>
                <a:cs typeface="Arial" pitchFamily="34" charset="-120"/>
              </a:rPr>
              <a:t>Impact: measured in headcount equivalent</a:t>
            </a:r>
            <a:endParaRPr lang="en-US" sz="1100" dirty="0"/>
          </a:p>
        </p:txBody>
      </p:sp>
      <p:sp>
        <p:nvSpPr>
          <p:cNvPr id="17" name="Shape 15"/>
          <p:cNvSpPr/>
          <p:nvPr/>
        </p:nvSpPr>
        <p:spPr>
          <a:xfrm>
            <a:off x="640080" y="3566160"/>
            <a:ext cx="7863840" cy="54864"/>
          </a:xfrm>
          <a:prstGeom prst="rect">
            <a:avLst/>
          </a:prstGeom>
          <a:solidFill>
            <a:srgbClr val="4471A9"/>
          </a:solidFill>
          <a:ln/>
        </p:spPr>
      </p:sp>
      <p:sp>
        <p:nvSpPr>
          <p:cNvPr id="18" name="Text 16"/>
          <p:cNvSpPr/>
          <p:nvPr/>
        </p:nvSpPr>
        <p:spPr>
          <a:xfrm>
            <a:off x="640080" y="3703320"/>
            <a:ext cx="7863840" cy="685800"/>
          </a:xfrm>
          <a:prstGeom prst="rect">
            <a:avLst/>
          </a:prstGeom>
          <a:noFill/>
          <a:ln/>
        </p:spPr>
        <p:txBody>
          <a:bodyPr wrap="square" rtlCol="0" anchor="t"/>
          <a:lstStyle/>
          <a:p>
            <a:pPr indent="0" marL="0">
              <a:buNone/>
            </a:pPr>
            <a:r>
              <a:rPr lang="en-US" sz="1100" b="1" dirty="0">
                <a:solidFill>
                  <a:srgbClr val="06418C"/>
                </a:solidFill>
                <a:latin typeface="Arial" pitchFamily="34" charset="0"/>
                <a:ea typeface="Arial" pitchFamily="34" charset="-122"/>
                <a:cs typeface="Arial" pitchFamily="34" charset="-120"/>
              </a:rPr>
              <a:t xml:space="preserve">For Renesas: </a:t>
            </a:r>
            <a:pPr indent="0" marL="0">
              <a:buNone/>
            </a:pPr>
            <a:r>
              <a:rPr lang="en-US" sz="1100" dirty="0">
                <a:solidFill>
                  <a:srgbClr val="4A4A4A"/>
                </a:solidFill>
                <a:latin typeface="Arial" pitchFamily="34" charset="0"/>
                <a:ea typeface="Arial" pitchFamily="34" charset="-122"/>
                <a:cs typeface="Arial" pitchFamily="34" charset="-120"/>
              </a:rPr>
              <a:t>The automation opportunity is in every function, not just IT. First proven wave: software development. Next: enterprise workflows, R&amp;D augmentation, customer-facing intelligence. The ROI is measured in workforce leverage, not server costs — and that market is orders of magnitude larger.</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548640"/>
          </a:xfrm>
          <a:prstGeom prst="rect">
            <a:avLst/>
          </a:prstGeom>
          <a:noFill/>
          <a:ln/>
        </p:spPr>
        <p:txBody>
          <a:bodyPr wrap="square" lIns="0" tIns="0" rIns="0" bIns="0" rtlCol="0" anchor="ctr"/>
          <a:lstStyle/>
          <a:p>
            <a:pPr indent="0" marL="0">
              <a:buNone/>
            </a:pPr>
            <a:r>
              <a:rPr lang="en-US" sz="2600" b="1" dirty="0">
                <a:solidFill>
                  <a:srgbClr val="06418C"/>
                </a:solidFill>
                <a:latin typeface="Arial" pitchFamily="34" charset="0"/>
                <a:ea typeface="Arial" pitchFamily="34" charset="-122"/>
                <a:cs typeface="Arial" pitchFamily="34" charset="-120"/>
              </a:rPr>
              <a:t>AI’s messaging problem — and the political risk it creates.</a:t>
            </a:r>
            <a:endParaRPr lang="en-US" sz="26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27448"/>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27448"/>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27448"/>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B5</a:t>
            </a:r>
            <a:endParaRPr lang="en-US" sz="700" dirty="0"/>
          </a:p>
        </p:txBody>
      </p:sp>
      <p:sp>
        <p:nvSpPr>
          <p:cNvPr id="8" name="Shape 6"/>
          <p:cNvSpPr/>
          <p:nvPr/>
        </p:nvSpPr>
        <p:spPr>
          <a:xfrm>
            <a:off x="640080" y="1005840"/>
            <a:ext cx="2468880" cy="1417320"/>
          </a:xfrm>
          <a:prstGeom prst="rect">
            <a:avLst/>
          </a:prstGeom>
          <a:solidFill>
            <a:srgbClr val="FFFFFF"/>
          </a:solidFill>
          <a:ln/>
          <a:effectLst>
            <a:outerShdw sx="100000" sy="100000" kx="0" ky="0" algn="bl" rotWithShape="0" blurRad="76200" dist="25400" dir="18900000">
              <a:srgbClr val="000000">
                <a:alpha val="8000"/>
              </a:srgbClr>
            </a:outerShdw>
          </a:effectLst>
        </p:spPr>
      </p:sp>
      <p:sp>
        <p:nvSpPr>
          <p:cNvPr id="9" name="Shape 7"/>
          <p:cNvSpPr/>
          <p:nvPr/>
        </p:nvSpPr>
        <p:spPr>
          <a:xfrm>
            <a:off x="640080" y="1005840"/>
            <a:ext cx="64008" cy="1417320"/>
          </a:xfrm>
          <a:prstGeom prst="rect">
            <a:avLst/>
          </a:prstGeom>
          <a:solidFill>
            <a:srgbClr val="06418C"/>
          </a:solidFill>
          <a:ln/>
        </p:spPr>
      </p:sp>
      <p:sp>
        <p:nvSpPr>
          <p:cNvPr id="10" name="Text 8"/>
          <p:cNvSpPr/>
          <p:nvPr/>
        </p:nvSpPr>
        <p:spPr>
          <a:xfrm>
            <a:off x="822960" y="1097280"/>
            <a:ext cx="2103120" cy="274320"/>
          </a:xfrm>
          <a:prstGeom prst="rect">
            <a:avLst/>
          </a:prstGeom>
          <a:noFill/>
          <a:ln/>
        </p:spPr>
        <p:txBody>
          <a:bodyPr wrap="square" lIns="0" tIns="0" rIns="0" bIns="0" rtlCol="0" anchor="ctr"/>
          <a:lstStyle/>
          <a:p>
            <a:pPr indent="0" marL="0">
              <a:buNone/>
            </a:pPr>
            <a:r>
              <a:rPr lang="en-US" sz="1100" b="1" dirty="0">
                <a:solidFill>
                  <a:srgbClr val="06418C"/>
                </a:solidFill>
                <a:latin typeface="Arial" pitchFamily="34" charset="0"/>
                <a:ea typeface="Arial" pitchFamily="34" charset="-122"/>
                <a:cs typeface="Arial" pitchFamily="34" charset="-120"/>
              </a:rPr>
              <a:t>The Doomer Narrative</a:t>
            </a:r>
            <a:endParaRPr lang="en-US" sz="1100" dirty="0"/>
          </a:p>
        </p:txBody>
      </p:sp>
      <p:sp>
        <p:nvSpPr>
          <p:cNvPr id="11" name="Text 9"/>
          <p:cNvSpPr/>
          <p:nvPr/>
        </p:nvSpPr>
        <p:spPr>
          <a:xfrm>
            <a:off x="822960" y="1417320"/>
            <a:ext cx="2103120" cy="914400"/>
          </a:xfrm>
          <a:prstGeom prst="rect">
            <a:avLst/>
          </a:prstGeom>
          <a:noFill/>
          <a:ln/>
        </p:spPr>
        <p:txBody>
          <a:bodyPr wrap="square" rtlCol="0" anchor="t"/>
          <a:lstStyle/>
          <a:p>
            <a:pPr indent="0" marL="0">
              <a:buNone/>
            </a:pPr>
            <a:r>
              <a:rPr lang="en-US" sz="900" i="1" dirty="0">
                <a:solidFill>
                  <a:srgbClr val="4A4A4A"/>
                </a:solidFill>
                <a:latin typeface="Arial" pitchFamily="34" charset="0"/>
                <a:ea typeface="Arial" pitchFamily="34" charset="-122"/>
                <a:cs typeface="Arial" pitchFamily="34" charset="-120"/>
              </a:rPr>
              <a:t>Anthropic / Effective Altruists</a:t>
            </a:r>
            <a:endParaRPr lang="en-US" sz="900" dirty="0"/>
          </a:p>
          <a:p>
            <a:pPr indent="0" marL="0">
              <a:buNone/>
            </a:pPr>
            <a:endParaRPr lang="en-US" sz="900" dirty="0"/>
          </a:p>
          <a:p>
            <a:pPr marL="342900" indent="-342900">
              <a:buSzPct val="100000"/>
              <a:buChar char="•"/>
            </a:pPr>
            <a:r>
              <a:rPr lang="en-US" sz="950" dirty="0">
                <a:solidFill>
                  <a:srgbClr val="4A4A4A"/>
                </a:solidFill>
                <a:latin typeface="Arial" pitchFamily="34" charset="0"/>
                <a:ea typeface="Arial" pitchFamily="34" charset="-122"/>
                <a:cs typeface="Arial" pitchFamily="34" charset="-120"/>
              </a:rPr>
              <a:t>AI may destroy humanity</a:t>
            </a:r>
            <a:endParaRPr lang="en-US" sz="900" dirty="0"/>
          </a:p>
          <a:p>
            <a:pPr marL="342900" indent="-342900">
              <a:buSzPct val="100000"/>
              <a:buChar char="•"/>
            </a:pPr>
            <a:r>
              <a:rPr lang="en-US" sz="950" dirty="0">
                <a:solidFill>
                  <a:srgbClr val="4A4A4A"/>
                </a:solidFill>
                <a:latin typeface="Arial" pitchFamily="34" charset="0"/>
                <a:ea typeface="Arial" pitchFamily="34" charset="-122"/>
                <a:cs typeface="Arial" pitchFamily="34" charset="-120"/>
              </a:rPr>
              <a:t>Governments must regulate</a:t>
            </a:r>
            <a:endParaRPr lang="en-US" sz="900" dirty="0"/>
          </a:p>
          <a:p>
            <a:pPr marL="342900" indent="-342900">
              <a:buSzPct val="100000"/>
              <a:buChar char="•"/>
            </a:pPr>
            <a:r>
              <a:rPr lang="en-US" sz="950" dirty="0">
                <a:solidFill>
                  <a:srgbClr val="4A4A4A"/>
                </a:solidFill>
                <a:latin typeface="Arial" pitchFamily="34" charset="0"/>
                <a:ea typeface="Arial" pitchFamily="34" charset="-122"/>
                <a:cs typeface="Arial" pitchFamily="34" charset="-120"/>
              </a:rPr>
              <a:t>Partly a fundraising strategy: fear → capital</a:t>
            </a:r>
            <a:endParaRPr lang="en-US" sz="900" dirty="0"/>
          </a:p>
        </p:txBody>
      </p:sp>
      <p:sp>
        <p:nvSpPr>
          <p:cNvPr id="12" name="Shape 10"/>
          <p:cNvSpPr/>
          <p:nvPr/>
        </p:nvSpPr>
        <p:spPr>
          <a:xfrm>
            <a:off x="3337560" y="1005840"/>
            <a:ext cx="2468880" cy="1417320"/>
          </a:xfrm>
          <a:prstGeom prst="rect">
            <a:avLst/>
          </a:prstGeom>
          <a:solidFill>
            <a:srgbClr val="FFFFFF"/>
          </a:solidFill>
          <a:ln/>
          <a:effectLst>
            <a:outerShdw sx="100000" sy="100000" kx="0" ky="0" algn="bl" rotWithShape="0" blurRad="76200" dist="25400" dir="18900000">
              <a:srgbClr val="000000">
                <a:alpha val="8000"/>
              </a:srgbClr>
            </a:outerShdw>
          </a:effectLst>
        </p:spPr>
      </p:sp>
      <p:sp>
        <p:nvSpPr>
          <p:cNvPr id="13" name="Shape 11"/>
          <p:cNvSpPr/>
          <p:nvPr/>
        </p:nvSpPr>
        <p:spPr>
          <a:xfrm>
            <a:off x="3337560" y="1005840"/>
            <a:ext cx="64008" cy="1417320"/>
          </a:xfrm>
          <a:prstGeom prst="rect">
            <a:avLst/>
          </a:prstGeom>
          <a:solidFill>
            <a:srgbClr val="4471A9"/>
          </a:solidFill>
          <a:ln/>
        </p:spPr>
      </p:sp>
      <p:sp>
        <p:nvSpPr>
          <p:cNvPr id="14" name="Text 12"/>
          <p:cNvSpPr/>
          <p:nvPr/>
        </p:nvSpPr>
        <p:spPr>
          <a:xfrm>
            <a:off x="3520440" y="1097280"/>
            <a:ext cx="2103120" cy="274320"/>
          </a:xfrm>
          <a:prstGeom prst="rect">
            <a:avLst/>
          </a:prstGeom>
          <a:noFill/>
          <a:ln/>
        </p:spPr>
        <p:txBody>
          <a:bodyPr wrap="square" lIns="0" tIns="0" rIns="0" bIns="0" rtlCol="0" anchor="ctr"/>
          <a:lstStyle/>
          <a:p>
            <a:pPr indent="0" marL="0">
              <a:buNone/>
            </a:pPr>
            <a:r>
              <a:rPr lang="en-US" sz="1100" b="1" dirty="0">
                <a:solidFill>
                  <a:srgbClr val="06418C"/>
                </a:solidFill>
                <a:latin typeface="Arial" pitchFamily="34" charset="0"/>
                <a:ea typeface="Arial" pitchFamily="34" charset="-122"/>
                <a:cs typeface="Arial" pitchFamily="34" charset="-120"/>
              </a:rPr>
              <a:t>The Political Warning</a:t>
            </a:r>
            <a:endParaRPr lang="en-US" sz="1100" dirty="0"/>
          </a:p>
        </p:txBody>
      </p:sp>
      <p:sp>
        <p:nvSpPr>
          <p:cNvPr id="15" name="Text 13"/>
          <p:cNvSpPr/>
          <p:nvPr/>
        </p:nvSpPr>
        <p:spPr>
          <a:xfrm>
            <a:off x="3520440" y="1417320"/>
            <a:ext cx="2103120" cy="914400"/>
          </a:xfrm>
          <a:prstGeom prst="rect">
            <a:avLst/>
          </a:prstGeom>
          <a:noFill/>
          <a:ln/>
        </p:spPr>
        <p:txBody>
          <a:bodyPr wrap="square" rtlCol="0" anchor="t"/>
          <a:lstStyle/>
          <a:p>
            <a:pPr indent="0" marL="0">
              <a:buNone/>
            </a:pPr>
            <a:r>
              <a:rPr lang="en-US" sz="900" i="1" dirty="0">
                <a:solidFill>
                  <a:srgbClr val="4A4A4A"/>
                </a:solidFill>
                <a:latin typeface="Arial" pitchFamily="34" charset="0"/>
                <a:ea typeface="Arial" pitchFamily="34" charset="-122"/>
                <a:cs typeface="Arial" pitchFamily="34" charset="-120"/>
              </a:rPr>
              <a:t>Marc Andreessen–type framing</a:t>
            </a:r>
            <a:endParaRPr lang="en-US" sz="900" dirty="0"/>
          </a:p>
          <a:p>
            <a:pPr indent="0" marL="0">
              <a:buNone/>
            </a:pPr>
            <a:endParaRPr lang="en-US" sz="900" dirty="0"/>
          </a:p>
          <a:p>
            <a:pPr marL="342900" indent="-342900">
              <a:buSzPct val="100000"/>
              <a:buChar char="•"/>
            </a:pPr>
            <a:r>
              <a:rPr lang="en-US" sz="950" dirty="0">
                <a:solidFill>
                  <a:srgbClr val="4A4A4A"/>
                </a:solidFill>
                <a:latin typeface="Arial" pitchFamily="34" charset="0"/>
                <a:ea typeface="Arial" pitchFamily="34" charset="-122"/>
                <a:cs typeface="Arial" pitchFamily="34" charset="-120"/>
              </a:rPr>
              <a:t>AI will reshape political power</a:t>
            </a:r>
            <a:endParaRPr lang="en-US" sz="900" dirty="0"/>
          </a:p>
          <a:p>
            <a:pPr marL="342900" indent="-342900">
              <a:buSzPct val="100000"/>
              <a:buChar char="•"/>
            </a:pPr>
            <a:r>
              <a:rPr lang="en-US" sz="950" dirty="0">
                <a:solidFill>
                  <a:srgbClr val="4A4A4A"/>
                </a:solidFill>
                <a:latin typeface="Arial" pitchFamily="34" charset="0"/>
                <a:ea typeface="Arial" pitchFamily="34" charset="-122"/>
                <a:cs typeface="Arial" pitchFamily="34" charset="-120"/>
              </a:rPr>
              <a:t>Disrupt educated elites</a:t>
            </a:r>
            <a:endParaRPr lang="en-US" sz="900" dirty="0"/>
          </a:p>
          <a:p>
            <a:pPr marL="342900" indent="-342900">
              <a:buSzPct val="100000"/>
              <a:buChar char="•"/>
            </a:pPr>
            <a:r>
              <a:rPr lang="en-US" sz="950" dirty="0">
                <a:solidFill>
                  <a:srgbClr val="4A4A4A"/>
                </a:solidFill>
                <a:latin typeface="Arial" pitchFamily="34" charset="0"/>
                <a:ea typeface="Arial" pitchFamily="34" charset="-122"/>
                <a:cs typeface="Arial" pitchFamily="34" charset="-120"/>
              </a:rPr>
              <a:t>Creates political instability</a:t>
            </a:r>
            <a:endParaRPr lang="en-US" sz="900" dirty="0"/>
          </a:p>
        </p:txBody>
      </p:sp>
      <p:sp>
        <p:nvSpPr>
          <p:cNvPr id="16" name="Shape 14"/>
          <p:cNvSpPr/>
          <p:nvPr/>
        </p:nvSpPr>
        <p:spPr>
          <a:xfrm>
            <a:off x="6035040" y="1005840"/>
            <a:ext cx="2468880" cy="1417320"/>
          </a:xfrm>
          <a:prstGeom prst="rect">
            <a:avLst/>
          </a:prstGeom>
          <a:solidFill>
            <a:srgbClr val="FFFFFF"/>
          </a:solidFill>
          <a:ln/>
          <a:effectLst>
            <a:outerShdw sx="100000" sy="100000" kx="0" ky="0" algn="bl" rotWithShape="0" blurRad="76200" dist="25400" dir="18900000">
              <a:srgbClr val="000000">
                <a:alpha val="8000"/>
              </a:srgbClr>
            </a:outerShdw>
          </a:effectLst>
        </p:spPr>
      </p:sp>
      <p:sp>
        <p:nvSpPr>
          <p:cNvPr id="17" name="Shape 15"/>
          <p:cNvSpPr/>
          <p:nvPr/>
        </p:nvSpPr>
        <p:spPr>
          <a:xfrm>
            <a:off x="6035040" y="1005840"/>
            <a:ext cx="64008" cy="1417320"/>
          </a:xfrm>
          <a:prstGeom prst="rect">
            <a:avLst/>
          </a:prstGeom>
          <a:solidFill>
            <a:srgbClr val="993399"/>
          </a:solidFill>
          <a:ln/>
        </p:spPr>
      </p:sp>
      <p:sp>
        <p:nvSpPr>
          <p:cNvPr id="18" name="Text 16"/>
          <p:cNvSpPr/>
          <p:nvPr/>
        </p:nvSpPr>
        <p:spPr>
          <a:xfrm>
            <a:off x="6217920" y="1097280"/>
            <a:ext cx="2103120" cy="274320"/>
          </a:xfrm>
          <a:prstGeom prst="rect">
            <a:avLst/>
          </a:prstGeom>
          <a:noFill/>
          <a:ln/>
        </p:spPr>
        <p:txBody>
          <a:bodyPr wrap="square" lIns="0" tIns="0" rIns="0" bIns="0" rtlCol="0" anchor="ctr"/>
          <a:lstStyle/>
          <a:p>
            <a:pPr indent="0" marL="0">
              <a:buNone/>
            </a:pPr>
            <a:r>
              <a:rPr lang="en-US" sz="1100" b="1" dirty="0">
                <a:solidFill>
                  <a:srgbClr val="06418C"/>
                </a:solidFill>
                <a:latin typeface="Arial" pitchFamily="34" charset="0"/>
                <a:ea typeface="Arial" pitchFamily="34" charset="-122"/>
                <a:cs typeface="Arial" pitchFamily="34" charset="-120"/>
              </a:rPr>
              <a:t>The Utility Narrative ✓</a:t>
            </a:r>
            <a:endParaRPr lang="en-US" sz="1100" dirty="0"/>
          </a:p>
        </p:txBody>
      </p:sp>
      <p:sp>
        <p:nvSpPr>
          <p:cNvPr id="19" name="Text 17"/>
          <p:cNvSpPr/>
          <p:nvPr/>
        </p:nvSpPr>
        <p:spPr>
          <a:xfrm>
            <a:off x="6217920" y="1417320"/>
            <a:ext cx="2103120" cy="914400"/>
          </a:xfrm>
          <a:prstGeom prst="rect">
            <a:avLst/>
          </a:prstGeom>
          <a:noFill/>
          <a:ln/>
        </p:spPr>
        <p:txBody>
          <a:bodyPr wrap="square" rtlCol="0" anchor="t"/>
          <a:lstStyle/>
          <a:p>
            <a:pPr indent="0" marL="0">
              <a:buNone/>
            </a:pPr>
            <a:r>
              <a:rPr lang="en-US" sz="900" i="1" dirty="0">
                <a:solidFill>
                  <a:srgbClr val="4A4A4A"/>
                </a:solidFill>
                <a:latin typeface="Arial" pitchFamily="34" charset="0"/>
                <a:ea typeface="Arial" pitchFamily="34" charset="-122"/>
                <a:cs typeface="Arial" pitchFamily="34" charset="-120"/>
              </a:rPr>
              <a:t>Sam Altman’s framing (preferred)</a:t>
            </a:r>
            <a:endParaRPr lang="en-US" sz="900" dirty="0"/>
          </a:p>
          <a:p>
            <a:pPr indent="0" marL="0">
              <a:buNone/>
            </a:pPr>
            <a:endParaRPr lang="en-US" sz="900" dirty="0"/>
          </a:p>
          <a:p>
            <a:pPr marL="342900" indent="-342900">
              <a:buSzPct val="100000"/>
              <a:buChar char="•"/>
            </a:pPr>
            <a:r>
              <a:rPr lang="en-US" sz="950" dirty="0">
                <a:solidFill>
                  <a:srgbClr val="4A4A4A"/>
                </a:solidFill>
                <a:latin typeface="Arial" pitchFamily="34" charset="0"/>
                <a:ea typeface="Arial" pitchFamily="34" charset="-122"/>
                <a:cs typeface="Arial" pitchFamily="34" charset="-120"/>
              </a:rPr>
              <a:t>AI = electricity for intelligence</a:t>
            </a:r>
            <a:endParaRPr lang="en-US" sz="900" dirty="0"/>
          </a:p>
          <a:p>
            <a:pPr marL="342900" indent="-342900">
              <a:buSzPct val="100000"/>
              <a:buChar char="•"/>
            </a:pPr>
            <a:r>
              <a:rPr lang="en-US" sz="950" dirty="0">
                <a:solidFill>
                  <a:srgbClr val="4A4A4A"/>
                </a:solidFill>
                <a:latin typeface="Arial" pitchFamily="34" charset="0"/>
                <a:ea typeface="Arial" pitchFamily="34" charset="-122"/>
                <a:cs typeface="Arial" pitchFamily="34" charset="-120"/>
              </a:rPr>
              <a:t>Pay per token like utilities</a:t>
            </a:r>
            <a:endParaRPr lang="en-US" sz="900" dirty="0"/>
          </a:p>
          <a:p>
            <a:pPr marL="342900" indent="-342900">
              <a:buSzPct val="100000"/>
              <a:buChar char="•"/>
            </a:pPr>
            <a:r>
              <a:rPr lang="en-US" sz="950" dirty="0">
                <a:solidFill>
                  <a:srgbClr val="4A4A4A"/>
                </a:solidFill>
                <a:latin typeface="Arial" pitchFamily="34" charset="0"/>
                <a:ea typeface="Arial" pitchFamily="34" charset="-122"/>
                <a:cs typeface="Arial" pitchFamily="34" charset="-120"/>
              </a:rPr>
              <a:t>Simpler, less threatening</a:t>
            </a:r>
            <a:endParaRPr lang="en-US" sz="900" dirty="0"/>
          </a:p>
        </p:txBody>
      </p:sp>
      <p:sp>
        <p:nvSpPr>
          <p:cNvPr id="20" name="Text 18"/>
          <p:cNvSpPr/>
          <p:nvPr/>
        </p:nvSpPr>
        <p:spPr>
          <a:xfrm>
            <a:off x="640080" y="2606040"/>
            <a:ext cx="2743200" cy="274320"/>
          </a:xfrm>
          <a:prstGeom prst="rect">
            <a:avLst/>
          </a:prstGeom>
          <a:noFill/>
          <a:ln/>
        </p:spPr>
        <p:txBody>
          <a:bodyPr wrap="square" rtlCol="0" anchor="ctr"/>
          <a:lstStyle/>
          <a:p>
            <a:pPr indent="0" marL="0">
              <a:buNone/>
            </a:pPr>
            <a:r>
              <a:rPr lang="en-US" sz="1100" b="1" dirty="0">
                <a:solidFill>
                  <a:srgbClr val="4A4A4A"/>
                </a:solidFill>
                <a:latin typeface="Arial" pitchFamily="34" charset="0"/>
                <a:ea typeface="Arial" pitchFamily="34" charset="-122"/>
                <a:cs typeface="Arial" pitchFamily="34" charset="-120"/>
              </a:rPr>
              <a:t>Public sentiment data:</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880360"/>
          <a:ext cx="3200400" cy="914400"/>
        </p:xfrm>
        <a:graphic>
          <a:graphicData uri="http://schemas.openxmlformats.org/drawingml/2006/table">
            <a:tbl>
              <a:tblPr/>
              <a:tblGrid>
                <a:gridCol w="1463040"/>
                <a:gridCol w="1737360"/>
              </a:tblGrid>
              <a:tr h="256032">
                <a:tc>
                  <a:txBody>
                    <a:bodyPr/>
                    <a:lstStyle/>
                    <a:p>
                      <a:pPr indent="0" marL="0">
                        <a:buNone/>
                      </a:pPr>
                      <a:r>
                        <a:rPr lang="en-US" sz="900" b="1" dirty="0">
                          <a:solidFill>
                            <a:srgbClr val="FFFFFF"/>
                          </a:solidFill>
                          <a:latin typeface="Arial" pitchFamily="34" charset="0"/>
                          <a:ea typeface="Arial" pitchFamily="34" charset="-122"/>
                          <a:cs typeface="Arial" pitchFamily="34" charset="-120"/>
                        </a:rPr>
                        <a:t>Country</a:t>
                      </a:r>
                      <a:endParaRPr lang="en-US" sz="9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42D5E"/>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AI Optimism</a:t>
                      </a:r>
                      <a:endParaRPr lang="en-US" sz="9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42D5E"/>
                    </a:solidFill>
                  </a:tcPr>
                </a:tc>
              </a:tr>
              <a:tr h="228600">
                <a:tc>
                  <a:txBody>
                    <a:bodyPr/>
                    <a:lstStyle/>
                    <a:p>
                      <a:pPr indent="0" marL="0">
                        <a:buNone/>
                      </a:pPr>
                      <a:r>
                        <a:rPr lang="en-US" sz="900" dirty="0">
                          <a:solidFill>
                            <a:srgbClr val="4A4A4A"/>
                          </a:solidFill>
                          <a:latin typeface="Arial" pitchFamily="34" charset="0"/>
                          <a:ea typeface="Arial" pitchFamily="34" charset="-122"/>
                          <a:cs typeface="Arial" pitchFamily="34" charset="-120"/>
                        </a:rPr>
                        <a:t>China</a:t>
                      </a:r>
                      <a:endParaRPr lang="en-US" sz="9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~80% positive</a:t>
                      </a:r>
                      <a:endParaRPr lang="en-US" sz="9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r>
              <a:tr h="228600">
                <a:tc>
                  <a:txBody>
                    <a:bodyPr/>
                    <a:lstStyle/>
                    <a:p>
                      <a:pPr indent="0" marL="0">
                        <a:buNone/>
                      </a:pPr>
                      <a:r>
                        <a:rPr lang="en-US" sz="900" dirty="0">
                          <a:solidFill>
                            <a:srgbClr val="4A4A4A"/>
                          </a:solidFill>
                          <a:latin typeface="Arial" pitchFamily="34" charset="0"/>
                          <a:ea typeface="Arial" pitchFamily="34" charset="-122"/>
                          <a:cs typeface="Arial" pitchFamily="34" charset="-120"/>
                        </a:rPr>
                        <a:t>India</a:t>
                      </a:r>
                      <a:endParaRPr lang="en-US" sz="9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~70% positive</a:t>
                      </a:r>
                      <a:endParaRPr lang="en-US" sz="9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256032">
                <a:tc>
                  <a:txBody>
                    <a:bodyPr/>
                    <a:lstStyle/>
                    <a:p>
                      <a:pPr indent="0" marL="0">
                        <a:buNone/>
                      </a:pPr>
                      <a:r>
                        <a:rPr lang="en-US" sz="900" b="1" dirty="0">
                          <a:solidFill>
                            <a:srgbClr val="CC3333"/>
                          </a:solidFill>
                          <a:latin typeface="Arial" pitchFamily="34" charset="0"/>
                          <a:ea typeface="Arial" pitchFamily="34" charset="-122"/>
                          <a:cs typeface="Arial" pitchFamily="34" charset="-120"/>
                        </a:rPr>
                        <a:t>United States</a:t>
                      </a:r>
                      <a:endParaRPr lang="en-US" sz="9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0F0"/>
                    </a:solidFill>
                  </a:tcPr>
                </a:tc>
                <a:tc>
                  <a:txBody>
                    <a:bodyPr/>
                    <a:lstStyle/>
                    <a:p>
                      <a:pPr indent="0" marL="0">
                        <a:buNone/>
                      </a:pPr>
                      <a:r>
                        <a:rPr lang="en-US" sz="900" b="1" dirty="0">
                          <a:solidFill>
                            <a:srgbClr val="CC3333"/>
                          </a:solidFill>
                          <a:latin typeface="Arial" pitchFamily="34" charset="0"/>
                          <a:ea typeface="Arial" pitchFamily="34" charset="-122"/>
                          <a:cs typeface="Arial" pitchFamily="34" charset="-120"/>
                        </a:rPr>
                        <a:t>~30–40% positive</a:t>
                      </a:r>
                      <a:endParaRPr lang="en-US" sz="9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0F0"/>
                    </a:solidFill>
                  </a:tcPr>
                </a:tc>
              </a:tr>
            </a:tbl>
          </a:graphicData>
        </a:graphic>
      </p:graphicFrame>
      <p:sp>
        <p:nvSpPr>
          <p:cNvPr id="22" name="Shape 19"/>
          <p:cNvSpPr/>
          <p:nvPr/>
        </p:nvSpPr>
        <p:spPr>
          <a:xfrm>
            <a:off x="4297680" y="2606040"/>
            <a:ext cx="4389120" cy="1645920"/>
          </a:xfrm>
          <a:prstGeom prst="rect">
            <a:avLst/>
          </a:prstGeom>
          <a:solidFill>
            <a:srgbClr val="FFF5F5"/>
          </a:solidFill>
          <a:ln/>
        </p:spPr>
      </p:sp>
      <p:sp>
        <p:nvSpPr>
          <p:cNvPr id="23" name="Shape 20"/>
          <p:cNvSpPr/>
          <p:nvPr/>
        </p:nvSpPr>
        <p:spPr>
          <a:xfrm>
            <a:off x="4297680" y="2606040"/>
            <a:ext cx="54864" cy="1645920"/>
          </a:xfrm>
          <a:prstGeom prst="rect">
            <a:avLst/>
          </a:prstGeom>
          <a:solidFill>
            <a:srgbClr val="CC3333"/>
          </a:solidFill>
          <a:ln/>
        </p:spPr>
      </p:sp>
      <p:sp>
        <p:nvSpPr>
          <p:cNvPr id="24" name="Text 21"/>
          <p:cNvSpPr/>
          <p:nvPr/>
        </p:nvSpPr>
        <p:spPr>
          <a:xfrm>
            <a:off x="4480560" y="2651760"/>
            <a:ext cx="4023360" cy="274320"/>
          </a:xfrm>
          <a:prstGeom prst="rect">
            <a:avLst/>
          </a:prstGeom>
          <a:noFill/>
          <a:ln/>
        </p:spPr>
        <p:txBody>
          <a:bodyPr wrap="square" rtlCol="0" anchor="ctr"/>
          <a:lstStyle/>
          <a:p>
            <a:pPr indent="0" marL="0">
              <a:buNone/>
            </a:pPr>
            <a:r>
              <a:rPr lang="en-US" sz="1100" b="1" dirty="0">
                <a:solidFill>
                  <a:srgbClr val="CC3333"/>
                </a:solidFill>
                <a:latin typeface="Arial" pitchFamily="34" charset="0"/>
                <a:ea typeface="Arial" pitchFamily="34" charset="-122"/>
                <a:cs typeface="Arial" pitchFamily="34" charset="-120"/>
              </a:rPr>
              <a:t>Concrete consequences:</a:t>
            </a:r>
            <a:endParaRPr lang="en-US" sz="1100" dirty="0"/>
          </a:p>
        </p:txBody>
      </p:sp>
      <p:sp>
        <p:nvSpPr>
          <p:cNvPr id="25" name="Text 22"/>
          <p:cNvSpPr/>
          <p:nvPr/>
        </p:nvSpPr>
        <p:spPr>
          <a:xfrm>
            <a:off x="4480560" y="2926080"/>
            <a:ext cx="4023360" cy="1188720"/>
          </a:xfrm>
          <a:prstGeom prst="rect">
            <a:avLst/>
          </a:prstGeom>
          <a:noFill/>
          <a:ln/>
        </p:spPr>
        <p:txBody>
          <a:bodyPr wrap="square" rtlCol="0" anchor="t"/>
          <a:lstStyle/>
          <a:p>
            <a:pPr marL="342900" indent="-342900">
              <a:buSzPct val="100000"/>
              <a:buChar char="•"/>
            </a:pPr>
            <a:r>
              <a:rPr lang="en-US" sz="1050" dirty="0">
                <a:solidFill>
                  <a:srgbClr val="4A4A4A"/>
                </a:solidFill>
                <a:latin typeface="Arial" pitchFamily="34" charset="0"/>
                <a:ea typeface="Arial" pitchFamily="34" charset="-122"/>
                <a:cs typeface="Arial" pitchFamily="34" charset="-120"/>
              </a:rPr>
              <a:t>~25 data centers canceled in 2025</a:t>
            </a:r>
            <a:endParaRPr lang="en-US" sz="1050" dirty="0"/>
          </a:p>
          <a:p>
            <a:pPr marL="342900" indent="-342900">
              <a:buSzPct val="100000"/>
              <a:buChar char="•"/>
            </a:pPr>
            <a:r>
              <a:rPr lang="en-US" sz="1050" dirty="0">
                <a:solidFill>
                  <a:srgbClr val="4A4A4A"/>
                </a:solidFill>
                <a:latin typeface="Arial" pitchFamily="34" charset="0"/>
                <a:ea typeface="Arial" pitchFamily="34" charset="-122"/>
                <a:cs typeface="Arial" pitchFamily="34" charset="-120"/>
              </a:rPr>
              <a:t>~5 GW of capacity lost</a:t>
            </a:r>
            <a:endParaRPr lang="en-US" sz="1050" dirty="0"/>
          </a:p>
          <a:p>
            <a:pPr marL="342900" indent="-342900">
              <a:buSzPct val="100000"/>
              <a:buChar char="•"/>
            </a:pPr>
            <a:r>
              <a:rPr lang="en-US" sz="1050" dirty="0">
                <a:solidFill>
                  <a:srgbClr val="4A4A4A"/>
                </a:solidFill>
                <a:latin typeface="Arial" pitchFamily="34" charset="0"/>
                <a:ea typeface="Arial" pitchFamily="34" charset="-122"/>
                <a:cs typeface="Arial" pitchFamily="34" charset="-120"/>
              </a:rPr>
              <a:t>Equivalent to ~$50B in annual AI revenue — gone</a:t>
            </a:r>
            <a:endParaRPr lang="en-US" sz="1050" dirty="0"/>
          </a:p>
          <a:p>
            <a:pPr indent="0" marL="0">
              <a:buNone/>
            </a:pPr>
            <a:endParaRPr lang="en-US" sz="1050" dirty="0"/>
          </a:p>
          <a:p>
            <a:pPr indent="0" marL="0">
              <a:buNone/>
            </a:pPr>
            <a:r>
              <a:rPr lang="en-US" sz="1000" i="1" dirty="0">
                <a:solidFill>
                  <a:srgbClr val="4A4A4A"/>
                </a:solidFill>
                <a:latin typeface="Arial" pitchFamily="34" charset="0"/>
                <a:ea typeface="Arial" pitchFamily="34" charset="-122"/>
                <a:cs typeface="Arial" pitchFamily="34" charset="-120"/>
              </a:rPr>
              <a:t>Union resistance, regulatory crackdowns, anti-tech protests increasing. CEOs saying "AI will replace jobs" is accelerating the backlash.</a:t>
            </a:r>
            <a:endParaRPr lang="en-US" sz="1050" dirty="0"/>
          </a:p>
        </p:txBody>
      </p:sp>
      <p:sp>
        <p:nvSpPr>
          <p:cNvPr id="26" name="Text 23"/>
          <p:cNvSpPr/>
          <p:nvPr/>
        </p:nvSpPr>
        <p:spPr>
          <a:xfrm>
            <a:off x="640080" y="4343400"/>
            <a:ext cx="7863840" cy="228600"/>
          </a:xfrm>
          <a:prstGeom prst="rect">
            <a:avLst/>
          </a:prstGeom>
          <a:noFill/>
          <a:ln/>
        </p:spPr>
        <p:txBody>
          <a:bodyPr wrap="square" rtlCol="0" anchor="ctr"/>
          <a:lstStyle/>
          <a:p>
            <a:pPr indent="0" marL="0">
              <a:buNone/>
            </a:pPr>
            <a:r>
              <a:rPr lang="en-US" sz="1000" b="1" i="1" dirty="0">
                <a:solidFill>
                  <a:srgbClr val="06418C"/>
                </a:solidFill>
                <a:latin typeface="Arial" pitchFamily="34" charset="0"/>
                <a:ea typeface="Arial" pitchFamily="34" charset="-122"/>
                <a:cs typeface="Arial" pitchFamily="34" charset="-120"/>
              </a:rPr>
              <a:t>“This messaging is a national disaster.” — Chamath Palihapitiya</a:t>
            </a:r>
            <a:endParaRPr lang="en-US" sz="1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863840" cy="548640"/>
          </a:xfrm>
          <a:prstGeom prst="rect">
            <a:avLst/>
          </a:prstGeom>
          <a:noFill/>
          <a:ln/>
        </p:spPr>
        <p:txBody>
          <a:bodyPr wrap="square" lIns="0" tIns="0" rIns="0" bIns="0" rtlCol="0" anchor="ctr"/>
          <a:lstStyle/>
          <a:p>
            <a:pPr indent="0" marL="0">
              <a:buNone/>
            </a:pPr>
            <a:r>
              <a:rPr lang="en-US" sz="2600" b="1" dirty="0">
                <a:solidFill>
                  <a:srgbClr val="06418C"/>
                </a:solidFill>
                <a:latin typeface="Arial" pitchFamily="34" charset="0"/>
                <a:ea typeface="Arial" pitchFamily="34" charset="-122"/>
                <a:cs typeface="Arial" pitchFamily="34" charset="-120"/>
              </a:rPr>
              <a:t>Where we are in the AI cycle.</a:t>
            </a:r>
            <a:endParaRPr lang="en-US" sz="2600" dirty="0"/>
          </a:p>
        </p:txBody>
      </p:sp>
      <p:sp>
        <p:nvSpPr>
          <p:cNvPr id="3" name="Shape 1"/>
          <p:cNvSpPr/>
          <p:nvPr/>
        </p:nvSpPr>
        <p:spPr>
          <a:xfrm>
            <a:off x="457200" y="4645152"/>
            <a:ext cx="8229600" cy="0"/>
          </a:xfrm>
          <a:prstGeom prst="line">
            <a:avLst/>
          </a:prstGeom>
          <a:noFill/>
          <a:ln w="6350">
            <a:solidFill>
              <a:srgbClr val="D0D0D0"/>
            </a:solidFill>
            <a:prstDash val="solid"/>
          </a:ln>
        </p:spPr>
      </p:sp>
      <p:sp>
        <p:nvSpPr>
          <p:cNvPr id="4" name="Text 2"/>
          <p:cNvSpPr/>
          <p:nvPr/>
        </p:nvSpPr>
        <p:spPr>
          <a:xfrm>
            <a:off x="457200" y="4727448"/>
            <a:ext cx="2926080" cy="274320"/>
          </a:xfrm>
          <a:prstGeom prst="rect">
            <a:avLst/>
          </a:prstGeom>
          <a:noFill/>
          <a:ln/>
        </p:spPr>
        <p:txBody>
          <a:bodyPr wrap="square"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endParaRPr lang="en-US" sz="700" dirty="0"/>
          </a:p>
        </p:txBody>
      </p:sp>
      <p:sp>
        <p:nvSpPr>
          <p:cNvPr id="5" name="Shape 3"/>
          <p:cNvSpPr/>
          <p:nvPr/>
        </p:nvSpPr>
        <p:spPr>
          <a:xfrm>
            <a:off x="3840480" y="4764024"/>
            <a:ext cx="1188720" cy="182880"/>
          </a:xfrm>
          <a:prstGeom prst="rect">
            <a:avLst/>
          </a:prstGeom>
          <a:solidFill>
            <a:srgbClr val="993399"/>
          </a:solidFill>
          <a:ln/>
        </p:spPr>
      </p:sp>
      <p:sp>
        <p:nvSpPr>
          <p:cNvPr id="6" name="Text 4"/>
          <p:cNvSpPr/>
          <p:nvPr/>
        </p:nvSpPr>
        <p:spPr>
          <a:xfrm>
            <a:off x="3840480" y="4727448"/>
            <a:ext cx="1188720" cy="237744"/>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RENESAS CONFIDENTIAL</a:t>
            </a:r>
            <a:endParaRPr lang="en-US" sz="700" dirty="0"/>
          </a:p>
        </p:txBody>
      </p:sp>
      <p:sp>
        <p:nvSpPr>
          <p:cNvPr id="7" name="Text 5"/>
          <p:cNvSpPr/>
          <p:nvPr/>
        </p:nvSpPr>
        <p:spPr>
          <a:xfrm>
            <a:off x="7772400" y="4727448"/>
            <a:ext cx="914400" cy="274320"/>
          </a:xfrm>
          <a:prstGeom prst="rect">
            <a:avLst/>
          </a:prstGeom>
          <a:noFill/>
          <a:ln/>
        </p:spPr>
        <p:txBody>
          <a:bodyPr wrap="square" rtlCol="0" anchor="ctr"/>
          <a:lstStyle/>
          <a:p>
            <a:pPr algn="r" indent="0" marL="0">
              <a:buNone/>
            </a:pPr>
            <a:r>
              <a:rPr lang="en-US" sz="700" dirty="0">
                <a:solidFill>
                  <a:srgbClr val="9D9D9D"/>
                </a:solidFill>
                <a:latin typeface="Arial" pitchFamily="34" charset="0"/>
                <a:ea typeface="Arial" pitchFamily="34" charset="-122"/>
                <a:cs typeface="Arial" pitchFamily="34" charset="-120"/>
              </a:rPr>
              <a:t>Page B6</a:t>
            </a:r>
            <a:endParaRPr lang="en-US" sz="700" dirty="0"/>
          </a:p>
        </p:txBody>
      </p:sp>
      <p:sp>
        <p:nvSpPr>
          <p:cNvPr id="8" name="Shape 6"/>
          <p:cNvSpPr/>
          <p:nvPr/>
        </p:nvSpPr>
        <p:spPr>
          <a:xfrm>
            <a:off x="640080" y="1051560"/>
            <a:ext cx="3291840" cy="2011680"/>
          </a:xfrm>
          <a:prstGeom prst="rect">
            <a:avLst/>
          </a:prstGeom>
          <a:solidFill>
            <a:srgbClr val="042D5E"/>
          </a:solidFill>
          <a:ln/>
        </p:spPr>
      </p:sp>
      <p:sp>
        <p:nvSpPr>
          <p:cNvPr id="9" name="Text 7"/>
          <p:cNvSpPr/>
          <p:nvPr/>
        </p:nvSpPr>
        <p:spPr>
          <a:xfrm>
            <a:off x="640080" y="1143000"/>
            <a:ext cx="3291840" cy="91440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YEAR 3</a:t>
            </a:r>
            <a:endParaRPr lang="en-US" sz="4800" dirty="0"/>
          </a:p>
        </p:txBody>
      </p:sp>
      <p:sp>
        <p:nvSpPr>
          <p:cNvPr id="10" name="Text 8"/>
          <p:cNvSpPr/>
          <p:nvPr/>
        </p:nvSpPr>
        <p:spPr>
          <a:xfrm>
            <a:off x="640080" y="1965960"/>
            <a:ext cx="3291840" cy="731520"/>
          </a:xfrm>
          <a:prstGeom prst="rect">
            <a:avLst/>
          </a:prstGeom>
          <a:noFill/>
          <a:ln/>
        </p:spPr>
        <p:txBody>
          <a:bodyPr wrap="square" rtlCol="0" anchor="ctr"/>
          <a:lstStyle/>
          <a:p>
            <a:pPr algn="ctr" indent="0" marL="0">
              <a:buNone/>
            </a:pPr>
            <a:r>
              <a:rPr lang="en-US" sz="2000" b="1" spc="300" kern="0" dirty="0">
                <a:solidFill>
                  <a:srgbClr val="4471A9"/>
                </a:solidFill>
                <a:latin typeface="Arial" pitchFamily="34" charset="0"/>
                <a:ea typeface="Arial" pitchFamily="34" charset="-122"/>
                <a:cs typeface="Arial" pitchFamily="34" charset="-120"/>
              </a:rPr>
              <a:t>OF A 15-YEAR</a:t>
            </a:r>
            <a:endParaRPr lang="en-US" sz="2000" dirty="0"/>
          </a:p>
          <a:p>
            <a:pPr algn="ctr" indent="0" marL="0">
              <a:buNone/>
            </a:pPr>
            <a:r>
              <a:rPr lang="en-US" sz="2000" b="1" spc="300" kern="0" dirty="0">
                <a:solidFill>
                  <a:srgbClr val="4471A9"/>
                </a:solidFill>
                <a:latin typeface="Arial" pitchFamily="34" charset="0"/>
                <a:ea typeface="Arial" pitchFamily="34" charset="-122"/>
                <a:cs typeface="Arial" pitchFamily="34" charset="-120"/>
              </a:rPr>
              <a:t>REVOLUTION</a:t>
            </a:r>
            <a:endParaRPr lang="en-US" sz="2000" dirty="0"/>
          </a:p>
        </p:txBody>
      </p:sp>
      <p:sp>
        <p:nvSpPr>
          <p:cNvPr id="11" name="Text 9"/>
          <p:cNvSpPr/>
          <p:nvPr/>
        </p:nvSpPr>
        <p:spPr>
          <a:xfrm>
            <a:off x="640080" y="2606040"/>
            <a:ext cx="3291840" cy="365760"/>
          </a:xfrm>
          <a:prstGeom prst="rect">
            <a:avLst/>
          </a:prstGeom>
          <a:noFill/>
          <a:ln/>
        </p:spPr>
        <p:txBody>
          <a:bodyPr wrap="square" rtlCol="0" anchor="ctr"/>
          <a:lstStyle/>
          <a:p>
            <a:pPr algn="ctr" indent="0" marL="0">
              <a:buNone/>
            </a:pPr>
            <a:r>
              <a:rPr lang="en-US" sz="1000" i="1" dirty="0">
                <a:solidFill>
                  <a:srgbClr val="E8F0F8"/>
                </a:solidFill>
                <a:latin typeface="Arial" pitchFamily="34" charset="0"/>
                <a:ea typeface="Arial" pitchFamily="34" charset="-122"/>
                <a:cs typeface="Arial" pitchFamily="34" charset="-120"/>
              </a:rPr>
              <a:t>The biggest money is made</a:t>
            </a:r>
            <a:endParaRPr lang="en-US" sz="1000" dirty="0"/>
          </a:p>
          <a:p>
            <a:pPr algn="ctr" indent="0" marL="0">
              <a:buNone/>
            </a:pPr>
            <a:r>
              <a:rPr lang="en-US" sz="1000" i="1" dirty="0">
                <a:solidFill>
                  <a:srgbClr val="E8F0F8"/>
                </a:solidFill>
                <a:latin typeface="Arial" pitchFamily="34" charset="0"/>
                <a:ea typeface="Arial" pitchFamily="34" charset="-122"/>
                <a:cs typeface="Arial" pitchFamily="34" charset="-120"/>
              </a:rPr>
              <a:t>between years 5 and 15.</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297680" y="1051560"/>
          <a:ext cx="4389120" cy="914400"/>
        </p:xfrm>
        <a:graphic>
          <a:graphicData uri="http://schemas.openxmlformats.org/drawingml/2006/table">
            <a:tbl>
              <a:tblPr/>
              <a:tblGrid>
                <a:gridCol w="1828800"/>
                <a:gridCol w="2560320"/>
              </a:tblGrid>
              <a:tr h="256032">
                <a:tc>
                  <a:txBody>
                    <a:bodyPr/>
                    <a:lstStyle/>
                    <a:p>
                      <a:pPr indent="0" marL="0">
                        <a:buNone/>
                      </a:pPr>
                      <a:r>
                        <a:rPr lang="en-US" sz="900" b="1" dirty="0">
                          <a:solidFill>
                            <a:srgbClr val="FFFFFF"/>
                          </a:solidFill>
                          <a:latin typeface="Arial" pitchFamily="34" charset="0"/>
                          <a:ea typeface="Arial" pitchFamily="34" charset="-122"/>
                          <a:cs typeface="Arial" pitchFamily="34" charset="-120"/>
                        </a:rPr>
                        <a:t>Revolution</a:t>
                      </a:r>
                      <a:endParaRPr lang="en-US" sz="9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42D5E"/>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Backlash Pattern</a:t>
                      </a:r>
                      <a:endParaRPr lang="en-US" sz="9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42D5E"/>
                    </a:solidFill>
                  </a:tcPr>
                </a:tc>
              </a:tr>
              <a:tr h="228600">
                <a:tc>
                  <a:txBody>
                    <a:bodyPr/>
                    <a:lstStyle/>
                    <a:p>
                      <a:pPr indent="0" marL="0">
                        <a:buNone/>
                      </a:pPr>
                      <a:r>
                        <a:rPr lang="en-US" sz="900" dirty="0">
                          <a:solidFill>
                            <a:srgbClr val="4A4A4A"/>
                          </a:solidFill>
                          <a:latin typeface="Arial" pitchFamily="34" charset="0"/>
                          <a:ea typeface="Arial" pitchFamily="34" charset="-122"/>
                          <a:cs typeface="Arial" pitchFamily="34" charset="-120"/>
                        </a:rPr>
                        <a:t>Industrial Revolution</a:t>
                      </a:r>
                      <a:endParaRPr lang="en-US" sz="9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Riots, worker revolts</a:t>
                      </a:r>
                      <a:endParaRPr lang="en-US" sz="9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r>
              <a:tr h="228600">
                <a:tc>
                  <a:txBody>
                    <a:bodyPr/>
                    <a:lstStyle/>
                    <a:p>
                      <a:pPr indent="0" marL="0">
                        <a:buNone/>
                      </a:pPr>
                      <a:r>
                        <a:rPr lang="en-US" sz="900" dirty="0">
                          <a:solidFill>
                            <a:srgbClr val="4A4A4A"/>
                          </a:solidFill>
                          <a:latin typeface="Arial" pitchFamily="34" charset="0"/>
                          <a:ea typeface="Arial" pitchFamily="34" charset="-122"/>
                          <a:cs typeface="Arial" pitchFamily="34" charset="-120"/>
                        </a:rPr>
                        <a:t>Railroads</a:t>
                      </a:r>
                      <a:endParaRPr lang="en-US" sz="9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Violent strikes</a:t>
                      </a:r>
                      <a:endParaRPr lang="en-US" sz="9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228600">
                <a:tc>
                  <a:txBody>
                    <a:bodyPr/>
                    <a:lstStyle/>
                    <a:p>
                      <a:pPr indent="0" marL="0">
                        <a:buNone/>
                      </a:pPr>
                      <a:r>
                        <a:rPr lang="en-US" sz="900" dirty="0">
                          <a:solidFill>
                            <a:srgbClr val="4A4A4A"/>
                          </a:solidFill>
                          <a:latin typeface="Arial" pitchFamily="34" charset="0"/>
                          <a:ea typeface="Arial" pitchFamily="34" charset="-122"/>
                          <a:cs typeface="Arial" pitchFamily="34" charset="-120"/>
                        </a:rPr>
                        <a:t>Electricity</a:t>
                      </a:r>
                      <a:endParaRPr lang="en-US" sz="9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Monopolies and backlash</a:t>
                      </a:r>
                      <a:endParaRPr lang="en-US" sz="9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5F5"/>
                    </a:solidFill>
                  </a:tcPr>
                </a:tc>
              </a:tr>
              <a:tr h="228600">
                <a:tc>
                  <a:txBody>
                    <a:bodyPr/>
                    <a:lstStyle/>
                    <a:p>
                      <a:pPr indent="0" marL="0">
                        <a:buNone/>
                      </a:pPr>
                      <a:r>
                        <a:rPr lang="en-US" sz="900" dirty="0">
                          <a:solidFill>
                            <a:srgbClr val="4A4A4A"/>
                          </a:solidFill>
                          <a:latin typeface="Arial" pitchFamily="34" charset="0"/>
                          <a:ea typeface="Arial" pitchFamily="34" charset="-122"/>
                          <a:cs typeface="Arial" pitchFamily="34" charset="-120"/>
                        </a:rPr>
                        <a:t>Internet</a:t>
                      </a:r>
                      <a:endParaRPr lang="en-US" sz="9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indent="0" marL="0">
                        <a:buNone/>
                      </a:pPr>
                      <a:r>
                        <a:rPr lang="en-US" sz="900" dirty="0">
                          <a:solidFill>
                            <a:srgbClr val="4A4A4A"/>
                          </a:solidFill>
                          <a:latin typeface="Arial" pitchFamily="34" charset="0"/>
                          <a:ea typeface="Arial" pitchFamily="34" charset="-122"/>
                          <a:cs typeface="Arial" pitchFamily="34" charset="-120"/>
                        </a:rPr>
                        <a:t>Dot-com bubble</a:t>
                      </a:r>
                      <a:endParaRPr lang="en-US" sz="9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256032">
                <a:tc>
                  <a:txBody>
                    <a:bodyPr/>
                    <a:lstStyle/>
                    <a:p>
                      <a:pPr indent="0" marL="0">
                        <a:buNone/>
                      </a:pPr>
                      <a:r>
                        <a:rPr lang="en-US" sz="900" b="1" dirty="0">
                          <a:solidFill>
                            <a:srgbClr val="06418C"/>
                          </a:solidFill>
                          <a:latin typeface="Arial" pitchFamily="34" charset="0"/>
                          <a:ea typeface="Arial" pitchFamily="34" charset="-122"/>
                          <a:cs typeface="Arial" pitchFamily="34" charset="-120"/>
                        </a:rPr>
                        <a:t>AI (now)</a:t>
                      </a:r>
                      <a:endParaRPr lang="en-US" sz="9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0F8"/>
                    </a:solidFill>
                  </a:tcPr>
                </a:tc>
                <a:tc>
                  <a:txBody>
                    <a:bodyPr/>
                    <a:lstStyle/>
                    <a:p>
                      <a:pPr indent="0" marL="0">
                        <a:buNone/>
                      </a:pPr>
                      <a:r>
                        <a:rPr lang="en-US" sz="900" b="1" dirty="0">
                          <a:solidFill>
                            <a:srgbClr val="06418C"/>
                          </a:solidFill>
                          <a:latin typeface="Arial" pitchFamily="34" charset="0"/>
                          <a:ea typeface="Arial" pitchFamily="34" charset="-122"/>
                          <a:cs typeface="Arial" pitchFamily="34" charset="-120"/>
                        </a:rPr>
                        <a:t>Early hype → backlash → consolidation</a:t>
                      </a:r>
                      <a:endParaRPr lang="en-US" sz="900" dirty="0">
                        <a:latin typeface="Arial" charset="0"/>
                        <a:ea typeface="Arial" charset="0"/>
                        <a:cs typeface="Arial" charset="0"/>
                      </a:endParaRPr>
                    </a:p>
                  </a:txBody>
                  <a:tcPr marL="91440" marR="91440" marT="45720" marB="4572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E8F0F8"/>
                    </a:solidFill>
                  </a:tcPr>
                </a:tc>
              </a:tr>
            </a:tbl>
          </a:graphicData>
        </a:graphic>
      </p:graphicFrame>
      <p:sp>
        <p:nvSpPr>
          <p:cNvPr id="13" name="Shape 10"/>
          <p:cNvSpPr/>
          <p:nvPr/>
        </p:nvSpPr>
        <p:spPr>
          <a:xfrm>
            <a:off x="4297680" y="2606040"/>
            <a:ext cx="4389120" cy="457200"/>
          </a:xfrm>
          <a:prstGeom prst="rect">
            <a:avLst/>
          </a:prstGeom>
          <a:solidFill>
            <a:srgbClr val="E8F0F8"/>
          </a:solidFill>
          <a:ln/>
        </p:spPr>
      </p:sp>
      <p:sp>
        <p:nvSpPr>
          <p:cNvPr id="14" name="Shape 11"/>
          <p:cNvSpPr/>
          <p:nvPr/>
        </p:nvSpPr>
        <p:spPr>
          <a:xfrm>
            <a:off x="4297680" y="2606040"/>
            <a:ext cx="54864" cy="457200"/>
          </a:xfrm>
          <a:prstGeom prst="rect">
            <a:avLst/>
          </a:prstGeom>
          <a:solidFill>
            <a:srgbClr val="06418C"/>
          </a:solidFill>
          <a:ln/>
        </p:spPr>
      </p:sp>
      <p:sp>
        <p:nvSpPr>
          <p:cNvPr id="15" name="Text 12"/>
          <p:cNvSpPr/>
          <p:nvPr/>
        </p:nvSpPr>
        <p:spPr>
          <a:xfrm>
            <a:off x="4434840" y="2606040"/>
            <a:ext cx="4114800" cy="457200"/>
          </a:xfrm>
          <a:prstGeom prst="rect">
            <a:avLst/>
          </a:prstGeom>
          <a:noFill/>
          <a:ln/>
        </p:spPr>
        <p:txBody>
          <a:bodyPr wrap="square" rtlCol="0" anchor="ctr"/>
          <a:lstStyle/>
          <a:p>
            <a:pPr indent="0" marL="0">
              <a:buNone/>
            </a:pPr>
            <a:r>
              <a:rPr lang="en-US" sz="950" dirty="0">
                <a:solidFill>
                  <a:srgbClr val="042D5E"/>
                </a:solidFill>
                <a:latin typeface="Arial" pitchFamily="34" charset="0"/>
                <a:ea typeface="Arial" pitchFamily="34" charset="-122"/>
                <a:cs typeface="Arial" pitchFamily="34" charset="-120"/>
              </a:rPr>
              <a:t>Are we in the “dot-com 1998” phase? Real technology exists. Real adoption exists. But valuations and expectations may outrun reality. Short-term bubble + long-term transformation: both can be true.</a:t>
            </a:r>
            <a:endParaRPr lang="en-US" sz="950" dirty="0"/>
          </a:p>
        </p:txBody>
      </p:sp>
      <p:sp>
        <p:nvSpPr>
          <p:cNvPr id="16" name="Shape 13"/>
          <p:cNvSpPr/>
          <p:nvPr/>
        </p:nvSpPr>
        <p:spPr>
          <a:xfrm>
            <a:off x="640080" y="3246120"/>
            <a:ext cx="7863840" cy="0"/>
          </a:xfrm>
          <a:prstGeom prst="line">
            <a:avLst/>
          </a:prstGeom>
          <a:noFill/>
          <a:ln w="6350">
            <a:solidFill>
              <a:srgbClr val="D0D0D0"/>
            </a:solidFill>
            <a:prstDash val="solid"/>
          </a:ln>
        </p:spPr>
      </p:sp>
      <p:sp>
        <p:nvSpPr>
          <p:cNvPr id="17" name="Text 14"/>
          <p:cNvSpPr/>
          <p:nvPr/>
        </p:nvSpPr>
        <p:spPr>
          <a:xfrm>
            <a:off x="640080" y="3337560"/>
            <a:ext cx="3749040" cy="274320"/>
          </a:xfrm>
          <a:prstGeom prst="rect">
            <a:avLst/>
          </a:prstGeom>
          <a:noFill/>
          <a:ln/>
        </p:spPr>
        <p:txBody>
          <a:bodyPr wrap="square" rtlCol="0" anchor="ctr"/>
          <a:lstStyle/>
          <a:p>
            <a:pPr indent="0" marL="0">
              <a:buNone/>
            </a:pPr>
            <a:r>
              <a:rPr lang="en-US" sz="1100" b="1" dirty="0">
                <a:solidFill>
                  <a:srgbClr val="06418C"/>
                </a:solidFill>
                <a:latin typeface="Arial" pitchFamily="34" charset="0"/>
                <a:ea typeface="Arial" pitchFamily="34" charset="-122"/>
                <a:cs typeface="Arial" pitchFamily="34" charset="-120"/>
              </a:rPr>
              <a:t>Where Chamath is right:</a:t>
            </a:r>
            <a:endParaRPr lang="en-US" sz="1100" dirty="0"/>
          </a:p>
        </p:txBody>
      </p:sp>
      <p:sp>
        <p:nvSpPr>
          <p:cNvPr id="18" name="Text 15"/>
          <p:cNvSpPr/>
          <p:nvPr/>
        </p:nvSpPr>
        <p:spPr>
          <a:xfrm>
            <a:off x="640080" y="3611880"/>
            <a:ext cx="3749040" cy="868680"/>
          </a:xfrm>
          <a:prstGeom prst="rect">
            <a:avLst/>
          </a:prstGeom>
          <a:noFill/>
          <a:ln/>
        </p:spPr>
        <p:txBody>
          <a:bodyPr wrap="square" rtlCol="0" anchor="t"/>
          <a:lstStyle/>
          <a:p>
            <a:pPr marL="342900" indent="-342900">
              <a:buSzPct val="100000"/>
              <a:buChar char="•"/>
            </a:pPr>
            <a:r>
              <a:rPr lang="en-US" sz="1000" dirty="0">
                <a:solidFill>
                  <a:srgbClr val="4A4A4A"/>
                </a:solidFill>
                <a:latin typeface="Arial" pitchFamily="34" charset="0"/>
                <a:ea typeface="Arial" pitchFamily="34" charset="-122"/>
                <a:cs typeface="Arial" pitchFamily="34" charset="-120"/>
              </a:rPr>
              <a:t>Enterprise AI ROI is still unclear</a:t>
            </a:r>
            <a:endParaRPr lang="en-US" sz="1000" dirty="0"/>
          </a:p>
          <a:p>
            <a:pPr marL="342900" indent="-342900">
              <a:buSzPct val="100000"/>
              <a:buChar char="•"/>
            </a:pPr>
            <a:r>
              <a:rPr lang="en-US" sz="1000" dirty="0">
                <a:solidFill>
                  <a:srgbClr val="4A4A4A"/>
                </a:solidFill>
                <a:latin typeface="Arial" pitchFamily="34" charset="0"/>
                <a:ea typeface="Arial" pitchFamily="34" charset="-122"/>
                <a:cs typeface="Arial" pitchFamily="34" charset="-120"/>
              </a:rPr>
              <a:t>Coding is the only proven use case</a:t>
            </a:r>
            <a:endParaRPr lang="en-US" sz="1000" dirty="0"/>
          </a:p>
          <a:p>
            <a:pPr marL="342900" indent="-342900">
              <a:buSzPct val="100000"/>
              <a:buChar char="•"/>
            </a:pPr>
            <a:r>
              <a:rPr lang="en-US" sz="1000" dirty="0">
                <a:solidFill>
                  <a:srgbClr val="4A4A4A"/>
                </a:solidFill>
                <a:latin typeface="Arial" pitchFamily="34" charset="0"/>
                <a:ea typeface="Arial" pitchFamily="34" charset="-122"/>
                <a:cs typeface="Arial" pitchFamily="34" charset="-120"/>
              </a:rPr>
              <a:t>AI messaging is terrible</a:t>
            </a:r>
            <a:endParaRPr lang="en-US" sz="1000" dirty="0"/>
          </a:p>
          <a:p>
            <a:pPr marL="342900" indent="-342900">
              <a:buSzPct val="100000"/>
              <a:buChar char="•"/>
            </a:pPr>
            <a:r>
              <a:rPr lang="en-US" sz="1000" dirty="0">
                <a:solidFill>
                  <a:srgbClr val="4A4A4A"/>
                </a:solidFill>
                <a:latin typeface="Arial" pitchFamily="34" charset="0"/>
                <a:ea typeface="Arial" pitchFamily="34" charset="-122"/>
                <a:cs typeface="Arial" pitchFamily="34" charset="-120"/>
              </a:rPr>
              <a:t>Political backlash risk is real and growing</a:t>
            </a:r>
            <a:endParaRPr lang="en-US" sz="1000" dirty="0"/>
          </a:p>
        </p:txBody>
      </p:sp>
      <p:sp>
        <p:nvSpPr>
          <p:cNvPr id="19" name="Text 16"/>
          <p:cNvSpPr/>
          <p:nvPr/>
        </p:nvSpPr>
        <p:spPr>
          <a:xfrm>
            <a:off x="4754880" y="3337560"/>
            <a:ext cx="3931920" cy="274320"/>
          </a:xfrm>
          <a:prstGeom prst="rect">
            <a:avLst/>
          </a:prstGeom>
          <a:noFill/>
          <a:ln/>
        </p:spPr>
        <p:txBody>
          <a:bodyPr wrap="square" rtlCol="0" anchor="ctr"/>
          <a:lstStyle/>
          <a:p>
            <a:pPr indent="0" marL="0">
              <a:buNone/>
            </a:pPr>
            <a:r>
              <a:rPr lang="en-US" sz="1100" b="1" dirty="0">
                <a:solidFill>
                  <a:srgbClr val="993399"/>
                </a:solidFill>
                <a:latin typeface="Arial" pitchFamily="34" charset="0"/>
                <a:ea typeface="Arial" pitchFamily="34" charset="-122"/>
                <a:cs typeface="Arial" pitchFamily="34" charset="-120"/>
              </a:rPr>
              <a:t>Where he’s probably wrong:</a:t>
            </a:r>
            <a:endParaRPr lang="en-US" sz="1100" dirty="0"/>
          </a:p>
        </p:txBody>
      </p:sp>
      <p:sp>
        <p:nvSpPr>
          <p:cNvPr id="20" name="Text 17"/>
          <p:cNvSpPr/>
          <p:nvPr/>
        </p:nvSpPr>
        <p:spPr>
          <a:xfrm>
            <a:off x="4754880" y="3611880"/>
            <a:ext cx="3931920" cy="868680"/>
          </a:xfrm>
          <a:prstGeom prst="rect">
            <a:avLst/>
          </a:prstGeom>
          <a:noFill/>
          <a:ln/>
        </p:spPr>
        <p:txBody>
          <a:bodyPr wrap="square" rtlCol="0" anchor="t"/>
          <a:lstStyle/>
          <a:p>
            <a:pPr marL="342900" indent="-342900">
              <a:buSzPct val="100000"/>
              <a:buChar char="•"/>
            </a:pPr>
            <a:r>
              <a:rPr lang="en-US" sz="1000" dirty="0">
                <a:solidFill>
                  <a:srgbClr val="4A4A4A"/>
                </a:solidFill>
                <a:latin typeface="Arial" pitchFamily="34" charset="0"/>
                <a:ea typeface="Arial" pitchFamily="34" charset="-122"/>
                <a:cs typeface="Arial" pitchFamily="34" charset="-120"/>
              </a:rPr>
              <a:t>Underestimates compound productivity effects</a:t>
            </a:r>
            <a:endParaRPr lang="en-US" sz="1000" dirty="0"/>
          </a:p>
          <a:p>
            <a:pPr marL="342900" indent="-342900">
              <a:buSzPct val="100000"/>
              <a:buChar char="•"/>
            </a:pPr>
            <a:r>
              <a:rPr lang="en-US" sz="1000" dirty="0">
                <a:solidFill>
                  <a:srgbClr val="4A4A4A"/>
                </a:solidFill>
                <a:latin typeface="Arial" pitchFamily="34" charset="0"/>
                <a:ea typeface="Arial" pitchFamily="34" charset="-122"/>
                <a:cs typeface="Arial" pitchFamily="34" charset="-120"/>
              </a:rPr>
              <a:t>Tech revolutions always look weak early</a:t>
            </a:r>
            <a:endParaRPr lang="en-US" sz="1000" dirty="0"/>
          </a:p>
          <a:p>
            <a:pPr marL="342900" indent="-342900">
              <a:buSzPct val="100000"/>
              <a:buChar char="•"/>
            </a:pPr>
            <a:r>
              <a:rPr lang="en-US" sz="1000" i="1" dirty="0">
                <a:solidFill>
                  <a:srgbClr val="4A4A4A"/>
                </a:solidFill>
                <a:latin typeface="Arial" pitchFamily="34" charset="0"/>
                <a:ea typeface="Arial" pitchFamily="34" charset="-122"/>
                <a:cs typeface="Arial" pitchFamily="34" charset="-120"/>
              </a:rPr>
              <a:t>1995: "Email is nice but where’s the money?"</a:t>
            </a:r>
            <a:endParaRPr lang="en-US" sz="1000" dirty="0"/>
          </a:p>
          <a:p>
            <a:pPr marL="342900" indent="-342900">
              <a:buSzPct val="100000"/>
              <a:buChar char="•"/>
            </a:pPr>
            <a:r>
              <a:rPr lang="en-US" sz="1000" dirty="0">
                <a:solidFill>
                  <a:srgbClr val="4A4A4A"/>
                </a:solidFill>
                <a:latin typeface="Arial" pitchFamily="34" charset="0"/>
                <a:ea typeface="Arial" pitchFamily="34" charset="-122"/>
                <a:cs typeface="Arial" pitchFamily="34" charset="-120"/>
              </a:rPr>
              <a:t>5 years later: Amazon, Google, PayPal</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1">
    <p:bg>
      <p:bgPr>
        <a:solidFill>
          <a:srgbClr val="042D5E"/>
        </a:solidFill>
      </p:bgPr>
    </p:bg>
    <p:spTree>
      <p:nvGrpSpPr>
        <p:cNvPr id="1" name=""/>
        <p:cNvGrpSpPr/>
        <p:nvPr/>
      </p:nvGrpSpPr>
      <p:grpSpPr>
        <a:xfrm>
          <a:off x="0" y="0"/>
          <a:ext cx="0" cy="0"/>
          <a:chOff x="0" y="0"/>
          <a:chExt cx="0" cy="0"/>
        </a:xfrm>
      </p:grpSpPr>
      <p:sp>
        <p:nvSpPr>
          <p:cNvPr id="2" name="Text 0"/>
          <p:cNvSpPr/>
          <p:nvPr/>
        </p:nvSpPr>
        <p:spPr>
          <a:xfrm>
            <a:off x="640080" y="640080"/>
            <a:ext cx="7863840" cy="457200"/>
          </a:xfrm>
          <a:prstGeom prst="rect">
            <a:avLst/>
          </a:prstGeom>
          <a:noFill/>
          <a:ln/>
        </p:spPr>
        <p:txBody>
          <a:bodyPr wrap="square" rtlCol="0" anchor="ctr"/>
          <a:lstStyle/>
          <a:p>
            <a:pPr indent="0" marL="0">
              <a:buNone/>
            </a:pPr>
            <a:r>
              <a:rPr lang="en-US" sz="1400" b="1" spc="600" kern="0" dirty="0">
                <a:solidFill>
                  <a:srgbClr val="4471A9"/>
                </a:solidFill>
                <a:latin typeface="Arial" pitchFamily="34" charset="0"/>
                <a:ea typeface="Arial" pitchFamily="34" charset="-122"/>
                <a:cs typeface="Arial" pitchFamily="34" charset="-120"/>
              </a:rPr>
              <a:t>BACKUP</a:t>
            </a:r>
            <a:endParaRPr lang="en-US" sz="1400" dirty="0"/>
          </a:p>
        </p:txBody>
      </p:sp>
      <p:sp>
        <p:nvSpPr>
          <p:cNvPr id="3" name="Text 1"/>
          <p:cNvSpPr/>
          <p:nvPr/>
        </p:nvSpPr>
        <p:spPr>
          <a:xfrm>
            <a:off x="640080" y="1280160"/>
            <a:ext cx="7863840" cy="109728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CEO Perspectives: Enterprise AI from the Trenches</a:t>
            </a:r>
            <a:endParaRPr lang="en-US" sz="4000" dirty="0"/>
          </a:p>
        </p:txBody>
      </p:sp>
      <p:sp>
        <p:nvSpPr>
          <p:cNvPr id="4" name="Text 2"/>
          <p:cNvSpPr/>
          <p:nvPr/>
        </p:nvSpPr>
        <p:spPr>
          <a:xfrm>
            <a:off x="640080" y="2377440"/>
            <a:ext cx="7863840" cy="457200"/>
          </a:xfrm>
          <a:prstGeom prst="rect">
            <a:avLst/>
          </a:prstGeom>
          <a:noFill/>
          <a:ln/>
        </p:spPr>
        <p:txBody>
          <a:bodyPr wrap="square" rtlCol="0" anchor="ctr"/>
          <a:lstStyle/>
          <a:p>
            <a:pPr indent="0" marL="0">
              <a:buNone/>
            </a:pPr>
            <a:r>
              <a:rPr lang="en-US" sz="2000" dirty="0">
                <a:solidFill>
                  <a:srgbClr val="4471A9"/>
                </a:solidFill>
                <a:latin typeface="Arial" pitchFamily="34" charset="0"/>
                <a:ea typeface="Arial" pitchFamily="34" charset="-122"/>
                <a:cs typeface="Arial" pitchFamily="34" charset="-120"/>
              </a:rPr>
              <a:t>Databricks &amp; Glean on What Works, What Doesn’t, and Where Value Accrues</a:t>
            </a:r>
            <a:endParaRPr lang="en-US" sz="2000" dirty="0"/>
          </a:p>
        </p:txBody>
      </p:sp>
      <p:sp>
        <p:nvSpPr>
          <p:cNvPr id="5" name="Shape 3"/>
          <p:cNvSpPr/>
          <p:nvPr/>
        </p:nvSpPr>
        <p:spPr>
          <a:xfrm>
            <a:off x="640080" y="3108960"/>
            <a:ext cx="2286000" cy="0"/>
          </a:xfrm>
          <a:prstGeom prst="line">
            <a:avLst/>
          </a:prstGeom>
          <a:noFill/>
          <a:ln w="38100">
            <a:solidFill>
              <a:srgbClr val="993399"/>
            </a:solidFill>
            <a:prstDash val="solid"/>
          </a:ln>
        </p:spPr>
      </p:sp>
      <p:sp>
        <p:nvSpPr>
          <p:cNvPr id="6" name="Text 4"/>
          <p:cNvSpPr/>
          <p:nvPr/>
        </p:nvSpPr>
        <p:spPr>
          <a:xfrm>
            <a:off x="640080" y="3383280"/>
            <a:ext cx="7863840" cy="365760"/>
          </a:xfrm>
          <a:prstGeom prst="rect">
            <a:avLst/>
          </a:prstGeom>
          <a:noFill/>
          <a:ln/>
        </p:spPr>
        <p:txBody>
          <a:bodyPr wrap="square" rtlCol="0" anchor="ctr"/>
          <a:lstStyle/>
          <a:p>
            <a:pPr indent="0" marL="0">
              <a:buNone/>
            </a:pPr>
            <a:r>
              <a:rPr lang="en-US" sz="1100" i="1" dirty="0">
                <a:solidFill>
                  <a:srgbClr val="4471A9"/>
                </a:solidFill>
                <a:latin typeface="Arial" pitchFamily="34" charset="0"/>
                <a:ea typeface="Arial" pitchFamily="34" charset="-122"/>
                <a:cs typeface="Arial" pitchFamily="34" charset="-120"/>
              </a:rPr>
              <a:t>Source: Panel discussion with Arvin Ghodsi (CEO, Databricks) and Ali (CEO, Glean), March 2026</a:t>
            </a:r>
            <a:endParaRPr lang="en-US" sz="1100" dirty="0"/>
          </a:p>
        </p:txBody>
      </p:sp>
      <p:sp>
        <p:nvSpPr>
          <p:cNvPr id="7" name="Text 5"/>
          <p:cNvSpPr/>
          <p:nvPr/>
        </p:nvSpPr>
        <p:spPr>
          <a:xfrm>
            <a:off x="3840480" y="4727448"/>
            <a:ext cx="1188720" cy="237744"/>
          </a:xfrm>
          <a:prstGeom prst="rect">
            <a:avLst/>
          </a:prstGeom>
          <a:noFill/>
          <a:ln/>
        </p:spPr>
        <p:txBody>
          <a:bodyPr wrap="square" rtlCol="0" anchor="ctr"/>
          <a:lstStyle/>
          <a:p>
            <a:pPr algn="ctr" indent="0" marL="0">
              <a:buNone/>
            </a:pPr>
            <a:r>
              <a:rPr lang="en-US" sz="700" b="1" dirty="0">
                <a:solidFill>
                  <a:srgbClr val="4471A9"/>
                </a:solidFill>
                <a:latin typeface="Arial" pitchFamily="34" charset="0"/>
                <a:ea typeface="Arial" pitchFamily="34" charset="-122"/>
                <a:cs typeface="Arial" pitchFamily="34" charset="-120"/>
              </a:rPr>
              <a:t>RENESAS CONFIDENTIAL</a:t>
            </a:r>
            <a:endParaRPr lang="en-US" sz="7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9144000" cy="5143500"/>
          <a:chOff x="0" y="0"/>
          <a:chExt cx="9144000" cy="5143500"/>
        </a:xfrm>
      </p:grpSpPr>
      <p:sp>
        <p:nvSpPr>
          <p:cNvPr id="2" name="Title"/>
          <p:cNvSpPr/>
          <p:nvPr/>
        </p:nvSpPr>
        <p:spPr>
          <a:xfrm>
            <a:off x="640080" y="320040"/>
            <a:ext cx="7863840" cy="548640"/>
          </a:xfrm>
          <a:prstGeom prst="rect">
            <a:avLst/>
          </a:prstGeom>
          <a:noFill/>
          <a:ln/>
        </p:spPr>
        <p:txBody>
          <a:bodyPr wrap="square" lIns="0" tIns="0" rIns="0" bIns="0" rtlCol="0" anchor="t"/>
          <a:lstStyle/>
          <a:p>
            <a:pPr indent="0" marL="0">
              <a:buNone/>
            </a:pPr>
            <a:r>
              <a:rPr lang="en-US" sz="2600" b="1" dirty="0">
                <a:solidFill>
                  <a:srgbClr val="06418C"/>
                </a:solidFill>
                <a:latin typeface="Arial" pitchFamily="34" charset="0"/>
              </a:rPr>
              <a:t>The 95% failure rate is expected. Good.</a:t>
            </a:r>
          </a:p>
        </p:txBody>
      </p:sp>
      <p:sp>
        <p:nvSpPr>
          <p:cNvPr id="3" name="Finance Label"/>
          <p:cNvSpPr/>
          <p:nvPr/>
        </p:nvSpPr>
        <p:spPr>
          <a:xfrm>
            <a:off x="640080" y="1050000"/>
            <a:ext cx="2500000" cy="450000"/>
          </a:xfrm>
          <a:prstGeom prst="rect">
            <a:avLst/>
          </a:prstGeom>
          <a:noFill/>
          <a:ln/>
        </p:spPr>
        <p:txBody>
          <a:bodyPr wrap="square" lIns="0" tIns="0" rIns="0" bIns="0" rtlCol="0" anchor="t"/>
          <a:lstStyle/>
          <a:p>
            <a:pPr indent="0" marL="0">
              <a:buNone/>
            </a:pPr>
            <a:r>
              <a:rPr lang="en-US" sz="1000" b="1" dirty="0">
                <a:solidFill>
                  <a:srgbClr val="4471A9"/>
                </a:solidFill>
                <a:latin typeface="Arial" pitchFamily="34" charset="0"/>
              </a:rPr>
              <a:t>FINANCE</a:t>
            </a:r>
          </a:p>
        </p:txBody>
      </p:sp>
      <p:sp>
        <p:nvSpPr>
          <p:cNvPr id="4" name="Finance Stat"/>
          <p:cNvSpPr/>
          <p:nvPr/>
        </p:nvSpPr>
        <p:spPr>
          <a:xfrm>
            <a:off x="640080" y="1550000"/>
            <a:ext cx="2500000" cy="600000"/>
          </a:xfrm>
          <a:prstGeom prst="rect">
            <a:avLst/>
          </a:prstGeom>
          <a:noFill/>
          <a:ln/>
        </p:spPr>
        <p:txBody>
          <a:bodyPr wrap="square" lIns="0" tIns="0" rIns="0" bIns="0" rtlCol="0" anchor="t"/>
          <a:lstStyle/>
          <a:p>
            <a:pPr indent="0" marL="0">
              <a:buNone/>
            </a:pPr>
            <a:r>
              <a:rPr lang="en-US" sz="3600" b="1" dirty="0">
                <a:solidFill>
                  <a:srgbClr val="06418C"/>
                </a:solidFill>
                <a:latin typeface="Arial" pitchFamily="34" charset="0"/>
              </a:rPr>
              <a:t>15 min</a:t>
            </a:r>
          </a:p>
        </p:txBody>
      </p:sp>
      <p:sp>
        <p:nvSpPr>
          <p:cNvPr id="5" name="Finance Description"/>
          <p:cNvSpPr/>
          <p:nvPr/>
        </p:nvSpPr>
        <p:spPr>
          <a:xfrm>
            <a:off x="640080" y="2250000"/>
            <a:ext cx="2500000" cy="1600000"/>
          </a:xfrm>
          <a:prstGeom prst="rect">
            <a:avLst/>
          </a:prstGeom>
          <a:noFill/>
          <a:ln/>
        </p:spPr>
        <p:txBody>
          <a:bodyPr wrap="square" lIns="0" tIns="0" rIns="0" bIns="0" rtlCol="0" anchor="t"/>
          <a:lstStyle/>
          <a:p>
            <a:pPr indent="0" marL="0">
              <a:buNone/>
            </a:pPr>
            <a:r>
              <a:rPr lang="en-US" sz="1100" dirty="0">
                <a:solidFill>
                  <a:srgbClr val="4A4A4A"/>
                </a:solidFill>
                <a:latin typeface="Arial" pitchFamily="34" charset="0"/>
              </a:rPr>
              <a:t>RBC equity research reports</a:t>
            </a:r>
          </a:p>
          <a:p>
            <a:pPr indent="0" marL="0">
              <a:buNone/>
            </a:pPr>
            <a:r>
              <a:rPr lang="en-US" sz="1100" dirty="0">
                <a:solidFill>
                  <a:srgbClr val="4A4A4A"/>
                </a:solidFill>
                <a:latin typeface="Arial" pitchFamily="34" charset="0"/>
              </a:rPr>
              <a:t>Industry standard: 2 hours</a:t>
            </a:r>
          </a:p>
          <a:p>
            <a:pPr indent="0" marL="0">
              <a:buNone/>
            </a:pPr>
            <a:r>
              <a:rPr lang="en-US" sz="1100" dirty="0">
                <a:solidFill>
                  <a:srgbClr val="4A4A4A"/>
                </a:solidFill>
                <a:latin typeface="Arial" pitchFamily="34" charset="0"/>
              </a:rPr>
              <a:t>Agent: fetches earnings + competitors + market data, writes full buy/hold/sell analysis</a:t>
            </a:r>
          </a:p>
        </p:txBody>
      </p:sp>
      <p:sp>
        <p:nvSpPr>
          <p:cNvPr id="6" name="Healthcare Label"/>
          <p:cNvSpPr/>
          <p:nvPr/>
        </p:nvSpPr>
        <p:spPr>
          <a:xfrm>
            <a:off x="3322080" y="1050000"/>
            <a:ext cx="2500000" cy="450000"/>
          </a:xfrm>
          <a:prstGeom prst="rect">
            <a:avLst/>
          </a:prstGeom>
          <a:noFill/>
          <a:ln/>
        </p:spPr>
        <p:txBody>
          <a:bodyPr wrap="square" lIns="0" tIns="0" rIns="0" bIns="0" rtlCol="0" anchor="t"/>
          <a:lstStyle/>
          <a:p>
            <a:pPr indent="0" marL="0">
              <a:buNone/>
            </a:pPr>
            <a:r>
              <a:rPr lang="en-US" sz="1000" b="1" dirty="0">
                <a:solidFill>
                  <a:srgbClr val="4471A9"/>
                </a:solidFill>
                <a:latin typeface="Arial" pitchFamily="34" charset="0"/>
              </a:rPr>
              <a:t>HEALTHCARE</a:t>
            </a:r>
          </a:p>
        </p:txBody>
      </p:sp>
      <p:sp>
        <p:nvSpPr>
          <p:cNvPr id="7" name="Healthcare Stat"/>
          <p:cNvSpPr/>
          <p:nvPr/>
        </p:nvSpPr>
        <p:spPr>
          <a:xfrm>
            <a:off x="3322080" y="1550000"/>
            <a:ext cx="2500000" cy="600000"/>
          </a:xfrm>
          <a:prstGeom prst="rect">
            <a:avLst/>
          </a:prstGeom>
          <a:noFill/>
          <a:ln/>
        </p:spPr>
        <p:txBody>
          <a:bodyPr wrap="square" lIns="0" tIns="0" rIns="0" bIns="0" rtlCol="0" anchor="t"/>
          <a:lstStyle/>
          <a:p>
            <a:pPr indent="0" marL="0">
              <a:buNone/>
            </a:pPr>
            <a:r>
              <a:rPr lang="en-US" sz="3600" b="1" dirty="0">
                <a:solidFill>
                  <a:srgbClr val="06418C"/>
                </a:solidFill>
                <a:latin typeface="Arial" pitchFamily="34" charset="0"/>
              </a:rPr>
              <a:t>Teddy</a:t>
            </a:r>
          </a:p>
        </p:txBody>
      </p:sp>
      <p:sp>
        <p:nvSpPr>
          <p:cNvPr id="8" name="Healthcare Description"/>
          <p:cNvSpPr/>
          <p:nvPr/>
        </p:nvSpPr>
        <p:spPr>
          <a:xfrm>
            <a:off x="3322080" y="2250000"/>
            <a:ext cx="2500000" cy="1600000"/>
          </a:xfrm>
          <a:prstGeom prst="rect">
            <a:avLst/>
          </a:prstGeom>
          <a:noFill/>
          <a:ln/>
        </p:spPr>
        <p:txBody>
          <a:bodyPr wrap="square" lIns="0" tIns="0" rIns="0" bIns="0" rtlCol="0" anchor="t"/>
          <a:lstStyle/>
          <a:p>
            <a:pPr indent="0" marL="0">
              <a:buNone/>
            </a:pPr>
            <a:r>
              <a:rPr lang="en-US" sz="1100" dirty="0">
                <a:solidFill>
                  <a:srgbClr val="4A4A4A"/>
                </a:solidFill>
                <a:latin typeface="Arial" pitchFamily="34" charset="0"/>
              </a:rPr>
              <a:t>Merck transformer model for drug discovery</a:t>
            </a:r>
          </a:p>
          <a:p>
            <a:pPr indent="0" marL="0">
              <a:buNone/>
            </a:pPr>
            <a:r>
              <a:rPr lang="en-US" sz="1100" dirty="0">
                <a:solidFill>
                  <a:srgbClr val="4A4A4A"/>
                </a:solidFill>
                <a:latin typeface="Arial" pitchFamily="34" charset="0"/>
              </a:rPr>
              <a:t>Predicts gene expression from regulatory networks</a:t>
            </a:r>
          </a:p>
          <a:p>
            <a:pPr indent="0" marL="0">
              <a:buNone/>
            </a:pPr>
            <a:r>
              <a:rPr lang="en-US" sz="1100" dirty="0">
                <a:solidFill>
                  <a:srgbClr val="4A4A4A"/>
                </a:solidFill>
                <a:latin typeface="Arial" pitchFamily="34" charset="0"/>
              </a:rPr>
              <a:t>Does what humans couldn’t do before</a:t>
            </a:r>
          </a:p>
        </p:txBody>
      </p:sp>
      <p:sp>
        <p:nvSpPr>
          <p:cNvPr id="9" name="Retail Label"/>
          <p:cNvSpPr/>
          <p:nvPr/>
        </p:nvSpPr>
        <p:spPr>
          <a:xfrm>
            <a:off x="6004080" y="1050000"/>
            <a:ext cx="2457840" cy="450000"/>
          </a:xfrm>
          <a:prstGeom prst="rect">
            <a:avLst/>
          </a:prstGeom>
          <a:noFill/>
          <a:ln/>
        </p:spPr>
        <p:txBody>
          <a:bodyPr wrap="square" lIns="0" tIns="0" rIns="0" bIns="0" rtlCol="0" anchor="t"/>
          <a:lstStyle/>
          <a:p>
            <a:pPr indent="0" marL="0">
              <a:buNone/>
            </a:pPr>
            <a:r>
              <a:rPr lang="en-US" sz="1000" b="1" dirty="0">
                <a:solidFill>
                  <a:srgbClr val="4471A9"/>
                </a:solidFill>
                <a:latin typeface="Arial" pitchFamily="34" charset="0"/>
              </a:rPr>
              <a:t>RETAIL</a:t>
            </a:r>
          </a:p>
        </p:txBody>
      </p:sp>
      <p:sp>
        <p:nvSpPr>
          <p:cNvPr id="10" name="Retail Stat"/>
          <p:cNvSpPr/>
          <p:nvPr/>
        </p:nvSpPr>
        <p:spPr>
          <a:xfrm>
            <a:off x="6004080" y="1550000"/>
            <a:ext cx="2457840" cy="600000"/>
          </a:xfrm>
          <a:prstGeom prst="rect">
            <a:avLst/>
          </a:prstGeom>
          <a:noFill/>
          <a:ln/>
        </p:spPr>
        <p:txBody>
          <a:bodyPr wrap="square" lIns="0" tIns="0" rIns="0" bIns="0" rtlCol="0" anchor="t"/>
          <a:lstStyle/>
          <a:p>
            <a:pPr indent="0" marL="0">
              <a:buNone/>
            </a:pPr>
            <a:r>
              <a:rPr lang="en-US" sz="3600" b="1" dirty="0">
                <a:solidFill>
                  <a:srgbClr val="06418C"/>
                </a:solidFill>
                <a:latin typeface="Arial" pitchFamily="34" charset="0"/>
              </a:rPr>
              <a:t>Automated</a:t>
            </a:r>
          </a:p>
        </p:txBody>
      </p:sp>
      <p:sp>
        <p:nvSpPr>
          <p:cNvPr id="11" name="Retail Description"/>
          <p:cNvSpPr/>
          <p:nvPr/>
        </p:nvSpPr>
        <p:spPr>
          <a:xfrm>
            <a:off x="6004080" y="2250000"/>
            <a:ext cx="2457840" cy="1600000"/>
          </a:xfrm>
          <a:prstGeom prst="rect">
            <a:avLst/>
          </a:prstGeom>
          <a:noFill/>
          <a:ln/>
        </p:spPr>
        <p:txBody>
          <a:bodyPr wrap="square" lIns="0" tIns="0" rIns="0" bIns="0" rtlCol="0" anchor="t"/>
          <a:lstStyle/>
          <a:p>
            <a:pPr indent="0" marL="0">
              <a:buNone/>
            </a:pPr>
            <a:r>
              <a:rPr lang="en-US" sz="1100" dirty="0">
                <a:solidFill>
                  <a:srgbClr val="4A4A4A"/>
                </a:solidFill>
                <a:latin typeface="Arial" pitchFamily="34" charset="0"/>
              </a:rPr>
              <a:t>7-Eleven marketing stack</a:t>
            </a:r>
          </a:p>
          <a:p>
            <a:pPr indent="0" marL="0">
              <a:buNone/>
            </a:pPr>
            <a:r>
              <a:rPr lang="en-US" sz="1100" dirty="0">
                <a:solidFill>
                  <a:srgbClr val="4A4A4A"/>
                </a:solidFill>
                <a:latin typeface="Arial" pitchFamily="34" charset="0"/>
              </a:rPr>
              <a:t>AI segments audiences and creates all content per segment</a:t>
            </a:r>
          </a:p>
          <a:p>
            <a:pPr indent="0" marL="0">
              <a:buNone/>
            </a:pPr>
            <a:r>
              <a:rPr lang="en-US" sz="1100" dirty="0">
                <a:solidFill>
                  <a:srgbClr val="4A4A4A"/>
                </a:solidFill>
                <a:latin typeface="Arial" pitchFamily="34" charset="0"/>
              </a:rPr>
              <a:t>From manual content creation to real-time personalization</a:t>
            </a:r>
          </a:p>
        </p:txBody>
      </p:sp>
      <p:sp>
        <p:nvSpPr>
          <p:cNvPr id="12" name="Insight Bar"/>
          <p:cNvSpPr/>
          <p:nvPr/>
        </p:nvSpPr>
        <p:spPr>
          <a:xfrm>
            <a:off x="640080" y="4050000"/>
            <a:ext cx="7863840" cy="400000"/>
          </a:xfrm>
          <a:prstGeom prst="rect">
            <a:avLst/>
          </a:prstGeom>
          <a:noFill/>
          <a:ln/>
        </p:spPr>
        <p:txBody>
          <a:bodyPr wrap="square" lIns="0" tIns="0" rIns="0" bIns="0" rtlCol="0" anchor="t"/>
          <a:lstStyle/>
          <a:p>
            <a:pPr indent="0" marL="0">
              <a:buNone/>
            </a:pPr>
            <a:r>
              <a:rPr lang="en-US" sz="1200" b="1" dirty="0">
                <a:solidFill>
                  <a:srgbClr val="993399"/>
                </a:solidFill>
                <a:latin typeface="Arial" pitchFamily="34" charset="0"/>
              </a:rPr>
              <a:t xml:space="preserve">PATTERN: </a:t>
            </a:r>
            <a:r>
              <a:rPr lang="en-US" sz="1200" dirty="0">
                <a:solidFill>
                  <a:srgbClr val="4A4A4A"/>
                </a:solidFill>
                <a:latin typeface="Arial" pitchFamily="34" charset="0"/>
              </a:rPr>
              <a:t>Proprietary data + unique process + engineering effort = the only non-commodity AI</a:t>
            </a:r>
          </a:p>
        </p:txBody>
      </p:sp>
      <p:sp>
        <p:nvSpPr>
          <p:cNvPr id="13" name="Footer Line"/>
          <p:cNvSpPr/>
          <p:nvPr/>
        </p:nvSpPr>
        <p:spPr>
          <a:xfrm>
            <a:off x="457200" y="4645152"/>
            <a:ext cx="8229600" cy="0"/>
          </a:xfrm>
          <a:prstGeom prst="rect">
            <a:avLst/>
          </a:prstGeom>
          <a:noFill/>
          <a:ln w="6350">
            <a:solidFill>
              <a:srgbClr val="D0D0D0"/>
            </a:solidFill>
          </a:ln>
        </p:spPr>
      </p:sp>
      <p:sp>
        <p:nvSpPr>
          <p:cNvPr id="14" name="Copyright"/>
          <p:cNvSpPr/>
          <p:nvPr/>
        </p:nvSpPr>
        <p:spPr>
          <a:xfrm>
            <a:off x="457200" y="4727448"/>
            <a:ext cx="2926080" cy="274320"/>
          </a:xfrm>
          <a:prstGeom prst="rect">
            <a:avLst/>
          </a:prstGeom>
          <a:noFill/>
          <a:ln/>
        </p:spPr>
        <p:txBody>
          <a:bodyPr wrap="square" lIns="0" tIns="0" rIns="0" bIns="0" rtlCol="0" anchor="t"/>
          <a:lstStyle/>
          <a:p>
            <a:pPr indent="0" marL="0">
              <a:buNone/>
            </a:pPr>
            <a:r>
              <a:rPr lang="en-US" sz="700" dirty="0">
                <a:solidFill>
                  <a:srgbClr val="9D9D9D"/>
                </a:solidFill>
                <a:latin typeface="Arial" pitchFamily="34" charset="0"/>
              </a:rPr>
              <a:t>© 2026 Renesas Electronics Corporation. All rights reserved.</a:t>
            </a:r>
          </a:p>
        </p:txBody>
      </p:sp>
      <p:sp>
        <p:nvSpPr>
          <p:cNvPr id="15" name="Badge Box"/>
          <p:cNvSpPr/>
          <p:nvPr/>
        </p:nvSpPr>
        <p:spPr>
          <a:xfrm>
            <a:off x="3840480" y="4764024"/>
            <a:ext cx="1188720" cy="182880"/>
          </a:xfrm>
          <a:prstGeom prst="rect">
            <a:avLst/>
          </a:prstGeom>
          <a:solidFill>
            <a:srgbClr val="993399"/>
          </a:solidFill>
          <a:ln/>
        </p:spPr>
      </p:sp>
      <p:sp>
        <p:nvSpPr>
          <p:cNvPr id="16" name="Confidential Badge"/>
          <p:cNvSpPr/>
          <p:nvPr/>
        </p:nvSpPr>
        <p:spPr>
          <a:xfrm>
            <a:off x="3840480" y="4727448"/>
            <a:ext cx="1188720" cy="237744"/>
          </a:xfrm>
          <a:prstGeom prst="rect">
            <a:avLst/>
          </a:prstGeom>
          <a:noFill/>
          <a:ln/>
        </p:spPr>
        <p:txBody>
          <a:bodyPr wrap="square" lIns="0" tIns="0" rIns="0" bIns="0" rtlCol="0" anchor="ctr"/>
          <a:lstStyle/>
          <a:p>
            <a:pPr indent="0" marL="0" algn="ctr">
              <a:buNone/>
            </a:pPr>
            <a:r>
              <a:rPr lang="en-US" sz="700" b="1" dirty="0">
                <a:solidFill>
                  <a:srgbClr val="FFFFFF"/>
                </a:solidFill>
                <a:latin typeface="Arial" pitchFamily="34" charset="0"/>
              </a:rPr>
              <a:t>RENESAS CONFIDENTIAL</a:t>
            </a:r>
          </a:p>
        </p:txBody>
      </p:sp>
      <p:sp>
        <p:nvSpPr>
          <p:cNvPr id="17" name="Page Number"/>
          <p:cNvSpPr/>
          <p:nvPr/>
        </p:nvSpPr>
        <p:spPr>
          <a:xfrm>
            <a:off x="7772400" y="4727448"/>
            <a:ext cx="914400" cy="274320"/>
          </a:xfrm>
          <a:prstGeom prst="rect">
            <a:avLst/>
          </a:prstGeom>
          <a:noFill/>
          <a:ln/>
        </p:spPr>
        <p:txBody>
          <a:bodyPr wrap="square" lIns="0" tIns="0" rIns="0" bIns="0" rtlCol="0" anchor="t"/>
          <a:lstStyle/>
          <a:p>
            <a:pPr indent="0" marL="0" algn="r">
              <a:buNone/>
            </a:pPr>
            <a:r>
              <a:rPr lang="en-US" sz="700" dirty="0">
                <a:solidFill>
                  <a:srgbClr val="9D9D9D"/>
                </a:solidFill>
                <a:latin typeface="Arial" pitchFamily="34" charset="0"/>
              </a:rPr>
              <a:t>Page B7</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9144000" cy="5143500"/>
          <a:chOff x="0" y="0"/>
          <a:chExt cx="9144000" cy="5143500"/>
        </a:xfrm>
      </p:grpSpPr>
      <p:sp>
        <p:nvSpPr>
          <p:cNvPr id="2" name="Title"/>
          <p:cNvSpPr/>
          <p:nvPr/>
        </p:nvSpPr>
        <p:spPr>
          <a:xfrm>
            <a:off x="640080" y="320040"/>
            <a:ext cx="7863840" cy="548640"/>
          </a:xfrm>
          <a:prstGeom prst="rect">
            <a:avLst/>
          </a:prstGeom>
          <a:noFill/>
          <a:ln/>
        </p:spPr>
        <p:txBody>
          <a:bodyPr wrap="square" lIns="0" tIns="0" rIns="0" bIns="0" rtlCol="0" anchor="t"/>
          <a:lstStyle/>
          <a:p>
            <a:pPr indent="0" marL="0">
              <a:buNone/>
            </a:pPr>
            <a:r>
              <a:rPr lang="en-US" sz="2600" b="1" dirty="0">
                <a:solidFill>
                  <a:srgbClr val="06418C"/>
                </a:solidFill>
                <a:latin typeface="Arial" pitchFamily="34" charset="0"/>
              </a:rPr>
              <a:t>LLMs are a commodity. Your data isn’t.</a:t>
            </a:r>
          </a:p>
        </p:txBody>
      </p:sp>
      <p:sp>
        <p:nvSpPr>
          <p:cNvPr id="3" name="Left Header Box"/>
          <p:cNvSpPr/>
          <p:nvPr/>
        </p:nvSpPr>
        <p:spPr>
          <a:xfrm>
            <a:off x="640080" y="1000000"/>
            <a:ext cx="3700000" cy="350000"/>
          </a:xfrm>
          <a:prstGeom prst="rect">
            <a:avLst/>
          </a:prstGeom>
          <a:solidFill>
            <a:srgbClr val="042D5E"/>
          </a:solidFill>
          <a:ln/>
        </p:spPr>
        <p:txBody>
          <a:bodyPr wrap="square" lIns="91440" tIns="91440" rIns="91440" bIns="91440" rtlCol="0" anchor="ctr"/>
          <a:lstStyle/>
          <a:p>
            <a:pPr indent="0" marL="0" algn="ctr">
              <a:buNone/>
            </a:pPr>
            <a:r>
              <a:rPr lang="en-US" sz="1400" b="1" dirty="0">
                <a:solidFill>
                  <a:srgbClr val="FFFFFF"/>
                </a:solidFill>
                <a:latin typeface="Arial" pitchFamily="34" charset="0"/>
              </a:rPr>
              <a:t>THE COMMODITY</a:t>
            </a:r>
          </a:p>
        </p:txBody>
      </p:sp>
      <p:sp>
        <p:nvSpPr>
          <p:cNvPr id="4" name="Left Large Text"/>
          <p:cNvSpPr/>
          <p:nvPr/>
        </p:nvSpPr>
        <p:spPr>
          <a:xfrm>
            <a:off x="640080" y="1350000"/>
            <a:ext cx="3700000" cy="500000"/>
          </a:xfrm>
          <a:prstGeom prst="rect">
            <a:avLst/>
          </a:prstGeom>
          <a:noFill/>
          <a:ln/>
        </p:spPr>
        <p:txBody>
          <a:bodyPr wrap="square" lIns="0" tIns="0" rIns="0" bIns="0" rtlCol="0" anchor="t"/>
          <a:lstStyle/>
          <a:p>
            <a:pPr indent="0" marL="0">
              <a:buNone/>
            </a:pPr>
            <a:r>
              <a:rPr lang="en-US" sz="2800" dirty="0">
                <a:solidFill>
                  <a:srgbClr val="9D9D9D"/>
                </a:solidFill>
                <a:latin typeface="Arial" pitchFamily="34" charset="0"/>
              </a:rPr>
              <a:t>LLMs</a:t>
            </a:r>
          </a:p>
        </p:txBody>
      </p:sp>
      <p:sp>
        <p:nvSpPr>
          <p:cNvPr id="5" name="Left Bullets"/>
          <p:cNvSpPr/>
          <p:nvPr/>
        </p:nvSpPr>
        <p:spPr>
          <a:xfrm>
            <a:off x="640080" y="1950000"/>
            <a:ext cx="3700000" cy="1200000"/>
          </a:xfrm>
          <a:prstGeom prst="rect">
            <a:avLst/>
          </a:prstGeom>
          <a:noFill/>
          <a:ln/>
        </p:spPr>
        <p:txBody>
          <a:bodyPr wrap="square" lIns="0" tIns="0" rIns="0" bIns="0" rtlCol="0" anchor="t"/>
          <a:lstStyle/>
          <a:p>
            <a:pPr indent="0" marL="0">
              <a:buNone/>
            </a:pPr>
            <a:r>
              <a:rPr lang="en-US" sz="1100" dirty="0">
                <a:solidFill>
                  <a:srgbClr val="4A4A4A"/>
                </a:solidFill>
                <a:latin typeface="Arial" pitchFamily="34" charset="0"/>
              </a:rPr>
              <a:t>Interchangeable — like gas stations</a:t>
            </a:r>
          </a:p>
          <a:p>
            <a:pPr indent="0" marL="0">
              <a:buNone/>
            </a:pPr>
            <a:r>
              <a:rPr lang="en-US" sz="1100" dirty="0">
                <a:solidFill>
                  <a:srgbClr val="4A4A4A"/>
                </a:solidFill>
                <a:latin typeface="Arial" pitchFamily="34" charset="0"/>
              </a:rPr>
              <a:t>Switch vendors in one day</a:t>
            </a:r>
          </a:p>
          <a:p>
            <a:pPr indent="0" marL="0">
              <a:buNone/>
            </a:pPr>
            <a:r>
              <a:rPr lang="en-US" sz="1100" dirty="0">
                <a:solidFill>
                  <a:srgbClr val="4A4A4A"/>
                </a:solidFill>
                <a:latin typeface="Arial" pitchFamily="34" charset="0"/>
              </a:rPr>
              <a:t>Price comparison is now the decision</a:t>
            </a:r>
          </a:p>
          <a:p>
            <a:pPr indent="0" marL="0">
              <a:buNone/>
            </a:pPr>
            <a:r>
              <a:rPr lang="en-US" sz="1100" dirty="0">
                <a:solidFill>
                  <a:srgbClr val="4A4A4A"/>
                </a:solidFill>
                <a:latin typeface="Arial" pitchFamily="34" charset="0"/>
              </a:rPr>
              <a:t>Better this week, different one next week</a:t>
            </a:r>
          </a:p>
          <a:p>
            <a:pPr indent="0" marL="0">
              <a:buNone/>
            </a:pPr>
            <a:r>
              <a:rPr lang="en-US" sz="1100" dirty="0">
                <a:solidFill>
                  <a:srgbClr val="4A4A4A"/>
                </a:solidFill>
                <a:latin typeface="Arial" pitchFamily="34" charset="0"/>
              </a:rPr>
              <a:t>Building commodity AI = no competitive moat</a:t>
            </a:r>
          </a:p>
        </p:txBody>
      </p:sp>
      <p:sp>
        <p:nvSpPr>
          <p:cNvPr id="6" name="Left Quote"/>
          <p:cNvSpPr/>
          <p:nvPr/>
        </p:nvSpPr>
        <p:spPr>
          <a:xfrm>
            <a:off x="640080" y="3250000"/>
            <a:ext cx="3700000" cy="950000"/>
          </a:xfrm>
          <a:prstGeom prst="rect">
            <a:avLst/>
          </a:prstGeom>
          <a:noFill/>
          <a:ln/>
        </p:spPr>
        <p:txBody>
          <a:bodyPr wrap="square" lIns="0" tIns="0" rIns="0" bIns="0" rtlCol="0" anchor="t"/>
          <a:lstStyle/>
          <a:p>
            <a:pPr indent="0" marL="0">
              <a:buNone/>
            </a:pPr>
            <a:r>
              <a:rPr lang="en-US" sz="1100" i="1" dirty="0">
                <a:solidFill>
                  <a:srgbClr val="9D9D9D"/>
                </a:solidFill>
                <a:latin typeface="Arial" pitchFamily="34" charset="0"/>
              </a:rPr>
              <a:t>“You can get gas from this station or that station. It doesn’t matter. Just compare price.”</a:t>
            </a:r>
          </a:p>
        </p:txBody>
      </p:sp>
      <p:sp>
        <p:nvSpPr>
          <p:cNvPr id="7" name="Right Header Box"/>
          <p:cNvSpPr/>
          <p:nvPr/>
        </p:nvSpPr>
        <p:spPr>
          <a:xfrm>
            <a:off x="4522080" y="1000000"/>
            <a:ext cx="3981840" cy="350000"/>
          </a:xfrm>
          <a:prstGeom prst="rect">
            <a:avLst/>
          </a:prstGeom>
          <a:solidFill>
            <a:srgbClr val="993399"/>
          </a:solidFill>
          <a:ln/>
        </p:spPr>
        <p:txBody>
          <a:bodyPr wrap="square" lIns="91440" tIns="91440" rIns="91440" bIns="91440" rtlCol="0" anchor="ctr"/>
          <a:lstStyle/>
          <a:p>
            <a:pPr indent="0" marL="0" algn="ctr">
              <a:buNone/>
            </a:pPr>
            <a:r>
              <a:rPr lang="en-US" sz="1400" b="1" dirty="0">
                <a:solidFill>
                  <a:srgbClr val="FFFFFF"/>
                </a:solidFill>
                <a:latin typeface="Arial" pitchFamily="34" charset="0"/>
              </a:rPr>
              <a:t>YOUR DIFFERENTIATION</a:t>
            </a:r>
          </a:p>
        </p:txBody>
      </p:sp>
      <p:sp>
        <p:nvSpPr>
          <p:cNvPr id="8" name="Right Large Text"/>
          <p:cNvSpPr/>
          <p:nvPr/>
        </p:nvSpPr>
        <p:spPr>
          <a:xfrm>
            <a:off x="4522080" y="1350000"/>
            <a:ext cx="3981840" cy="500000"/>
          </a:xfrm>
          <a:prstGeom prst="rect">
            <a:avLst/>
          </a:prstGeom>
          <a:noFill/>
          <a:ln/>
        </p:spPr>
        <p:txBody>
          <a:bodyPr wrap="square" lIns="0" tIns="0" rIns="0" bIns="0" rtlCol="0" anchor="t"/>
          <a:lstStyle/>
          <a:p>
            <a:pPr indent="0" marL="0">
              <a:buNone/>
            </a:pPr>
            <a:r>
              <a:rPr lang="en-US" sz="2800" b="1" dirty="0">
                <a:solidFill>
                  <a:srgbClr val="06418C"/>
                </a:solidFill>
                <a:latin typeface="Arial" pitchFamily="34" charset="0"/>
              </a:rPr>
              <a:t>Proprietary data</a:t>
            </a:r>
          </a:p>
        </p:txBody>
      </p:sp>
      <p:sp>
        <p:nvSpPr>
          <p:cNvPr id="9" name="Right Bullets"/>
          <p:cNvSpPr/>
          <p:nvPr/>
        </p:nvSpPr>
        <p:spPr>
          <a:xfrm>
            <a:off x="4522080" y="1950000"/>
            <a:ext cx="3981840" cy="1200000"/>
          </a:xfrm>
          <a:prstGeom prst="rect">
            <a:avLst/>
          </a:prstGeom>
          <a:noFill/>
          <a:ln/>
        </p:spPr>
        <p:txBody>
          <a:bodyPr wrap="square" lIns="0" tIns="0" rIns="0" bIns="0" rtlCol="0" anchor="t"/>
          <a:lstStyle/>
          <a:p>
            <a:pPr indent="0" marL="0">
              <a:buNone/>
            </a:pPr>
            <a:r>
              <a:rPr lang="en-US" sz="1100" dirty="0">
                <a:solidFill>
                  <a:srgbClr val="4A4A4A"/>
                </a:solidFill>
                <a:latin typeface="Arial" pitchFamily="34" charset="0"/>
              </a:rPr>
              <a:t>Data your competitors don’t have</a:t>
            </a:r>
          </a:p>
          <a:p>
            <a:pPr indent="0" marL="0">
              <a:buNone/>
            </a:pPr>
            <a:r>
              <a:rPr lang="en-US" sz="1100" dirty="0">
                <a:solidFill>
                  <a:srgbClr val="4A4A4A"/>
                </a:solidFill>
                <a:latin typeface="Arial" pitchFamily="34" charset="0"/>
              </a:rPr>
              <a:t>Unique business processes only you run</a:t>
            </a:r>
          </a:p>
          <a:p>
            <a:pPr indent="0" marL="0">
              <a:buNone/>
            </a:pPr>
            <a:r>
              <a:rPr lang="en-US" sz="1100" dirty="0">
                <a:solidFill>
                  <a:srgbClr val="4A4A4A"/>
                </a:solidFill>
                <a:latin typeface="Arial" pitchFamily="34" charset="0"/>
              </a:rPr>
              <a:t>Your secret sauce — not replicable</a:t>
            </a:r>
          </a:p>
          <a:p>
            <a:pPr indent="0" marL="0">
              <a:buNone/>
            </a:pPr>
            <a:r>
              <a:rPr lang="en-US" sz="1100" dirty="0">
                <a:solidFill>
                  <a:srgbClr val="4A4A4A"/>
                </a:solidFill>
                <a:latin typeface="Arial" pitchFamily="34" charset="0"/>
              </a:rPr>
              <a:t>AI trained on YOUR company’s knowledge</a:t>
            </a:r>
          </a:p>
          <a:p>
            <a:pPr indent="0" marL="0">
              <a:buNone/>
            </a:pPr>
            <a:r>
              <a:rPr lang="en-US" sz="1100" dirty="0">
                <a:solidFill>
                  <a:srgbClr val="4A4A4A"/>
                </a:solidFill>
                <a:latin typeface="Arial" pitchFamily="34" charset="0"/>
              </a:rPr>
              <a:t>This is the only non-commodity AI advantage</a:t>
            </a:r>
          </a:p>
        </p:txBody>
      </p:sp>
      <p:sp>
        <p:nvSpPr>
          <p:cNvPr id="10" name="Right Quote"/>
          <p:cNvSpPr/>
          <p:nvPr/>
        </p:nvSpPr>
        <p:spPr>
          <a:xfrm>
            <a:off x="4522080" y="3250000"/>
            <a:ext cx="3981840" cy="950000"/>
          </a:xfrm>
          <a:prstGeom prst="rect">
            <a:avLst/>
          </a:prstGeom>
          <a:noFill/>
          <a:ln/>
        </p:spPr>
        <p:txBody>
          <a:bodyPr wrap="square" lIns="0" tIns="0" rIns="0" bIns="0" rtlCol="0" anchor="t"/>
          <a:lstStyle/>
          <a:p>
            <a:pPr indent="0" marL="0">
              <a:buNone/>
            </a:pPr>
            <a:r>
              <a:rPr lang="en-US" sz="1100" i="1" dirty="0">
                <a:solidFill>
                  <a:srgbClr val="4471A9"/>
                </a:solidFill>
                <a:latin typeface="Arial" pitchFamily="34" charset="0"/>
              </a:rPr>
              <a:t>“Remove all the data from Glean and it’s useless. It’s all about the data.”</a:t>
            </a:r>
          </a:p>
        </p:txBody>
      </p:sp>
      <p:sp>
        <p:nvSpPr>
          <p:cNvPr id="11" name="Footer Line"/>
          <p:cNvSpPr/>
          <p:nvPr/>
        </p:nvSpPr>
        <p:spPr>
          <a:xfrm>
            <a:off x="457200" y="4645152"/>
            <a:ext cx="8229600" cy="0"/>
          </a:xfrm>
          <a:prstGeom prst="rect">
            <a:avLst/>
          </a:prstGeom>
          <a:noFill/>
          <a:ln w="6350">
            <a:solidFill>
              <a:srgbClr val="D0D0D0"/>
            </a:solidFill>
          </a:ln>
        </p:spPr>
      </p:sp>
      <p:sp>
        <p:nvSpPr>
          <p:cNvPr id="12" name="Copyright"/>
          <p:cNvSpPr/>
          <p:nvPr/>
        </p:nvSpPr>
        <p:spPr>
          <a:xfrm>
            <a:off x="457200" y="4727448"/>
            <a:ext cx="2926080" cy="274320"/>
          </a:xfrm>
          <a:prstGeom prst="rect">
            <a:avLst/>
          </a:prstGeom>
          <a:noFill/>
          <a:ln/>
        </p:spPr>
        <p:txBody>
          <a:bodyPr wrap="square" lIns="0" tIns="0" rIns="0" bIns="0" rtlCol="0" anchor="t"/>
          <a:lstStyle/>
          <a:p>
            <a:pPr indent="0" marL="0">
              <a:buNone/>
            </a:pPr>
            <a:r>
              <a:rPr lang="en-US" sz="700" dirty="0">
                <a:solidFill>
                  <a:srgbClr val="9D9D9D"/>
                </a:solidFill>
                <a:latin typeface="Arial" pitchFamily="34" charset="0"/>
              </a:rPr>
              <a:t>© 2026 Renesas Electronics Corporation. All rights reserved.</a:t>
            </a:r>
          </a:p>
        </p:txBody>
      </p:sp>
      <p:sp>
        <p:nvSpPr>
          <p:cNvPr id="13" name="Badge Box"/>
          <p:cNvSpPr/>
          <p:nvPr/>
        </p:nvSpPr>
        <p:spPr>
          <a:xfrm>
            <a:off x="3840480" y="4764024"/>
            <a:ext cx="1188720" cy="182880"/>
          </a:xfrm>
          <a:prstGeom prst="rect">
            <a:avLst/>
          </a:prstGeom>
          <a:solidFill>
            <a:srgbClr val="993399"/>
          </a:solidFill>
          <a:ln/>
        </p:spPr>
      </p:sp>
      <p:sp>
        <p:nvSpPr>
          <p:cNvPr id="14" name="Confidential Badge"/>
          <p:cNvSpPr/>
          <p:nvPr/>
        </p:nvSpPr>
        <p:spPr>
          <a:xfrm>
            <a:off x="3840480" y="4727448"/>
            <a:ext cx="1188720" cy="237744"/>
          </a:xfrm>
          <a:prstGeom prst="rect">
            <a:avLst/>
          </a:prstGeom>
          <a:noFill/>
          <a:ln/>
        </p:spPr>
        <p:txBody>
          <a:bodyPr wrap="square" lIns="0" tIns="0" rIns="0" bIns="0" rtlCol="0" anchor="ctr"/>
          <a:lstStyle/>
          <a:p>
            <a:pPr indent="0" marL="0" algn="ctr">
              <a:buNone/>
            </a:pPr>
            <a:r>
              <a:rPr lang="en-US" sz="700" b="1" dirty="0">
                <a:solidFill>
                  <a:srgbClr val="FFFFFF"/>
                </a:solidFill>
                <a:latin typeface="Arial" pitchFamily="34" charset="0"/>
              </a:rPr>
              <a:t>RENESAS CONFIDENTIAL</a:t>
            </a:r>
          </a:p>
        </p:txBody>
      </p:sp>
      <p:sp>
        <p:nvSpPr>
          <p:cNvPr id="15" name="Page Number"/>
          <p:cNvSpPr/>
          <p:nvPr/>
        </p:nvSpPr>
        <p:spPr>
          <a:xfrm>
            <a:off x="7772400" y="4727448"/>
            <a:ext cx="914400" cy="274320"/>
          </a:xfrm>
          <a:prstGeom prst="rect">
            <a:avLst/>
          </a:prstGeom>
          <a:noFill/>
          <a:ln/>
        </p:spPr>
        <p:txBody>
          <a:bodyPr wrap="square" lIns="0" tIns="0" rIns="0" bIns="0" rtlCol="0" anchor="t"/>
          <a:lstStyle/>
          <a:p>
            <a:pPr indent="0" marL="0" algn="r">
              <a:buNone/>
            </a:pPr>
            <a:r>
              <a:rPr lang="en-US" sz="700" dirty="0">
                <a:solidFill>
                  <a:srgbClr val="9D9D9D"/>
                </a:solidFill>
                <a:latin typeface="Arial" pitchFamily="34" charset="0"/>
              </a:rPr>
              <a:t>Page B8</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9144000" cy="5143500"/>
          <a:chOff x="0" y="0"/>
          <a:chExt cx="9144000" cy="5143500"/>
        </a:xfrm>
      </p:grpSpPr>
      <p:sp>
        <p:nvSpPr>
          <p:cNvPr id="2" name="Title"/>
          <p:cNvSpPr/>
          <p:nvPr/>
        </p:nvSpPr>
        <p:spPr>
          <a:xfrm>
            <a:off x="640080" y="320040"/>
            <a:ext cx="7863840" cy="548640"/>
          </a:xfrm>
          <a:prstGeom prst="rect">
            <a:avLst/>
          </a:prstGeom>
          <a:noFill/>
          <a:ln/>
        </p:spPr>
        <p:txBody>
          <a:bodyPr wrap="square" lIns="0" tIns="0" rIns="0" bIns="0" rtlCol="0" anchor="t"/>
          <a:lstStyle/>
          <a:p>
            <a:pPr indent="0" marL="0">
              <a:buNone/>
            </a:pPr>
            <a:r>
              <a:rPr lang="en-US" sz="2600" b="1" dirty="0">
                <a:solidFill>
                  <a:srgbClr val="06418C"/>
                </a:solidFill>
                <a:latin typeface="Arial" pitchFamily="34" charset="0"/>
              </a:rPr>
              <a:t>Three camps on AI. Be in camp three.</a:t>
            </a:r>
          </a:p>
        </p:txBody>
      </p:sp>
      <p:sp>
        <p:nvSpPr>
          <p:cNvPr id="3" name="Camp1 Label Box"/>
          <p:cNvSpPr/>
          <p:nvPr/>
        </p:nvSpPr>
        <p:spPr>
          <a:xfrm>
            <a:off x="640080" y="900000"/>
            <a:ext cx="1600000" cy="1100000"/>
          </a:xfrm>
          <a:prstGeom prst="rect">
            <a:avLst/>
          </a:prstGeom>
          <a:solidFill>
            <a:srgbClr val="042D5E"/>
          </a:solidFill>
          <a:ln/>
        </p:spPr>
        <p:txBody>
          <a:bodyPr wrap="square" lIns="91440" tIns="91440" rIns="91440" bIns="91440" rtlCol="0" anchor="ctr"/>
          <a:lstStyle/>
          <a:p>
            <a:pPr indent="0" marL="0" algn="ctr">
              <a:buNone/>
            </a:pPr>
            <a:r>
              <a:rPr lang="en-US" sz="1100" b="1" dirty="0">
                <a:solidFill>
                  <a:srgbClr val="FFFFFF"/>
                </a:solidFill>
                <a:latin typeface="Arial" pitchFamily="34" charset="0"/>
              </a:rPr>
              <a:t>CAMP 1</a:t>
            </a:r>
          </a:p>
        </p:txBody>
      </p:sp>
      <p:sp>
        <p:nvSpPr>
          <p:cNvPr id="4" name="Camp1 Content"/>
          <p:cNvSpPr/>
          <p:nvPr/>
        </p:nvSpPr>
        <p:spPr>
          <a:xfrm>
            <a:off x="2400080" y="900000"/>
            <a:ext cx="6103840" cy="1100000"/>
          </a:xfrm>
          <a:prstGeom prst="rect">
            <a:avLst/>
          </a:prstGeom>
          <a:noFill/>
          <a:ln/>
        </p:spPr>
        <p:txBody>
          <a:bodyPr wrap="square" lIns="0" tIns="0" rIns="0" bIns="0" rtlCol="0" anchor="t"/>
          <a:lstStyle/>
          <a:p>
            <a:pPr indent="0" marL="0">
              <a:buNone/>
            </a:pPr>
            <a:r>
              <a:rPr lang="en-US" sz="1400" b="1" dirty="0">
                <a:solidFill>
                  <a:srgbClr val="06418C"/>
                </a:solidFill>
                <a:latin typeface="Arial" pitchFamily="34" charset="0"/>
              </a:rPr>
              <a:t>The Super-Intelligence Quest</a:t>
            </a:r>
          </a:p>
          <a:p>
            <a:pPr indent="0" marL="0">
              <a:buNone/>
            </a:pPr>
            <a:r>
              <a:rPr lang="en-US" sz="1000" dirty="0">
                <a:solidFill>
                  <a:srgbClr val="4A4A4A"/>
                </a:solidFill>
                <a:latin typeface="Arial" pitchFamily="34" charset="0"/>
              </a:rPr>
              <a:t>Frontier labs. Scaling laws. Most capital. Bigger clusters, more GPUs, more energy. Quest for godlike AI that cures cancer and 10x GDP. High risk — valuations massively ahead of proven ROI.</a:t>
            </a:r>
          </a:p>
        </p:txBody>
      </p:sp>
      <p:sp>
        <p:nvSpPr>
          <p:cNvPr id="5" name="Camp2 Label Box"/>
          <p:cNvSpPr/>
          <p:nvPr/>
        </p:nvSpPr>
        <p:spPr>
          <a:xfrm>
            <a:off x="640080" y="2200000"/>
            <a:ext cx="1600000" cy="1100000"/>
          </a:xfrm>
          <a:prstGeom prst="rect">
            <a:avLst/>
          </a:prstGeom>
          <a:solidFill>
            <a:srgbClr val="4471A9"/>
          </a:solidFill>
          <a:ln/>
        </p:spPr>
        <p:txBody>
          <a:bodyPr wrap="square" lIns="91440" tIns="91440" rIns="91440" bIns="91440" rtlCol="0" anchor="ctr"/>
          <a:lstStyle/>
          <a:p>
            <a:pPr indent="0" marL="0" algn="ctr">
              <a:buNone/>
            </a:pPr>
            <a:r>
              <a:rPr lang="en-US" sz="1100" b="1" dirty="0">
                <a:solidFill>
                  <a:srgbClr val="FFFFFF"/>
                </a:solidFill>
                <a:latin typeface="Arial" pitchFamily="34" charset="0"/>
              </a:rPr>
              <a:t>CAMP 2</a:t>
            </a:r>
          </a:p>
        </p:txBody>
      </p:sp>
      <p:sp>
        <p:nvSpPr>
          <p:cNvPr id="6" name="Camp2 Content"/>
          <p:cNvSpPr/>
          <p:nvPr/>
        </p:nvSpPr>
        <p:spPr>
          <a:xfrm>
            <a:off x="2400080" y="2200000"/>
            <a:ext cx="6103840" cy="1100000"/>
          </a:xfrm>
          <a:prstGeom prst="rect">
            <a:avLst/>
          </a:prstGeom>
          <a:noFill/>
          <a:ln/>
        </p:spPr>
        <p:txBody>
          <a:bodyPr wrap="square" lIns="0" tIns="0" rIns="0" bIns="0" rtlCol="0" anchor="t"/>
          <a:lstStyle/>
          <a:p>
            <a:pPr indent="0" marL="0">
              <a:buNone/>
            </a:pPr>
            <a:r>
              <a:rPr lang="en-US" sz="1400" b="1" dirty="0">
                <a:solidFill>
                  <a:srgbClr val="06418C"/>
                </a:solidFill>
                <a:latin typeface="Arial" pitchFamily="34" charset="0"/>
              </a:rPr>
              <a:t>The Scientists</a:t>
            </a:r>
          </a:p>
          <a:p>
            <a:pPr indent="0" marL="0">
              <a:buNone/>
            </a:pPr>
            <a:r>
              <a:rPr lang="en-US" sz="1000" dirty="0">
                <a:solidFill>
                  <a:srgbClr val="4A4A4A"/>
                </a:solidFill>
                <a:latin typeface="Arial" pitchFamily="34" charset="0"/>
              </a:rPr>
              <a:t>Rich Sutton, Yann LeCun. Created the foundational technology. Say next-token prediction is the wrong approach. 20 years out. Sober. Probably right. “Nobody cares about them.”</a:t>
            </a:r>
          </a:p>
        </p:txBody>
      </p:sp>
      <p:sp>
        <p:nvSpPr>
          <p:cNvPr id="7" name="Camp3 Label Box"/>
          <p:cNvSpPr/>
          <p:nvPr/>
        </p:nvSpPr>
        <p:spPr>
          <a:xfrm>
            <a:off x="640080" y="3500000"/>
            <a:ext cx="1600000" cy="1100000"/>
          </a:xfrm>
          <a:prstGeom prst="rect">
            <a:avLst/>
          </a:prstGeom>
          <a:solidFill>
            <a:srgbClr val="993399"/>
          </a:solidFill>
          <a:ln/>
        </p:spPr>
        <p:txBody>
          <a:bodyPr wrap="square" lIns="91440" tIns="91440" rIns="91440" bIns="91440" rtlCol="0" anchor="ctr"/>
          <a:lstStyle/>
          <a:p>
            <a:pPr indent="0" marL="0" algn="ctr">
              <a:buNone/>
            </a:pPr>
            <a:r>
              <a:rPr lang="en-US" sz="1100" b="1" dirty="0">
                <a:solidFill>
                  <a:srgbClr val="FFFFFF"/>
                </a:solidFill>
                <a:latin typeface="Arial" pitchFamily="34" charset="0"/>
              </a:rPr>
              <a:t>CAMP 3</a:t>
            </a:r>
          </a:p>
        </p:txBody>
      </p:sp>
      <p:sp>
        <p:nvSpPr>
          <p:cNvPr id="8" name="Camp3 Content"/>
          <p:cNvSpPr/>
          <p:nvPr/>
        </p:nvSpPr>
        <p:spPr>
          <a:xfrm>
            <a:off x="2400080" y="3500000"/>
            <a:ext cx="6103840" cy="1100000"/>
          </a:xfrm>
          <a:prstGeom prst="rect">
            <a:avLst/>
          </a:prstGeom>
          <a:noFill/>
          <a:ln/>
        </p:spPr>
        <p:txBody>
          <a:bodyPr wrap="square" lIns="0" tIns="0" rIns="0" bIns="0" rtlCol="0" anchor="t"/>
          <a:lstStyle/>
          <a:p>
            <a:pPr indent="0" marL="0">
              <a:buNone/>
            </a:pPr>
            <a:r>
              <a:rPr lang="en-US" sz="1400" b="1" dirty="0">
                <a:solidFill>
                  <a:srgbClr val="993399"/>
                </a:solidFill>
                <a:latin typeface="Arial" pitchFamily="34" charset="0"/>
              </a:rPr>
              <a:t>The Practitioners (Us)</a:t>
            </a:r>
          </a:p>
          <a:p>
            <a:pPr indent="0" marL="0">
              <a:buNone/>
            </a:pPr>
            <a:r>
              <a:rPr lang="en-US" sz="1000" dirty="0">
                <a:solidFill>
                  <a:srgbClr val="4A4A4A"/>
                </a:solidFill>
                <a:latin typeface="Arial" pitchFamily="34" charset="0"/>
              </a:rPr>
              <a:t>We already have AGI. By any 2009 Berkeley AI lab definition, we’ve satisfied it. The goalpost moved. Forget super-intelligence. Expand the 5% of working AI to 10%, 20%, 30%. That’s enough to generate massive economic value.</a:t>
            </a:r>
          </a:p>
        </p:txBody>
      </p:sp>
      <p:sp>
        <p:nvSpPr>
          <p:cNvPr id="9" name="Footer Line"/>
          <p:cNvSpPr/>
          <p:nvPr/>
        </p:nvSpPr>
        <p:spPr>
          <a:xfrm>
            <a:off x="457200" y="4645152"/>
            <a:ext cx="8229600" cy="0"/>
          </a:xfrm>
          <a:prstGeom prst="rect">
            <a:avLst/>
          </a:prstGeom>
          <a:noFill/>
          <a:ln w="6350">
            <a:solidFill>
              <a:srgbClr val="D0D0D0"/>
            </a:solidFill>
          </a:ln>
        </p:spPr>
      </p:sp>
      <p:sp>
        <p:nvSpPr>
          <p:cNvPr id="10" name="Copyright"/>
          <p:cNvSpPr/>
          <p:nvPr/>
        </p:nvSpPr>
        <p:spPr>
          <a:xfrm>
            <a:off x="457200" y="4727448"/>
            <a:ext cx="2926080" cy="274320"/>
          </a:xfrm>
          <a:prstGeom prst="rect">
            <a:avLst/>
          </a:prstGeom>
          <a:noFill/>
          <a:ln/>
        </p:spPr>
        <p:txBody>
          <a:bodyPr wrap="square" lIns="0" tIns="0" rIns="0" bIns="0" rtlCol="0" anchor="t"/>
          <a:lstStyle/>
          <a:p>
            <a:pPr indent="0" marL="0">
              <a:buNone/>
            </a:pPr>
            <a:r>
              <a:rPr lang="en-US" sz="700" dirty="0">
                <a:solidFill>
                  <a:srgbClr val="9D9D9D"/>
                </a:solidFill>
                <a:latin typeface="Arial" pitchFamily="34" charset="0"/>
              </a:rPr>
              <a:t>© 2026 Renesas Electronics Corporation. All rights reserved.</a:t>
            </a:r>
          </a:p>
        </p:txBody>
      </p:sp>
      <p:sp>
        <p:nvSpPr>
          <p:cNvPr id="11" name="Badge Box"/>
          <p:cNvSpPr/>
          <p:nvPr/>
        </p:nvSpPr>
        <p:spPr>
          <a:xfrm>
            <a:off x="3840480" y="4764024"/>
            <a:ext cx="1188720" cy="182880"/>
          </a:xfrm>
          <a:prstGeom prst="rect">
            <a:avLst/>
          </a:prstGeom>
          <a:solidFill>
            <a:srgbClr val="993399"/>
          </a:solidFill>
          <a:ln/>
        </p:spPr>
      </p:sp>
      <p:sp>
        <p:nvSpPr>
          <p:cNvPr id="12" name="Confidential Badge"/>
          <p:cNvSpPr/>
          <p:nvPr/>
        </p:nvSpPr>
        <p:spPr>
          <a:xfrm>
            <a:off x="3840480" y="4727448"/>
            <a:ext cx="1188720" cy="237744"/>
          </a:xfrm>
          <a:prstGeom prst="rect">
            <a:avLst/>
          </a:prstGeom>
          <a:noFill/>
          <a:ln/>
        </p:spPr>
        <p:txBody>
          <a:bodyPr wrap="square" lIns="0" tIns="0" rIns="0" bIns="0" rtlCol="0" anchor="ctr"/>
          <a:lstStyle/>
          <a:p>
            <a:pPr indent="0" marL="0" algn="ctr">
              <a:buNone/>
            </a:pPr>
            <a:r>
              <a:rPr lang="en-US" sz="700" b="1" dirty="0">
                <a:solidFill>
                  <a:srgbClr val="FFFFFF"/>
                </a:solidFill>
                <a:latin typeface="Arial" pitchFamily="34" charset="0"/>
              </a:rPr>
              <a:t>RENESAS CONFIDENTIAL</a:t>
            </a:r>
          </a:p>
        </p:txBody>
      </p:sp>
      <p:sp>
        <p:nvSpPr>
          <p:cNvPr id="13" name="Page Number"/>
          <p:cNvSpPr/>
          <p:nvPr/>
        </p:nvSpPr>
        <p:spPr>
          <a:xfrm>
            <a:off x="7772400" y="4727448"/>
            <a:ext cx="914400" cy="274320"/>
          </a:xfrm>
          <a:prstGeom prst="rect">
            <a:avLst/>
          </a:prstGeom>
          <a:noFill/>
          <a:ln/>
        </p:spPr>
        <p:txBody>
          <a:bodyPr wrap="square" lIns="0" tIns="0" rIns="0" bIns="0" rtlCol="0" anchor="t"/>
          <a:lstStyle/>
          <a:p>
            <a:pPr indent="0" marL="0" algn="r">
              <a:buNone/>
            </a:pPr>
            <a:r>
              <a:rPr lang="en-US" sz="700" dirty="0">
                <a:solidFill>
                  <a:srgbClr val="9D9D9D"/>
                </a:solidFill>
                <a:latin typeface="Arial" pitchFamily="34" charset="0"/>
              </a:rPr>
              <a:t>Page B9</a:t>
            </a:r>
          </a:p>
        </p:txBody>
      </p:sp>
    </p:spTree>
  </p:cSld>
  <p:clrMapOvr>
    <a:masterClrMapping/>
  </p:clrMapOvr>
</p:sld>
</file>

<file path=ppt/slides/slide81.xml><?xml version="1.0" encoding="utf-8"?>
<p:sld xmlns:p="http://schemas.openxmlformats.org/presentationml/2006/main" xmlns:r="http://schemas.openxmlformats.org/officeDocument/2006/relationships" xmlns:a="http://schemas.openxmlformats.org/drawingml/2006/main">
  <p:cSld>
    <p:bg>
      <p:bgPr>
        <a:xfrm>
          <a:off x="0" y="0"/>
          <a:ext cx="9144000" cy="5143500"/>
        </a:xfrm>
        <a:prstGeom prst="rect">
          <a:avLst/>
        </a:prstGeom>
        <a:solidFill>
          <a:srgbClr val="FFFFFF"/>
        </a:solidFill>
        <a:noGrpSpFill/>
        <a:effectLst/>
      </p:bgPr>
    </p:bg>
    <p:spTree>
      <p:nvGrpSpPr>
        <p:cNvPr id="1" name="Slide 81"/>
        <p:cNvGrpSpPr/>
        <p:nvPr/>
      </p:nvGrpSpPr>
      <p:grpSpPr>
        <a:xfrm>
          <a:off x="0" y="0"/>
          <a:ext cx="9144000" cy="5143500"/>
          <a:chOff x="0" y="0"/>
          <a:chExt cx="9144000" cy="5143500"/>
        </a:xfrm>
        <a:prstGeom prst="rect">
          <a:avLst/>
        </a:prstGeom>
        <a:noFill/>
      </p:grpSpPr>
      <p:sp>
        <p:nvSpPr>
          <p:cNvPr id="2" name="Title"/>
          <p:cNvSpPr/>
          <p:nvPr/>
        </p:nvSpPr>
        <p:spPr>
          <a:xfrm>
            <a:off x="457200" y="320040"/>
            <a:ext cx="8229600" cy="548640"/>
          </a:xfrm>
          <a:prstGeom prst="rect">
            <a:avLst/>
          </a:prstGeom>
          <a:noFill/>
          <a:ln/>
        </p:spPr>
        <p:txBody>
          <a:bodyPr wrap="square" lIns="0" tIns="0" rIns="0" bIns="0" rtlCol="0" anchor="t"/>
          <a:lstStyle/>
          <a:p>
            <a:pPr indent="0" marL="0">
              <a:buNone/>
            </a:pPr>
            <a:r>
              <a:rPr lang="en-US" sz="2600" b="1" dirty="0">
                <a:solidFill>
                  <a:srgbClr val="06418C"/>
                </a:solidFill>
                <a:latin typeface="Arial" pitchFamily="34" charset="0"/>
                <a:ea typeface="Arial" pitchFamily="34" charset="-122"/>
                <a:cs typeface="Arial" pitchFamily="34" charset="-120"/>
              </a:rPr>
              <a:t>The internal transformation playbook.</a:t>
            </a:r>
          </a:p>
        </p:txBody>
      </p:sp>
      <p:sp>
        <p:nvSpPr>
          <p:cNvPr id="3" name="Left Header"/>
          <p:cNvSpPr/>
          <p:nvPr/>
        </p:nvSpPr>
        <p:spPr>
          <a:xfrm>
            <a:off x="640080" y="900000"/>
            <a:ext cx="3700000" cy="280000"/>
          </a:xfrm>
          <a:prstGeom prst="rect">
            <a:avLst/>
          </a:prstGeom>
          <a:solidFill>
            <a:srgbClr val="D0D0D0"/>
          </a:solidFill>
          <a:ln/>
        </p:spPr>
        <p:txBody>
          <a:bodyPr wrap="square" lIns="91440" tIns="45720" rIns="91440" bIns="45720" rtlCol="0" anchor="ctr"/>
          <a:lstStyle/>
          <a:p>
            <a:pPr indent="0" marL="0" algn="ctr">
              <a:buNone/>
            </a:pPr>
            <a:r>
              <a:rPr lang="en-US" sz="1200" b="1" dirty="0">
                <a:solidFill>
                  <a:srgbClr val="4A4A4A"/>
                </a:solidFill>
                <a:latin typeface="Arial" pitchFamily="34" charset="0"/>
                <a:ea typeface="Arial" pitchFamily="34" charset="-122"/>
                <a:cs typeface="Arial" pitchFamily="34" charset="-120"/>
              </a:rPr>
              <a:t>WHAT'S HARD</a:t>
            </a:r>
          </a:p>
        </p:txBody>
      </p:sp>
      <p:sp>
        <p:nvSpPr>
          <p:cNvPr id="4" name="Left Content"/>
          <p:cNvSpPr/>
          <p:nvPr/>
        </p:nvSpPr>
        <p:spPr>
          <a:xfrm>
            <a:off x="640080" y="1250000"/>
            <a:ext cx="3700000" cy="3250000"/>
          </a:xfrm>
          <a:prstGeom prst="rect">
            <a:avLst/>
          </a:prstGeom>
          <a:noFill/>
          <a:ln/>
        </p:spPr>
        <p:txBody>
          <a:bodyPr wrap="square" lIns="91440" tIns="45720" rIns="91440" bIns="45720" rtlCol="0" anchor="t"/>
          <a:lstStyle/>
          <a:p>
            <a:pPr indent="0" marL="0">
              <a:buNone/>
            </a:pPr>
            <a:r>
              <a:rPr lang="en-US" sz="1100" b="1" dirty="0">
                <a:solidFill>
                  <a:srgbClr val="4A4A4A"/>
                </a:solidFill>
                <a:latin typeface="Arial" pitchFamily="34" charset="0"/>
                <a:ea typeface="Arial" pitchFamily="34" charset="-122"/>
                <a:cs typeface="Arial" pitchFamily="34" charset="-120"/>
              </a:rPr>
              <a:t>Engineering automation</a:t>
            </a:r>
            <a:r>
              <a:rPr lang="en-US" sz="1100" b="0" dirty="0">
                <a:solidFill>
                  <a:srgbClr val="4A4A4A"/>
                </a:solidFill>
                <a:latin typeface="Arial" pitchFamily="34" charset="0"/>
                <a:ea typeface="Arial" pitchFamily="34" charset="-122"/>
                <a:cs typeface="Arial" pitchFamily="34" charset="-120"/>
              </a:rPr>
              <a:t xml:space="preserve"> Failed initially — not AI's fault. Human org design was the problem. Reorg was required.</a:t>
            </a:r>
          </a:p>
          <a:p>
            <a:pPr indent="0" marL="0">
              <a:buNone/>
            </a:pPr>
          </a:p>
          <a:p>
            <a:pPr indent="0" marL="0">
              <a:buNone/>
            </a:pPr>
            <a:r>
              <a:rPr lang="en-US" sz="1100" b="1" dirty="0">
                <a:solidFill>
                  <a:srgbClr val="4A4A4A"/>
                </a:solidFill>
                <a:latin typeface="Arial" pitchFamily="34" charset="0"/>
                <a:ea typeface="Arial" pitchFamily="34" charset="-122"/>
                <a:cs typeface="Arial" pitchFamily="34" charset="-120"/>
              </a:rPr>
              <a:t>Finance moving off Excel</a:t>
            </a:r>
            <a:r>
              <a:rPr lang="en-US" sz="1100" b="0" dirty="0">
                <a:solidFill>
                  <a:srgbClr val="4A4A4A"/>
                </a:solidFill>
                <a:latin typeface="Arial" pitchFamily="34" charset="0"/>
                <a:ea typeface="Arial" pitchFamily="34" charset="-122"/>
                <a:cs typeface="Arial" pitchFamily="34" charset="-120"/>
              </a:rPr>
              <a:t xml:space="preserve"> Change management harder than the tech. Finance teams proud of their models. Took time + external data science team to bootstrap credibility.</a:t>
            </a:r>
          </a:p>
          <a:p>
            <a:pPr indent="0" marL="0">
              <a:buNone/>
            </a:pPr>
          </a:p>
          <a:p>
            <a:pPr indent="0" marL="0">
              <a:buNone/>
            </a:pPr>
            <a:r>
              <a:rPr lang="en-US" sz="1100" b="1" dirty="0">
                <a:solidFill>
                  <a:srgbClr val="4A4A4A"/>
                </a:solidFill>
                <a:latin typeface="Arial" pitchFamily="34" charset="0"/>
                <a:ea typeface="Arial" pitchFamily="34" charset="-122"/>
                <a:cs typeface="Arial" pitchFamily="34" charset="-120"/>
              </a:rPr>
              <a:t>CEO visibility into priorities</a:t>
            </a:r>
            <a:r>
              <a:rPr lang="en-US" sz="1100" b="0" dirty="0">
                <a:solidFill>
                  <a:srgbClr val="4A4A4A"/>
                </a:solidFill>
                <a:latin typeface="Arial" pitchFamily="34" charset="0"/>
                <a:ea typeface="Arial" pitchFamily="34" charset="-122"/>
                <a:cs typeface="Arial" pitchFamily="34" charset="-120"/>
              </a:rPr>
              <a:t xml:space="preserve"> Wanted AI to give every employee their top weekly priority and roll it up. Still doesn't work perfectly. Enterprise systems are harder than they look.</a:t>
            </a:r>
          </a:p>
        </p:txBody>
      </p:sp>
      <p:sp>
        <p:nvSpPr>
          <p:cNvPr id="5" name="Right Header"/>
          <p:cNvSpPr/>
          <p:nvPr/>
        </p:nvSpPr>
        <p:spPr>
          <a:xfrm>
            <a:off x="4522080" y="900000"/>
            <a:ext cx="3981840" cy="280000"/>
          </a:xfrm>
          <a:prstGeom prst="rect">
            <a:avLst/>
          </a:prstGeom>
          <a:solidFill>
            <a:srgbClr val="993399"/>
          </a:solidFill>
          <a:ln/>
        </p:spPr>
        <p:txBody>
          <a:bodyPr wrap="square" lIns="91440" tIns="45720" rIns="91440" bIns="45720" rtlCol="0" anchor="ctr"/>
          <a:lstStyle/>
          <a:p>
            <a:pPr indent="0" marL="0" algn="ctr">
              <a:buNone/>
            </a:pPr>
            <a:r>
              <a:rPr lang="en-US" sz="1200" b="1" dirty="0">
                <a:solidFill>
                  <a:srgbClr val="FFFFFF"/>
                </a:solidFill>
                <a:latin typeface="Arial" pitchFamily="34" charset="0"/>
                <a:ea typeface="Arial" pitchFamily="34" charset="-122"/>
                <a:cs typeface="Arial" pitchFamily="34" charset="-120"/>
              </a:rPr>
              <a:t>WHAT WORKS</a:t>
            </a:r>
          </a:p>
        </p:txBody>
      </p:sp>
      <p:sp>
        <p:nvSpPr>
          <p:cNvPr id="6" name="Right Content"/>
          <p:cNvSpPr/>
          <p:nvPr/>
        </p:nvSpPr>
        <p:spPr>
          <a:xfrm>
            <a:off x="4522080" y="1250000"/>
            <a:ext cx="3981840" cy="3250000"/>
          </a:xfrm>
          <a:prstGeom prst="rect">
            <a:avLst/>
          </a:prstGeom>
          <a:noFill/>
          <a:ln/>
        </p:spPr>
        <p:txBody>
          <a:bodyPr wrap="square" lIns="91440" tIns="45720" rIns="91440" bIns="45720" rtlCol="0" anchor="t"/>
          <a:lstStyle/>
          <a:p>
            <a:pPr indent="0" marL="0">
              <a:buNone/>
            </a:pPr>
            <a:r>
              <a:rPr lang="en-US" sz="1100" b="1" dirty="0">
                <a:solidFill>
                  <a:srgbClr val="4A4A4A"/>
                </a:solidFill>
                <a:latin typeface="Arial" pitchFamily="34" charset="0"/>
                <a:ea typeface="Arial" pitchFamily="34" charset="-122"/>
                <a:cs typeface="Arial" pitchFamily="34" charset="-120"/>
              </a:rPr>
              <a:t>Customer intelligence (Refi)</a:t>
            </a:r>
            <a:r>
              <a:rPr lang="en-US" sz="1100" b="0" dirty="0">
                <a:solidFill>
                  <a:srgbClr val="4A4A4A"/>
                </a:solidFill>
                <a:latin typeface="Arial" pitchFamily="34" charset="0"/>
                <a:ea typeface="Arial" pitchFamily="34" charset="-122"/>
                <a:cs typeface="Arial" pitchFamily="34" charset="-120"/>
              </a:rPr>
              <a:t xml:space="preserve"> Before any customer meeting: agent pulls everything about the account, their competitors' Databricks usage, relevant case studies. Replaces a 30-person research sprint.</a:t>
            </a:r>
          </a:p>
          <a:p>
            <a:pPr indent="0" marL="0">
              <a:buNone/>
            </a:pPr>
          </a:p>
          <a:p>
            <a:pPr indent="0" marL="0">
              <a:buNone/>
            </a:pPr>
            <a:r>
              <a:rPr lang="en-US" sz="1100" b="1" dirty="0">
                <a:solidFill>
                  <a:srgbClr val="4A4A4A"/>
                </a:solidFill>
                <a:latin typeface="Arial" pitchFamily="34" charset="0"/>
                <a:ea typeface="Arial" pitchFamily="34" charset="-122"/>
                <a:cs typeface="Arial" pitchFamily="34" charset="-120"/>
              </a:rPr>
              <a:t>Daily prep agent</a:t>
            </a:r>
            <a:r>
              <a:rPr lang="en-US" sz="1100" b="0" dirty="0">
                <a:solidFill>
                  <a:srgbClr val="4A4A4A"/>
                </a:solidFill>
                <a:latin typeface="Arial" pitchFamily="34" charset="0"/>
                <a:ea typeface="Arial" pitchFamily="34" charset="-122"/>
                <a:cs typeface="Arial" pitchFamily="34" charset="-120"/>
              </a:rPr>
              <a:t xml:space="preserve"> Every morning: calendar context, meeting prep, read list. Walk into every meeting with full context. Changes how you operate.</a:t>
            </a:r>
          </a:p>
          <a:p>
            <a:pPr indent="0" marL="0">
              <a:buNone/>
            </a:pPr>
          </a:p>
          <a:p>
            <a:pPr indent="0" marL="0">
              <a:buNone/>
            </a:pPr>
            <a:r>
              <a:rPr lang="en-US" sz="1100" b="1" dirty="0">
                <a:solidFill>
                  <a:srgbClr val="4A4A4A"/>
                </a:solidFill>
                <a:latin typeface="Arial" pitchFamily="34" charset="0"/>
                <a:ea typeface="Arial" pitchFamily="34" charset="-122"/>
                <a:cs typeface="Arial" pitchFamily="34" charset="-120"/>
              </a:rPr>
              <a:t>Finance forecasting</a:t>
            </a:r>
            <a:r>
              <a:rPr lang="en-US" sz="1100" b="0" dirty="0">
                <a:solidFill>
                  <a:srgbClr val="4A4A4A"/>
                </a:solidFill>
                <a:latin typeface="Arial" pitchFamily="34" charset="0"/>
                <a:ea typeface="Arial" pitchFamily="34" charset="-122"/>
                <a:cs typeface="Arial" pitchFamily="34" charset="-120"/>
              </a:rPr>
              <a:t xml:space="preserve"> Excel → Python-based ML. Full transition complete at Databricks. Faster, more accurate, fully automated. Finance now writes Python.</a:t>
            </a:r>
          </a:p>
          <a:p>
            <a:pPr indent="0" marL="0">
              <a:buNone/>
            </a:pPr>
          </a:p>
          <a:p>
            <a:pPr indent="0" marL="0">
              <a:buNone/>
            </a:pPr>
            <a:r>
              <a:rPr lang="en-US" sz="1100" b="1" dirty="0">
                <a:solidFill>
                  <a:srgbClr val="4A4A4A"/>
                </a:solidFill>
                <a:latin typeface="Arial" pitchFamily="34" charset="0"/>
                <a:ea typeface="Arial" pitchFamily="34" charset="-122"/>
                <a:cs typeface="Arial" pitchFamily="34" charset="-120"/>
              </a:rPr>
              <a:t>Marketing automation</a:t>
            </a:r>
            <a:r>
              <a:rPr lang="en-US" sz="1100" b="0" dirty="0">
                <a:solidFill>
                  <a:srgbClr val="4A4A4A"/>
                </a:solidFill>
                <a:latin typeface="Arial" pitchFamily="34" charset="0"/>
                <a:ea typeface="Arial" pitchFamily="34" charset="-122"/>
                <a:cs typeface="Arial" pitchFamily="34" charset="-120"/>
              </a:rPr>
              <a:t xml:space="preserve"> Full stack: audience segmentation, content creation, campaign execution. More granular, faster, lower cost.</a:t>
            </a:r>
          </a:p>
        </p:txBody>
      </p:sp>
      <p:sp>
        <p:nvSpPr>
          <p:cNvPr id="7" name="Quote"/>
          <p:cNvSpPr/>
          <p:nvPr/>
        </p:nvSpPr>
        <p:spPr>
          <a:xfrm>
            <a:off x="640080" y="4480000"/>
            <a:ext cx="7863840" cy="130000"/>
          </a:xfrm>
          <a:prstGeom prst="rect">
            <a:avLst/>
          </a:prstGeom>
          <a:noFill/>
          <a:ln/>
        </p:spPr>
        <p:txBody>
          <a:bodyPr wrap="square" lIns="0" tIns="0" rIns="0" bIns="0" rtlCol="0" anchor="t"/>
          <a:lstStyle/>
          <a:p>
            <a:pPr indent="0" marL="0">
              <a:buNone/>
            </a:pPr>
            <a:r>
              <a:rPr lang="en-US" sz="1000" i="1" dirty="0">
                <a:solidFill>
                  <a:srgbClr val="4471A9"/>
                </a:solidFill>
                <a:latin typeface="Arial" pitchFamily="34" charset="0"/>
                <a:ea typeface="Arial" pitchFamily="34" charset="-122"/>
                <a:cs typeface="Arial" pitchFamily="34" charset="-120"/>
              </a:rPr>
              <a:t>"The problem is the humans and how we were organized — not the AI." — Arvin Ghodsi, CEO Databricks</a:t>
            </a:r>
          </a:p>
        </p:txBody>
      </p:sp>
      <p:sp>
        <p:nvSpPr>
          <p:cNvPr id="8" name="Footer Line"/>
          <p:cNvSpPr/>
          <p:nvPr/>
        </p:nvSpPr>
        <p:spPr>
          <a:xfrm>
            <a:off x="457200" y="4645152"/>
            <a:ext cx="8229600" cy="0"/>
          </a:xfrm>
          <a:prstGeom prst="rect">
            <a:avLst/>
          </a:prstGeom>
          <a:noFill/>
          <a:ln w="6350">
            <a:solidFill>
              <a:srgbClr val="D0D0D0"/>
            </a:solidFill>
          </a:ln>
        </p:spPr>
        <p:txBody>
          <a:bodyPr wrap="square" lIns="0" tIns="0" rIns="0" bIns="0" rtlCol="0" anchor="ctr"/>
          <a:lstStyle/>
          <a:p>
            <a:pPr indent="0" marL="0">
              <a:buNone/>
            </a:pPr>
          </a:p>
        </p:txBody>
      </p:sp>
      <p:sp>
        <p:nvSpPr>
          <p:cNvPr id="9" name="Copyright"/>
          <p:cNvSpPr/>
          <p:nvPr/>
        </p:nvSpPr>
        <p:spPr>
          <a:xfrm>
            <a:off x="457200" y="4727448"/>
            <a:ext cx="2926080" cy="274320"/>
          </a:xfrm>
          <a:prstGeom prst="rect">
            <a:avLst/>
          </a:prstGeom>
          <a:noFill/>
          <a:ln/>
        </p:spPr>
        <p:txBody>
          <a:bodyPr wrap="square" lIns="0" tIns="0" rIns="0" bIns="0"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p>
        </p:txBody>
      </p:sp>
      <p:sp>
        <p:nvSpPr>
          <p:cNvPr id="10" name="Confidential Badge"/>
          <p:cNvSpPr/>
          <p:nvPr/>
        </p:nvSpPr>
        <p:spPr>
          <a:xfrm>
            <a:off x="3840480" y="4764024"/>
            <a:ext cx="1188720" cy="182880"/>
          </a:xfrm>
          <a:prstGeom prst="rect">
            <a:avLst/>
          </a:prstGeom>
          <a:solidFill>
            <a:srgbClr val="993399"/>
          </a:solidFill>
          <a:ln/>
        </p:spPr>
        <p:txBody>
          <a:bodyPr wrap="square" lIns="0" tIns="0" rIns="0" bIns="0" rtlCol="0" anchor="ctr"/>
          <a:lstStyle/>
          <a:p>
            <a:pPr indent="0" marL="0" algn="ctr">
              <a:buNone/>
            </a:pPr>
            <a:r>
              <a:rPr lang="en-US" sz="700" b="1" dirty="0">
                <a:solidFill>
                  <a:srgbClr val="FFFFFF"/>
                </a:solidFill>
                <a:latin typeface="Arial" pitchFamily="34" charset="0"/>
                <a:ea typeface="Arial" pitchFamily="34" charset="-122"/>
                <a:cs typeface="Arial" pitchFamily="34" charset="-120"/>
              </a:rPr>
              <a:t>RENESAS CONFIDENTIAL</a:t>
            </a:r>
          </a:p>
        </p:txBody>
      </p:sp>
      <p:sp>
        <p:nvSpPr>
          <p:cNvPr id="11" name="Page Number"/>
          <p:cNvSpPr/>
          <p:nvPr/>
        </p:nvSpPr>
        <p:spPr>
          <a:xfrm>
            <a:off x="7772400" y="4727448"/>
            <a:ext cx="914400" cy="274320"/>
          </a:xfrm>
          <a:prstGeom prst="rect">
            <a:avLst/>
          </a:prstGeom>
          <a:noFill/>
          <a:ln/>
        </p:spPr>
        <p:txBody>
          <a:bodyPr wrap="square" lIns="0" tIns="0" rIns="0" bIns="0" rtlCol="0" anchor="ctr"/>
          <a:lstStyle/>
          <a:p>
            <a:pPr indent="0" marL="0" algn="r">
              <a:buNone/>
            </a:pPr>
            <a:r>
              <a:rPr lang="en-US" sz="700" dirty="0">
                <a:solidFill>
                  <a:srgbClr val="9D9D9D"/>
                </a:solidFill>
                <a:latin typeface="Arial" pitchFamily="34" charset="0"/>
                <a:ea typeface="Arial" pitchFamily="34" charset="-122"/>
                <a:cs typeface="Arial" pitchFamily="34" charset="-120"/>
              </a:rPr>
              <a:t>Page B10</a:t>
            </a:r>
          </a:p>
        </p:txBody>
      </p:sp>
    </p:spTree>
    <p:extLst>
      <p:ext uri="{BB342B24-D82A-4C1D-8C2B-65B171FE8101}">
        <p14:creationId xmlns:p14="http://schemas.microsoft.com/office/powerpoint/2010/main" val="12345"/>
      </p:ext>
    </p:extLst>
  </p:cSld>
  <p:clrMapOvr>
    <a:masterClrMapping/>
  </p:clrMapOvr>
</p:sld>
</file>

<file path=ppt/slides/slide82.xml><?xml version="1.0" encoding="utf-8"?>
<p:sld xmlns:p="http://schemas.openxmlformats.org/presentationml/2006/main" xmlns:r="http://schemas.openxmlformats.org/officeDocument/2006/relationships" xmlns:a="http://schemas.openxmlformats.org/drawingml/2006/main">
  <p:cSld>
    <p:bg>
      <p:bgPr>
        <a:xfrm>
          <a:off x="0" y="0"/>
          <a:ext cx="9144000" cy="5143500"/>
        </a:xfrm>
        <a:prstGeom prst="rect">
          <a:avLst/>
        </a:prstGeom>
        <a:solidFill>
          <a:srgbClr val="FFFFFF"/>
        </a:solidFill>
        <a:noGrpSpFill/>
        <a:effectLst/>
      </p:bgPr>
    </p:bg>
    <p:spTree>
      <p:nvGrpSpPr>
        <p:cNvPr id="1" name="Slide 82"/>
        <p:cNvGrpSpPr/>
        <p:nvPr/>
      </p:nvGrpSpPr>
      <p:grpSpPr>
        <a:xfrm>
          <a:off x="0" y="0"/>
          <a:ext cx="9144000" cy="5143500"/>
          <a:chOff x="0" y="0"/>
          <a:chExt cx="9144000" cy="5143500"/>
        </a:xfrm>
        <a:prstGeom prst="rect">
          <a:avLst/>
        </a:prstGeom>
        <a:noFill/>
      </p:grpSpPr>
      <p:sp>
        <p:nvSpPr>
          <p:cNvPr id="2" name="Title"/>
          <p:cNvSpPr/>
          <p:nvPr/>
        </p:nvSpPr>
        <p:spPr>
          <a:xfrm>
            <a:off x="457200" y="320040"/>
            <a:ext cx="8229600" cy="548640"/>
          </a:xfrm>
          <a:prstGeom prst="rect">
            <a:avLst/>
          </a:prstGeom>
          <a:noFill/>
          <a:ln/>
        </p:spPr>
        <p:txBody>
          <a:bodyPr wrap="square" lIns="0" tIns="0" rIns="0" bIns="0" rtlCol="0" anchor="t"/>
          <a:lstStyle/>
          <a:p>
            <a:pPr indent="0" marL="0">
              <a:buNone/>
            </a:pPr>
            <a:r>
              <a:rPr lang="en-US" sz="2600" b="1" dirty="0">
                <a:solidFill>
                  <a:srgbClr val="06418C"/>
                </a:solidFill>
                <a:latin typeface="Arial" pitchFamily="34" charset="0"/>
                <a:ea typeface="Arial" pitchFamily="34" charset="-122"/>
                <a:cs typeface="Arial" pitchFamily="34" charset="-120"/>
              </a:rPr>
              <a:t>What the CIO should do right now.</a:t>
            </a:r>
          </a:p>
        </p:txBody>
      </p:sp>
      <p:sp>
        <p:nvSpPr>
          <p:cNvPr id="3" name="Block1 Number"/>
          <p:cNvSpPr/>
          <p:nvPr/>
        </p:nvSpPr>
        <p:spPr>
          <a:xfrm>
            <a:off x="640080" y="900000"/>
            <a:ext cx="280000" cy="280000"/>
          </a:xfrm>
          <a:prstGeom prst="rect">
            <a:avLst/>
          </a:prstGeom>
          <a:solidFill>
            <a:srgbClr val="993399"/>
          </a:solidFill>
          <a:ln/>
        </p:spPr>
        <p:txBody>
          <a:bodyPr wrap="square" lIns="0" tIns="0" rIns="0" bIns="0" rtlCol="0" anchor="ctr"/>
          <a:lstStyle/>
          <a:p>
            <a:pPr indent="0" marL="0" algn="ctr">
              <a:buNone/>
            </a:pPr>
            <a:r>
              <a:rPr lang="en-US" sz="1400" b="1" dirty="0">
                <a:solidFill>
                  <a:srgbClr val="FFFFFF"/>
                </a:solidFill>
                <a:latin typeface="Arial" pitchFamily="34" charset="0"/>
                <a:ea typeface="Arial" pitchFamily="34" charset="-122"/>
                <a:cs typeface="Arial" pitchFamily="34" charset="-120"/>
              </a:rPr>
              <a:t>1</a:t>
            </a:r>
          </a:p>
        </p:txBody>
      </p:sp>
      <p:sp>
        <p:nvSpPr>
          <p:cNvPr id="4" name="Block1 Content"/>
          <p:cNvSpPr/>
          <p:nvPr/>
        </p:nvSpPr>
        <p:spPr>
          <a:xfrm>
            <a:off x="1100080" y="900000"/>
            <a:ext cx="7403840" cy="750000"/>
          </a:xfrm>
          <a:prstGeom prst="rect">
            <a:avLst/>
          </a:prstGeom>
          <a:noFill/>
          <a:ln/>
        </p:spPr>
        <p:txBody>
          <a:bodyPr wrap="square" lIns="91440" tIns="45720" rIns="91440" bIns="45720" rtlCol="0" anchor="t"/>
          <a:lstStyle/>
          <a:p>
            <a:pPr indent="0" marL="0">
              <a:buNone/>
            </a:pPr>
            <a:r>
              <a:rPr lang="en-US" sz="1400" b="1" dirty="0">
                <a:solidFill>
                  <a:srgbClr val="06418C"/>
                </a:solidFill>
                <a:latin typeface="Arial" pitchFamily="34" charset="0"/>
                <a:ea typeface="Arial" pitchFamily="34" charset="-122"/>
                <a:cs typeface="Arial" pitchFamily="34" charset="-120"/>
              </a:rPr>
              <a:t>Shorten contracts. Expand vendor experiments.</a:t>
            </a:r>
          </a:p>
          <a:p>
            <a:pPr indent="0" marL="0">
              <a:buNone/>
            </a:pPr>
            <a:r>
              <a:rPr lang="en-US" sz="1100" b="0" dirty="0">
                <a:solidFill>
                  <a:srgbClr val="4A4A4A"/>
                </a:solidFill>
                <a:latin typeface="Arial" pitchFamily="34" charset="0"/>
                <a:ea typeface="Arial" pitchFamily="34" charset="-122"/>
                <a:cs typeface="Arial" pitchFamily="34" charset="-120"/>
              </a:rPr>
              <a:t>Winners are not yet identified. Products that require 6-month implementations before you see value are the wrong products. Pick vendors that work in days, not quarters.</a:t>
            </a:r>
          </a:p>
        </p:txBody>
      </p:sp>
      <p:sp>
        <p:nvSpPr>
          <p:cNvPr id="5" name="Block2 Number"/>
          <p:cNvSpPr/>
          <p:nvPr/>
        </p:nvSpPr>
        <p:spPr>
          <a:xfrm>
            <a:off x="640080" y="1900000"/>
            <a:ext cx="280000" cy="280000"/>
          </a:xfrm>
          <a:prstGeom prst="rect">
            <a:avLst/>
          </a:prstGeom>
          <a:solidFill>
            <a:srgbClr val="993399"/>
          </a:solidFill>
          <a:ln/>
        </p:spPr>
        <p:txBody>
          <a:bodyPr wrap="square" lIns="0" tIns="0" rIns="0" bIns="0" rtlCol="0" anchor="ctr"/>
          <a:lstStyle/>
          <a:p>
            <a:pPr indent="0" marL="0" algn="ctr">
              <a:buNone/>
            </a:pPr>
            <a:r>
              <a:rPr lang="en-US" sz="1400" b="1" dirty="0">
                <a:solidFill>
                  <a:srgbClr val="FFFFFF"/>
                </a:solidFill>
                <a:latin typeface="Arial" pitchFamily="34" charset="0"/>
                <a:ea typeface="Arial" pitchFamily="34" charset="-122"/>
                <a:cs typeface="Arial" pitchFamily="34" charset="-120"/>
              </a:rPr>
              <a:t>2</a:t>
            </a:r>
          </a:p>
        </p:txBody>
      </p:sp>
      <p:sp>
        <p:nvSpPr>
          <p:cNvPr id="6" name="Block2 Content"/>
          <p:cNvSpPr/>
          <p:nvPr/>
        </p:nvSpPr>
        <p:spPr>
          <a:xfrm>
            <a:off x="1100080" y="1900000"/>
            <a:ext cx="7403840" cy="750000"/>
          </a:xfrm>
          <a:prstGeom prst="rect">
            <a:avLst/>
          </a:prstGeom>
          <a:noFill/>
          <a:ln/>
        </p:spPr>
        <p:txBody>
          <a:bodyPr wrap="square" lIns="91440" tIns="45720" rIns="91440" bIns="45720" rtlCol="0" anchor="t"/>
          <a:lstStyle/>
          <a:p>
            <a:pPr indent="0" marL="0">
              <a:buNone/>
            </a:pPr>
            <a:r>
              <a:rPr lang="en-US" sz="1400" b="1" dirty="0">
                <a:solidFill>
                  <a:srgbClr val="06418C"/>
                </a:solidFill>
                <a:latin typeface="Arial" pitchFamily="34" charset="0"/>
                <a:ea typeface="Arial" pitchFamily="34" charset="-122"/>
                <a:cs typeface="Arial" pitchFamily="34" charset="-120"/>
              </a:rPr>
              <a:t>Close the AI literacy gap.</a:t>
            </a:r>
          </a:p>
          <a:p>
            <a:pPr indent="0" marL="0">
              <a:buNone/>
            </a:pPr>
            <a:r>
              <a:rPr lang="en-US" sz="1100" b="0" dirty="0">
                <a:solidFill>
                  <a:srgbClr val="4A4A4A"/>
                </a:solidFill>
                <a:latin typeface="Arial" pitchFamily="34" charset="0"/>
                <a:ea typeface="Arial" pitchFamily="34" charset="-122"/>
                <a:cs typeface="Arial" pitchFamily="34" charset="-120"/>
              </a:rPr>
              <a:t>Power user adoption is not AI transformation. The gap between top users and everyone else is the real problem. Every function needs a digital champion and a reskilling path.</a:t>
            </a:r>
          </a:p>
        </p:txBody>
      </p:sp>
      <p:sp>
        <p:nvSpPr>
          <p:cNvPr id="7" name="Block3 Number"/>
          <p:cNvSpPr/>
          <p:nvPr/>
        </p:nvSpPr>
        <p:spPr>
          <a:xfrm>
            <a:off x="640080" y="2900000"/>
            <a:ext cx="280000" cy="280000"/>
          </a:xfrm>
          <a:prstGeom prst="rect">
            <a:avLst/>
          </a:prstGeom>
          <a:solidFill>
            <a:srgbClr val="993399"/>
          </a:solidFill>
          <a:ln/>
        </p:spPr>
        <p:txBody>
          <a:bodyPr wrap="square" lIns="0" tIns="0" rIns="0" bIns="0" rtlCol="0" anchor="ctr"/>
          <a:lstStyle/>
          <a:p>
            <a:pPr indent="0" marL="0" algn="ctr">
              <a:buNone/>
            </a:pPr>
            <a:r>
              <a:rPr lang="en-US" sz="1400" b="1" dirty="0">
                <a:solidFill>
                  <a:srgbClr val="FFFFFF"/>
                </a:solidFill>
                <a:latin typeface="Arial" pitchFamily="34" charset="0"/>
                <a:ea typeface="Arial" pitchFamily="34" charset="-122"/>
                <a:cs typeface="Arial" pitchFamily="34" charset="-120"/>
              </a:rPr>
              <a:t>3</a:t>
            </a:r>
          </a:p>
        </p:txBody>
      </p:sp>
      <p:sp>
        <p:nvSpPr>
          <p:cNvPr id="8" name="Block3 Content"/>
          <p:cNvSpPr/>
          <p:nvPr/>
        </p:nvSpPr>
        <p:spPr>
          <a:xfrm>
            <a:off x="1100080" y="2900000"/>
            <a:ext cx="7403840" cy="750000"/>
          </a:xfrm>
          <a:prstGeom prst="rect">
            <a:avLst/>
          </a:prstGeom>
          <a:noFill/>
          <a:ln/>
        </p:spPr>
        <p:txBody>
          <a:bodyPr wrap="square" lIns="91440" tIns="45720" rIns="91440" bIns="45720" rtlCol="0" anchor="t"/>
          <a:lstStyle/>
          <a:p>
            <a:pPr indent="0" marL="0">
              <a:buNone/>
            </a:pPr>
            <a:r>
              <a:rPr lang="en-US" sz="1400" b="1" dirty="0">
                <a:solidFill>
                  <a:srgbClr val="06418C"/>
                </a:solidFill>
                <a:latin typeface="Arial" pitchFamily="34" charset="0"/>
                <a:ea typeface="Arial" pitchFamily="34" charset="-122"/>
                <a:cs typeface="Arial" pitchFamily="34" charset="-120"/>
              </a:rPr>
              <a:t>Build on proprietary data. Stop building commodity AI.</a:t>
            </a:r>
          </a:p>
          <a:p>
            <a:pPr indent="0" marL="0">
              <a:buNone/>
            </a:pPr>
            <a:r>
              <a:rPr lang="en-US" sz="1100" b="0" dirty="0">
                <a:solidFill>
                  <a:srgbClr val="4A4A4A"/>
                </a:solidFill>
                <a:latin typeface="Arial" pitchFamily="34" charset="0"/>
                <a:ea typeface="Arial" pitchFamily="34" charset="-122"/>
                <a:cs typeface="Arial" pitchFamily="34" charset="-120"/>
              </a:rPr>
              <a:t>If your competitors can buy the same AI you just built, you have a vendor, not a moat. The question is: what data does your company have that no one else has? Build there.</a:t>
            </a:r>
          </a:p>
        </p:txBody>
      </p:sp>
      <p:sp>
        <p:nvSpPr>
          <p:cNvPr id="9" name="Block4 Number"/>
          <p:cNvSpPr/>
          <p:nvPr/>
        </p:nvSpPr>
        <p:spPr>
          <a:xfrm>
            <a:off x="640080" y="3900000"/>
            <a:ext cx="280000" cy="280000"/>
          </a:xfrm>
          <a:prstGeom prst="rect">
            <a:avLst/>
          </a:prstGeom>
          <a:solidFill>
            <a:srgbClr val="993399"/>
          </a:solidFill>
          <a:ln/>
        </p:spPr>
        <p:txBody>
          <a:bodyPr wrap="square" lIns="0" tIns="0" rIns="0" bIns="0" rtlCol="0" anchor="ctr"/>
          <a:lstStyle/>
          <a:p>
            <a:pPr indent="0" marL="0" algn="ctr">
              <a:buNone/>
            </a:pPr>
            <a:r>
              <a:rPr lang="en-US" sz="1400" b="1" dirty="0">
                <a:solidFill>
                  <a:srgbClr val="FFFFFF"/>
                </a:solidFill>
                <a:latin typeface="Arial" pitchFamily="34" charset="0"/>
                <a:ea typeface="Arial" pitchFamily="34" charset="-122"/>
                <a:cs typeface="Arial" pitchFamily="34" charset="-120"/>
              </a:rPr>
              <a:t>4</a:t>
            </a:r>
          </a:p>
        </p:txBody>
      </p:sp>
      <p:sp>
        <p:nvSpPr>
          <p:cNvPr id="10" name="Block4 Content"/>
          <p:cNvSpPr/>
          <p:nvPr/>
        </p:nvSpPr>
        <p:spPr>
          <a:xfrm>
            <a:off x="1100080" y="3900000"/>
            <a:ext cx="7403840" cy="600000"/>
          </a:xfrm>
          <a:prstGeom prst="rect">
            <a:avLst/>
          </a:prstGeom>
          <a:noFill/>
          <a:ln/>
        </p:spPr>
        <p:txBody>
          <a:bodyPr wrap="square" lIns="91440" tIns="45720" rIns="91440" bIns="45720" rtlCol="0" anchor="t"/>
          <a:lstStyle/>
          <a:p>
            <a:pPr indent="0" marL="0">
              <a:buNone/>
            </a:pPr>
            <a:r>
              <a:rPr lang="en-US" sz="1400" b="1" dirty="0">
                <a:solidFill>
                  <a:srgbClr val="06418C"/>
                </a:solidFill>
                <a:latin typeface="Arial" pitchFamily="34" charset="0"/>
                <a:ea typeface="Arial" pitchFamily="34" charset="-122"/>
                <a:cs typeface="Arial" pitchFamily="34" charset="-120"/>
              </a:rPr>
              <a:t>Design for proactive AI — not reactive AI.</a:t>
            </a:r>
          </a:p>
          <a:p>
            <a:pPr indent="0" marL="0">
              <a:buNone/>
            </a:pPr>
            <a:r>
              <a:rPr lang="en-US" sz="1000" b="0" dirty="0">
                <a:solidFill>
                  <a:srgbClr val="4A4A4A"/>
                </a:solidFill>
                <a:latin typeface="Arial" pitchFamily="34" charset="0"/>
                <a:ea typeface="Arial" pitchFamily="34" charset="-122"/>
                <a:cs typeface="Arial" pitchFamily="34" charset="-120"/>
              </a:rPr>
              <a:t>The next frontier: AI that comes to you, not AI you go to. Prep agents, priority agents, workflow agents that push context before you ask.</a:t>
            </a:r>
          </a:p>
        </p:txBody>
      </p:sp>
      <p:sp>
        <p:nvSpPr>
          <p:cNvPr id="11" name="Footer Line"/>
          <p:cNvSpPr/>
          <p:nvPr/>
        </p:nvSpPr>
        <p:spPr>
          <a:xfrm>
            <a:off x="457200" y="4645152"/>
            <a:ext cx="8229600" cy="0"/>
          </a:xfrm>
          <a:prstGeom prst="rect">
            <a:avLst/>
          </a:prstGeom>
          <a:noFill/>
          <a:ln w="6350">
            <a:solidFill>
              <a:srgbClr val="D0D0D0"/>
            </a:solidFill>
          </a:ln>
        </p:spPr>
        <p:txBody>
          <a:bodyPr wrap="square" lIns="0" tIns="0" rIns="0" bIns="0" rtlCol="0" anchor="ctr"/>
          <a:lstStyle/>
          <a:p>
            <a:pPr indent="0" marL="0">
              <a:buNone/>
            </a:pPr>
          </a:p>
        </p:txBody>
      </p:sp>
      <p:sp>
        <p:nvSpPr>
          <p:cNvPr id="12" name="Copyright"/>
          <p:cNvSpPr/>
          <p:nvPr/>
        </p:nvSpPr>
        <p:spPr>
          <a:xfrm>
            <a:off x="457200" y="4727448"/>
            <a:ext cx="2926080" cy="274320"/>
          </a:xfrm>
          <a:prstGeom prst="rect">
            <a:avLst/>
          </a:prstGeom>
          <a:noFill/>
          <a:ln/>
        </p:spPr>
        <p:txBody>
          <a:bodyPr wrap="square" lIns="0" tIns="0" rIns="0" bIns="0" rtlCol="0" anchor="ctr"/>
          <a:lstStyle/>
          <a:p>
            <a:pPr indent="0" marL="0">
              <a:buNone/>
            </a:pPr>
            <a:r>
              <a:rPr lang="en-US" sz="700" dirty="0">
                <a:solidFill>
                  <a:srgbClr val="9D9D9D"/>
                </a:solidFill>
                <a:latin typeface="Arial" pitchFamily="34" charset="0"/>
                <a:ea typeface="Arial" pitchFamily="34" charset="-122"/>
                <a:cs typeface="Arial" pitchFamily="34" charset="-120"/>
              </a:rPr>
              <a:t>© 2026 Renesas Electronics Corporation. All rights reserved.</a:t>
            </a:r>
          </a:p>
        </p:txBody>
      </p:sp>
      <p:sp>
        <p:nvSpPr>
          <p:cNvPr id="13" name="Confidential Badge"/>
          <p:cNvSpPr/>
          <p:nvPr/>
        </p:nvSpPr>
        <p:spPr>
          <a:xfrm>
            <a:off x="3840480" y="4764024"/>
            <a:ext cx="1188720" cy="182880"/>
          </a:xfrm>
          <a:prstGeom prst="rect">
            <a:avLst/>
          </a:prstGeom>
          <a:solidFill>
            <a:srgbClr val="993399"/>
          </a:solidFill>
          <a:ln/>
        </p:spPr>
        <p:txBody>
          <a:bodyPr wrap="square" lIns="0" tIns="0" rIns="0" bIns="0" rtlCol="0" anchor="ctr"/>
          <a:lstStyle/>
          <a:p>
            <a:pPr indent="0" marL="0" algn="ctr">
              <a:buNone/>
            </a:pPr>
            <a:r>
              <a:rPr lang="en-US" sz="700" b="1" dirty="0">
                <a:solidFill>
                  <a:srgbClr val="FFFFFF"/>
                </a:solidFill>
                <a:latin typeface="Arial" pitchFamily="34" charset="0"/>
                <a:ea typeface="Arial" pitchFamily="34" charset="-122"/>
                <a:cs typeface="Arial" pitchFamily="34" charset="-120"/>
              </a:rPr>
              <a:t>RENESAS CONFIDENTIAL</a:t>
            </a:r>
          </a:p>
        </p:txBody>
      </p:sp>
      <p:sp>
        <p:nvSpPr>
          <p:cNvPr id="14" name="Page Number"/>
          <p:cNvSpPr/>
          <p:nvPr/>
        </p:nvSpPr>
        <p:spPr>
          <a:xfrm>
            <a:off x="7772400" y="4727448"/>
            <a:ext cx="914400" cy="274320"/>
          </a:xfrm>
          <a:prstGeom prst="rect">
            <a:avLst/>
          </a:prstGeom>
          <a:noFill/>
          <a:ln/>
        </p:spPr>
        <p:txBody>
          <a:bodyPr wrap="square" lIns="0" tIns="0" rIns="0" bIns="0" rtlCol="0" anchor="ctr"/>
          <a:lstStyle/>
          <a:p>
            <a:pPr indent="0" marL="0" algn="r">
              <a:buNone/>
            </a:pPr>
            <a:r>
              <a:rPr lang="en-US" sz="700" dirty="0">
                <a:solidFill>
                  <a:srgbClr val="9D9D9D"/>
                </a:solidFill>
                <a:latin typeface="Arial" pitchFamily="34" charset="0"/>
                <a:ea typeface="Arial" pitchFamily="34" charset="-122"/>
                <a:cs typeface="Arial" pitchFamily="34" charset="-120"/>
              </a:rPr>
              <a:t>Page B11</a:t>
            </a:r>
          </a:p>
        </p:txBody>
      </p:sp>
    </p:spTree>
    <p:extLst>
      <p:ext uri="{BB342B24-D82A-4C1D-8C2B-65B171FE8101}">
        <p14:creationId xmlns:p14="http://schemas.microsoft.com/office/powerpoint/2010/main" val="123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Architecting the Future — AI and Digital Transformation at Renesas</dc:title>
  <dc:subject>PptxGenJS Presentation</dc:subject>
  <dc:creator>ck</dc:creator>
  <cp:lastModifiedBy>ck</cp:lastModifiedBy>
  <cp:revision>1</cp:revision>
  <dcterms:created xsi:type="dcterms:W3CDTF">2026-03-14T11:42:18Z</dcterms:created>
  <dcterms:modified xsi:type="dcterms:W3CDTF">2026-03-14T11:42:18Z</dcterms:modified>
</cp:coreProperties>
</file>